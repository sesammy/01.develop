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5.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6.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4"/>
    <p:sldMasterId id="2147483795" r:id="rId5"/>
    <p:sldMasterId id="2147483754" r:id="rId6"/>
    <p:sldMasterId id="2147483762" r:id="rId7"/>
    <p:sldMasterId id="2147483766" r:id="rId8"/>
    <p:sldMasterId id="2147483774" r:id="rId9"/>
    <p:sldMasterId id="2147483780" r:id="rId10"/>
    <p:sldMasterId id="2147483787" r:id="rId11"/>
  </p:sldMasterIdLst>
  <p:notesMasterIdLst>
    <p:notesMasterId r:id="rId46"/>
  </p:notesMasterIdLst>
  <p:handoutMasterIdLst>
    <p:handoutMasterId r:id="rId47"/>
  </p:handoutMasterIdLst>
  <p:sldIdLst>
    <p:sldId id="2094" r:id="rId12"/>
    <p:sldId id="2139" r:id="rId13"/>
    <p:sldId id="2357" r:id="rId14"/>
    <p:sldId id="2147377785" r:id="rId15"/>
    <p:sldId id="2147377875" r:id="rId16"/>
    <p:sldId id="2147377876" r:id="rId17"/>
    <p:sldId id="2147377877" r:id="rId18"/>
    <p:sldId id="2147377879" r:id="rId19"/>
    <p:sldId id="2147377878" r:id="rId20"/>
    <p:sldId id="2147476103" r:id="rId21"/>
    <p:sldId id="2147476104" r:id="rId22"/>
    <p:sldId id="2147476105" r:id="rId23"/>
    <p:sldId id="2147476106" r:id="rId24"/>
    <p:sldId id="2147470906" r:id="rId25"/>
    <p:sldId id="2147476107" r:id="rId26"/>
    <p:sldId id="2146847343" r:id="rId27"/>
    <p:sldId id="2146847450" r:id="rId28"/>
    <p:sldId id="2147470071" r:id="rId29"/>
    <p:sldId id="2147470910" r:id="rId30"/>
    <p:sldId id="2147476108" r:id="rId31"/>
    <p:sldId id="2146847446" r:id="rId32"/>
    <p:sldId id="2147470912" r:id="rId33"/>
    <p:sldId id="278" r:id="rId34"/>
    <p:sldId id="2146847437" r:id="rId35"/>
    <p:sldId id="2146847413" r:id="rId36"/>
    <p:sldId id="2146847448" r:id="rId37"/>
    <p:sldId id="2147470907" r:id="rId38"/>
    <p:sldId id="2146847447" r:id="rId39"/>
    <p:sldId id="2146847426" r:id="rId40"/>
    <p:sldId id="2147470098" r:id="rId41"/>
    <p:sldId id="2146847409" r:id="rId42"/>
    <p:sldId id="2146847430" r:id="rId43"/>
    <p:sldId id="2142532804" r:id="rId44"/>
    <p:sldId id="2147470077" r:id="rId45"/>
  </p:sldIdLst>
  <p:sldSz cx="9906000" cy="6858000" type="A4"/>
  <p:notesSz cx="7031038" cy="10163175"/>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既定のセクション" id="{1B9E5BD8-744E-468B-86A7-97702F1A1C46}">
          <p14:sldIdLst>
            <p14:sldId id="2094"/>
            <p14:sldId id="2139"/>
            <p14:sldId id="2357"/>
            <p14:sldId id="2147377785"/>
            <p14:sldId id="2147377875"/>
            <p14:sldId id="2147377876"/>
            <p14:sldId id="2147377877"/>
            <p14:sldId id="2147377879"/>
            <p14:sldId id="2147377878"/>
            <p14:sldId id="2147476103"/>
            <p14:sldId id="2147476104"/>
            <p14:sldId id="2147476105"/>
            <p14:sldId id="2147476106"/>
            <p14:sldId id="2147470906"/>
            <p14:sldId id="2147476107"/>
            <p14:sldId id="2146847343"/>
            <p14:sldId id="2146847450"/>
            <p14:sldId id="2147470071"/>
            <p14:sldId id="2147470910"/>
            <p14:sldId id="2147476108"/>
            <p14:sldId id="2146847446"/>
            <p14:sldId id="2147470912"/>
            <p14:sldId id="278"/>
            <p14:sldId id="2146847437"/>
            <p14:sldId id="2146847413"/>
            <p14:sldId id="2146847448"/>
            <p14:sldId id="2147470907"/>
            <p14:sldId id="2146847447"/>
            <p14:sldId id="2146847426"/>
            <p14:sldId id="2147470098"/>
            <p14:sldId id="2146847409"/>
            <p14:sldId id="2146847430"/>
            <p14:sldId id="2142532804"/>
            <p14:sldId id="2147470077"/>
          </p14:sldIdLst>
        </p14:section>
        <p14:section name="付録（別紙として分離）" id="{1D046CFD-A0BC-4C11-98BC-BD186B2EE1C9}">
          <p14:sldIdLst/>
        </p14:section>
      </p14:sectionLst>
    </p:ex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小林 直樹／コンタクト基盤／チーム長／JRI (kobayashi naoki)" initials="小林" lastIdx="60" clrIdx="0"/>
  <p:cmAuthor id="2" name="松川 沙耶香／個人チャネル基盤／JRI (matsukawa sayaka)" initials="松川" lastIdx="3" clrIdx="1"/>
  <p:cmAuthor id="3" name="井上 知／コンタクト基盤／JRI (inoue satoru)" initials="井上" lastIdx="64" clrIdx="2"/>
  <p:cmAuthor id="4" name="井上 知／コンタクト基盤／JRI (inoue satoru)" initials="井上 [2]" lastIdx="20" clrIdx="3"/>
  <p:cmAuthor id="5" name="廣 真文／コンタクト基盤／JRI (hiro masafumi)" initials="廣" lastIdx="95" clrIdx="4"/>
  <p:cmAuthor id="6" name="任 秉均／共通基盤／JRI (imu byongyun)" initials="任b" lastIdx="28" clrIdx="5"/>
  <p:cmAuthor id="7" name="井上 知" initials="井上" lastIdx="2" clrIdx="6"/>
  <p:cmAuthor id="8" name="上村 洋史／コンタクト基盤／部長／JRI (uemura hiroshi)" initials="上h" lastIdx="26" clrIdx="7">
    <p:extLst>
      <p:ext uri="{19B8F6BF-5375-455C-9EA6-DF929625EA0E}">
        <p15:presenceInfo xmlns:p15="http://schemas.microsoft.com/office/powerpoint/2012/main" userId="S::t313178@d1.jri.co.jp::d8a75e33-557c-45ec-ae13-ad2cf04c9eef" providerId="AD"/>
      </p:ext>
    </p:extLst>
  </p:cmAuthor>
  <p:cmAuthor id="9" name="小林 直樹／コンタクト基盤／チーム長／JRI (kobayashi naoki)" initials="小n" lastIdx="3" clrIdx="8">
    <p:extLst>
      <p:ext uri="{19B8F6BF-5375-455C-9EA6-DF929625EA0E}">
        <p15:presenceInfo xmlns:p15="http://schemas.microsoft.com/office/powerpoint/2012/main" userId="S::t500563@d1.jri.co.jp::8aa6fd13-304c-468c-92e9-613a63a4eef1" providerId="AD"/>
      </p:ext>
    </p:extLst>
  </p:cmAuthor>
  <p:cmAuthor id="10" name="松川 沙耶香／個人チャネル基盤／JRI (matsukawa sayaka)" initials="松s" lastIdx="1" clrIdx="9">
    <p:extLst>
      <p:ext uri="{19B8F6BF-5375-455C-9EA6-DF929625EA0E}">
        <p15:presenceInfo xmlns:p15="http://schemas.microsoft.com/office/powerpoint/2012/main" userId="S::t502851@d1.jri.co.jp::47f8785c-013e-4648-b05f-a3e01521e8ba" providerId="AD"/>
      </p:ext>
    </p:extLst>
  </p:cmAuthor>
  <p:cmAuthor id="11" name="廣 真文／コンタクト基盤／JRI (hiro masafumi)" initials="廣m" lastIdx="24" clrIdx="10">
    <p:extLst>
      <p:ext uri="{19B8F6BF-5375-455C-9EA6-DF929625EA0E}">
        <p15:presenceInfo xmlns:p15="http://schemas.microsoft.com/office/powerpoint/2012/main" userId="S::t502259@d1.jri.co.jp::eca63eeb-54e4-46d9-9e41-67514852178b" providerId="AD"/>
      </p:ext>
    </p:extLst>
  </p:cmAuthor>
  <p:cmAuthor id="12" name="速水 治郎／コンタクト基盤／JRI (hayami jiro)" initials="速j" lastIdx="6" clrIdx="11">
    <p:extLst>
      <p:ext uri="{19B8F6BF-5375-455C-9EA6-DF929625EA0E}">
        <p15:presenceInfo xmlns:p15="http://schemas.microsoft.com/office/powerpoint/2012/main" userId="S::t501991@d1.jri.co.jp::11374807-7899-423c-b427-6da7772b3e71" providerId="AD"/>
      </p:ext>
    </p:extLst>
  </p:cmAuthor>
  <p:cmAuthor id="13" name="任 秉均／共通基盤／JRI (imu byongyun)" initials="任" lastIdx="3" clrIdx="12">
    <p:extLst>
      <p:ext uri="{19B8F6BF-5375-455C-9EA6-DF929625EA0E}">
        <p15:presenceInfo xmlns:p15="http://schemas.microsoft.com/office/powerpoint/2012/main" userId="S::tM85129@d1.jri.co.jp::6f7fd3b8-765a-4b1f-beb9-dc10afc2fbe9" providerId="AD"/>
      </p:ext>
    </p:extLst>
  </p:cmAuthor>
  <p:cmAuthor id="14" name="鈴木 隆将／コンタクト基盤／JRI (suzuki takamasa)" initials="鈴木" lastIdx="8" clrIdx="13">
    <p:extLst>
      <p:ext uri="{19B8F6BF-5375-455C-9EA6-DF929625EA0E}">
        <p15:presenceInfo xmlns:p15="http://schemas.microsoft.com/office/powerpoint/2012/main" userId="S::t500819@d1.jri.co.jp::e1f35edc-4691-458a-af65-1d1ad0f17e31" providerId="AD"/>
      </p:ext>
    </p:extLst>
  </p:cmAuthor>
  <p:cmAuthor id="15" name="大江 卓／コンタクト情報基盤／JRI (oe taku)" initials="大江" lastIdx="3" clrIdx="14">
    <p:extLst>
      <p:ext uri="{19B8F6BF-5375-455C-9EA6-DF929625EA0E}">
        <p15:presenceInfo xmlns:p15="http://schemas.microsoft.com/office/powerpoint/2012/main" userId="S::t500548@d1.jri.co.jp::e57a5629-4b89-457e-be38-9a2e673159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9C9C9"/>
    <a:srgbClr val="FFFF00"/>
    <a:srgbClr val="FFF2CC"/>
    <a:srgbClr val="FFCCCC"/>
    <a:srgbClr val="FFFFCC"/>
    <a:srgbClr val="E7FFE7"/>
    <a:srgbClr val="D1EDFF"/>
    <a:srgbClr val="CCFFCC"/>
    <a:srgbClr val="0075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20B253-208D-464D-9B67-F3269269D180}" v="85" dt="2025-10-21T09:00:22.59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681" autoAdjust="0"/>
  </p:normalViewPr>
  <p:slideViewPr>
    <p:cSldViewPr snapToGrid="0">
      <p:cViewPr varScale="1">
        <p:scale>
          <a:sx n="95" d="100"/>
          <a:sy n="95" d="100"/>
        </p:scale>
        <p:origin x="864" y="53"/>
      </p:cViewPr>
      <p:guideLst>
        <p:guide orient="horz" pos="2160"/>
        <p:guide pos="312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notesMaster" Target="notesMasters/notesMaster1.xml"/><Relationship Id="rId20" Type="http://schemas.openxmlformats.org/officeDocument/2006/relationships/slide" Target="slides/slide9.xml"/><Relationship Id="rId41" Type="http://schemas.openxmlformats.org/officeDocument/2006/relationships/slide" Target="slides/slide30.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821CB7F3-BBCC-4263-9A68-294F23748734}"/>
              </a:ext>
            </a:extLst>
          </p:cNvPr>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0BE7C60E-D457-4243-A9A6-C95EFA54923E}"/>
              </a:ext>
            </a:extLst>
          </p:cNvPr>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8B282BD0-001E-45DC-82FB-D2AFB9CBE2B1}" type="datetimeFigureOut">
              <a:rPr kumimoji="1" lang="ja-JP" altLang="en-US" smtClean="0"/>
              <a:t>2025/11/17</a:t>
            </a:fld>
            <a:endParaRPr kumimoji="1" lang="ja-JP" altLang="en-US"/>
          </a:p>
        </p:txBody>
      </p:sp>
      <p:sp>
        <p:nvSpPr>
          <p:cNvPr id="4" name="フッター プレースホルダー 3">
            <a:extLst>
              <a:ext uri="{FF2B5EF4-FFF2-40B4-BE49-F238E27FC236}">
                <a16:creationId xmlns:a16="http://schemas.microsoft.com/office/drawing/2014/main" id="{7F80A68F-156C-4D58-9F23-B3AA125C5AC2}"/>
              </a:ext>
            </a:extLst>
          </p:cNvPr>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F863F39-3E7D-43EC-BBBF-7A3879E8F566}"/>
              </a:ext>
            </a:extLst>
          </p:cNvPr>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A77E9E2E-EA60-4737-90B8-C424A114EBBC}" type="slidenum">
              <a:rPr kumimoji="1" lang="ja-JP" altLang="en-US" smtClean="0"/>
              <a:t>‹#›</a:t>
            </a:fld>
            <a:endParaRPr kumimoji="1" lang="ja-JP" altLang="en-US"/>
          </a:p>
        </p:txBody>
      </p:sp>
    </p:spTree>
    <p:extLst>
      <p:ext uri="{BB962C8B-B14F-4D97-AF65-F5344CB8AC3E}">
        <p14:creationId xmlns:p14="http://schemas.microsoft.com/office/powerpoint/2010/main" val="27057118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46784" cy="508159"/>
          </a:xfrm>
          <a:prstGeom prst="rect">
            <a:avLst/>
          </a:prstGeom>
        </p:spPr>
        <p:txBody>
          <a:bodyPr vert="horz" lIns="94695" tIns="47348" rIns="94695" bIns="47348" rtlCol="0"/>
          <a:lstStyle>
            <a:lvl1pPr algn="l">
              <a:defRPr sz="1200">
                <a:ea typeface="ＭＳ Ｐゴシック" pitchFamily="50" charset="-128"/>
              </a:defRPr>
            </a:lvl1pPr>
          </a:lstStyle>
          <a:p>
            <a:pPr>
              <a:defRPr/>
            </a:pPr>
            <a:endParaRPr lang="ja-JP" altLang="en-US"/>
          </a:p>
        </p:txBody>
      </p:sp>
      <p:sp>
        <p:nvSpPr>
          <p:cNvPr id="3" name="日付プレースホルダー 2"/>
          <p:cNvSpPr>
            <a:spLocks noGrp="1"/>
          </p:cNvSpPr>
          <p:nvPr>
            <p:ph type="dt" idx="1"/>
          </p:nvPr>
        </p:nvSpPr>
        <p:spPr>
          <a:xfrm>
            <a:off x="3982627" y="0"/>
            <a:ext cx="3046784" cy="508159"/>
          </a:xfrm>
          <a:prstGeom prst="rect">
            <a:avLst/>
          </a:prstGeom>
        </p:spPr>
        <p:txBody>
          <a:bodyPr vert="horz" lIns="94695" tIns="47348" rIns="94695" bIns="47348" rtlCol="0"/>
          <a:lstStyle>
            <a:lvl1pPr algn="r">
              <a:defRPr sz="1200">
                <a:ea typeface="ＭＳ Ｐゴシック" pitchFamily="50" charset="-128"/>
              </a:defRPr>
            </a:lvl1pPr>
          </a:lstStyle>
          <a:p>
            <a:pPr>
              <a:defRPr/>
            </a:pPr>
            <a:fld id="{0C69BD06-843D-4364-B4FB-B6A5BDDFDF73}" type="datetimeFigureOut">
              <a:rPr lang="ja-JP" altLang="en-US"/>
              <a:pPr>
                <a:defRPr/>
              </a:pPr>
              <a:t>2025/11/14</a:t>
            </a:fld>
            <a:endParaRPr lang="ja-JP" altLang="en-US"/>
          </a:p>
        </p:txBody>
      </p:sp>
      <p:sp>
        <p:nvSpPr>
          <p:cNvPr id="4" name="スライド イメージ プレースホルダー 3"/>
          <p:cNvSpPr>
            <a:spLocks noGrp="1" noRot="1" noChangeAspect="1"/>
          </p:cNvSpPr>
          <p:nvPr>
            <p:ph type="sldImg" idx="2"/>
          </p:nvPr>
        </p:nvSpPr>
        <p:spPr>
          <a:xfrm>
            <a:off x="762000" y="762000"/>
            <a:ext cx="5507038" cy="3811588"/>
          </a:xfrm>
          <a:prstGeom prst="rect">
            <a:avLst/>
          </a:prstGeom>
          <a:noFill/>
          <a:ln w="12700">
            <a:solidFill>
              <a:prstClr val="black"/>
            </a:solidFill>
          </a:ln>
        </p:spPr>
        <p:txBody>
          <a:bodyPr vert="horz" lIns="94695" tIns="47348" rIns="94695" bIns="47348" rtlCol="0" anchor="ctr"/>
          <a:lstStyle/>
          <a:p>
            <a:pPr lvl="0"/>
            <a:endParaRPr lang="ja-JP" altLang="en-US" noProof="0"/>
          </a:p>
        </p:txBody>
      </p:sp>
      <p:sp>
        <p:nvSpPr>
          <p:cNvPr id="5" name="ノート プレースホルダー 4"/>
          <p:cNvSpPr>
            <a:spLocks noGrp="1"/>
          </p:cNvSpPr>
          <p:nvPr>
            <p:ph type="body" sz="quarter" idx="3"/>
          </p:nvPr>
        </p:nvSpPr>
        <p:spPr>
          <a:xfrm>
            <a:off x="703105" y="4827509"/>
            <a:ext cx="5624830" cy="4573429"/>
          </a:xfrm>
          <a:prstGeom prst="rect">
            <a:avLst/>
          </a:prstGeom>
        </p:spPr>
        <p:txBody>
          <a:bodyPr vert="horz" lIns="94695" tIns="47348" rIns="94695" bIns="47348" rtlCol="0"/>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0" y="9653252"/>
            <a:ext cx="3046784" cy="508159"/>
          </a:xfrm>
          <a:prstGeom prst="rect">
            <a:avLst/>
          </a:prstGeom>
        </p:spPr>
        <p:txBody>
          <a:bodyPr vert="horz" lIns="94695" tIns="47348" rIns="94695" bIns="47348" rtlCol="0" anchor="b"/>
          <a:lstStyle>
            <a:lvl1pPr algn="l">
              <a:defRPr sz="1200">
                <a:ea typeface="ＭＳ Ｐゴシック" pitchFamily="50" charset="-128"/>
              </a:defRPr>
            </a:lvl1pPr>
          </a:lstStyle>
          <a:p>
            <a:pPr>
              <a:defRPr/>
            </a:pPr>
            <a:endParaRPr lang="ja-JP" altLang="en-US"/>
          </a:p>
        </p:txBody>
      </p:sp>
      <p:sp>
        <p:nvSpPr>
          <p:cNvPr id="7" name="スライド番号プレースホルダー 6"/>
          <p:cNvSpPr>
            <a:spLocks noGrp="1"/>
          </p:cNvSpPr>
          <p:nvPr>
            <p:ph type="sldNum" sz="quarter" idx="5"/>
          </p:nvPr>
        </p:nvSpPr>
        <p:spPr>
          <a:xfrm>
            <a:off x="3982627" y="9653252"/>
            <a:ext cx="3046784" cy="508159"/>
          </a:xfrm>
          <a:prstGeom prst="rect">
            <a:avLst/>
          </a:prstGeom>
        </p:spPr>
        <p:txBody>
          <a:bodyPr vert="horz" lIns="94695" tIns="47348" rIns="94695" bIns="47348" rtlCol="0" anchor="b"/>
          <a:lstStyle>
            <a:lvl1pPr algn="r">
              <a:defRPr sz="1200">
                <a:ea typeface="ＭＳ Ｐゴシック" pitchFamily="50" charset="-128"/>
              </a:defRPr>
            </a:lvl1pPr>
          </a:lstStyle>
          <a:p>
            <a:pPr>
              <a:defRPr/>
            </a:pPr>
            <a:fld id="{76195CC2-2C8F-433A-9275-A628D6E7C9D8}" type="slidenum">
              <a:rPr lang="ja-JP" altLang="en-US"/>
              <a:pPr>
                <a:defRPr/>
              </a:pPr>
              <a:t>‹#›</a:t>
            </a:fld>
            <a:endParaRPr lang="ja-JP" altLang="en-US"/>
          </a:p>
        </p:txBody>
      </p:sp>
    </p:spTree>
    <p:extLst>
      <p:ext uri="{BB962C8B-B14F-4D97-AF65-F5344CB8AC3E}">
        <p14:creationId xmlns:p14="http://schemas.microsoft.com/office/powerpoint/2010/main" val="346141699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31"/>
          <p:cNvSpPr>
            <a:spLocks noGrp="1" noChangeArrowheads="1"/>
          </p:cNvSpPr>
          <p:nvPr>
            <p:ph type="sldNum" sz="quarter" idx="5"/>
          </p:nvPr>
        </p:nvSpPr>
        <p:spPr>
          <a:noFill/>
          <a:ln>
            <a:miter lim="800000"/>
            <a:headEnd/>
            <a:tailEnd/>
          </a:ln>
        </p:spPr>
        <p:txBody>
          <a:bodyPr/>
          <a:lstStyle/>
          <a:p>
            <a:pPr defTabSz="943209">
              <a:defRPr/>
            </a:pPr>
            <a:fld id="{7D0CC1D6-74E7-47F2-8528-5FAABCBD3F2A}" type="slidenum">
              <a:rPr lang="en-US" altLang="ja-JP" smtClean="0">
                <a:solidFill>
                  <a:srgbClr val="000000"/>
                </a:solidFill>
                <a:latin typeface="Times New Roman" charset="0"/>
              </a:rPr>
              <a:pPr defTabSz="943209">
                <a:defRPr/>
              </a:pPr>
              <a:t>3</a:t>
            </a:fld>
            <a:endParaRPr lang="en-US" altLang="ja-JP">
              <a:solidFill>
                <a:srgbClr val="000000"/>
              </a:solidFill>
              <a:latin typeface="Times New Roman" charset="0"/>
            </a:endParaRPr>
          </a:p>
        </p:txBody>
      </p:sp>
      <p:sp>
        <p:nvSpPr>
          <p:cNvPr id="9219" name="Rectangle 2"/>
          <p:cNvSpPr>
            <a:spLocks noGrp="1" noRot="1" noChangeAspect="1" noChangeArrowheads="1" noTextEdit="1"/>
          </p:cNvSpPr>
          <p:nvPr>
            <p:ph type="sldImg"/>
          </p:nvPr>
        </p:nvSpPr>
        <p:spPr>
          <a:xfrm>
            <a:off x="762000" y="760413"/>
            <a:ext cx="5507038" cy="3813175"/>
          </a:xfrm>
          <a:ln/>
        </p:spPr>
      </p:sp>
      <p:sp>
        <p:nvSpPr>
          <p:cNvPr id="9220" name="Rectangle 3"/>
          <p:cNvSpPr>
            <a:spLocks noGrp="1" noChangeArrowheads="1"/>
          </p:cNvSpPr>
          <p:nvPr>
            <p:ph type="body" idx="1"/>
          </p:nvPr>
        </p:nvSpPr>
        <p:spPr>
          <a:xfrm>
            <a:off x="704418" y="4827224"/>
            <a:ext cx="5622204" cy="4575299"/>
          </a:xfrm>
          <a:noFill/>
        </p:spPr>
        <p:txBody>
          <a:bodyPr/>
          <a:lstStyle/>
          <a:p>
            <a:pPr eaLnBrk="1" hangingPunct="1"/>
            <a:endParaRPr lang="ja-JP" altLang="ja-JP">
              <a:latin typeface="Times New Roman" charset="0"/>
            </a:endParaRPr>
          </a:p>
        </p:txBody>
      </p:sp>
    </p:spTree>
    <p:extLst>
      <p:ext uri="{BB962C8B-B14F-4D97-AF65-F5344CB8AC3E}">
        <p14:creationId xmlns:p14="http://schemas.microsoft.com/office/powerpoint/2010/main" val="3273415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76195CC2-2C8F-433A-9275-A628D6E7C9D8}" type="slidenum">
              <a:rPr lang="ja-JP" altLang="en-US" smtClean="0"/>
              <a:pPr>
                <a:defRPr/>
              </a:pPr>
              <a:t>4</a:t>
            </a:fld>
            <a:endParaRPr lang="ja-JP" altLang="en-US"/>
          </a:p>
        </p:txBody>
      </p:sp>
    </p:spTree>
    <p:extLst>
      <p:ext uri="{BB962C8B-B14F-4D97-AF65-F5344CB8AC3E}">
        <p14:creationId xmlns:p14="http://schemas.microsoft.com/office/powerpoint/2010/main" val="3245600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BBEDA-BDB7-C172-8D8A-05032FF7302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445AD0-A3BA-57ED-2212-AB2FFE63430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64D95F-3098-F857-B1D6-E5821A7F9A4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F4D8DF4-E7C4-5D27-5F3E-4F1EE74107C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345697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08227-6A85-E688-A3DC-9146C7566BC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0B03598-81F0-E376-A3CA-FB0E6EBF64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952451-2E57-E85C-C287-E2F154A5721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6E4431F-A300-DA2B-D83B-9F7A9EE6311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1311414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BC3AF-0E0A-7432-6DDD-D9DE08513C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45288B-B0B7-DE48-7178-CC851F066A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88F103A-F4EC-E3B8-11D1-CB7A30706CD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FDD113B-5C1E-77FE-F8BB-8BD8EA587585}"/>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359993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90273-DE23-D789-E8AE-AEDDF5E94A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AA1EB6B-EDBA-7BD4-A949-D49E1B44CD3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DB9EC76-D7B4-009A-CEDA-03D67498EA7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CF1A02-4189-05F3-99B8-A0DC8980CA2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2648400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76195CC2-2C8F-433A-9275-A628D6E7C9D8}" type="slidenum">
              <a:rPr lang="ja-JP" altLang="en-US" smtClean="0"/>
              <a:pPr>
                <a:defRPr/>
              </a:pPr>
              <a:t>14</a:t>
            </a:fld>
            <a:endParaRPr lang="ja-JP" altLang="en-US"/>
          </a:p>
        </p:txBody>
      </p:sp>
    </p:spTree>
    <p:extLst>
      <p:ext uri="{BB962C8B-B14F-4D97-AF65-F5344CB8AC3E}">
        <p14:creationId xmlns:p14="http://schemas.microsoft.com/office/powerpoint/2010/main" val="3350761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37C0B-8862-6AB8-128C-DDF62A79669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9D2CE5-AB35-37AE-F190-CD3B11C31F8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9E8599C-78B4-B00A-F0F4-32F54E93B4E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2AF4D34-B6CE-1994-277A-0EB250D3A719}"/>
              </a:ext>
            </a:extLst>
          </p:cNvPr>
          <p:cNvSpPr>
            <a:spLocks noGrp="1"/>
          </p:cNvSpPr>
          <p:nvPr>
            <p:ph type="sldNum" sz="quarter" idx="5"/>
          </p:nvPr>
        </p:nvSpPr>
        <p:spPr/>
        <p:txBody>
          <a:bodyPr/>
          <a:lstStyle/>
          <a:p>
            <a:pPr>
              <a:defRPr/>
            </a:pPr>
            <a:fld id="{76195CC2-2C8F-433A-9275-A628D6E7C9D8}" type="slidenum">
              <a:rPr lang="ja-JP" altLang="en-US" smtClean="0"/>
              <a:pPr>
                <a:defRPr/>
              </a:pPr>
              <a:t>15</a:t>
            </a:fld>
            <a:endParaRPr lang="ja-JP" altLang="en-US"/>
          </a:p>
        </p:txBody>
      </p:sp>
    </p:spTree>
    <p:extLst>
      <p:ext uri="{BB962C8B-B14F-4D97-AF65-F5344CB8AC3E}">
        <p14:creationId xmlns:p14="http://schemas.microsoft.com/office/powerpoint/2010/main" val="1101506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87425" rtl="0" eaLnBrk="1" fontAlgn="base" latinLnBrk="0" hangingPunct="1">
              <a:lnSpc>
                <a:spcPct val="100000"/>
              </a:lnSpc>
              <a:spcBef>
                <a:spcPct val="0"/>
              </a:spcBef>
              <a:spcAft>
                <a:spcPct val="0"/>
              </a:spcAft>
              <a:buClrTx/>
              <a:buSzTx/>
              <a:buFontTx/>
              <a:buNone/>
              <a:tabLst/>
              <a:defRPr/>
            </a:pPr>
            <a:fld id="{34045E63-1482-4259-BA29-ADF401B86094}" type="slidenum">
              <a:rPr kumimoji="1" lang="ja-JP" altLang="en-US" sz="1200" b="0" i="0" u="none" strike="noStrike" kern="1200" cap="none" spc="0" normalizeH="0" baseline="0" noProof="0" smtClean="0">
                <a:ln>
                  <a:noFill/>
                </a:ln>
                <a:solidFill>
                  <a:prstClr val="black"/>
                </a:solidFill>
                <a:effectLst/>
                <a:uLnTx/>
                <a:uFillTx/>
                <a:latin typeface="ＭＳ Ｐゴシック" pitchFamily="50" charset="-128"/>
                <a:ea typeface="ＭＳ Ｐゴシック" pitchFamily="50" charset="-128"/>
                <a:cs typeface="+mn-cs"/>
              </a:rPr>
              <a:pPr marL="0" marR="0" lvl="0" indent="0" algn="r" defTabSz="987425" rtl="0" eaLnBrk="1" fontAlgn="base" latinLnBrk="0" hangingPunct="1">
                <a:lnSpc>
                  <a:spcPct val="100000"/>
                </a:lnSpc>
                <a:spcBef>
                  <a:spcPct val="0"/>
                </a:spcBef>
                <a:spcAft>
                  <a:spcPct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ＭＳ Ｐゴシック" pitchFamily="50" charset="-128"/>
              <a:ea typeface="ＭＳ Ｐゴシック" pitchFamily="50" charset="-128"/>
              <a:cs typeface="+mn-cs"/>
            </a:endParaRPr>
          </a:p>
        </p:txBody>
      </p:sp>
    </p:spTree>
    <p:extLst>
      <p:ext uri="{BB962C8B-B14F-4D97-AF65-F5344CB8AC3E}">
        <p14:creationId xmlns:p14="http://schemas.microsoft.com/office/powerpoint/2010/main" val="2068014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76195CC2-2C8F-433A-9275-A628D6E7C9D8}" type="slidenum">
              <a:rPr lang="ja-JP" altLang="en-US" smtClean="0"/>
              <a:pPr>
                <a:defRPr/>
              </a:pPr>
              <a:t>21</a:t>
            </a:fld>
            <a:endParaRPr lang="ja-JP" altLang="en-US"/>
          </a:p>
        </p:txBody>
      </p:sp>
    </p:spTree>
    <p:extLst>
      <p:ext uri="{BB962C8B-B14F-4D97-AF65-F5344CB8AC3E}">
        <p14:creationId xmlns:p14="http://schemas.microsoft.com/office/powerpoint/2010/main" val="4153164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76195CC2-2C8F-433A-9275-A628D6E7C9D8}" type="slidenum">
              <a:rPr lang="ja-JP" altLang="en-US" smtClean="0"/>
              <a:pPr>
                <a:defRPr/>
              </a:pPr>
              <a:t>23</a:t>
            </a:fld>
            <a:endParaRPr lang="ja-JP" altLang="en-US"/>
          </a:p>
        </p:txBody>
      </p:sp>
    </p:spTree>
    <p:extLst>
      <p:ext uri="{BB962C8B-B14F-4D97-AF65-F5344CB8AC3E}">
        <p14:creationId xmlns:p14="http://schemas.microsoft.com/office/powerpoint/2010/main" val="3358619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8E4C2EAF-18FD-481E-9862-47E8E9A1169F}" type="slidenum">
              <a:rPr lang="en-US" altLang="ja-JP" smtClean="0"/>
              <a:pPr>
                <a:defRPr/>
              </a:pPr>
              <a:t>31</a:t>
            </a:fld>
            <a:endParaRPr lang="en-US" altLang="ja-JP"/>
          </a:p>
        </p:txBody>
      </p:sp>
    </p:spTree>
    <p:extLst>
      <p:ext uri="{BB962C8B-B14F-4D97-AF65-F5344CB8AC3E}">
        <p14:creationId xmlns:p14="http://schemas.microsoft.com/office/powerpoint/2010/main" val="7411615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76195CC2-2C8F-433A-9275-A628D6E7C9D8}" type="slidenum">
              <a:rPr lang="ja-JP" altLang="en-US" smtClean="0"/>
              <a:pPr>
                <a:defRPr/>
              </a:pPr>
              <a:t>34</a:t>
            </a:fld>
            <a:endParaRPr lang="ja-JP" altLang="en-US"/>
          </a:p>
        </p:txBody>
      </p:sp>
    </p:spTree>
    <p:extLst>
      <p:ext uri="{BB962C8B-B14F-4D97-AF65-F5344CB8AC3E}">
        <p14:creationId xmlns:p14="http://schemas.microsoft.com/office/powerpoint/2010/main" val="844677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3.xml"/><Relationship Id="rId7"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Master" Target="../slideMasters/slideMaster2.xml"/><Relationship Id="rId5" Type="http://schemas.openxmlformats.org/officeDocument/2006/relationships/tags" Target="../tags/tag5.xml"/><Relationship Id="rId4" Type="http://schemas.openxmlformats.org/officeDocument/2006/relationships/tags" Target="../tags/tag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5.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5.xml"/><Relationship Id="rId4" Type="http://schemas.openxmlformats.org/officeDocument/2006/relationships/image" Target="../media/image8.emf"/></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0.emf"/><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122994-5668-4897-BBF7-B9BE4C42AFE3}"/>
              </a:ext>
            </a:extLst>
          </p:cNvPr>
          <p:cNvSpPr>
            <a:spLocks noGrp="1"/>
          </p:cNvSpPr>
          <p:nvPr>
            <p:ph type="ctrTitle"/>
          </p:nvPr>
        </p:nvSpPr>
        <p:spPr>
          <a:xfrm>
            <a:off x="1238250" y="1122362"/>
            <a:ext cx="7429500" cy="3192883"/>
          </a:xfrm>
          <a:prstGeom prst="rect">
            <a:avLst/>
          </a:prstGeom>
        </p:spPr>
        <p:txBody>
          <a:bodyPr anchor="ctr" anchorCtr="0"/>
          <a:lstStyle>
            <a:lvl1pPr algn="ctr">
              <a:defRPr sz="4400">
                <a:solidFill>
                  <a:schemeClr val="tx1"/>
                </a:solidFill>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2ECA535-6149-493C-9115-993C9D9D95DA}"/>
              </a:ext>
            </a:extLst>
          </p:cNvPr>
          <p:cNvSpPr>
            <a:spLocks noGrp="1"/>
          </p:cNvSpPr>
          <p:nvPr>
            <p:ph type="subTitle" idx="1"/>
          </p:nvPr>
        </p:nvSpPr>
        <p:spPr>
          <a:xfrm>
            <a:off x="1238250" y="4509542"/>
            <a:ext cx="7429500" cy="1655762"/>
          </a:xfrm>
          <a:prstGeom prst="rect">
            <a:avLst/>
          </a:prstGeom>
        </p:spPr>
        <p:txBody>
          <a:bodyPr/>
          <a:lstStyle>
            <a:lvl1pPr marL="0" indent="0" algn="ctr">
              <a:spcBef>
                <a:spcPts val="0"/>
              </a:spcBef>
              <a:buNone/>
              <a:defRPr sz="280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endParaRPr kumimoji="1" lang="en-US" altLang="ja-JP"/>
          </a:p>
        </p:txBody>
      </p:sp>
      <p:sp>
        <p:nvSpPr>
          <p:cNvPr id="5" name="Rectangle 10">
            <a:extLst>
              <a:ext uri="{FF2B5EF4-FFF2-40B4-BE49-F238E27FC236}">
                <a16:creationId xmlns:a16="http://schemas.microsoft.com/office/drawing/2014/main" id="{F7FF61F4-0C15-4412-91AD-CB5AE5E82986}"/>
              </a:ext>
            </a:extLst>
          </p:cNvPr>
          <p:cNvSpPr>
            <a:spLocks noChangeArrowheads="1"/>
          </p:cNvSpPr>
          <p:nvPr userDrawn="1"/>
        </p:nvSpPr>
        <p:spPr bwMode="auto">
          <a:xfrm>
            <a:off x="734272" y="3429000"/>
            <a:ext cx="8467200"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3396017647"/>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8C13DD4-DDF0-47EA-85C0-33C135D060A2}"/>
              </a:ext>
            </a:extLst>
          </p:cNvPr>
          <p:cNvSpPr>
            <a:spLocks noGrp="1"/>
          </p:cNvSpPr>
          <p:nvPr>
            <p:ph type="title"/>
          </p:nvPr>
        </p:nvSpPr>
        <p:spPr>
          <a:xfrm>
            <a:off x="558800" y="265113"/>
            <a:ext cx="7635289" cy="334962"/>
          </a:xfrm>
          <a:prstGeom prst="rect">
            <a:avLst/>
          </a:prstGeom>
        </p:spPr>
        <p:txBody>
          <a:bodyPr/>
          <a:lstStyle>
            <a:lvl1pPr>
              <a:defRPr b="0">
                <a:solidFill>
                  <a:schemeClr val="tx1"/>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281019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FCC99"/>
        </a:solid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558800" y="265113"/>
            <a:ext cx="9004300" cy="334962"/>
          </a:xfrm>
          <a:prstGeom prst="rect">
            <a:avLst/>
          </a:prstGeom>
        </p:spPr>
        <p:txBody>
          <a:bodyPr/>
          <a:lstStyle>
            <a:lvl1pPr>
              <a:defRPr b="0">
                <a:solidFill>
                  <a:schemeClr val="tx1"/>
                </a:solidFill>
              </a:defRPr>
            </a:lvl1pPr>
          </a:lstStyle>
          <a:p>
            <a:r>
              <a:rPr lang="ja-JP" altLang="en-US"/>
              <a:t>マスター タイトルの書式設定</a:t>
            </a:r>
          </a:p>
        </p:txBody>
      </p:sp>
    </p:spTree>
    <p:extLst>
      <p:ext uri="{BB962C8B-B14F-4D97-AF65-F5344CB8AC3E}">
        <p14:creationId xmlns:p14="http://schemas.microsoft.com/office/powerpoint/2010/main" val="2842913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白紙・中表紙">
    <p:spTree>
      <p:nvGrpSpPr>
        <p:cNvPr id="1" name=""/>
        <p:cNvGrpSpPr/>
        <p:nvPr/>
      </p:nvGrpSpPr>
      <p:grpSpPr>
        <a:xfrm>
          <a:off x="0" y="0"/>
          <a:ext cx="0" cy="0"/>
          <a:chOff x="0" y="0"/>
          <a:chExt cx="0" cy="0"/>
        </a:xfrm>
      </p:grpSpPr>
      <p:sp>
        <p:nvSpPr>
          <p:cNvPr id="3" name="正方形/長方形 2"/>
          <p:cNvSpPr/>
          <p:nvPr userDrawn="1"/>
        </p:nvSpPr>
        <p:spPr bwMode="auto">
          <a:xfrm>
            <a:off x="0" y="0"/>
            <a:ext cx="9906000" cy="647382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a:defRPr/>
            </a:pPr>
            <a:endParaRPr lang="ja-JP" altLang="en-US">
              <a:solidFill>
                <a:schemeClr val="tx1"/>
              </a:solidFill>
              <a:latin typeface="+mn-ea"/>
              <a:cs typeface="メイリオ" panose="020B0604030504040204" pitchFamily="50" charset="-128"/>
            </a:endParaRPr>
          </a:p>
        </p:txBody>
      </p:sp>
      <p:sp>
        <p:nvSpPr>
          <p:cNvPr id="2" name="タイトル 1"/>
          <p:cNvSpPr>
            <a:spLocks noGrp="1"/>
          </p:cNvSpPr>
          <p:nvPr>
            <p:ph type="title"/>
          </p:nvPr>
        </p:nvSpPr>
        <p:spPr>
          <a:xfrm>
            <a:off x="558800" y="3085949"/>
            <a:ext cx="9004300" cy="553998"/>
          </a:xfrm>
          <a:prstGeom prst="rect">
            <a:avLst/>
          </a:prstGeom>
        </p:spPr>
        <p:txBody>
          <a:bodyPr/>
          <a:lstStyle>
            <a:lvl1pPr algn="ctr">
              <a:defRPr sz="3600">
                <a:solidFill>
                  <a:schemeClr val="tx1"/>
                </a:solidFill>
              </a:defRPr>
            </a:lvl1pPr>
          </a:lstStyle>
          <a:p>
            <a:r>
              <a:rPr lang="ja-JP" altLang="en-US"/>
              <a:t>マスター タイトルの書式設定</a:t>
            </a:r>
          </a:p>
        </p:txBody>
      </p:sp>
    </p:spTree>
    <p:extLst>
      <p:ext uri="{BB962C8B-B14F-4D97-AF65-F5344CB8AC3E}">
        <p14:creationId xmlns:p14="http://schemas.microsoft.com/office/powerpoint/2010/main" val="1708618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本文(総ページ表示なし)">
    <p:spTree>
      <p:nvGrpSpPr>
        <p:cNvPr id="1" name=""/>
        <p:cNvGrpSpPr/>
        <p:nvPr/>
      </p:nvGrpSpPr>
      <p:grpSpPr>
        <a:xfrm>
          <a:off x="0" y="0"/>
          <a:ext cx="0" cy="0"/>
          <a:chOff x="0" y="0"/>
          <a:chExt cx="0" cy="0"/>
        </a:xfrm>
      </p:grpSpPr>
      <p:sp>
        <p:nvSpPr>
          <p:cNvPr id="3" name="正方形/長方形 2"/>
          <p:cNvSpPr/>
          <p:nvPr userDrawn="1"/>
        </p:nvSpPr>
        <p:spPr bwMode="auto">
          <a:xfrm>
            <a:off x="9277462" y="6562725"/>
            <a:ext cx="628538" cy="29527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eaLnBrk="0" hangingPunct="0">
              <a:defRPr/>
            </a:pPr>
            <a:endParaRPr lang="ja-JP" altLang="en-US" sz="1600">
              <a:solidFill>
                <a:schemeClr val="tx2"/>
              </a:solidFill>
              <a:latin typeface="+mn-ea"/>
              <a:cs typeface="メイリオ" panose="020B0604030504040204" pitchFamily="50" charset="-128"/>
            </a:endParaRPr>
          </a:p>
        </p:txBody>
      </p:sp>
      <p:sp>
        <p:nvSpPr>
          <p:cNvPr id="2" name="タイトル 1"/>
          <p:cNvSpPr>
            <a:spLocks noGrp="1"/>
          </p:cNvSpPr>
          <p:nvPr>
            <p:ph type="title"/>
          </p:nvPr>
        </p:nvSpPr>
        <p:spPr>
          <a:xfrm>
            <a:off x="558800" y="265113"/>
            <a:ext cx="9004300" cy="334962"/>
          </a:xfrm>
          <a:prstGeom prst="rect">
            <a:avLst/>
          </a:prstGeom>
        </p:spPr>
        <p:txBody>
          <a:bodyPr/>
          <a:lstStyle>
            <a:lvl1pPr>
              <a:defRPr b="0">
                <a:solidFill>
                  <a:schemeClr val="tx1"/>
                </a:solidFill>
              </a:defRPr>
            </a:lvl1pPr>
          </a:lstStyle>
          <a:p>
            <a:r>
              <a:rPr lang="ja-JP" altLang="en-US"/>
              <a:t>マスター タイトルの書式設定</a:t>
            </a:r>
          </a:p>
        </p:txBody>
      </p:sp>
      <p:sp>
        <p:nvSpPr>
          <p:cNvPr id="4" name="Rectangle 22">
            <a:extLst>
              <a:ext uri="{FF2B5EF4-FFF2-40B4-BE49-F238E27FC236}">
                <a16:creationId xmlns:a16="http://schemas.microsoft.com/office/drawing/2014/main" id="{F066FA23-BE1C-4C2D-8D05-E65E0E392846}"/>
              </a:ext>
            </a:extLst>
          </p:cNvPr>
          <p:cNvSpPr>
            <a:spLocks noChangeArrowheads="1"/>
          </p:cNvSpPr>
          <p:nvPr userDrawn="1"/>
        </p:nvSpPr>
        <p:spPr bwMode="auto">
          <a:xfrm>
            <a:off x="9129464" y="6603945"/>
            <a:ext cx="735017" cy="307777"/>
          </a:xfrm>
          <a:prstGeom prst="rect">
            <a:avLst/>
          </a:prstGeom>
          <a:noFill/>
          <a:ln w="9525">
            <a:noFill/>
            <a:miter lim="800000"/>
            <a:headEnd/>
            <a:tailEnd/>
          </a:ln>
          <a:effectLst/>
        </p:spPr>
        <p:txBody>
          <a:bodyPr wrap="square" anchor="ctr">
            <a:spAutoFit/>
          </a:bodyPr>
          <a:lstStyle/>
          <a:p>
            <a:pPr algn="ctr">
              <a:defRPr/>
            </a:pPr>
            <a:fld id="{8A78A693-3208-4FB2-91F2-7485DAC6A137}" type="slidenum">
              <a:rPr lang="en-US" altLang="ja-JP" sz="1400" b="1" smtClean="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40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a:t>
            </a:r>
            <a:endParaRPr lang="en-US" altLang="ja-JP" sz="1200" b="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Rectangle 20">
            <a:extLst>
              <a:ext uri="{FF2B5EF4-FFF2-40B4-BE49-F238E27FC236}">
                <a16:creationId xmlns:a16="http://schemas.microsoft.com/office/drawing/2014/main" id="{1AE5FD77-33F8-47EE-90D6-722F93DCC3B5}"/>
              </a:ext>
            </a:extLst>
          </p:cNvPr>
          <p:cNvSpPr>
            <a:spLocks noChangeArrowheads="1"/>
          </p:cNvSpPr>
          <p:nvPr userDrawn="1"/>
        </p:nvSpPr>
        <p:spPr bwMode="auto">
          <a:xfrm>
            <a:off x="-2175792" y="4975702"/>
            <a:ext cx="2044700" cy="1661988"/>
          </a:xfrm>
          <a:prstGeom prst="rect">
            <a:avLst/>
          </a:prstGeom>
          <a:solidFill>
            <a:schemeClr val="bg1"/>
          </a:solidFill>
          <a:ln w="3175" algn="ctr">
            <a:solidFill>
              <a:schemeClr val="bg2"/>
            </a:solidFill>
            <a:miter lim="800000"/>
            <a:headEnd/>
            <a:tailEnd/>
          </a:ln>
          <a:effectLst>
            <a:outerShdw dist="35921" dir="2700000" algn="ctr" rotWithShape="0">
              <a:schemeClr val="bg2"/>
            </a:outerShdw>
          </a:effectLst>
        </p:spPr>
        <p:txBody>
          <a:bodyPr wrap="square" lIns="180000" tIns="180000" rIns="180000" bIns="180000" anchor="ctr">
            <a:no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6" name="Rectangle 21">
            <a:extLst>
              <a:ext uri="{FF2B5EF4-FFF2-40B4-BE49-F238E27FC236}">
                <a16:creationId xmlns:a16="http://schemas.microsoft.com/office/drawing/2014/main" id="{C1575839-B912-46A7-979D-8B080A070C9E}"/>
              </a:ext>
            </a:extLst>
          </p:cNvPr>
          <p:cNvSpPr>
            <a:spLocks noChangeArrowheads="1"/>
          </p:cNvSpPr>
          <p:nvPr userDrawn="1"/>
        </p:nvSpPr>
        <p:spPr bwMode="auto">
          <a:xfrm>
            <a:off x="-493042" y="5738309"/>
            <a:ext cx="236538" cy="223837"/>
          </a:xfrm>
          <a:prstGeom prst="rect">
            <a:avLst/>
          </a:prstGeom>
          <a:solidFill>
            <a:srgbClr val="376092"/>
          </a:solidFill>
          <a:ln>
            <a:noFill/>
          </a:ln>
          <a:effec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7" name="Rectangle 22">
            <a:extLst>
              <a:ext uri="{FF2B5EF4-FFF2-40B4-BE49-F238E27FC236}">
                <a16:creationId xmlns:a16="http://schemas.microsoft.com/office/drawing/2014/main" id="{6133ECE9-FDFF-4CB8-8168-1B3208C75A25}"/>
              </a:ext>
            </a:extLst>
          </p:cNvPr>
          <p:cNvSpPr>
            <a:spLocks noChangeArrowheads="1"/>
          </p:cNvSpPr>
          <p:nvPr userDrawn="1"/>
        </p:nvSpPr>
        <p:spPr bwMode="auto">
          <a:xfrm>
            <a:off x="-2175792" y="5737309"/>
            <a:ext cx="1584325" cy="292388"/>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US" altLang="ja-JP" sz="1100">
                <a:ea typeface="ＭＳ Ｐゴシック" pitchFamily="50" charset="-128"/>
              </a:rPr>
              <a:t>Blue(2)</a:t>
            </a:r>
            <a:endParaRPr kumimoji="0" lang="en-GB" altLang="ja-JP" sz="1100">
              <a:ea typeface="ＭＳ Ｐゴシック" pitchFamily="50" charset="-128"/>
            </a:endParaRPr>
          </a:p>
          <a:p>
            <a:pPr algn="r" eaLnBrk="1" hangingPunct="1">
              <a:lnSpc>
                <a:spcPct val="65000"/>
              </a:lnSpc>
              <a:spcBef>
                <a:spcPct val="20000"/>
              </a:spcBef>
              <a:spcAft>
                <a:spcPct val="20000"/>
              </a:spcAft>
              <a:defRPr/>
            </a:pPr>
            <a:r>
              <a:rPr kumimoji="0" lang="en-GB" altLang="ja-JP" sz="1100"/>
              <a:t>RGB= 55,</a:t>
            </a:r>
            <a:r>
              <a:rPr kumimoji="0" lang="en-US" altLang="ja-JP" sz="1100"/>
              <a:t>96</a:t>
            </a:r>
            <a:r>
              <a:rPr kumimoji="0" lang="en-GB" altLang="ja-JP" sz="1100"/>
              <a:t>,146</a:t>
            </a:r>
          </a:p>
        </p:txBody>
      </p:sp>
      <p:grpSp>
        <p:nvGrpSpPr>
          <p:cNvPr id="8" name="Group 23">
            <a:extLst>
              <a:ext uri="{FF2B5EF4-FFF2-40B4-BE49-F238E27FC236}">
                <a16:creationId xmlns:a16="http://schemas.microsoft.com/office/drawing/2014/main" id="{F4D799C3-1B1B-4DD9-A97C-3DD8C980A011}"/>
              </a:ext>
            </a:extLst>
          </p:cNvPr>
          <p:cNvGrpSpPr>
            <a:grpSpLocks/>
          </p:cNvGrpSpPr>
          <p:nvPr userDrawn="1"/>
        </p:nvGrpSpPr>
        <p:grpSpPr bwMode="auto">
          <a:xfrm>
            <a:off x="-2175792" y="5185128"/>
            <a:ext cx="1919288" cy="303212"/>
            <a:chOff x="-1379" y="3713"/>
            <a:chExt cx="1209" cy="191"/>
          </a:xfrm>
        </p:grpSpPr>
        <p:sp>
          <p:nvSpPr>
            <p:cNvPr id="9" name="Rectangle 24">
              <a:extLst>
                <a:ext uri="{FF2B5EF4-FFF2-40B4-BE49-F238E27FC236}">
                  <a16:creationId xmlns:a16="http://schemas.microsoft.com/office/drawing/2014/main" id="{F5468B33-FE8C-40D2-8F5E-54F8B420B1B0}"/>
                </a:ext>
              </a:extLst>
            </p:cNvPr>
            <p:cNvSpPr>
              <a:spLocks noChangeArrowheads="1"/>
            </p:cNvSpPr>
            <p:nvPr userDrawn="1"/>
          </p:nvSpPr>
          <p:spPr bwMode="auto">
            <a:xfrm>
              <a:off x="-319" y="3713"/>
              <a:ext cx="149" cy="141"/>
            </a:xfrm>
            <a:prstGeom prst="rect">
              <a:avLst/>
            </a:prstGeom>
            <a:solidFill>
              <a:srgbClr val="0075BF"/>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10" name="Rectangle 25">
              <a:extLst>
                <a:ext uri="{FF2B5EF4-FFF2-40B4-BE49-F238E27FC236}">
                  <a16:creationId xmlns:a16="http://schemas.microsoft.com/office/drawing/2014/main" id="{531EA692-B1F2-4533-8573-DF1C1B991DD8}"/>
                </a:ext>
              </a:extLst>
            </p:cNvPr>
            <p:cNvSpPr>
              <a:spLocks noChangeArrowheads="1"/>
            </p:cNvSpPr>
            <p:nvPr userDrawn="1"/>
          </p:nvSpPr>
          <p:spPr bwMode="auto">
            <a:xfrm>
              <a:off x="-1379" y="3720"/>
              <a:ext cx="998" cy="184"/>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100">
                  <a:ea typeface="ＭＳ Ｐゴシック" pitchFamily="50" charset="-128"/>
                </a:rPr>
                <a:t>Blue</a:t>
              </a:r>
              <a:r>
                <a:rPr kumimoji="0" lang="en-US" altLang="ja-JP" sz="1100">
                  <a:ea typeface="ＭＳ Ｐゴシック" pitchFamily="50" charset="-128"/>
                </a:rPr>
                <a:t>(1)</a:t>
              </a:r>
              <a:endParaRPr kumimoji="0" lang="en-GB" altLang="ja-JP" sz="1100">
                <a:ea typeface="ＭＳ Ｐゴシック" pitchFamily="50" charset="-128"/>
              </a:endParaRPr>
            </a:p>
            <a:p>
              <a:pPr algn="r" eaLnBrk="1" hangingPunct="1">
                <a:lnSpc>
                  <a:spcPct val="65000"/>
                </a:lnSpc>
                <a:spcBef>
                  <a:spcPct val="20000"/>
                </a:spcBef>
                <a:spcAft>
                  <a:spcPct val="20000"/>
                </a:spcAft>
                <a:defRPr/>
              </a:pPr>
              <a:r>
                <a:rPr kumimoji="0" lang="en-GB" altLang="ja-JP" sz="1100"/>
                <a:t>RGB= 0,117,191</a:t>
              </a:r>
            </a:p>
          </p:txBody>
        </p:sp>
      </p:grpSp>
      <p:grpSp>
        <p:nvGrpSpPr>
          <p:cNvPr id="11" name="Group 26">
            <a:extLst>
              <a:ext uri="{FF2B5EF4-FFF2-40B4-BE49-F238E27FC236}">
                <a16:creationId xmlns:a16="http://schemas.microsoft.com/office/drawing/2014/main" id="{8BD273F7-C5B5-4B7F-B42D-5097A0B999E8}"/>
              </a:ext>
            </a:extLst>
          </p:cNvPr>
          <p:cNvGrpSpPr>
            <a:grpSpLocks/>
          </p:cNvGrpSpPr>
          <p:nvPr userDrawn="1"/>
        </p:nvGrpSpPr>
        <p:grpSpPr bwMode="auto">
          <a:xfrm>
            <a:off x="-2175792" y="6212114"/>
            <a:ext cx="1919288" cy="300037"/>
            <a:chOff x="-1379" y="4611"/>
            <a:chExt cx="1209" cy="189"/>
          </a:xfrm>
        </p:grpSpPr>
        <p:sp>
          <p:nvSpPr>
            <p:cNvPr id="12" name="Rectangle 27">
              <a:extLst>
                <a:ext uri="{FF2B5EF4-FFF2-40B4-BE49-F238E27FC236}">
                  <a16:creationId xmlns:a16="http://schemas.microsoft.com/office/drawing/2014/main" id="{B81B691A-BFAF-4FD0-B9E7-09B7FAD3FB16}"/>
                </a:ext>
              </a:extLst>
            </p:cNvPr>
            <p:cNvSpPr>
              <a:spLocks noChangeArrowheads="1"/>
            </p:cNvSpPr>
            <p:nvPr userDrawn="1"/>
          </p:nvSpPr>
          <p:spPr bwMode="auto">
            <a:xfrm>
              <a:off x="-319" y="4611"/>
              <a:ext cx="149" cy="141"/>
            </a:xfrm>
            <a:prstGeom prst="rect">
              <a:avLst/>
            </a:prstGeom>
            <a:solidFill>
              <a:srgbClr val="DDDDDD"/>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13" name="Rectangle 28">
              <a:extLst>
                <a:ext uri="{FF2B5EF4-FFF2-40B4-BE49-F238E27FC236}">
                  <a16:creationId xmlns:a16="http://schemas.microsoft.com/office/drawing/2014/main" id="{0B8886FF-4CC8-44E5-BD22-99B41A762DFA}"/>
                </a:ext>
              </a:extLst>
            </p:cNvPr>
            <p:cNvSpPr>
              <a:spLocks noChangeArrowheads="1"/>
            </p:cNvSpPr>
            <p:nvPr userDrawn="1"/>
          </p:nvSpPr>
          <p:spPr bwMode="auto">
            <a:xfrm>
              <a:off x="-1379" y="4620"/>
              <a:ext cx="998" cy="18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100">
                  <a:ea typeface="ＭＳ Ｐゴシック" pitchFamily="50" charset="-128"/>
                </a:rPr>
                <a:t>Grey</a:t>
              </a:r>
            </a:p>
            <a:p>
              <a:pPr algn="r" eaLnBrk="1" hangingPunct="1">
                <a:lnSpc>
                  <a:spcPct val="65000"/>
                </a:lnSpc>
                <a:spcBef>
                  <a:spcPct val="20000"/>
                </a:spcBef>
                <a:spcAft>
                  <a:spcPct val="20000"/>
                </a:spcAft>
                <a:defRPr/>
              </a:pPr>
              <a:r>
                <a:rPr kumimoji="0" lang="en-GB" altLang="ja-JP" sz="1100"/>
                <a:t>RGB= 221,221,221</a:t>
              </a:r>
            </a:p>
          </p:txBody>
        </p:sp>
      </p:grpSp>
    </p:spTree>
    <p:extLst>
      <p:ext uri="{BB962C8B-B14F-4D97-AF65-F5344CB8AC3E}">
        <p14:creationId xmlns:p14="http://schemas.microsoft.com/office/powerpoint/2010/main" val="391748765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bl">
  <p:cSld name="タイトルと表">
    <p:spTree>
      <p:nvGrpSpPr>
        <p:cNvPr id="1" name=""/>
        <p:cNvGrpSpPr/>
        <p:nvPr/>
      </p:nvGrpSpPr>
      <p:grpSpPr>
        <a:xfrm>
          <a:off x="0" y="0"/>
          <a:ext cx="0" cy="0"/>
          <a:chOff x="0" y="0"/>
          <a:chExt cx="0" cy="0"/>
        </a:xfrm>
      </p:grpSpPr>
      <p:sp>
        <p:nvSpPr>
          <p:cNvPr id="2" name="タイトル 1"/>
          <p:cNvSpPr>
            <a:spLocks noGrp="1"/>
          </p:cNvSpPr>
          <p:nvPr>
            <p:ph type="title"/>
          </p:nvPr>
        </p:nvSpPr>
        <p:spPr>
          <a:xfrm>
            <a:off x="428695" y="260351"/>
            <a:ext cx="8419862" cy="647700"/>
          </a:xfrm>
        </p:spPr>
        <p:txBody>
          <a:bodyPr/>
          <a:lstStyle/>
          <a:p>
            <a:r>
              <a:rPr lang="ja-JP" altLang="en-US"/>
              <a:t>マスター タイトルの書式設定</a:t>
            </a:r>
          </a:p>
        </p:txBody>
      </p:sp>
      <p:sp>
        <p:nvSpPr>
          <p:cNvPr id="3" name="表プレースホルダー 2"/>
          <p:cNvSpPr>
            <a:spLocks noGrp="1"/>
          </p:cNvSpPr>
          <p:nvPr>
            <p:ph type="tbl" idx="1"/>
          </p:nvPr>
        </p:nvSpPr>
        <p:spPr>
          <a:xfrm>
            <a:off x="428695" y="1052515"/>
            <a:ext cx="9126412" cy="5545137"/>
          </a:xfrm>
        </p:spPr>
        <p:txBody>
          <a:bodyPr/>
          <a:lstStyle/>
          <a:p>
            <a:pPr lvl="0"/>
            <a:endParaRPr lang="ja-JP" altLang="en-US" noProof="0"/>
          </a:p>
        </p:txBody>
      </p:sp>
      <p:sp>
        <p:nvSpPr>
          <p:cNvPr id="4" name="Rectangle 1031">
            <a:extLst>
              <a:ext uri="{FF2B5EF4-FFF2-40B4-BE49-F238E27FC236}">
                <a16:creationId xmlns:a16="http://schemas.microsoft.com/office/drawing/2014/main" id="{CBB3C6D5-5D08-4737-8C74-8F4A4747A58A}"/>
              </a:ext>
            </a:extLst>
          </p:cNvPr>
          <p:cNvSpPr>
            <a:spLocks noGrp="1" noChangeArrowheads="1"/>
          </p:cNvSpPr>
          <p:nvPr>
            <p:ph type="sldNum" sz="quarter" idx="10"/>
          </p:nvPr>
        </p:nvSpPr>
        <p:spPr>
          <a:ln/>
        </p:spPr>
        <p:txBody>
          <a:bodyPr/>
          <a:lstStyle>
            <a:lvl1pPr>
              <a:defRPr/>
            </a:lvl1pPr>
          </a:lstStyle>
          <a:p>
            <a:fld id="{83F781F8-49D6-42A5-9848-2FA10605F0D1}" type="slidenum">
              <a:rPr lang="en-US" altLang="ja-JP"/>
              <a:pPr/>
              <a:t>‹#›</a:t>
            </a:fld>
            <a:endParaRPr lang="en-US" altLang="ja-JP"/>
          </a:p>
        </p:txBody>
      </p:sp>
    </p:spTree>
    <p:extLst>
      <p:ext uri="{BB962C8B-B14F-4D97-AF65-F5344CB8AC3E}">
        <p14:creationId xmlns:p14="http://schemas.microsoft.com/office/powerpoint/2010/main" val="415852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8C13DD4-DDF0-47EA-85C0-33C135D060A2}"/>
              </a:ext>
            </a:extLst>
          </p:cNvPr>
          <p:cNvSpPr>
            <a:spLocks noGrp="1"/>
          </p:cNvSpPr>
          <p:nvPr>
            <p:ph type="title"/>
          </p:nvPr>
        </p:nvSpPr>
        <p:spPr>
          <a:xfrm>
            <a:off x="558800" y="265113"/>
            <a:ext cx="9004300" cy="334962"/>
          </a:xfrm>
          <a:prstGeom prst="rect">
            <a:avLst/>
          </a:prstGeom>
        </p:spPr>
        <p:txBody>
          <a:bodyPr/>
          <a:lstStyle>
            <a:lvl1pPr>
              <a:defRPr b="0">
                <a:solidFill>
                  <a:schemeClr val="tx1"/>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75639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70E4F0-2113-A899-88D3-8D25EBEF5D14}"/>
              </a:ext>
            </a:extLst>
          </p:cNvPr>
          <p:cNvSpPr>
            <a:spLocks noGrp="1"/>
          </p:cNvSpPr>
          <p:nvPr>
            <p:ph type="ctrTitle"/>
          </p:nvPr>
        </p:nvSpPr>
        <p:spPr>
          <a:xfrm>
            <a:off x="1238250" y="1122362"/>
            <a:ext cx="7429500" cy="3192883"/>
          </a:xfrm>
          <a:prstGeom prst="rect">
            <a:avLst/>
          </a:prstGeom>
        </p:spPr>
        <p:txBody>
          <a:bodyPr anchor="ctr" anchorCtr="0"/>
          <a:lstStyle>
            <a:lvl1pPr algn="ctr">
              <a:defRPr sz="4400">
                <a:solidFill>
                  <a:schemeClr val="tx1"/>
                </a:solidFill>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2E64BCD-20EA-1C89-ACEE-9965C7CF2285}"/>
              </a:ext>
            </a:extLst>
          </p:cNvPr>
          <p:cNvSpPr>
            <a:spLocks noGrp="1"/>
          </p:cNvSpPr>
          <p:nvPr>
            <p:ph type="subTitle" idx="1"/>
          </p:nvPr>
        </p:nvSpPr>
        <p:spPr>
          <a:xfrm>
            <a:off x="1238250" y="4509542"/>
            <a:ext cx="7429500" cy="1655762"/>
          </a:xfrm>
          <a:prstGeom prst="rect">
            <a:avLst/>
          </a:prstGeom>
        </p:spPr>
        <p:txBody>
          <a:bodyPr/>
          <a:lstStyle>
            <a:lvl1pPr marL="0" indent="0" algn="ctr">
              <a:spcBef>
                <a:spcPts val="0"/>
              </a:spcBef>
              <a:buNone/>
              <a:defRPr sz="280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endParaRPr kumimoji="1" lang="en-US" altLang="ja-JP"/>
          </a:p>
        </p:txBody>
      </p:sp>
      <p:sp>
        <p:nvSpPr>
          <p:cNvPr id="4" name="Rectangle 10">
            <a:extLst>
              <a:ext uri="{FF2B5EF4-FFF2-40B4-BE49-F238E27FC236}">
                <a16:creationId xmlns:a16="http://schemas.microsoft.com/office/drawing/2014/main" id="{9F4856E9-CE6F-B2C4-978A-F7A5B6E59DE4}"/>
              </a:ext>
            </a:extLst>
          </p:cNvPr>
          <p:cNvSpPr>
            <a:spLocks noChangeArrowheads="1"/>
          </p:cNvSpPr>
          <p:nvPr userDrawn="1"/>
        </p:nvSpPr>
        <p:spPr bwMode="auto">
          <a:xfrm>
            <a:off x="734272" y="3429000"/>
            <a:ext cx="8467200"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5" name="Rectangle 10">
            <a:extLst>
              <a:ext uri="{FF2B5EF4-FFF2-40B4-BE49-F238E27FC236}">
                <a16:creationId xmlns:a16="http://schemas.microsoft.com/office/drawing/2014/main" id="{866775AD-ABCC-046E-099C-C48F465D256E}"/>
              </a:ext>
            </a:extLst>
          </p:cNvPr>
          <p:cNvSpPr>
            <a:spLocks noChangeArrowheads="1"/>
          </p:cNvSpPr>
          <p:nvPr userDrawn="1"/>
        </p:nvSpPr>
        <p:spPr bwMode="auto">
          <a:xfrm>
            <a:off x="165000"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6" name="図 5">
            <a:extLst>
              <a:ext uri="{FF2B5EF4-FFF2-40B4-BE49-F238E27FC236}">
                <a16:creationId xmlns:a16="http://schemas.microsoft.com/office/drawing/2014/main" id="{7B1FD6DE-6D10-AFCE-7DCE-E1D847E8DAAB}"/>
              </a:ext>
            </a:extLst>
          </p:cNvPr>
          <p:cNvPicPr>
            <a:picLocks noChangeAspect="1"/>
          </p:cNvPicPr>
          <p:nvPr userDrawn="1"/>
        </p:nvPicPr>
        <p:blipFill>
          <a:blip r:embed="rId2"/>
          <a:stretch>
            <a:fillRect/>
          </a:stretch>
        </p:blipFill>
        <p:spPr>
          <a:xfrm>
            <a:off x="165000" y="207171"/>
            <a:ext cx="373776" cy="298399"/>
          </a:xfrm>
          <a:prstGeom prst="rect">
            <a:avLst/>
          </a:prstGeom>
        </p:spPr>
      </p:pic>
      <p:pic>
        <p:nvPicPr>
          <p:cNvPr id="7" name="図 6">
            <a:extLst>
              <a:ext uri="{FF2B5EF4-FFF2-40B4-BE49-F238E27FC236}">
                <a16:creationId xmlns:a16="http://schemas.microsoft.com/office/drawing/2014/main" id="{F3D611DA-6169-BBF8-60B0-AB6898986FBD}"/>
              </a:ext>
            </a:extLst>
          </p:cNvPr>
          <p:cNvPicPr>
            <a:picLocks noChangeAspect="1"/>
          </p:cNvPicPr>
          <p:nvPr userDrawn="1"/>
        </p:nvPicPr>
        <p:blipFill>
          <a:blip r:embed="rId3"/>
          <a:stretch>
            <a:fillRect/>
          </a:stretch>
        </p:blipFill>
        <p:spPr>
          <a:xfrm>
            <a:off x="8010914" y="107155"/>
            <a:ext cx="1730086" cy="367676"/>
          </a:xfrm>
          <a:prstGeom prst="rect">
            <a:avLst/>
          </a:prstGeom>
          <a:noFill/>
        </p:spPr>
      </p:pic>
    </p:spTree>
    <p:extLst>
      <p:ext uri="{BB962C8B-B14F-4D97-AF65-F5344CB8AC3E}">
        <p14:creationId xmlns:p14="http://schemas.microsoft.com/office/powerpoint/2010/main" val="2137538960"/>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0" y="869403"/>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2"/>
          <a:stretch>
            <a:fillRect/>
          </a:stretch>
        </p:blipFill>
        <p:spPr>
          <a:xfrm>
            <a:off x="165100" y="540055"/>
            <a:ext cx="373776" cy="298399"/>
          </a:xfrm>
          <a:prstGeom prst="rect">
            <a:avLst/>
          </a:prstGeom>
        </p:spPr>
      </p:pic>
      <p:pic>
        <p:nvPicPr>
          <p:cNvPr id="8" name="Picture 14" descr="日本総研">
            <a:extLst>
              <a:ext uri="{FF2B5EF4-FFF2-40B4-BE49-F238E27FC236}">
                <a16:creationId xmlns:a16="http://schemas.microsoft.com/office/drawing/2014/main" id="{14DC846A-D4A4-4289-91E9-CCE7035954F6}"/>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8268789" y="-889"/>
            <a:ext cx="1473840" cy="34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テキスト プレースホルダー 12">
            <a:extLst>
              <a:ext uri="{FF2B5EF4-FFF2-40B4-BE49-F238E27FC236}">
                <a16:creationId xmlns:a16="http://schemas.microsoft.com/office/drawing/2014/main" id="{74AA31E1-847F-4ECA-B694-8D7007B5391A}"/>
              </a:ext>
            </a:extLst>
          </p:cNvPr>
          <p:cNvSpPr>
            <a:spLocks noGrp="1"/>
          </p:cNvSpPr>
          <p:nvPr>
            <p:ph type="body" sz="quarter" idx="10"/>
          </p:nvPr>
        </p:nvSpPr>
        <p:spPr>
          <a:xfrm>
            <a:off x="8075689" y="360018"/>
            <a:ext cx="1665213" cy="501802"/>
          </a:xfrm>
          <a:prstGeom prst="rect">
            <a:avLst/>
          </a:prstGeom>
        </p:spPr>
        <p:txBody>
          <a:bodyPr tIns="0" rIns="0" bIns="0"/>
          <a:lstStyle>
            <a:lvl1pPr marL="0" indent="0" algn="r">
              <a:lnSpc>
                <a:spcPct val="100000"/>
              </a:lnSpc>
              <a:spcBef>
                <a:spcPts val="0"/>
              </a:spcBef>
              <a:buNone/>
              <a:defRPr sz="1050"/>
            </a:lvl1pPr>
          </a:lstStyle>
          <a:p>
            <a:pPr lvl="0"/>
            <a:endParaRPr kumimoji="1" lang="en-US" altLang="ja-JP"/>
          </a:p>
        </p:txBody>
      </p:sp>
      <p:sp>
        <p:nvSpPr>
          <p:cNvPr id="14" name="テキスト プレースホルダー 22">
            <a:extLst>
              <a:ext uri="{FF2B5EF4-FFF2-40B4-BE49-F238E27FC236}">
                <a16:creationId xmlns:a16="http://schemas.microsoft.com/office/drawing/2014/main" id="{2B936BF5-1FAB-48D2-B313-9E0D7172F145}"/>
              </a:ext>
            </a:extLst>
          </p:cNvPr>
          <p:cNvSpPr>
            <a:spLocks noGrp="1"/>
          </p:cNvSpPr>
          <p:nvPr>
            <p:ph type="body" sz="quarter" idx="12" hasCustomPrompt="1"/>
          </p:nvPr>
        </p:nvSpPr>
        <p:spPr>
          <a:xfrm>
            <a:off x="165100" y="949198"/>
            <a:ext cx="95758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endParaRPr kumimoji="1" lang="en-US" altLang="ja-JP"/>
          </a:p>
          <a:p>
            <a:pPr lvl="0"/>
            <a:endParaRPr kumimoji="1" lang="en-US" altLang="ja-JP"/>
          </a:p>
        </p:txBody>
      </p:sp>
      <p:sp>
        <p:nvSpPr>
          <p:cNvPr id="16" name="テキスト プレースホルダー 32">
            <a:extLst>
              <a:ext uri="{FF2B5EF4-FFF2-40B4-BE49-F238E27FC236}">
                <a16:creationId xmlns:a16="http://schemas.microsoft.com/office/drawing/2014/main" id="{58FF33D5-01F4-465C-BA1C-C08B3A01AD37}"/>
              </a:ext>
            </a:extLst>
          </p:cNvPr>
          <p:cNvSpPr>
            <a:spLocks noGrp="1"/>
          </p:cNvSpPr>
          <p:nvPr>
            <p:ph type="body" sz="quarter" idx="17"/>
          </p:nvPr>
        </p:nvSpPr>
        <p:spPr>
          <a:xfrm>
            <a:off x="165000" y="1663778"/>
            <a:ext cx="9576000" cy="4968797"/>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2" name="タイトル 1">
            <a:extLst>
              <a:ext uri="{FF2B5EF4-FFF2-40B4-BE49-F238E27FC236}">
                <a16:creationId xmlns:a16="http://schemas.microsoft.com/office/drawing/2014/main" id="{644BBCAC-BA76-4B87-9880-BB54E351C46A}"/>
              </a:ext>
            </a:extLst>
          </p:cNvPr>
          <p:cNvSpPr>
            <a:spLocks noGrp="1"/>
          </p:cNvSpPr>
          <p:nvPr>
            <p:ph type="title"/>
          </p:nvPr>
        </p:nvSpPr>
        <p:spPr>
          <a:xfrm>
            <a:off x="575089" y="258793"/>
            <a:ext cx="7464387" cy="575868"/>
          </a:xfrm>
          <a:prstGeom prst="rect">
            <a:avLst/>
          </a:prstGeom>
        </p:spPr>
        <p:txBody>
          <a:bodyPr anchor="b"/>
          <a:lstStyle>
            <a:lvl1pPr>
              <a:defRPr sz="1800">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2077743388"/>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テキスト（スローガン付き）">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0"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2"/>
          <a:stretch>
            <a:fillRect/>
          </a:stretch>
        </p:blipFill>
        <p:spPr>
          <a:xfrm>
            <a:off x="165000" y="207171"/>
            <a:ext cx="373776" cy="298399"/>
          </a:xfrm>
          <a:prstGeom prst="rect">
            <a:avLst/>
          </a:prstGeom>
        </p:spPr>
      </p:pic>
      <p:sp>
        <p:nvSpPr>
          <p:cNvPr id="5" name="タイトル 3">
            <a:extLst>
              <a:ext uri="{FF2B5EF4-FFF2-40B4-BE49-F238E27FC236}">
                <a16:creationId xmlns:a16="http://schemas.microsoft.com/office/drawing/2014/main" id="{D4F05EEE-DE7B-40B5-BCB1-83E14D7FF79D}"/>
              </a:ext>
            </a:extLst>
          </p:cNvPr>
          <p:cNvSpPr>
            <a:spLocks noGrp="1"/>
          </p:cNvSpPr>
          <p:nvPr>
            <p:ph type="title"/>
          </p:nvPr>
        </p:nvSpPr>
        <p:spPr>
          <a:xfrm>
            <a:off x="574989" y="167413"/>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6" name="テキスト プレースホルダー 22">
            <a:extLst>
              <a:ext uri="{FF2B5EF4-FFF2-40B4-BE49-F238E27FC236}">
                <a16:creationId xmlns:a16="http://schemas.microsoft.com/office/drawing/2014/main" id="{73EA0086-EA5B-43BB-A266-3F41E30EBF59}"/>
              </a:ext>
            </a:extLst>
          </p:cNvPr>
          <p:cNvSpPr>
            <a:spLocks noGrp="1"/>
          </p:cNvSpPr>
          <p:nvPr>
            <p:ph type="body" sz="quarter" idx="12" hasCustomPrompt="1"/>
          </p:nvPr>
        </p:nvSpPr>
        <p:spPr>
          <a:xfrm>
            <a:off x="165000"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pic>
        <p:nvPicPr>
          <p:cNvPr id="9" name="図 8">
            <a:extLst>
              <a:ext uri="{FF2B5EF4-FFF2-40B4-BE49-F238E27FC236}">
                <a16:creationId xmlns:a16="http://schemas.microsoft.com/office/drawing/2014/main" id="{5BA3E437-4E2E-42D3-8285-FF96C153EC09}"/>
              </a:ext>
            </a:extLst>
          </p:cNvPr>
          <p:cNvPicPr>
            <a:picLocks noChangeAspect="1"/>
          </p:cNvPicPr>
          <p:nvPr userDrawn="1"/>
        </p:nvPicPr>
        <p:blipFill>
          <a:blip r:embed="rId3"/>
          <a:stretch>
            <a:fillRect/>
          </a:stretch>
        </p:blipFill>
        <p:spPr>
          <a:xfrm>
            <a:off x="8010914" y="107155"/>
            <a:ext cx="1730086" cy="367676"/>
          </a:xfrm>
          <a:prstGeom prst="rect">
            <a:avLst/>
          </a:prstGeom>
          <a:noFill/>
        </p:spPr>
      </p:pic>
      <p:sp>
        <p:nvSpPr>
          <p:cNvPr id="11" name="テキスト プレースホルダー 32">
            <a:extLst>
              <a:ext uri="{FF2B5EF4-FFF2-40B4-BE49-F238E27FC236}">
                <a16:creationId xmlns:a16="http://schemas.microsoft.com/office/drawing/2014/main" id="{B920D211-5103-4051-A3A9-9C274F131A96}"/>
              </a:ext>
            </a:extLst>
          </p:cNvPr>
          <p:cNvSpPr>
            <a:spLocks noGrp="1"/>
          </p:cNvSpPr>
          <p:nvPr>
            <p:ph type="body" sz="quarter" idx="17"/>
          </p:nvPr>
        </p:nvSpPr>
        <p:spPr>
          <a:xfrm>
            <a:off x="164999" y="1330860"/>
            <a:ext cx="9575999"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2079207825"/>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テキスト">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0"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a:stretch>
            <a:fillRect/>
          </a:stretch>
        </p:blipFill>
        <p:spPr>
          <a:xfrm>
            <a:off x="165000" y="207171"/>
            <a:ext cx="373776" cy="298399"/>
          </a:xfrm>
          <a:prstGeom prst="rect">
            <a:avLst/>
          </a:prstGeom>
        </p:spPr>
      </p:pic>
      <p:sp>
        <p:nvSpPr>
          <p:cNvPr id="18" name="タイトル 3">
            <a:extLst>
              <a:ext uri="{FF2B5EF4-FFF2-40B4-BE49-F238E27FC236}">
                <a16:creationId xmlns:a16="http://schemas.microsoft.com/office/drawing/2014/main" id="{9BE97DA9-A20B-41A1-822C-B72E8DD40E20}"/>
              </a:ext>
            </a:extLst>
          </p:cNvPr>
          <p:cNvSpPr>
            <a:spLocks noGrp="1"/>
          </p:cNvSpPr>
          <p:nvPr>
            <p:ph type="title"/>
          </p:nvPr>
        </p:nvSpPr>
        <p:spPr>
          <a:xfrm>
            <a:off x="574989" y="167413"/>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0"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0" name="テキスト プレースホルダー 32">
            <a:extLst>
              <a:ext uri="{FF2B5EF4-FFF2-40B4-BE49-F238E27FC236}">
                <a16:creationId xmlns:a16="http://schemas.microsoft.com/office/drawing/2014/main" id="{3702DEC3-BC55-4139-ACD8-8F210047B66F}"/>
              </a:ext>
            </a:extLst>
          </p:cNvPr>
          <p:cNvSpPr>
            <a:spLocks noGrp="1"/>
          </p:cNvSpPr>
          <p:nvPr>
            <p:ph type="body" sz="quarter" idx="17"/>
          </p:nvPr>
        </p:nvSpPr>
        <p:spPr>
          <a:xfrm>
            <a:off x="164999" y="1330860"/>
            <a:ext cx="9653703"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2614242793"/>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タイトルとテキスト">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0"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a:stretch>
            <a:fillRect/>
          </a:stretch>
        </p:blipFill>
        <p:spPr>
          <a:xfrm>
            <a:off x="165000" y="207171"/>
            <a:ext cx="373776" cy="298399"/>
          </a:xfrm>
          <a:prstGeom prst="rect">
            <a:avLst/>
          </a:prstGeom>
        </p:spPr>
      </p:pic>
    </p:spTree>
    <p:extLst>
      <p:ext uri="{BB962C8B-B14F-4D97-AF65-F5344CB8AC3E}">
        <p14:creationId xmlns:p14="http://schemas.microsoft.com/office/powerpoint/2010/main" val="1542482826"/>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5FBFF"/>
        </a:solidFill>
        <a:effectLst/>
      </p:bgPr>
    </p:bg>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0"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a:stretch>
            <a:fillRect/>
          </a:stretch>
        </p:blipFill>
        <p:spPr>
          <a:xfrm>
            <a:off x="165000" y="207171"/>
            <a:ext cx="373776" cy="298399"/>
          </a:xfrm>
          <a:prstGeom prst="rect">
            <a:avLst/>
          </a:prstGeom>
        </p:spPr>
      </p:pic>
      <p:sp>
        <p:nvSpPr>
          <p:cNvPr id="18" name="タイトル 3">
            <a:extLst>
              <a:ext uri="{FF2B5EF4-FFF2-40B4-BE49-F238E27FC236}">
                <a16:creationId xmlns:a16="http://schemas.microsoft.com/office/drawing/2014/main" id="{9BE97DA9-A20B-41A1-822C-B72E8DD40E20}"/>
              </a:ext>
            </a:extLst>
          </p:cNvPr>
          <p:cNvSpPr>
            <a:spLocks noGrp="1"/>
          </p:cNvSpPr>
          <p:nvPr>
            <p:ph type="title"/>
          </p:nvPr>
        </p:nvSpPr>
        <p:spPr>
          <a:xfrm>
            <a:off x="574989" y="167413"/>
            <a:ext cx="7392374" cy="338157"/>
          </a:xfrm>
          <a:prstGeom prst="rect">
            <a:avLst/>
          </a:prstGeom>
          <a:solidFill>
            <a:srgbClr val="F5FBFF"/>
          </a:solidFill>
        </p:spPr>
        <p:txBody>
          <a:bodyPr/>
          <a:lstStyle>
            <a:lvl1pPr>
              <a:defRPr sz="1800">
                <a:solidFill>
                  <a:schemeClr val="tx1"/>
                </a:solidFill>
              </a:defRPr>
            </a:lvl1pPr>
          </a:lstStyle>
          <a:p>
            <a:r>
              <a:rPr kumimoji="1" lang="ja-JP" altLang="en-US"/>
              <a:t>マスター タイトルの書式設定</a:t>
            </a:r>
          </a:p>
        </p:txBody>
      </p:sp>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0"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0" name="テキスト プレースホルダー 32">
            <a:extLst>
              <a:ext uri="{FF2B5EF4-FFF2-40B4-BE49-F238E27FC236}">
                <a16:creationId xmlns:a16="http://schemas.microsoft.com/office/drawing/2014/main" id="{C76B8763-0FFA-4C9A-A5F2-2CA8AD37A525}"/>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1" name="テキスト プレースホルダー 32">
            <a:extLst>
              <a:ext uri="{FF2B5EF4-FFF2-40B4-BE49-F238E27FC236}">
                <a16:creationId xmlns:a16="http://schemas.microsoft.com/office/drawing/2014/main" id="{6FB8F6DA-1F3E-4E7B-89E0-428507B0F217}"/>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2751760004"/>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タイトルとテキスト（スローガン付き）">
    <p:spTree>
      <p:nvGrpSpPr>
        <p:cNvPr id="1" name=""/>
        <p:cNvGrpSpPr/>
        <p:nvPr/>
      </p:nvGrpSpPr>
      <p:grpSpPr>
        <a:xfrm>
          <a:off x="0" y="0"/>
          <a:ext cx="0" cy="0"/>
          <a:chOff x="0" y="0"/>
          <a:chExt cx="0" cy="0"/>
        </a:xfrm>
      </p:grpSpPr>
      <p:pic>
        <p:nvPicPr>
          <p:cNvPr id="10" name="図 9" descr="グラフィカル ユーザー インターフェイス, テキスト&#10;&#10;自動的に生成された説明">
            <a:extLst>
              <a:ext uri="{FF2B5EF4-FFF2-40B4-BE49-F238E27FC236}">
                <a16:creationId xmlns:a16="http://schemas.microsoft.com/office/drawing/2014/main" id="{3DE65290-C86F-42A0-A8E8-B1BC4CC3B1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10964" y="105468"/>
            <a:ext cx="1729986" cy="360604"/>
          </a:xfrm>
          <a:prstGeom prst="rect">
            <a:avLst/>
          </a:prstGeom>
        </p:spPr>
      </p:pic>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3"/>
          <a:stretch>
            <a:fillRect/>
          </a:stretch>
        </p:blipFill>
        <p:spPr>
          <a:xfrm>
            <a:off x="165000" y="207173"/>
            <a:ext cx="373776" cy="298399"/>
          </a:xfrm>
          <a:prstGeom prst="rect">
            <a:avLst/>
          </a:prstGeom>
        </p:spPr>
      </p:pic>
      <p:sp>
        <p:nvSpPr>
          <p:cNvPr id="5" name="タイトル 3">
            <a:extLst>
              <a:ext uri="{FF2B5EF4-FFF2-40B4-BE49-F238E27FC236}">
                <a16:creationId xmlns:a16="http://schemas.microsoft.com/office/drawing/2014/main" id="{D4F05EEE-DE7B-40B5-BCB1-83E14D7FF79D}"/>
              </a:ext>
            </a:extLst>
          </p:cNvPr>
          <p:cNvSpPr>
            <a:spLocks noGrp="1"/>
          </p:cNvSpPr>
          <p:nvPr>
            <p:ph type="title"/>
          </p:nvPr>
        </p:nvSpPr>
        <p:spPr>
          <a:xfrm>
            <a:off x="574989" y="167415"/>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6" name="テキスト プレースホルダー 22">
            <a:extLst>
              <a:ext uri="{FF2B5EF4-FFF2-40B4-BE49-F238E27FC236}">
                <a16:creationId xmlns:a16="http://schemas.microsoft.com/office/drawing/2014/main" id="{73EA0086-EA5B-43BB-A266-3F41E30EBF59}"/>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1" name="テキスト プレースホルダー 32">
            <a:extLst>
              <a:ext uri="{FF2B5EF4-FFF2-40B4-BE49-F238E27FC236}">
                <a16:creationId xmlns:a16="http://schemas.microsoft.com/office/drawing/2014/main" id="{B920D211-5103-4051-A3A9-9C274F131A96}"/>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2" name="テキスト プレースホルダー 32">
            <a:extLst>
              <a:ext uri="{FF2B5EF4-FFF2-40B4-BE49-F238E27FC236}">
                <a16:creationId xmlns:a16="http://schemas.microsoft.com/office/drawing/2014/main" id="{767B8674-FB4E-49D8-B7D3-1BA8A8BB62AC}"/>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3631398301"/>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表紙２">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2"/>
          <a:stretch>
            <a:fillRect/>
          </a:stretch>
        </p:blipFill>
        <p:spPr>
          <a:xfrm>
            <a:off x="165000" y="207173"/>
            <a:ext cx="373776" cy="298399"/>
          </a:xfrm>
          <a:prstGeom prst="rect">
            <a:avLst/>
          </a:prstGeom>
        </p:spPr>
      </p:pic>
      <p:sp>
        <p:nvSpPr>
          <p:cNvPr id="5" name="タイトル 3">
            <a:extLst>
              <a:ext uri="{FF2B5EF4-FFF2-40B4-BE49-F238E27FC236}">
                <a16:creationId xmlns:a16="http://schemas.microsoft.com/office/drawing/2014/main" id="{D4F05EEE-DE7B-40B5-BCB1-83E14D7FF79D}"/>
              </a:ext>
            </a:extLst>
          </p:cNvPr>
          <p:cNvSpPr>
            <a:spLocks noGrp="1"/>
          </p:cNvSpPr>
          <p:nvPr>
            <p:ph type="title"/>
          </p:nvPr>
        </p:nvSpPr>
        <p:spPr>
          <a:xfrm>
            <a:off x="574989" y="167415"/>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6" name="テキスト プレースホルダー 22">
            <a:extLst>
              <a:ext uri="{FF2B5EF4-FFF2-40B4-BE49-F238E27FC236}">
                <a16:creationId xmlns:a16="http://schemas.microsoft.com/office/drawing/2014/main" id="{73EA0086-EA5B-43BB-A266-3F41E30EBF59}"/>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1" name="テキスト プレースホルダー 32">
            <a:extLst>
              <a:ext uri="{FF2B5EF4-FFF2-40B4-BE49-F238E27FC236}">
                <a16:creationId xmlns:a16="http://schemas.microsoft.com/office/drawing/2014/main" id="{B920D211-5103-4051-A3A9-9C274F131A96}"/>
              </a:ext>
            </a:extLst>
          </p:cNvPr>
          <p:cNvSpPr>
            <a:spLocks noGrp="1"/>
          </p:cNvSpPr>
          <p:nvPr>
            <p:ph type="body" sz="quarter" idx="17"/>
          </p:nvPr>
        </p:nvSpPr>
        <p:spPr>
          <a:xfrm>
            <a:off x="164999" y="1330860"/>
            <a:ext cx="9575904"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3" name="テキスト プレースホルダー 12">
            <a:extLst>
              <a:ext uri="{FF2B5EF4-FFF2-40B4-BE49-F238E27FC236}">
                <a16:creationId xmlns:a16="http://schemas.microsoft.com/office/drawing/2014/main" id="{725886C3-2C5E-4259-9209-A673AD2F938C}"/>
              </a:ext>
            </a:extLst>
          </p:cNvPr>
          <p:cNvSpPr>
            <a:spLocks noGrp="1"/>
          </p:cNvSpPr>
          <p:nvPr>
            <p:ph type="body" sz="quarter" idx="10"/>
          </p:nvPr>
        </p:nvSpPr>
        <p:spPr>
          <a:xfrm>
            <a:off x="8003577" y="343240"/>
            <a:ext cx="1737327" cy="188019"/>
          </a:xfrm>
          <a:prstGeom prst="rect">
            <a:avLst/>
          </a:prstGeom>
        </p:spPr>
        <p:txBody>
          <a:bodyPr tIns="0" rIns="0" bIns="0"/>
          <a:lstStyle>
            <a:lvl1pPr marL="0" indent="0" algn="r">
              <a:lnSpc>
                <a:spcPct val="100000"/>
              </a:lnSpc>
              <a:spcBef>
                <a:spcPts val="0"/>
              </a:spcBef>
              <a:buNone/>
              <a:defRPr sz="1050"/>
            </a:lvl1pPr>
          </a:lstStyle>
          <a:p>
            <a:pPr lvl="0"/>
            <a:endParaRPr kumimoji="1" lang="en-US" altLang="ja-JP"/>
          </a:p>
        </p:txBody>
      </p:sp>
      <p:pic>
        <p:nvPicPr>
          <p:cNvPr id="14" name="Picture 14" descr="日本総研">
            <a:extLst>
              <a:ext uri="{FF2B5EF4-FFF2-40B4-BE49-F238E27FC236}">
                <a16:creationId xmlns:a16="http://schemas.microsoft.com/office/drawing/2014/main" id="{A1E681BE-DDDE-417A-8024-1FB575863D67}"/>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8351520" y="-888"/>
            <a:ext cx="1391109" cy="32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0852728"/>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参考（スローガン付き）">
    <p:bg>
      <p:bgPr>
        <a:solidFill>
          <a:srgbClr val="F5FBFF"/>
        </a:solidFill>
        <a:effectLst/>
      </p:bgPr>
    </p:bg>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7"/>
          <a:stretch>
            <a:fillRect/>
          </a:stretch>
        </p:blipFill>
        <p:spPr>
          <a:xfrm>
            <a:off x="165000" y="207173"/>
            <a:ext cx="373776" cy="298399"/>
          </a:xfrm>
          <a:prstGeom prst="rect">
            <a:avLst/>
          </a:prstGeom>
        </p:spPr>
      </p:pic>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0" name="テキスト プレースホルダー 32">
            <a:extLst>
              <a:ext uri="{FF2B5EF4-FFF2-40B4-BE49-F238E27FC236}">
                <a16:creationId xmlns:a16="http://schemas.microsoft.com/office/drawing/2014/main" id="{C76B8763-0FFA-4C9A-A5F2-2CA8AD37A525}"/>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1" name="テキスト プレースホルダー 32">
            <a:extLst>
              <a:ext uri="{FF2B5EF4-FFF2-40B4-BE49-F238E27FC236}">
                <a16:creationId xmlns:a16="http://schemas.microsoft.com/office/drawing/2014/main" id="{6FB8F6DA-1F3E-4E7B-89E0-428507B0F217}"/>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pic>
        <p:nvPicPr>
          <p:cNvPr id="13" name="図 12" descr="グラフィカル ユーザー インターフェイス, テキスト&#10;&#10;自動的に生成された説明">
            <a:extLst>
              <a:ext uri="{FF2B5EF4-FFF2-40B4-BE49-F238E27FC236}">
                <a16:creationId xmlns:a16="http://schemas.microsoft.com/office/drawing/2014/main" id="{FC4876AB-4E11-4200-9FD8-152DB3E7A33D}"/>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010964" y="105468"/>
            <a:ext cx="1729986" cy="360604"/>
          </a:xfrm>
          <a:prstGeom prst="rect">
            <a:avLst/>
          </a:prstGeom>
        </p:spPr>
      </p:pic>
      <p:sp>
        <p:nvSpPr>
          <p:cNvPr id="9" name="テキスト ボックス 8">
            <a:extLst>
              <a:ext uri="{FF2B5EF4-FFF2-40B4-BE49-F238E27FC236}">
                <a16:creationId xmlns:a16="http://schemas.microsoft.com/office/drawing/2014/main" id="{91739394-114F-47A3-AC40-6F5E06DA1228}"/>
              </a:ext>
            </a:extLst>
          </p:cNvPr>
          <p:cNvSpPr txBox="1"/>
          <p:nvPr userDrawn="1">
            <p:custDataLst>
              <p:tags r:id="rId1"/>
            </p:custDataLst>
          </p:nvPr>
        </p:nvSpPr>
        <p:spPr>
          <a:xfrm>
            <a:off x="-909697" y="-1"/>
            <a:ext cx="756001" cy="182399"/>
          </a:xfrm>
          <a:prstGeom prst="rect">
            <a:avLst/>
          </a:prstGeom>
          <a:solidFill>
            <a:srgbClr val="003599"/>
          </a:solidFill>
        </p:spPr>
        <p:txBody>
          <a:bodyPr vert="horz" wrap="square" lIns="46799" tIns="46799" rIns="46799" bIns="46799" rtlCol="0" anchor="ctr" anchorCtr="1">
            <a:noAutofit/>
          </a:bodyPr>
          <a:lstStyle/>
          <a:p>
            <a:pPr algn="ctr"/>
            <a:r>
              <a:rPr kumimoji="1" lang="en-US" altLang="ja-JP" sz="800">
                <a:solidFill>
                  <a:srgbClr val="FFFFFF"/>
                </a:solidFill>
                <a:latin typeface="Meiryo UI" panose="020B0604030504040204" pitchFamily="50" charset="-128"/>
                <a:ea typeface="Meiryo UI" panose="020B0604030504040204" pitchFamily="50" charset="-128"/>
              </a:rPr>
              <a:t>0:53:153</a:t>
            </a:r>
            <a:endParaRPr kumimoji="1" lang="ja-JP" altLang="en-US" sz="800">
              <a:solidFill>
                <a:srgbClr val="FFFFFF"/>
              </a:solidFill>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495D7D8A-FED5-4B9A-B00C-78EA654B9E88}"/>
              </a:ext>
            </a:extLst>
          </p:cNvPr>
          <p:cNvSpPr txBox="1"/>
          <p:nvPr userDrawn="1">
            <p:custDataLst>
              <p:tags r:id="rId2"/>
            </p:custDataLst>
          </p:nvPr>
        </p:nvSpPr>
        <p:spPr>
          <a:xfrm>
            <a:off x="-909697" y="263167"/>
            <a:ext cx="756001" cy="182399"/>
          </a:xfrm>
          <a:prstGeom prst="rect">
            <a:avLst/>
          </a:prstGeom>
          <a:solidFill>
            <a:srgbClr val="00D4E1"/>
          </a:solidFill>
        </p:spPr>
        <p:txBody>
          <a:bodyPr vert="horz" wrap="square" lIns="46799" tIns="46799" rIns="46799" bIns="46799" rtlCol="0" anchor="ctr" anchorCtr="1">
            <a:noAutofit/>
          </a:bodyPr>
          <a:lstStyle/>
          <a:p>
            <a:pPr algn="ctr"/>
            <a:r>
              <a:rPr kumimoji="1" lang="en-US" altLang="ja-JP" sz="800">
                <a:solidFill>
                  <a:srgbClr val="FFFFFF"/>
                </a:solidFill>
                <a:latin typeface="Meiryo UI" panose="020B0604030504040204" pitchFamily="50" charset="-128"/>
                <a:ea typeface="Meiryo UI" panose="020B0604030504040204" pitchFamily="50" charset="-128"/>
              </a:rPr>
              <a:t>0:212:225</a:t>
            </a:r>
            <a:endParaRPr kumimoji="1" lang="ja-JP" altLang="en-US" sz="800">
              <a:solidFill>
                <a:srgbClr val="FFFFFF"/>
              </a:solidFill>
              <a:latin typeface="Meiryo UI" panose="020B0604030504040204" pitchFamily="50" charset="-128"/>
              <a:ea typeface="Meiryo UI" panose="020B0604030504040204" pitchFamily="50" charset="-128"/>
            </a:endParaRPr>
          </a:p>
        </p:txBody>
      </p:sp>
      <p:sp>
        <p:nvSpPr>
          <p:cNvPr id="14" name="テキスト ボックス 13">
            <a:extLst>
              <a:ext uri="{FF2B5EF4-FFF2-40B4-BE49-F238E27FC236}">
                <a16:creationId xmlns:a16="http://schemas.microsoft.com/office/drawing/2014/main" id="{739566F0-BCB6-476F-BC1A-2ECFC40A7BF2}"/>
              </a:ext>
            </a:extLst>
          </p:cNvPr>
          <p:cNvSpPr txBox="1"/>
          <p:nvPr userDrawn="1">
            <p:custDataLst>
              <p:tags r:id="rId3"/>
            </p:custDataLst>
          </p:nvPr>
        </p:nvSpPr>
        <p:spPr>
          <a:xfrm>
            <a:off x="-909697" y="526335"/>
            <a:ext cx="756001" cy="182399"/>
          </a:xfrm>
          <a:prstGeom prst="rect">
            <a:avLst/>
          </a:prstGeom>
          <a:solidFill>
            <a:srgbClr val="0072CE"/>
          </a:solidFill>
        </p:spPr>
        <p:txBody>
          <a:bodyPr vert="horz" wrap="square" lIns="46799" tIns="46799" rIns="46799" bIns="46799" rtlCol="0" anchor="ctr" anchorCtr="1">
            <a:noAutofit/>
          </a:bodyPr>
          <a:lstStyle/>
          <a:p>
            <a:pPr algn="ctr"/>
            <a:r>
              <a:rPr kumimoji="1" lang="en-US" altLang="ja-JP" sz="800">
                <a:solidFill>
                  <a:srgbClr val="FFFFFF"/>
                </a:solidFill>
                <a:latin typeface="Meiryo UI" panose="020B0604030504040204" pitchFamily="50" charset="-128"/>
                <a:ea typeface="Meiryo UI" panose="020B0604030504040204" pitchFamily="50" charset="-128"/>
              </a:rPr>
              <a:t>0:114:206</a:t>
            </a:r>
            <a:endParaRPr kumimoji="1" lang="ja-JP" altLang="en-US" sz="800">
              <a:solidFill>
                <a:srgbClr val="FFFFFF"/>
              </a:solidFill>
              <a:latin typeface="Meiryo UI" panose="020B0604030504040204" pitchFamily="50" charset="-128"/>
              <a:ea typeface="Meiryo UI" panose="020B0604030504040204" pitchFamily="50" charset="-128"/>
            </a:endParaRPr>
          </a:p>
        </p:txBody>
      </p:sp>
      <p:sp>
        <p:nvSpPr>
          <p:cNvPr id="15" name="テキスト ボックス 14">
            <a:extLst>
              <a:ext uri="{FF2B5EF4-FFF2-40B4-BE49-F238E27FC236}">
                <a16:creationId xmlns:a16="http://schemas.microsoft.com/office/drawing/2014/main" id="{69DCA27A-0762-48DA-80F8-D4272AE2C868}"/>
              </a:ext>
            </a:extLst>
          </p:cNvPr>
          <p:cNvSpPr txBox="1"/>
          <p:nvPr userDrawn="1">
            <p:custDataLst>
              <p:tags r:id="rId4"/>
            </p:custDataLst>
          </p:nvPr>
        </p:nvSpPr>
        <p:spPr>
          <a:xfrm>
            <a:off x="-909697" y="789503"/>
            <a:ext cx="756001" cy="182399"/>
          </a:xfrm>
          <a:prstGeom prst="rect">
            <a:avLst/>
          </a:prstGeom>
          <a:solidFill>
            <a:srgbClr val="D4ECF6"/>
          </a:solidFill>
        </p:spPr>
        <p:txBody>
          <a:bodyPr vert="horz" wrap="square" lIns="46799" tIns="46799" rIns="46799" bIns="46799" rtlCol="0" anchor="ctr" anchorCtr="1">
            <a:noAutofit/>
          </a:bodyPr>
          <a:lstStyle/>
          <a:p>
            <a:pPr algn="ctr"/>
            <a:r>
              <a:rPr kumimoji="1" lang="en-US" altLang="ja-JP" sz="800">
                <a:solidFill>
                  <a:schemeClr val="tx1"/>
                </a:solidFill>
                <a:latin typeface="Meiryo UI" panose="020B0604030504040204" pitchFamily="50" charset="-128"/>
                <a:ea typeface="Meiryo UI" panose="020B0604030504040204" pitchFamily="50" charset="-128"/>
              </a:rPr>
              <a:t>212:236:246</a:t>
            </a:r>
            <a:endParaRPr kumimoji="1" lang="ja-JP" altLang="en-US" sz="800">
              <a:solidFill>
                <a:schemeClr val="tx1"/>
              </a:solidFill>
              <a:latin typeface="Meiryo UI" panose="020B0604030504040204" pitchFamily="50" charset="-128"/>
              <a:ea typeface="Meiryo UI" panose="020B0604030504040204" pitchFamily="50" charset="-128"/>
            </a:endParaRPr>
          </a:p>
        </p:txBody>
      </p:sp>
      <p:sp>
        <p:nvSpPr>
          <p:cNvPr id="19" name="テキスト ボックス 18">
            <a:extLst>
              <a:ext uri="{FF2B5EF4-FFF2-40B4-BE49-F238E27FC236}">
                <a16:creationId xmlns:a16="http://schemas.microsoft.com/office/drawing/2014/main" id="{27956B0D-39C0-4C39-AEAA-F7815B7D7EDC}"/>
              </a:ext>
            </a:extLst>
          </p:cNvPr>
          <p:cNvSpPr txBox="1"/>
          <p:nvPr userDrawn="1">
            <p:custDataLst>
              <p:tags r:id="rId5"/>
            </p:custDataLst>
          </p:nvPr>
        </p:nvSpPr>
        <p:spPr>
          <a:xfrm>
            <a:off x="-909697" y="1052673"/>
            <a:ext cx="756001" cy="182399"/>
          </a:xfrm>
          <a:prstGeom prst="rect">
            <a:avLst/>
          </a:prstGeom>
          <a:solidFill>
            <a:srgbClr val="00005A"/>
          </a:solidFill>
        </p:spPr>
        <p:txBody>
          <a:bodyPr vert="horz" wrap="square" lIns="46799" tIns="46799" rIns="46799" bIns="46799" rtlCol="0" anchor="ctr" anchorCtr="1">
            <a:noAutofit/>
          </a:bodyPr>
          <a:lstStyle/>
          <a:p>
            <a:pPr algn="ctr"/>
            <a:r>
              <a:rPr kumimoji="1" lang="en-US" altLang="ja-JP" sz="800">
                <a:solidFill>
                  <a:srgbClr val="FFFFFF"/>
                </a:solidFill>
                <a:latin typeface="Meiryo UI" panose="020B0604030504040204" pitchFamily="50" charset="-128"/>
                <a:ea typeface="Meiryo UI" panose="020B0604030504040204" pitchFamily="50" charset="-128"/>
              </a:rPr>
              <a:t>0:0:90</a:t>
            </a:r>
            <a:endParaRPr kumimoji="1" lang="ja-JP" altLang="en-US" sz="800">
              <a:solidFill>
                <a:srgbClr val="FFFFFF"/>
              </a:solidFill>
              <a:latin typeface="Meiryo UI" panose="020B0604030504040204" pitchFamily="50" charset="-128"/>
              <a:ea typeface="Meiryo UI" panose="020B0604030504040204" pitchFamily="50" charset="-128"/>
            </a:endParaRPr>
          </a:p>
        </p:txBody>
      </p:sp>
      <p:sp>
        <p:nvSpPr>
          <p:cNvPr id="20" name="タイトル 3">
            <a:extLst>
              <a:ext uri="{FF2B5EF4-FFF2-40B4-BE49-F238E27FC236}">
                <a16:creationId xmlns:a16="http://schemas.microsoft.com/office/drawing/2014/main" id="{3C11954C-B911-448B-BF1D-CBD1ED0FA0B0}"/>
              </a:ext>
            </a:extLst>
          </p:cNvPr>
          <p:cNvSpPr>
            <a:spLocks noGrp="1"/>
          </p:cNvSpPr>
          <p:nvPr>
            <p:ph type="title"/>
          </p:nvPr>
        </p:nvSpPr>
        <p:spPr>
          <a:xfrm>
            <a:off x="574989" y="167415"/>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584004600"/>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122994-5668-4897-BBF7-B9BE4C42AFE3}"/>
              </a:ext>
            </a:extLst>
          </p:cNvPr>
          <p:cNvSpPr>
            <a:spLocks noGrp="1"/>
          </p:cNvSpPr>
          <p:nvPr>
            <p:ph type="ctrTitle"/>
          </p:nvPr>
        </p:nvSpPr>
        <p:spPr>
          <a:xfrm>
            <a:off x="1238250" y="1122362"/>
            <a:ext cx="7429500" cy="3192883"/>
          </a:xfrm>
          <a:prstGeom prst="rect">
            <a:avLst/>
          </a:prstGeom>
        </p:spPr>
        <p:txBody>
          <a:bodyPr anchor="ctr" anchorCtr="0"/>
          <a:lstStyle>
            <a:lvl1pPr algn="ctr">
              <a:defRPr sz="4400">
                <a:solidFill>
                  <a:schemeClr val="tx1"/>
                </a:solidFill>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2ECA535-6149-493C-9115-993C9D9D95DA}"/>
              </a:ext>
            </a:extLst>
          </p:cNvPr>
          <p:cNvSpPr>
            <a:spLocks noGrp="1"/>
          </p:cNvSpPr>
          <p:nvPr>
            <p:ph type="subTitle" idx="1"/>
          </p:nvPr>
        </p:nvSpPr>
        <p:spPr>
          <a:xfrm>
            <a:off x="1238250" y="4509542"/>
            <a:ext cx="7429500" cy="1655762"/>
          </a:xfrm>
          <a:prstGeom prst="rect">
            <a:avLst/>
          </a:prstGeom>
        </p:spPr>
        <p:txBody>
          <a:bodyPr/>
          <a:lstStyle>
            <a:lvl1pPr marL="0" indent="0" algn="ctr">
              <a:spcBef>
                <a:spcPts val="0"/>
              </a:spcBef>
              <a:buNone/>
              <a:defRPr sz="280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endParaRPr kumimoji="1" lang="en-US" altLang="ja-JP"/>
          </a:p>
        </p:txBody>
      </p:sp>
      <p:sp>
        <p:nvSpPr>
          <p:cNvPr id="5" name="Rectangle 10">
            <a:extLst>
              <a:ext uri="{FF2B5EF4-FFF2-40B4-BE49-F238E27FC236}">
                <a16:creationId xmlns:a16="http://schemas.microsoft.com/office/drawing/2014/main" id="{F7FF61F4-0C15-4412-91AD-CB5AE5E82986}"/>
              </a:ext>
            </a:extLst>
          </p:cNvPr>
          <p:cNvSpPr>
            <a:spLocks noChangeArrowheads="1"/>
          </p:cNvSpPr>
          <p:nvPr userDrawn="1"/>
        </p:nvSpPr>
        <p:spPr bwMode="auto">
          <a:xfrm>
            <a:off x="734272" y="3429000"/>
            <a:ext cx="8467200"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2744981610"/>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8C13DD4-DDF0-47EA-85C0-33C135D060A2}"/>
              </a:ext>
            </a:extLst>
          </p:cNvPr>
          <p:cNvSpPr>
            <a:spLocks noGrp="1"/>
          </p:cNvSpPr>
          <p:nvPr>
            <p:ph type="title"/>
          </p:nvPr>
        </p:nvSpPr>
        <p:spPr>
          <a:xfrm>
            <a:off x="558800" y="265113"/>
            <a:ext cx="9004300" cy="334962"/>
          </a:xfrm>
          <a:prstGeom prst="rect">
            <a:avLst/>
          </a:prstGeom>
        </p:spPr>
        <p:txBody>
          <a:bodyPr/>
          <a:lstStyle>
            <a:lvl1pPr>
              <a:defRPr b="0">
                <a:solidFill>
                  <a:schemeClr val="tx1"/>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479790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FCC99"/>
        </a:solid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558800" y="265113"/>
            <a:ext cx="9004300" cy="334962"/>
          </a:xfrm>
          <a:prstGeom prst="rect">
            <a:avLst/>
          </a:prstGeom>
        </p:spPr>
        <p:txBody>
          <a:bodyPr/>
          <a:lstStyle>
            <a:lvl1pPr>
              <a:defRPr b="0">
                <a:solidFill>
                  <a:schemeClr val="tx1"/>
                </a:solidFill>
              </a:defRPr>
            </a:lvl1pPr>
          </a:lstStyle>
          <a:p>
            <a:r>
              <a:rPr lang="ja-JP" altLang="en-US"/>
              <a:t>マスター タイトルの書式設定</a:t>
            </a:r>
          </a:p>
        </p:txBody>
      </p:sp>
    </p:spTree>
    <p:extLst>
      <p:ext uri="{BB962C8B-B14F-4D97-AF65-F5344CB8AC3E}">
        <p14:creationId xmlns:p14="http://schemas.microsoft.com/office/powerpoint/2010/main" val="3439619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白紙・中表紙">
    <p:spTree>
      <p:nvGrpSpPr>
        <p:cNvPr id="1" name=""/>
        <p:cNvGrpSpPr/>
        <p:nvPr/>
      </p:nvGrpSpPr>
      <p:grpSpPr>
        <a:xfrm>
          <a:off x="0" y="0"/>
          <a:ext cx="0" cy="0"/>
          <a:chOff x="0" y="0"/>
          <a:chExt cx="0" cy="0"/>
        </a:xfrm>
      </p:grpSpPr>
      <p:sp>
        <p:nvSpPr>
          <p:cNvPr id="3" name="正方形/長方形 2"/>
          <p:cNvSpPr/>
          <p:nvPr userDrawn="1"/>
        </p:nvSpPr>
        <p:spPr bwMode="auto">
          <a:xfrm>
            <a:off x="0" y="0"/>
            <a:ext cx="9906000" cy="647382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a:defRPr/>
            </a:pPr>
            <a:endParaRPr lang="ja-JP" altLang="en-US">
              <a:solidFill>
                <a:schemeClr val="tx1"/>
              </a:solidFill>
              <a:latin typeface="+mn-ea"/>
              <a:cs typeface="メイリオ" panose="020B0604030504040204" pitchFamily="50" charset="-128"/>
            </a:endParaRPr>
          </a:p>
        </p:txBody>
      </p:sp>
      <p:sp>
        <p:nvSpPr>
          <p:cNvPr id="2" name="タイトル 1"/>
          <p:cNvSpPr>
            <a:spLocks noGrp="1"/>
          </p:cNvSpPr>
          <p:nvPr>
            <p:ph type="title"/>
          </p:nvPr>
        </p:nvSpPr>
        <p:spPr>
          <a:xfrm>
            <a:off x="558800" y="3085949"/>
            <a:ext cx="9004300" cy="553998"/>
          </a:xfrm>
          <a:prstGeom prst="rect">
            <a:avLst/>
          </a:prstGeom>
        </p:spPr>
        <p:txBody>
          <a:bodyPr/>
          <a:lstStyle>
            <a:lvl1pPr algn="ctr">
              <a:defRPr sz="3600">
                <a:solidFill>
                  <a:schemeClr val="tx1"/>
                </a:solidFill>
              </a:defRPr>
            </a:lvl1pPr>
          </a:lstStyle>
          <a:p>
            <a:r>
              <a:rPr lang="ja-JP" altLang="en-US"/>
              <a:t>マスター タイトルの書式設定</a:t>
            </a:r>
          </a:p>
        </p:txBody>
      </p:sp>
    </p:spTree>
    <p:extLst>
      <p:ext uri="{BB962C8B-B14F-4D97-AF65-F5344CB8AC3E}">
        <p14:creationId xmlns:p14="http://schemas.microsoft.com/office/powerpoint/2010/main" val="825221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本文(総ページ表示なし)">
    <p:spTree>
      <p:nvGrpSpPr>
        <p:cNvPr id="1" name=""/>
        <p:cNvGrpSpPr/>
        <p:nvPr/>
      </p:nvGrpSpPr>
      <p:grpSpPr>
        <a:xfrm>
          <a:off x="0" y="0"/>
          <a:ext cx="0" cy="0"/>
          <a:chOff x="0" y="0"/>
          <a:chExt cx="0" cy="0"/>
        </a:xfrm>
      </p:grpSpPr>
      <p:sp>
        <p:nvSpPr>
          <p:cNvPr id="3" name="正方形/長方形 2"/>
          <p:cNvSpPr/>
          <p:nvPr userDrawn="1"/>
        </p:nvSpPr>
        <p:spPr bwMode="auto">
          <a:xfrm>
            <a:off x="9277462" y="6562725"/>
            <a:ext cx="628538" cy="29527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eaLnBrk="0" hangingPunct="0">
              <a:defRPr/>
            </a:pPr>
            <a:endParaRPr lang="ja-JP" altLang="en-US" sz="1600">
              <a:solidFill>
                <a:schemeClr val="tx2"/>
              </a:solidFill>
              <a:latin typeface="+mn-ea"/>
              <a:cs typeface="メイリオ" panose="020B0604030504040204" pitchFamily="50" charset="-128"/>
            </a:endParaRPr>
          </a:p>
        </p:txBody>
      </p:sp>
      <p:sp>
        <p:nvSpPr>
          <p:cNvPr id="2" name="タイトル 1"/>
          <p:cNvSpPr>
            <a:spLocks noGrp="1"/>
          </p:cNvSpPr>
          <p:nvPr>
            <p:ph type="title"/>
          </p:nvPr>
        </p:nvSpPr>
        <p:spPr>
          <a:xfrm>
            <a:off x="587431" y="265113"/>
            <a:ext cx="7560526" cy="334962"/>
          </a:xfrm>
          <a:prstGeom prst="rect">
            <a:avLst/>
          </a:prstGeom>
        </p:spPr>
        <p:txBody>
          <a:bodyPr/>
          <a:lstStyle>
            <a:lvl1pPr>
              <a:defRPr b="0">
                <a:solidFill>
                  <a:schemeClr val="tx1"/>
                </a:solidFill>
              </a:defRPr>
            </a:lvl1pPr>
          </a:lstStyle>
          <a:p>
            <a:r>
              <a:rPr lang="ja-JP" altLang="en-US"/>
              <a:t>マスター タイトルの書式設定</a:t>
            </a:r>
          </a:p>
        </p:txBody>
      </p:sp>
      <p:sp>
        <p:nvSpPr>
          <p:cNvPr id="4" name="Rectangle 22">
            <a:extLst>
              <a:ext uri="{FF2B5EF4-FFF2-40B4-BE49-F238E27FC236}">
                <a16:creationId xmlns:a16="http://schemas.microsoft.com/office/drawing/2014/main" id="{F066FA23-BE1C-4C2D-8D05-E65E0E392846}"/>
              </a:ext>
            </a:extLst>
          </p:cNvPr>
          <p:cNvSpPr>
            <a:spLocks noChangeArrowheads="1"/>
          </p:cNvSpPr>
          <p:nvPr userDrawn="1"/>
        </p:nvSpPr>
        <p:spPr bwMode="auto">
          <a:xfrm>
            <a:off x="9129464" y="6603945"/>
            <a:ext cx="735017" cy="307777"/>
          </a:xfrm>
          <a:prstGeom prst="rect">
            <a:avLst/>
          </a:prstGeom>
          <a:noFill/>
          <a:ln w="9525">
            <a:noFill/>
            <a:miter lim="800000"/>
            <a:headEnd/>
            <a:tailEnd/>
          </a:ln>
          <a:effectLst/>
        </p:spPr>
        <p:txBody>
          <a:bodyPr wrap="square" anchor="ctr">
            <a:spAutoFit/>
          </a:bodyPr>
          <a:lstStyle/>
          <a:p>
            <a:pPr algn="ctr">
              <a:defRPr/>
            </a:pPr>
            <a:fld id="{8A78A693-3208-4FB2-91F2-7485DAC6A137}" type="slidenum">
              <a:rPr lang="en-US" altLang="ja-JP" sz="1400" b="1" smtClean="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40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a:t>
            </a:r>
            <a:endParaRPr lang="en-US" altLang="ja-JP" sz="1200" b="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Rectangle 20">
            <a:extLst>
              <a:ext uri="{FF2B5EF4-FFF2-40B4-BE49-F238E27FC236}">
                <a16:creationId xmlns:a16="http://schemas.microsoft.com/office/drawing/2014/main" id="{1AE5FD77-33F8-47EE-90D6-722F93DCC3B5}"/>
              </a:ext>
            </a:extLst>
          </p:cNvPr>
          <p:cNvSpPr>
            <a:spLocks noChangeArrowheads="1"/>
          </p:cNvSpPr>
          <p:nvPr userDrawn="1"/>
        </p:nvSpPr>
        <p:spPr bwMode="auto">
          <a:xfrm>
            <a:off x="-2175792" y="4975702"/>
            <a:ext cx="2044700" cy="1661988"/>
          </a:xfrm>
          <a:prstGeom prst="rect">
            <a:avLst/>
          </a:prstGeom>
          <a:solidFill>
            <a:schemeClr val="bg1"/>
          </a:solidFill>
          <a:ln w="3175" algn="ctr">
            <a:solidFill>
              <a:schemeClr val="bg2"/>
            </a:solidFill>
            <a:miter lim="800000"/>
            <a:headEnd/>
            <a:tailEnd/>
          </a:ln>
          <a:effectLst>
            <a:outerShdw dist="35921" dir="2700000" algn="ctr" rotWithShape="0">
              <a:schemeClr val="bg2"/>
            </a:outerShdw>
          </a:effectLst>
        </p:spPr>
        <p:txBody>
          <a:bodyPr wrap="square" lIns="180000" tIns="180000" rIns="180000" bIns="180000" anchor="ctr">
            <a:no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6" name="Rectangle 21">
            <a:extLst>
              <a:ext uri="{FF2B5EF4-FFF2-40B4-BE49-F238E27FC236}">
                <a16:creationId xmlns:a16="http://schemas.microsoft.com/office/drawing/2014/main" id="{C1575839-B912-46A7-979D-8B080A070C9E}"/>
              </a:ext>
            </a:extLst>
          </p:cNvPr>
          <p:cNvSpPr>
            <a:spLocks noChangeArrowheads="1"/>
          </p:cNvSpPr>
          <p:nvPr userDrawn="1"/>
        </p:nvSpPr>
        <p:spPr bwMode="auto">
          <a:xfrm>
            <a:off x="-493042" y="5738309"/>
            <a:ext cx="236538" cy="223837"/>
          </a:xfrm>
          <a:prstGeom prst="rect">
            <a:avLst/>
          </a:prstGeom>
          <a:solidFill>
            <a:srgbClr val="376092"/>
          </a:solidFill>
          <a:ln>
            <a:noFill/>
          </a:ln>
          <a:effec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7" name="Rectangle 22">
            <a:extLst>
              <a:ext uri="{FF2B5EF4-FFF2-40B4-BE49-F238E27FC236}">
                <a16:creationId xmlns:a16="http://schemas.microsoft.com/office/drawing/2014/main" id="{6133ECE9-FDFF-4CB8-8168-1B3208C75A25}"/>
              </a:ext>
            </a:extLst>
          </p:cNvPr>
          <p:cNvSpPr>
            <a:spLocks noChangeArrowheads="1"/>
          </p:cNvSpPr>
          <p:nvPr userDrawn="1"/>
        </p:nvSpPr>
        <p:spPr bwMode="auto">
          <a:xfrm>
            <a:off x="-2175792" y="5737309"/>
            <a:ext cx="1584325" cy="292388"/>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US" altLang="ja-JP" sz="1100">
                <a:ea typeface="ＭＳ Ｐゴシック" pitchFamily="50" charset="-128"/>
              </a:rPr>
              <a:t>Blue(2)</a:t>
            </a:r>
            <a:endParaRPr kumimoji="0" lang="en-GB" altLang="ja-JP" sz="1100">
              <a:ea typeface="ＭＳ Ｐゴシック" pitchFamily="50" charset="-128"/>
            </a:endParaRPr>
          </a:p>
          <a:p>
            <a:pPr algn="r" eaLnBrk="1" hangingPunct="1">
              <a:lnSpc>
                <a:spcPct val="65000"/>
              </a:lnSpc>
              <a:spcBef>
                <a:spcPct val="20000"/>
              </a:spcBef>
              <a:spcAft>
                <a:spcPct val="20000"/>
              </a:spcAft>
              <a:defRPr/>
            </a:pPr>
            <a:r>
              <a:rPr kumimoji="0" lang="en-GB" altLang="ja-JP" sz="1100"/>
              <a:t>RGB= 55,</a:t>
            </a:r>
            <a:r>
              <a:rPr kumimoji="0" lang="en-US" altLang="ja-JP" sz="1100"/>
              <a:t>96</a:t>
            </a:r>
            <a:r>
              <a:rPr kumimoji="0" lang="en-GB" altLang="ja-JP" sz="1100"/>
              <a:t>,146</a:t>
            </a:r>
          </a:p>
        </p:txBody>
      </p:sp>
      <p:grpSp>
        <p:nvGrpSpPr>
          <p:cNvPr id="8" name="Group 23">
            <a:extLst>
              <a:ext uri="{FF2B5EF4-FFF2-40B4-BE49-F238E27FC236}">
                <a16:creationId xmlns:a16="http://schemas.microsoft.com/office/drawing/2014/main" id="{F4D799C3-1B1B-4DD9-A97C-3DD8C980A011}"/>
              </a:ext>
            </a:extLst>
          </p:cNvPr>
          <p:cNvGrpSpPr>
            <a:grpSpLocks/>
          </p:cNvGrpSpPr>
          <p:nvPr userDrawn="1"/>
        </p:nvGrpSpPr>
        <p:grpSpPr bwMode="auto">
          <a:xfrm>
            <a:off x="-2175792" y="5185128"/>
            <a:ext cx="1919288" cy="303212"/>
            <a:chOff x="-1379" y="3713"/>
            <a:chExt cx="1209" cy="191"/>
          </a:xfrm>
        </p:grpSpPr>
        <p:sp>
          <p:nvSpPr>
            <p:cNvPr id="9" name="Rectangle 24">
              <a:extLst>
                <a:ext uri="{FF2B5EF4-FFF2-40B4-BE49-F238E27FC236}">
                  <a16:creationId xmlns:a16="http://schemas.microsoft.com/office/drawing/2014/main" id="{F5468B33-FE8C-40D2-8F5E-54F8B420B1B0}"/>
                </a:ext>
              </a:extLst>
            </p:cNvPr>
            <p:cNvSpPr>
              <a:spLocks noChangeArrowheads="1"/>
            </p:cNvSpPr>
            <p:nvPr userDrawn="1"/>
          </p:nvSpPr>
          <p:spPr bwMode="auto">
            <a:xfrm>
              <a:off x="-319" y="3713"/>
              <a:ext cx="149" cy="141"/>
            </a:xfrm>
            <a:prstGeom prst="rect">
              <a:avLst/>
            </a:prstGeom>
            <a:solidFill>
              <a:srgbClr val="0075BF"/>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10" name="Rectangle 25">
              <a:extLst>
                <a:ext uri="{FF2B5EF4-FFF2-40B4-BE49-F238E27FC236}">
                  <a16:creationId xmlns:a16="http://schemas.microsoft.com/office/drawing/2014/main" id="{531EA692-B1F2-4533-8573-DF1C1B991DD8}"/>
                </a:ext>
              </a:extLst>
            </p:cNvPr>
            <p:cNvSpPr>
              <a:spLocks noChangeArrowheads="1"/>
            </p:cNvSpPr>
            <p:nvPr userDrawn="1"/>
          </p:nvSpPr>
          <p:spPr bwMode="auto">
            <a:xfrm>
              <a:off x="-1379" y="3720"/>
              <a:ext cx="998" cy="184"/>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100">
                  <a:ea typeface="ＭＳ Ｐゴシック" pitchFamily="50" charset="-128"/>
                </a:rPr>
                <a:t>Blue</a:t>
              </a:r>
              <a:r>
                <a:rPr kumimoji="0" lang="en-US" altLang="ja-JP" sz="1100">
                  <a:ea typeface="ＭＳ Ｐゴシック" pitchFamily="50" charset="-128"/>
                </a:rPr>
                <a:t>(1)</a:t>
              </a:r>
              <a:endParaRPr kumimoji="0" lang="en-GB" altLang="ja-JP" sz="1100">
                <a:ea typeface="ＭＳ Ｐゴシック" pitchFamily="50" charset="-128"/>
              </a:endParaRPr>
            </a:p>
            <a:p>
              <a:pPr algn="r" eaLnBrk="1" hangingPunct="1">
                <a:lnSpc>
                  <a:spcPct val="65000"/>
                </a:lnSpc>
                <a:spcBef>
                  <a:spcPct val="20000"/>
                </a:spcBef>
                <a:spcAft>
                  <a:spcPct val="20000"/>
                </a:spcAft>
                <a:defRPr/>
              </a:pPr>
              <a:r>
                <a:rPr kumimoji="0" lang="en-GB" altLang="ja-JP" sz="1100"/>
                <a:t>RGB= 0,117,191</a:t>
              </a:r>
            </a:p>
          </p:txBody>
        </p:sp>
      </p:grpSp>
      <p:grpSp>
        <p:nvGrpSpPr>
          <p:cNvPr id="11" name="Group 26">
            <a:extLst>
              <a:ext uri="{FF2B5EF4-FFF2-40B4-BE49-F238E27FC236}">
                <a16:creationId xmlns:a16="http://schemas.microsoft.com/office/drawing/2014/main" id="{8BD273F7-C5B5-4B7F-B42D-5097A0B999E8}"/>
              </a:ext>
            </a:extLst>
          </p:cNvPr>
          <p:cNvGrpSpPr>
            <a:grpSpLocks/>
          </p:cNvGrpSpPr>
          <p:nvPr userDrawn="1"/>
        </p:nvGrpSpPr>
        <p:grpSpPr bwMode="auto">
          <a:xfrm>
            <a:off x="-2175792" y="6212114"/>
            <a:ext cx="1919288" cy="300037"/>
            <a:chOff x="-1379" y="4611"/>
            <a:chExt cx="1209" cy="189"/>
          </a:xfrm>
        </p:grpSpPr>
        <p:sp>
          <p:nvSpPr>
            <p:cNvPr id="12" name="Rectangle 27">
              <a:extLst>
                <a:ext uri="{FF2B5EF4-FFF2-40B4-BE49-F238E27FC236}">
                  <a16:creationId xmlns:a16="http://schemas.microsoft.com/office/drawing/2014/main" id="{B81B691A-BFAF-4FD0-B9E7-09B7FAD3FB16}"/>
                </a:ext>
              </a:extLst>
            </p:cNvPr>
            <p:cNvSpPr>
              <a:spLocks noChangeArrowheads="1"/>
            </p:cNvSpPr>
            <p:nvPr userDrawn="1"/>
          </p:nvSpPr>
          <p:spPr bwMode="auto">
            <a:xfrm>
              <a:off x="-319" y="4611"/>
              <a:ext cx="149" cy="141"/>
            </a:xfrm>
            <a:prstGeom prst="rect">
              <a:avLst/>
            </a:prstGeom>
            <a:solidFill>
              <a:srgbClr val="DDDDDD"/>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13" name="Rectangle 28">
              <a:extLst>
                <a:ext uri="{FF2B5EF4-FFF2-40B4-BE49-F238E27FC236}">
                  <a16:creationId xmlns:a16="http://schemas.microsoft.com/office/drawing/2014/main" id="{0B8886FF-4CC8-44E5-BD22-99B41A762DFA}"/>
                </a:ext>
              </a:extLst>
            </p:cNvPr>
            <p:cNvSpPr>
              <a:spLocks noChangeArrowheads="1"/>
            </p:cNvSpPr>
            <p:nvPr userDrawn="1"/>
          </p:nvSpPr>
          <p:spPr bwMode="auto">
            <a:xfrm>
              <a:off x="-1379" y="4620"/>
              <a:ext cx="998" cy="18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100">
                  <a:ea typeface="ＭＳ Ｐゴシック" pitchFamily="50" charset="-128"/>
                </a:rPr>
                <a:t>Grey</a:t>
              </a:r>
            </a:p>
            <a:p>
              <a:pPr algn="r" eaLnBrk="1" hangingPunct="1">
                <a:lnSpc>
                  <a:spcPct val="65000"/>
                </a:lnSpc>
                <a:spcBef>
                  <a:spcPct val="20000"/>
                </a:spcBef>
                <a:spcAft>
                  <a:spcPct val="20000"/>
                </a:spcAft>
                <a:defRPr/>
              </a:pPr>
              <a:r>
                <a:rPr kumimoji="0" lang="en-GB" altLang="ja-JP" sz="1100"/>
                <a:t>RGB= 221,221,221</a:t>
              </a:r>
            </a:p>
          </p:txBody>
        </p:sp>
      </p:grpSp>
    </p:spTree>
    <p:extLst>
      <p:ext uri="{BB962C8B-B14F-4D97-AF65-F5344CB8AC3E}">
        <p14:creationId xmlns:p14="http://schemas.microsoft.com/office/powerpoint/2010/main" val="1902135172"/>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bl">
  <p:cSld name="タイトルと表">
    <p:spTree>
      <p:nvGrpSpPr>
        <p:cNvPr id="1" name=""/>
        <p:cNvGrpSpPr/>
        <p:nvPr/>
      </p:nvGrpSpPr>
      <p:grpSpPr>
        <a:xfrm>
          <a:off x="0" y="0"/>
          <a:ext cx="0" cy="0"/>
          <a:chOff x="0" y="0"/>
          <a:chExt cx="0" cy="0"/>
        </a:xfrm>
      </p:grpSpPr>
      <p:sp>
        <p:nvSpPr>
          <p:cNvPr id="2" name="タイトル 1"/>
          <p:cNvSpPr>
            <a:spLocks noGrp="1"/>
          </p:cNvSpPr>
          <p:nvPr>
            <p:ph type="title"/>
          </p:nvPr>
        </p:nvSpPr>
        <p:spPr>
          <a:xfrm>
            <a:off x="428695" y="260351"/>
            <a:ext cx="8419862" cy="647700"/>
          </a:xfrm>
        </p:spPr>
        <p:txBody>
          <a:bodyPr/>
          <a:lstStyle/>
          <a:p>
            <a:r>
              <a:rPr lang="ja-JP" altLang="en-US"/>
              <a:t>マスター タイトルの書式設定</a:t>
            </a:r>
          </a:p>
        </p:txBody>
      </p:sp>
      <p:sp>
        <p:nvSpPr>
          <p:cNvPr id="3" name="表プレースホルダー 2"/>
          <p:cNvSpPr>
            <a:spLocks noGrp="1"/>
          </p:cNvSpPr>
          <p:nvPr>
            <p:ph type="tbl" idx="1"/>
          </p:nvPr>
        </p:nvSpPr>
        <p:spPr>
          <a:xfrm>
            <a:off x="428695" y="1052515"/>
            <a:ext cx="9126412" cy="5545137"/>
          </a:xfrm>
        </p:spPr>
        <p:txBody>
          <a:bodyPr/>
          <a:lstStyle/>
          <a:p>
            <a:pPr lvl="0"/>
            <a:endParaRPr lang="ja-JP" altLang="en-US" noProof="0"/>
          </a:p>
        </p:txBody>
      </p:sp>
      <p:sp>
        <p:nvSpPr>
          <p:cNvPr id="4" name="Rectangle 1031">
            <a:extLst>
              <a:ext uri="{FF2B5EF4-FFF2-40B4-BE49-F238E27FC236}">
                <a16:creationId xmlns:a16="http://schemas.microsoft.com/office/drawing/2014/main" id="{CBB3C6D5-5D08-4737-8C74-8F4A4747A58A}"/>
              </a:ext>
            </a:extLst>
          </p:cNvPr>
          <p:cNvSpPr>
            <a:spLocks noGrp="1" noChangeArrowheads="1"/>
          </p:cNvSpPr>
          <p:nvPr>
            <p:ph type="sldNum" sz="quarter" idx="10"/>
          </p:nvPr>
        </p:nvSpPr>
        <p:spPr>
          <a:ln/>
        </p:spPr>
        <p:txBody>
          <a:bodyPr/>
          <a:lstStyle>
            <a:lvl1pPr>
              <a:defRPr/>
            </a:lvl1pPr>
          </a:lstStyle>
          <a:p>
            <a:fld id="{83F781F8-49D6-42A5-9848-2FA10605F0D1}" type="slidenum">
              <a:rPr lang="en-US" altLang="ja-JP"/>
              <a:pPr/>
              <a:t>‹#›</a:t>
            </a:fld>
            <a:endParaRPr lang="en-US" altLang="ja-JP"/>
          </a:p>
        </p:txBody>
      </p:sp>
    </p:spTree>
    <p:extLst>
      <p:ext uri="{BB962C8B-B14F-4D97-AF65-F5344CB8AC3E}">
        <p14:creationId xmlns:p14="http://schemas.microsoft.com/office/powerpoint/2010/main" val="5636123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コンテンツ">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350838" y="274639"/>
            <a:ext cx="9204325" cy="603408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84902395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0017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bg>
      <p:bgPr>
        <a:solidFill>
          <a:srgbClr val="FFCC9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89758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表紙_SMBC">
    <p:spTree>
      <p:nvGrpSpPr>
        <p:cNvPr id="1" name=""/>
        <p:cNvGrpSpPr/>
        <p:nvPr/>
      </p:nvGrpSpPr>
      <p:grpSpPr>
        <a:xfrm>
          <a:off x="0" y="0"/>
          <a:ext cx="0" cy="0"/>
          <a:chOff x="0" y="0"/>
          <a:chExt cx="0" cy="0"/>
        </a:xfrm>
      </p:grpSpPr>
      <p:pic>
        <p:nvPicPr>
          <p:cNvPr id="4" name="表紙イメージ" descr="K:\共有\02_デザイン\01_作業中\C08-574（経企星原／コドス）\sakamoto\パーツ書出し\G案_表紙_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0"/>
            <a:ext cx="43227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ライン"/>
          <p:cNvCxnSpPr>
            <a:cxnSpLocks noChangeShapeType="1"/>
          </p:cNvCxnSpPr>
          <p:nvPr/>
        </p:nvCxnSpPr>
        <p:spPr bwMode="auto">
          <a:xfrm>
            <a:off x="3783014" y="2873375"/>
            <a:ext cx="6122987" cy="0"/>
          </a:xfrm>
          <a:prstGeom prst="line">
            <a:avLst/>
          </a:prstGeom>
          <a:noFill/>
          <a:ln w="19050" algn="ctr">
            <a:solidFill>
              <a:srgbClr val="00483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タイトル 1"/>
          <p:cNvSpPr>
            <a:spLocks noGrp="1"/>
          </p:cNvSpPr>
          <p:nvPr>
            <p:ph type="ctrTitle"/>
          </p:nvPr>
        </p:nvSpPr>
        <p:spPr>
          <a:xfrm>
            <a:off x="3783058" y="2203607"/>
            <a:ext cx="6122943" cy="669928"/>
          </a:xfrm>
          <a:prstGeom prst="rect">
            <a:avLst/>
          </a:prstGeom>
          <a:noFill/>
          <a:ln>
            <a:noFill/>
          </a:ln>
          <a:effectLst/>
        </p:spPr>
        <p:txBody>
          <a:bodyPr wrap="square" lIns="71992" rIns="359957" bIns="143983">
            <a:noAutofit/>
          </a:bodyPr>
          <a:lstStyle>
            <a:lvl1pPr algn="r" fontAlgn="ctr">
              <a:lnSpc>
                <a:spcPct val="110000"/>
              </a:lnSpc>
              <a:defRPr lang="ja-JP" altLang="en-US" sz="3200" b="1" baseline="0">
                <a:solidFill>
                  <a:srgbClr val="004831"/>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a:t>マスター タイトルの書式設定</a:t>
            </a:r>
          </a:p>
        </p:txBody>
      </p:sp>
      <p:sp>
        <p:nvSpPr>
          <p:cNvPr id="11" name="テキスト プレースホルダー （リード）"/>
          <p:cNvSpPr>
            <a:spLocks noGrp="1"/>
          </p:cNvSpPr>
          <p:nvPr>
            <p:ph type="body" sz="quarter" idx="21"/>
          </p:nvPr>
        </p:nvSpPr>
        <p:spPr>
          <a:xfrm>
            <a:off x="6844530" y="3073518"/>
            <a:ext cx="2719200" cy="334531"/>
          </a:xfrm>
          <a:prstGeom prst="rect">
            <a:avLst/>
          </a:prstGeom>
          <a:noFill/>
        </p:spPr>
        <p:txBody>
          <a:bodyPr wrap="square" lIns="0" tIns="0" rIns="0" anchor="ctr" anchorCtr="0"/>
          <a:lstStyle>
            <a:lvl1pPr marL="0" indent="0" algn="r">
              <a:lnSpc>
                <a:spcPct val="110000"/>
              </a:lnSpc>
              <a:spcBef>
                <a:spcPts val="0"/>
              </a:spcBef>
              <a:spcAft>
                <a:spcPts val="300"/>
              </a:spcAft>
              <a:buNone/>
              <a:defRPr sz="1700" b="0" baseline="0">
                <a:solidFill>
                  <a:srgbClr val="4D4D4D"/>
                </a:solidFill>
                <a:latin typeface="Meiryo UI" panose="020B0604030504040204" pitchFamily="50" charset="-128"/>
                <a:ea typeface="Meiryo UI" panose="020B0604030504040204" pitchFamily="50" charset="-128"/>
              </a:defRPr>
            </a:lvl1pPr>
          </a:lstStyle>
          <a:p>
            <a:pPr lvl="0"/>
            <a:r>
              <a:rPr lang="ja-JP" altLang="en-US"/>
              <a:t>マスター テキストの書式設定</a:t>
            </a:r>
          </a:p>
        </p:txBody>
      </p:sp>
      <p:pic>
        <p:nvPicPr>
          <p:cNvPr id="9" name="Picture 2" descr="K:\共有\02_デザイン\01_作業中\C08-817(シス統川嵜／田村）\ITロゴ_グラデカラー.emf">
            <a:extLst>
              <a:ext uri="{FF2B5EF4-FFF2-40B4-BE49-F238E27FC236}">
                <a16:creationId xmlns:a16="http://schemas.microsoft.com/office/drawing/2014/main" id="{0583CE39-8651-44F9-8500-85010A35545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615236" y="4505688"/>
            <a:ext cx="4974939" cy="36597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4" descr="日本総研">
            <a:extLst>
              <a:ext uri="{FF2B5EF4-FFF2-40B4-BE49-F238E27FC236}">
                <a16:creationId xmlns:a16="http://schemas.microsoft.com/office/drawing/2014/main" id="{A86A860A-7AF3-4C17-9F86-69CCCFC06F1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026115" y="5786296"/>
            <a:ext cx="2564060" cy="59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52799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表紙_SMFG">
    <p:spTree>
      <p:nvGrpSpPr>
        <p:cNvPr id="1" name=""/>
        <p:cNvGrpSpPr/>
        <p:nvPr/>
      </p:nvGrpSpPr>
      <p:grpSpPr>
        <a:xfrm>
          <a:off x="0" y="0"/>
          <a:ext cx="0" cy="0"/>
          <a:chOff x="0" y="0"/>
          <a:chExt cx="0" cy="0"/>
        </a:xfrm>
      </p:grpSpPr>
      <p:pic>
        <p:nvPicPr>
          <p:cNvPr id="4" name="表紙イメージ" descr="K:\共有\02_デザイン\01_作業中\C08-574（経企星原／コドス）\sakamoto\パーツ書出し\G案_表紙_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0"/>
            <a:ext cx="43227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ライン"/>
          <p:cNvCxnSpPr>
            <a:cxnSpLocks noChangeShapeType="1"/>
          </p:cNvCxnSpPr>
          <p:nvPr/>
        </p:nvCxnSpPr>
        <p:spPr bwMode="auto">
          <a:xfrm>
            <a:off x="3783014" y="2873375"/>
            <a:ext cx="6122987" cy="0"/>
          </a:xfrm>
          <a:prstGeom prst="line">
            <a:avLst/>
          </a:prstGeom>
          <a:noFill/>
          <a:ln w="19050" algn="ctr">
            <a:solidFill>
              <a:srgbClr val="00483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タイトル 1"/>
          <p:cNvSpPr>
            <a:spLocks noGrp="1"/>
          </p:cNvSpPr>
          <p:nvPr>
            <p:ph type="ctrTitle"/>
          </p:nvPr>
        </p:nvSpPr>
        <p:spPr>
          <a:xfrm>
            <a:off x="3783058" y="2203607"/>
            <a:ext cx="6122943" cy="669928"/>
          </a:xfrm>
          <a:prstGeom prst="rect">
            <a:avLst/>
          </a:prstGeom>
          <a:noFill/>
          <a:ln>
            <a:noFill/>
          </a:ln>
          <a:effectLst/>
        </p:spPr>
        <p:txBody>
          <a:bodyPr wrap="square" lIns="71992" rIns="359957" bIns="143983">
            <a:noAutofit/>
          </a:bodyPr>
          <a:lstStyle>
            <a:lvl1pPr algn="r" fontAlgn="ctr">
              <a:lnSpc>
                <a:spcPct val="110000"/>
              </a:lnSpc>
              <a:defRPr lang="ja-JP" altLang="en-US" sz="3200" b="1" baseline="0">
                <a:solidFill>
                  <a:srgbClr val="004831"/>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a:t>マスター タイトルの書式設定</a:t>
            </a:r>
          </a:p>
        </p:txBody>
      </p:sp>
      <p:sp>
        <p:nvSpPr>
          <p:cNvPr id="11" name="テキスト プレースホルダー （リード）"/>
          <p:cNvSpPr>
            <a:spLocks noGrp="1"/>
          </p:cNvSpPr>
          <p:nvPr>
            <p:ph type="body" sz="quarter" idx="21"/>
          </p:nvPr>
        </p:nvSpPr>
        <p:spPr>
          <a:xfrm>
            <a:off x="6844530" y="3073518"/>
            <a:ext cx="2719200" cy="334531"/>
          </a:xfrm>
          <a:prstGeom prst="rect">
            <a:avLst/>
          </a:prstGeom>
          <a:noFill/>
        </p:spPr>
        <p:txBody>
          <a:bodyPr wrap="square" lIns="0" tIns="0" rIns="0" anchor="ctr" anchorCtr="0"/>
          <a:lstStyle>
            <a:lvl1pPr marL="0" indent="0" algn="r">
              <a:lnSpc>
                <a:spcPct val="110000"/>
              </a:lnSpc>
              <a:spcBef>
                <a:spcPts val="0"/>
              </a:spcBef>
              <a:spcAft>
                <a:spcPts val="300"/>
              </a:spcAft>
              <a:buNone/>
              <a:defRPr sz="1700" b="0" baseline="0">
                <a:solidFill>
                  <a:srgbClr val="4D4D4D"/>
                </a:solidFill>
                <a:latin typeface="Meiryo UI" panose="020B0604030504040204" pitchFamily="50" charset="-128"/>
                <a:ea typeface="Meiryo UI" panose="020B0604030504040204" pitchFamily="50" charset="-128"/>
              </a:defRPr>
            </a:lvl1pPr>
          </a:lstStyle>
          <a:p>
            <a:pPr lvl="0"/>
            <a:r>
              <a:rPr lang="ja-JP" altLang="en-US"/>
              <a:t>マスター テキストの書式設定</a:t>
            </a:r>
          </a:p>
        </p:txBody>
      </p:sp>
      <p:pic>
        <p:nvPicPr>
          <p:cNvPr id="9" name="Picture 2" descr="K:\共有\02_デザイン\01_作業中\C08-817(シス統川嵜／田村）\ITロゴ_グラデカラー.emf">
            <a:extLst>
              <a:ext uri="{FF2B5EF4-FFF2-40B4-BE49-F238E27FC236}">
                <a16:creationId xmlns:a16="http://schemas.microsoft.com/office/drawing/2014/main" id="{0583CE39-8651-44F9-8500-85010A35545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609996" y="4505688"/>
            <a:ext cx="4974939" cy="365976"/>
          </a:xfrm>
          <a:prstGeom prst="rect">
            <a:avLst/>
          </a:prstGeom>
          <a:noFill/>
          <a:extLst>
            <a:ext uri="{909E8E84-426E-40DD-AFC4-6F175D3DCCD1}">
              <a14:hiddenFill xmlns:a14="http://schemas.microsoft.com/office/drawing/2010/main">
                <a:solidFill>
                  <a:srgbClr val="FFFFFF"/>
                </a:solidFill>
              </a14:hiddenFill>
            </a:ext>
          </a:extLst>
        </p:spPr>
      </p:pic>
      <p:pic>
        <p:nvPicPr>
          <p:cNvPr id="13" name="SMFGロゴ">
            <a:extLst>
              <a:ext uri="{FF2B5EF4-FFF2-40B4-BE49-F238E27FC236}">
                <a16:creationId xmlns:a16="http://schemas.microsoft.com/office/drawing/2014/main" id="{153C0454-E3D1-4AD8-AADF-12F94239880D}"/>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5672109" y="5611493"/>
            <a:ext cx="3932122" cy="313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83817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扉_SMBC／SMFG">
    <p:spTree>
      <p:nvGrpSpPr>
        <p:cNvPr id="1" name=""/>
        <p:cNvGrpSpPr/>
        <p:nvPr/>
      </p:nvGrpSpPr>
      <p:grpSpPr>
        <a:xfrm>
          <a:off x="0" y="0"/>
          <a:ext cx="0" cy="0"/>
          <a:chOff x="0" y="0"/>
          <a:chExt cx="0" cy="0"/>
        </a:xfrm>
      </p:grpSpPr>
      <p:pic>
        <p:nvPicPr>
          <p:cNvPr id="4" name="表紙イメージ" descr="K:\共有\02_デザイン\01_作業中\C08-574（経企星原／コドス）\sakamoto\パーツ書出し\G案_表紙_01.jpg"/>
          <p:cNvPicPr>
            <a:picLocks noChangeAspect="1" noChangeArrowheads="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 y="0"/>
            <a:ext cx="43227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ライン"/>
          <p:cNvCxnSpPr>
            <a:cxnSpLocks noChangeShapeType="1"/>
          </p:cNvCxnSpPr>
          <p:nvPr/>
        </p:nvCxnSpPr>
        <p:spPr bwMode="auto">
          <a:xfrm>
            <a:off x="3783014" y="2873375"/>
            <a:ext cx="6122987" cy="0"/>
          </a:xfrm>
          <a:prstGeom prst="line">
            <a:avLst/>
          </a:prstGeom>
          <a:noFill/>
          <a:ln w="19050" algn="ctr">
            <a:solidFill>
              <a:schemeClr val="tx1">
                <a:lumMod val="50000"/>
                <a:lumOff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タイトル 1"/>
          <p:cNvSpPr>
            <a:spLocks noGrp="1"/>
          </p:cNvSpPr>
          <p:nvPr>
            <p:ph type="ctrTitle"/>
          </p:nvPr>
        </p:nvSpPr>
        <p:spPr>
          <a:xfrm>
            <a:off x="3783058" y="2203607"/>
            <a:ext cx="6122943" cy="669928"/>
          </a:xfrm>
          <a:prstGeom prst="rect">
            <a:avLst/>
          </a:prstGeom>
          <a:noFill/>
          <a:ln>
            <a:noFill/>
          </a:ln>
          <a:effectLst/>
        </p:spPr>
        <p:txBody>
          <a:bodyPr wrap="square" lIns="71992" rIns="359957" bIns="143983">
            <a:noAutofit/>
          </a:bodyPr>
          <a:lstStyle>
            <a:lvl1pPr algn="r" fontAlgn="ctr">
              <a:lnSpc>
                <a:spcPct val="110000"/>
              </a:lnSpc>
              <a:defRPr lang="ja-JP" altLang="en-US" sz="3200" b="1" baseline="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a:t>マスター タイトルの書式設定</a:t>
            </a:r>
          </a:p>
        </p:txBody>
      </p:sp>
    </p:spTree>
    <p:extLst>
      <p:ext uri="{BB962C8B-B14F-4D97-AF65-F5344CB8AC3E}">
        <p14:creationId xmlns:p14="http://schemas.microsoft.com/office/powerpoint/2010/main" val="240955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表紙">
    <p:spTree>
      <p:nvGrpSpPr>
        <p:cNvPr id="1" name=""/>
        <p:cNvGrpSpPr/>
        <p:nvPr/>
      </p:nvGrpSpPr>
      <p:grpSpPr>
        <a:xfrm>
          <a:off x="0" y="0"/>
          <a:ext cx="0" cy="0"/>
          <a:chOff x="0" y="0"/>
          <a:chExt cx="0" cy="0"/>
        </a:xfrm>
      </p:grpSpPr>
      <p:grpSp>
        <p:nvGrpSpPr>
          <p:cNvPr id="5" name="グループ化 4"/>
          <p:cNvGrpSpPr/>
          <p:nvPr userDrawn="1"/>
        </p:nvGrpSpPr>
        <p:grpSpPr>
          <a:xfrm>
            <a:off x="0" y="249302"/>
            <a:ext cx="9906000" cy="6608698"/>
            <a:chOff x="0" y="268288"/>
            <a:chExt cx="9901238" cy="7112000"/>
          </a:xfrm>
        </p:grpSpPr>
        <p:sp>
          <p:nvSpPr>
            <p:cNvPr id="26" name="Rectangle 7"/>
            <p:cNvSpPr>
              <a:spLocks noChangeArrowheads="1"/>
            </p:cNvSpPr>
            <p:nvPr/>
          </p:nvSpPr>
          <p:spPr bwMode="gray">
            <a:xfrm>
              <a:off x="8461375" y="2898775"/>
              <a:ext cx="1439863" cy="4481513"/>
            </a:xfrm>
            <a:prstGeom prst="rect">
              <a:avLst/>
            </a:prstGeom>
            <a:solidFill>
              <a:srgbClr val="00483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27" name="Rectangle 8"/>
            <p:cNvSpPr>
              <a:spLocks noChangeArrowheads="1"/>
            </p:cNvSpPr>
            <p:nvPr/>
          </p:nvSpPr>
          <p:spPr bwMode="gray">
            <a:xfrm>
              <a:off x="8461375" y="268288"/>
              <a:ext cx="1439863" cy="2341562"/>
            </a:xfrm>
            <a:prstGeom prst="rect">
              <a:avLst/>
            </a:prstGeom>
            <a:solidFill>
              <a:srgbClr val="A0C81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28" name="Rectangle 9"/>
            <p:cNvSpPr>
              <a:spLocks noChangeArrowheads="1"/>
            </p:cNvSpPr>
            <p:nvPr/>
          </p:nvSpPr>
          <p:spPr bwMode="gray">
            <a:xfrm>
              <a:off x="0" y="268288"/>
              <a:ext cx="8172450" cy="2341562"/>
            </a:xfrm>
            <a:prstGeom prst="rect">
              <a:avLst/>
            </a:prstGeom>
            <a:solidFill>
              <a:srgbClr val="DADADA"/>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29" name="Rectangle 23"/>
            <p:cNvSpPr>
              <a:spLocks noChangeArrowheads="1"/>
            </p:cNvSpPr>
            <p:nvPr/>
          </p:nvSpPr>
          <p:spPr bwMode="gray">
            <a:xfrm>
              <a:off x="8461375" y="1601788"/>
              <a:ext cx="647700" cy="720725"/>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30" name="Rectangle 24"/>
            <p:cNvSpPr>
              <a:spLocks noChangeArrowheads="1"/>
            </p:cNvSpPr>
            <p:nvPr/>
          </p:nvSpPr>
          <p:spPr bwMode="gray">
            <a:xfrm>
              <a:off x="9326563" y="1673225"/>
              <a:ext cx="288925" cy="288925"/>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31" name="Rectangle 25"/>
            <p:cNvSpPr>
              <a:spLocks noChangeArrowheads="1"/>
            </p:cNvSpPr>
            <p:nvPr/>
          </p:nvSpPr>
          <p:spPr bwMode="gray">
            <a:xfrm>
              <a:off x="8893175" y="268288"/>
              <a:ext cx="866775" cy="866775"/>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32" name="Rectangle 26"/>
            <p:cNvSpPr>
              <a:spLocks noChangeArrowheads="1"/>
            </p:cNvSpPr>
            <p:nvPr/>
          </p:nvSpPr>
          <p:spPr bwMode="gray">
            <a:xfrm flipH="1">
              <a:off x="7010400" y="1096963"/>
              <a:ext cx="576263" cy="5762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3" name="Rectangle 27"/>
            <p:cNvSpPr>
              <a:spLocks noChangeArrowheads="1"/>
            </p:cNvSpPr>
            <p:nvPr/>
          </p:nvSpPr>
          <p:spPr bwMode="gray">
            <a:xfrm flipH="1">
              <a:off x="7729538" y="2033588"/>
              <a:ext cx="287337" cy="2873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4" name="Rectangle 28"/>
            <p:cNvSpPr>
              <a:spLocks noChangeArrowheads="1"/>
            </p:cNvSpPr>
            <p:nvPr/>
          </p:nvSpPr>
          <p:spPr bwMode="gray">
            <a:xfrm flipH="1">
              <a:off x="6445250" y="1025525"/>
              <a:ext cx="215900" cy="21590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5" name="Rectangle 29"/>
            <p:cNvSpPr>
              <a:spLocks noChangeArrowheads="1"/>
            </p:cNvSpPr>
            <p:nvPr/>
          </p:nvSpPr>
          <p:spPr bwMode="gray">
            <a:xfrm flipH="1">
              <a:off x="6864350" y="376238"/>
              <a:ext cx="288925" cy="288925"/>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6" name="Rectangle 30"/>
            <p:cNvSpPr>
              <a:spLocks noChangeArrowheads="1"/>
            </p:cNvSpPr>
            <p:nvPr/>
          </p:nvSpPr>
          <p:spPr bwMode="gray">
            <a:xfrm flipH="1">
              <a:off x="6937375" y="1962150"/>
              <a:ext cx="287338" cy="287338"/>
            </a:xfrm>
            <a:prstGeom prst="rect">
              <a:avLst/>
            </a:prstGeom>
            <a:noFill/>
            <a:ln w="9525">
              <a:solidFill>
                <a:srgbClr val="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7" name="Rectangle 31"/>
            <p:cNvSpPr>
              <a:spLocks noChangeArrowheads="1"/>
            </p:cNvSpPr>
            <p:nvPr/>
          </p:nvSpPr>
          <p:spPr bwMode="gray">
            <a:xfrm>
              <a:off x="7440613" y="2393950"/>
              <a:ext cx="142875" cy="142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8" name="Rectangle 32"/>
            <p:cNvSpPr>
              <a:spLocks noChangeArrowheads="1"/>
            </p:cNvSpPr>
            <p:nvPr/>
          </p:nvSpPr>
          <p:spPr bwMode="gray">
            <a:xfrm>
              <a:off x="9612313" y="2211388"/>
              <a:ext cx="288925" cy="398462"/>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39" name="Rectangle 33"/>
            <p:cNvSpPr>
              <a:spLocks noChangeArrowheads="1"/>
            </p:cNvSpPr>
            <p:nvPr/>
          </p:nvSpPr>
          <p:spPr bwMode="gray">
            <a:xfrm>
              <a:off x="8461375" y="738188"/>
              <a:ext cx="142875" cy="358775"/>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0" name="Rectangle 34"/>
            <p:cNvSpPr>
              <a:spLocks noChangeArrowheads="1"/>
            </p:cNvSpPr>
            <p:nvPr/>
          </p:nvSpPr>
          <p:spPr bwMode="gray">
            <a:xfrm flipH="1">
              <a:off x="7742238" y="484188"/>
              <a:ext cx="503237" cy="576262"/>
            </a:xfrm>
            <a:prstGeom prst="rect">
              <a:avLst/>
            </a:prstGeom>
            <a:noFill/>
            <a:ln w="9525">
              <a:solidFill>
                <a:srgbClr val="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41" name="Rectangle 35"/>
            <p:cNvSpPr>
              <a:spLocks noChangeArrowheads="1"/>
            </p:cNvSpPr>
            <p:nvPr/>
          </p:nvSpPr>
          <p:spPr bwMode="gray">
            <a:xfrm flipH="1">
              <a:off x="8604250" y="3114675"/>
              <a:ext cx="431800" cy="431800"/>
            </a:xfrm>
            <a:prstGeom prst="rect">
              <a:avLst/>
            </a:prstGeom>
            <a:noFill/>
            <a:ln w="9525">
              <a:solidFill>
                <a:srgbClr val="00604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sz="1401"/>
            </a:p>
          </p:txBody>
        </p:sp>
        <p:sp>
          <p:nvSpPr>
            <p:cNvPr id="42" name="Rectangle 36"/>
            <p:cNvSpPr>
              <a:spLocks noChangeArrowheads="1"/>
            </p:cNvSpPr>
            <p:nvPr/>
          </p:nvSpPr>
          <p:spPr bwMode="gray">
            <a:xfrm flipH="1">
              <a:off x="9396413" y="3186113"/>
              <a:ext cx="287337" cy="287337"/>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3" name="Rectangle 37"/>
            <p:cNvSpPr>
              <a:spLocks noChangeArrowheads="1"/>
            </p:cNvSpPr>
            <p:nvPr/>
          </p:nvSpPr>
          <p:spPr bwMode="gray">
            <a:xfrm flipH="1">
              <a:off x="8820150" y="3763963"/>
              <a:ext cx="431800" cy="431800"/>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4" name="Rectangle 38"/>
            <p:cNvSpPr>
              <a:spLocks noChangeArrowheads="1"/>
            </p:cNvSpPr>
            <p:nvPr/>
          </p:nvSpPr>
          <p:spPr bwMode="gray">
            <a:xfrm flipH="1">
              <a:off x="9253538" y="4483100"/>
              <a:ext cx="503237" cy="503238"/>
            </a:xfrm>
            <a:prstGeom prst="rect">
              <a:avLst/>
            </a:prstGeom>
            <a:noFill/>
            <a:ln w="9525" algn="ctr">
              <a:solidFill>
                <a:srgbClr val="006042"/>
              </a:solidFill>
              <a:miter lim="800000"/>
              <a:headEnd/>
              <a:tailEnd/>
            </a:ln>
            <a:effectLst/>
            <a:extLst>
              <a:ext uri="{909E8E84-426E-40DD-AFC4-6F175D3DCCD1}">
                <a14:hiddenFill xmlns:a14="http://schemas.microsoft.com/office/drawing/2010/main">
                  <a:solidFill>
                    <a:srgbClr val="00543E"/>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45" name="Rectangle 39"/>
            <p:cNvSpPr>
              <a:spLocks noChangeArrowheads="1"/>
            </p:cNvSpPr>
            <p:nvPr/>
          </p:nvSpPr>
          <p:spPr bwMode="gray">
            <a:xfrm flipH="1">
              <a:off x="9756775" y="3978275"/>
              <a:ext cx="144463" cy="215900"/>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6" name="Rectangle 40"/>
            <p:cNvSpPr>
              <a:spLocks noChangeArrowheads="1"/>
            </p:cNvSpPr>
            <p:nvPr/>
          </p:nvSpPr>
          <p:spPr bwMode="gray">
            <a:xfrm flipH="1">
              <a:off x="9109075" y="5202238"/>
              <a:ext cx="144463" cy="144462"/>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7" name="Rectangle 41"/>
            <p:cNvSpPr>
              <a:spLocks noChangeArrowheads="1"/>
            </p:cNvSpPr>
            <p:nvPr/>
          </p:nvSpPr>
          <p:spPr bwMode="gray">
            <a:xfrm flipH="1">
              <a:off x="9756775" y="5346700"/>
              <a:ext cx="144463" cy="360363"/>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8" name="Rectangle 42"/>
            <p:cNvSpPr>
              <a:spLocks noChangeArrowheads="1"/>
            </p:cNvSpPr>
            <p:nvPr/>
          </p:nvSpPr>
          <p:spPr bwMode="gray">
            <a:xfrm flipH="1">
              <a:off x="9612313" y="5921375"/>
              <a:ext cx="144462" cy="144463"/>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9" name="Rectangle 43"/>
            <p:cNvSpPr>
              <a:spLocks noChangeArrowheads="1"/>
            </p:cNvSpPr>
            <p:nvPr/>
          </p:nvSpPr>
          <p:spPr bwMode="gray">
            <a:xfrm flipH="1">
              <a:off x="9109075" y="5994400"/>
              <a:ext cx="287338" cy="287338"/>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50" name="Rectangle 44"/>
            <p:cNvSpPr>
              <a:spLocks noChangeArrowheads="1"/>
            </p:cNvSpPr>
            <p:nvPr/>
          </p:nvSpPr>
          <p:spPr bwMode="gray">
            <a:xfrm flipH="1">
              <a:off x="9037638" y="6713538"/>
              <a:ext cx="144462" cy="144462"/>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51" name="Rectangle 45"/>
            <p:cNvSpPr>
              <a:spLocks noChangeArrowheads="1"/>
            </p:cNvSpPr>
            <p:nvPr/>
          </p:nvSpPr>
          <p:spPr bwMode="gray">
            <a:xfrm flipH="1">
              <a:off x="8748713" y="6354763"/>
              <a:ext cx="215900" cy="215900"/>
            </a:xfrm>
            <a:prstGeom prst="rect">
              <a:avLst/>
            </a:prstGeom>
            <a:noFill/>
            <a:ln w="9525">
              <a:solidFill>
                <a:srgbClr val="00604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52" name="Rectangle 46"/>
            <p:cNvSpPr>
              <a:spLocks noChangeArrowheads="1"/>
            </p:cNvSpPr>
            <p:nvPr/>
          </p:nvSpPr>
          <p:spPr bwMode="gray">
            <a:xfrm>
              <a:off x="8226425" y="2663825"/>
              <a:ext cx="179388" cy="179388"/>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grpSp>
      <p:sp>
        <p:nvSpPr>
          <p:cNvPr id="2" name="タイトル 1"/>
          <p:cNvSpPr>
            <a:spLocks noGrp="1"/>
          </p:cNvSpPr>
          <p:nvPr userDrawn="1">
            <p:ph type="ctrTitle"/>
          </p:nvPr>
        </p:nvSpPr>
        <p:spPr>
          <a:xfrm>
            <a:off x="486234" y="1767612"/>
            <a:ext cx="6267832" cy="547291"/>
          </a:xfrm>
          <a:noFill/>
          <a:ln>
            <a:noFill/>
          </a:ln>
          <a:effectLst/>
          <a:extLst>
            <a:ext uri="{AF507438-7753-43E0-B8FC-AC1667EBCBE1}">
              <a14:hiddenEffects xmlns:a14="http://schemas.microsoft.com/office/drawing/2010/main">
                <a:effectLst>
                  <a:outerShdw dist="35921" dir="2700000" algn="ctr" rotWithShape="0">
                    <a:srgbClr val="002B1E"/>
                  </a:outerShdw>
                </a:effectLst>
              </a14:hiddenEffects>
            </a:ext>
          </a:extLst>
        </p:spPr>
        <p:txBody>
          <a:bodyPr lIns="0" rIns="0" bIns="54000"/>
          <a:lstStyle>
            <a:lvl1pPr>
              <a:defRPr lang="ja-JP" altLang="en-US" sz="3202" b="1">
                <a:latin typeface="Meiryo UI" panose="020B0604030504040204" pitchFamily="50" charset="-128"/>
                <a:ea typeface="Meiryo UI" panose="020B0604030504040204" pitchFamily="50" charset="-128"/>
              </a:defRPr>
            </a:lvl1pPr>
          </a:lstStyle>
          <a:p>
            <a:pPr lvl="0"/>
            <a:r>
              <a:rPr lang="ja-JP" altLang="en-US"/>
              <a:t>マスター タイトルの書式設定</a:t>
            </a:r>
          </a:p>
        </p:txBody>
      </p:sp>
      <p:pic>
        <p:nvPicPr>
          <p:cNvPr id="5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6231" y="5054649"/>
            <a:ext cx="2308656" cy="112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 name="Picture 2" descr="K:\共有\02_デザイン\01_作業中\C08-817(シス統川嵜／田村）\ITロゴ_グラデカラー.emf">
            <a:extLst>
              <a:ext uri="{FF2B5EF4-FFF2-40B4-BE49-F238E27FC236}">
                <a16:creationId xmlns:a16="http://schemas.microsoft.com/office/drawing/2014/main" id="{A83A9185-8498-4993-8A8D-10FE308DBF9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22272" y="4165841"/>
            <a:ext cx="4974939" cy="365976"/>
          </a:xfrm>
          <a:prstGeom prst="rect">
            <a:avLst/>
          </a:prstGeom>
          <a:noFill/>
          <a:extLst>
            <a:ext uri="{909E8E84-426E-40DD-AFC4-6F175D3DCCD1}">
              <a14:hiddenFill xmlns:a14="http://schemas.microsoft.com/office/drawing/2010/main">
                <a:solidFill>
                  <a:srgbClr val="FFFFFF"/>
                </a:solidFill>
              </a14:hiddenFill>
            </a:ext>
          </a:extLst>
        </p:spPr>
      </p:pic>
      <p:sp>
        <p:nvSpPr>
          <p:cNvPr id="54" name="Rectangle 46">
            <a:extLst>
              <a:ext uri="{FF2B5EF4-FFF2-40B4-BE49-F238E27FC236}">
                <a16:creationId xmlns:a16="http://schemas.microsoft.com/office/drawing/2014/main" id="{F7FB6EC6-51F3-4D90-8E60-CD12BDC41CA8}"/>
              </a:ext>
            </a:extLst>
          </p:cNvPr>
          <p:cNvSpPr>
            <a:spLocks noGrp="1" noChangeArrowheads="1"/>
          </p:cNvSpPr>
          <p:nvPr>
            <p:ph type="subTitle" sz="quarter" idx="1"/>
          </p:nvPr>
        </p:nvSpPr>
        <p:spPr>
          <a:xfrm>
            <a:off x="481928" y="2633862"/>
            <a:ext cx="6940872" cy="1513321"/>
          </a:xfrm>
        </p:spPr>
        <p:txBody>
          <a:bodyPr lIns="98746" tIns="49373" rIns="98746" bIns="49373"/>
          <a:lstStyle>
            <a:lvl1pPr algn="just">
              <a:lnSpc>
                <a:spcPct val="100000"/>
              </a:lnSpc>
              <a:spcBef>
                <a:spcPts val="0"/>
              </a:spcBef>
              <a:buFont typeface="Wingdings" pitchFamily="2" charset="2"/>
              <a:buChar char="n"/>
              <a:defRPr sz="1701">
                <a:latin typeface="Meiryo UI" panose="020B0604030504040204" pitchFamily="50" charset="-128"/>
                <a:ea typeface="Meiryo UI" panose="020B0604030504040204" pitchFamily="50" charset="-128"/>
              </a:defRPr>
            </a:lvl1pPr>
          </a:lstStyle>
          <a:p>
            <a:pPr lvl="0"/>
            <a:r>
              <a:rPr lang="ja-JP" altLang="en-US" noProof="0"/>
              <a:t>マスター サブタイトルの書式設定</a:t>
            </a:r>
          </a:p>
        </p:txBody>
      </p:sp>
    </p:spTree>
    <p:extLst>
      <p:ext uri="{BB962C8B-B14F-4D97-AF65-F5344CB8AC3E}">
        <p14:creationId xmlns:p14="http://schemas.microsoft.com/office/powerpoint/2010/main" val="34314147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扉">
    <p:spTree>
      <p:nvGrpSpPr>
        <p:cNvPr id="1" name=""/>
        <p:cNvGrpSpPr/>
        <p:nvPr/>
      </p:nvGrpSpPr>
      <p:grpSpPr>
        <a:xfrm>
          <a:off x="0" y="0"/>
          <a:ext cx="0" cy="0"/>
          <a:chOff x="0" y="0"/>
          <a:chExt cx="0" cy="0"/>
        </a:xfrm>
      </p:grpSpPr>
      <p:grpSp>
        <p:nvGrpSpPr>
          <p:cNvPr id="62" name="Group 3"/>
          <p:cNvGrpSpPr>
            <a:grpSpLocks noChangeAspect="1"/>
          </p:cNvGrpSpPr>
          <p:nvPr userDrawn="1"/>
        </p:nvGrpSpPr>
        <p:grpSpPr bwMode="auto">
          <a:xfrm>
            <a:off x="2" y="249303"/>
            <a:ext cx="9906027" cy="6608715"/>
            <a:chOff x="0" y="169"/>
            <a:chExt cx="6237" cy="4480"/>
          </a:xfrm>
        </p:grpSpPr>
        <p:sp>
          <p:nvSpPr>
            <p:cNvPr id="63" name="Rectangle 4"/>
            <p:cNvSpPr>
              <a:spLocks noChangeArrowheads="1"/>
            </p:cNvSpPr>
            <p:nvPr/>
          </p:nvSpPr>
          <p:spPr bwMode="gray">
            <a:xfrm>
              <a:off x="5330" y="1826"/>
              <a:ext cx="907" cy="2823"/>
            </a:xfrm>
            <a:prstGeom prst="rect">
              <a:avLst/>
            </a:prstGeom>
            <a:solidFill>
              <a:srgbClr val="E8E8E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4" name="Rectangle 5"/>
            <p:cNvSpPr>
              <a:spLocks noChangeArrowheads="1"/>
            </p:cNvSpPr>
            <p:nvPr/>
          </p:nvSpPr>
          <p:spPr bwMode="gray">
            <a:xfrm>
              <a:off x="5330" y="169"/>
              <a:ext cx="907" cy="1475"/>
            </a:xfrm>
            <a:prstGeom prst="rect">
              <a:avLst/>
            </a:prstGeom>
            <a:solidFill>
              <a:srgbClr val="E8E8E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5" name="Rectangle 6"/>
            <p:cNvSpPr>
              <a:spLocks noChangeArrowheads="1"/>
            </p:cNvSpPr>
            <p:nvPr/>
          </p:nvSpPr>
          <p:spPr bwMode="gray">
            <a:xfrm>
              <a:off x="0" y="169"/>
              <a:ext cx="5148" cy="1475"/>
            </a:xfrm>
            <a:prstGeom prst="rect">
              <a:avLst/>
            </a:prstGeom>
            <a:solidFill>
              <a:srgbClr val="E8E8E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6" name="Rectangle 7"/>
            <p:cNvSpPr>
              <a:spLocks noChangeArrowheads="1"/>
            </p:cNvSpPr>
            <p:nvPr/>
          </p:nvSpPr>
          <p:spPr bwMode="gray">
            <a:xfrm>
              <a:off x="5602" y="169"/>
              <a:ext cx="546" cy="546"/>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7" name="Rectangle 8"/>
            <p:cNvSpPr>
              <a:spLocks noChangeArrowheads="1"/>
            </p:cNvSpPr>
            <p:nvPr/>
          </p:nvSpPr>
          <p:spPr bwMode="gray">
            <a:xfrm flipH="1">
              <a:off x="4416" y="691"/>
              <a:ext cx="363" cy="3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8" name="Rectangle 9"/>
            <p:cNvSpPr>
              <a:spLocks noChangeArrowheads="1"/>
            </p:cNvSpPr>
            <p:nvPr/>
          </p:nvSpPr>
          <p:spPr bwMode="gray">
            <a:xfrm flipH="1">
              <a:off x="4060" y="646"/>
              <a:ext cx="136" cy="136"/>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9" name="Rectangle 10"/>
            <p:cNvSpPr>
              <a:spLocks noChangeArrowheads="1"/>
            </p:cNvSpPr>
            <p:nvPr/>
          </p:nvSpPr>
          <p:spPr bwMode="gray">
            <a:xfrm flipH="1">
              <a:off x="4324" y="237"/>
              <a:ext cx="182" cy="18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0" name="Rectangle 11"/>
            <p:cNvSpPr>
              <a:spLocks noChangeArrowheads="1"/>
            </p:cNvSpPr>
            <p:nvPr/>
          </p:nvSpPr>
          <p:spPr bwMode="gray">
            <a:xfrm>
              <a:off x="6055" y="1393"/>
              <a:ext cx="182" cy="25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1" name="Rectangle 12"/>
            <p:cNvSpPr>
              <a:spLocks noChangeArrowheads="1"/>
            </p:cNvSpPr>
            <p:nvPr/>
          </p:nvSpPr>
          <p:spPr bwMode="gray">
            <a:xfrm flipH="1">
              <a:off x="4877" y="305"/>
              <a:ext cx="317" cy="363"/>
            </a:xfrm>
            <a:prstGeom prst="rect">
              <a:avLst/>
            </a:prstGeom>
            <a:noFill/>
            <a:ln w="9525">
              <a:solidFill>
                <a:srgbClr val="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2" name="Rectangle 13"/>
            <p:cNvSpPr>
              <a:spLocks noChangeArrowheads="1"/>
            </p:cNvSpPr>
            <p:nvPr/>
          </p:nvSpPr>
          <p:spPr bwMode="gray">
            <a:xfrm flipH="1">
              <a:off x="5919" y="2007"/>
              <a:ext cx="181" cy="18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3" name="Rectangle 14"/>
            <p:cNvSpPr>
              <a:spLocks noChangeArrowheads="1"/>
            </p:cNvSpPr>
            <p:nvPr/>
          </p:nvSpPr>
          <p:spPr bwMode="gray">
            <a:xfrm flipH="1">
              <a:off x="5556" y="2415"/>
              <a:ext cx="272" cy="27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4" name="Rectangle 15"/>
            <p:cNvSpPr>
              <a:spLocks noChangeArrowheads="1"/>
            </p:cNvSpPr>
            <p:nvPr/>
          </p:nvSpPr>
          <p:spPr bwMode="gray">
            <a:xfrm flipH="1">
              <a:off x="6146" y="2550"/>
              <a:ext cx="91" cy="136"/>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5" name="Rectangle 16"/>
            <p:cNvSpPr>
              <a:spLocks noChangeArrowheads="1"/>
            </p:cNvSpPr>
            <p:nvPr/>
          </p:nvSpPr>
          <p:spPr bwMode="gray">
            <a:xfrm flipH="1">
              <a:off x="5738" y="3685"/>
              <a:ext cx="181" cy="18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6" name="Rectangle 17"/>
            <p:cNvSpPr>
              <a:spLocks noChangeArrowheads="1"/>
            </p:cNvSpPr>
            <p:nvPr/>
          </p:nvSpPr>
          <p:spPr bwMode="gray">
            <a:xfrm flipH="1">
              <a:off x="5693" y="4138"/>
              <a:ext cx="91" cy="9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7" name="Rectangle 18"/>
            <p:cNvSpPr>
              <a:spLocks noChangeArrowheads="1"/>
            </p:cNvSpPr>
            <p:nvPr/>
          </p:nvSpPr>
          <p:spPr bwMode="gray">
            <a:xfrm flipH="1">
              <a:off x="5511" y="3912"/>
              <a:ext cx="136" cy="136"/>
            </a:xfrm>
            <a:prstGeom prst="rect">
              <a:avLst/>
            </a:prstGeom>
            <a:noFill/>
            <a:ln w="9525">
              <a:solidFill>
                <a:srgbClr val="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8" name="Rectangle 19"/>
            <p:cNvSpPr>
              <a:spLocks noChangeArrowheads="1"/>
            </p:cNvSpPr>
            <p:nvPr/>
          </p:nvSpPr>
          <p:spPr bwMode="gray">
            <a:xfrm flipH="1">
              <a:off x="5874" y="3050"/>
              <a:ext cx="318" cy="31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9" name="Rectangle 20"/>
            <p:cNvSpPr>
              <a:spLocks noChangeArrowheads="1"/>
            </p:cNvSpPr>
            <p:nvPr/>
          </p:nvSpPr>
          <p:spPr bwMode="gray">
            <a:xfrm>
              <a:off x="5420" y="1031"/>
              <a:ext cx="454" cy="454"/>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80" name="Rectangle 21"/>
            <p:cNvSpPr>
              <a:spLocks noChangeArrowheads="1"/>
            </p:cNvSpPr>
            <p:nvPr/>
          </p:nvSpPr>
          <p:spPr bwMode="gray">
            <a:xfrm>
              <a:off x="5182" y="1678"/>
              <a:ext cx="113" cy="113"/>
            </a:xfrm>
            <a:prstGeom prst="rect">
              <a:avLst/>
            </a:prstGeom>
            <a:solidFill>
              <a:srgbClr val="E8E8E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grpSp>
      <p:sp>
        <p:nvSpPr>
          <p:cNvPr id="2" name="タイトル 1"/>
          <p:cNvSpPr>
            <a:spLocks noGrp="1"/>
          </p:cNvSpPr>
          <p:nvPr>
            <p:ph type="title"/>
          </p:nvPr>
        </p:nvSpPr>
        <p:spPr>
          <a:xfrm>
            <a:off x="486358" y="1774089"/>
            <a:ext cx="7708561" cy="547291"/>
          </a:xfrm>
          <a:noFill/>
          <a:ln>
            <a:noFill/>
          </a:ln>
          <a:effectLst/>
          <a:extLst>
            <a:ext uri="{AF507438-7753-43E0-B8FC-AC1667EBCBE1}">
              <a14:hiddenEffects xmlns:a14="http://schemas.microsoft.com/office/drawing/2010/main">
                <a:effectLst>
                  <a:outerShdw dist="35921" dir="2700000" algn="ctr" rotWithShape="0">
                    <a:srgbClr val="002B1E"/>
                  </a:outerShdw>
                </a:effectLst>
              </a14:hiddenEffects>
            </a:ext>
          </a:extLst>
        </p:spPr>
        <p:txBody>
          <a:bodyPr lIns="0" rIns="0" bIns="54000"/>
          <a:lstStyle>
            <a:lvl1pPr>
              <a:defRPr lang="ja-JP" altLang="en-US" sz="3202" b="1" dirty="0">
                <a:solidFill>
                  <a:srgbClr val="000000"/>
                </a:solidFill>
                <a:latin typeface="Meiryo UI" panose="020B0604030504040204" pitchFamily="50" charset="-128"/>
                <a:ea typeface="Meiryo UI" panose="020B0604030504040204" pitchFamily="50" charset="-128"/>
              </a:defRPr>
            </a:lvl1pPr>
          </a:lstStyle>
          <a:p>
            <a:pPr lvl="0"/>
            <a:r>
              <a:rPr lang="ja-JP" altLang="en-US"/>
              <a:t>マスター タイトルの書式設定</a:t>
            </a:r>
          </a:p>
        </p:txBody>
      </p:sp>
    </p:spTree>
    <p:extLst>
      <p:ext uri="{BB962C8B-B14F-4D97-AF65-F5344CB8AC3E}">
        <p14:creationId xmlns:p14="http://schemas.microsoft.com/office/powerpoint/2010/main" val="19623210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本文">
    <p:spTree>
      <p:nvGrpSpPr>
        <p:cNvPr id="1" name=""/>
        <p:cNvGrpSpPr/>
        <p:nvPr/>
      </p:nvGrpSpPr>
      <p:grpSpPr>
        <a:xfrm>
          <a:off x="0" y="0"/>
          <a:ext cx="0" cy="0"/>
          <a:chOff x="0" y="0"/>
          <a:chExt cx="0" cy="0"/>
        </a:xfrm>
      </p:grpSpPr>
      <p:sp>
        <p:nvSpPr>
          <p:cNvPr id="2" name="タイトル 1"/>
          <p:cNvSpPr>
            <a:spLocks noGrp="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lang="ja-JP" altLang="en-US" dirty="0">
                <a:latin typeface="Meiryo UI" panose="020B0604030504040204" pitchFamily="50" charset="-128"/>
                <a:ea typeface="Meiryo UI" panose="020B0604030504040204" pitchFamily="50" charset="-128"/>
              </a:defRPr>
            </a:lvl1pPr>
          </a:lstStyle>
          <a:p>
            <a:pPr lvl="0"/>
            <a:r>
              <a:rPr lang="ja-JP" altLang="en-US"/>
              <a:t>マスター タイトルの書式設定</a:t>
            </a:r>
          </a:p>
        </p:txBody>
      </p:sp>
      <p:sp>
        <p:nvSpPr>
          <p:cNvPr id="3" name="フッター プレースホルダー 3"/>
          <p:cNvSpPr>
            <a:spLocks noGrp="1"/>
          </p:cNvSpPr>
          <p:nvPr>
            <p:ph type="ftr" sz="quarter" idx="10"/>
          </p:nvPr>
        </p:nvSpPr>
        <p:spPr/>
        <p:txBody>
          <a:bodyPr/>
          <a:lstStyle>
            <a:lvl1pPr algn="r" defTabSz="987955" fontAlgn="auto">
              <a:spcBef>
                <a:spcPts val="0"/>
              </a:spcBef>
              <a:spcAft>
                <a:spcPts val="0"/>
              </a:spcAft>
              <a:defRPr/>
            </a:lvl1pPr>
          </a:lstStyle>
          <a:p>
            <a:pPr>
              <a:defRPr/>
            </a:pPr>
            <a:endParaRPr lang="ja-JP" altLang="en-US"/>
          </a:p>
        </p:txBody>
      </p:sp>
      <p:sp>
        <p:nvSpPr>
          <p:cNvPr id="4" name="スライド番号プレースホルダー 4"/>
          <p:cNvSpPr>
            <a:spLocks noGrp="1"/>
          </p:cNvSpPr>
          <p:nvPr>
            <p:ph type="sldNum" sz="quarter" idx="11"/>
          </p:nvPr>
        </p:nvSpPr>
        <p:spPr/>
        <p:txBody>
          <a:bodyPr/>
          <a:lstStyle>
            <a:lvl1pPr algn="r" defTabSz="987955" fontAlgn="base">
              <a:spcBef>
                <a:spcPts val="0"/>
              </a:spcBef>
              <a:spcAft>
                <a:spcPts val="0"/>
              </a:spcAft>
              <a:defRPr/>
            </a:lvl1pPr>
          </a:lstStyle>
          <a:p>
            <a:pPr>
              <a:defRPr/>
            </a:pPr>
            <a:fld id="{628BD40F-03B6-4306-A4FA-2BF219DDDEA7}" type="slidenum">
              <a:rPr lang="en-US" altLang="ja-JP" smtClean="0"/>
              <a:pPr>
                <a:defRPr/>
              </a:pPr>
              <a:t>‹#›</a:t>
            </a:fld>
            <a:endParaRPr lang="en-US"/>
          </a:p>
        </p:txBody>
      </p:sp>
      <p:pic>
        <p:nvPicPr>
          <p:cNvPr id="6" name="Picture 2" descr="K:\共有\02_デザイン\01_作業中\C08-817(シス統川嵜／田村）\ITロゴ_グラデカラー.emf">
            <a:extLst>
              <a:ext uri="{FF2B5EF4-FFF2-40B4-BE49-F238E27FC236}">
                <a16:creationId xmlns:a16="http://schemas.microsoft.com/office/drawing/2014/main" id="{0EE96DF3-29F4-441F-89F3-D1795A79534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807826" y="46617"/>
            <a:ext cx="3593012" cy="264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59910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Only">
  <p:cSld name="コンテンツ">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344488" y="214313"/>
            <a:ext cx="9218612" cy="604837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 name="Rectangle 15"/>
          <p:cNvSpPr>
            <a:spLocks noGrp="1" noChangeArrowheads="1"/>
          </p:cNvSpPr>
          <p:nvPr>
            <p:ph type="sldNum" sz="quarter" idx="10"/>
          </p:nvPr>
        </p:nvSpPr>
        <p:spPr>
          <a:xfrm>
            <a:off x="9304338" y="6411913"/>
            <a:ext cx="646112" cy="460375"/>
          </a:xfrm>
        </p:spPr>
        <p:txBody>
          <a:bodyPr/>
          <a:lstStyle>
            <a:lvl1pPr>
              <a:defRPr/>
            </a:lvl1pPr>
          </a:lstStyle>
          <a:p>
            <a:pPr>
              <a:defRPr/>
            </a:pPr>
            <a:fld id="{97286578-BF9B-4683-B58A-1F30FFCBC500}" type="slidenum">
              <a:rPr lang="en-US" altLang="ja-JP"/>
              <a:pPr>
                <a:defRPr/>
              </a:pPr>
              <a:t>‹#›</a:t>
            </a:fld>
            <a:endParaRPr lang="en-US" altLang="ja-JP" sz="1400"/>
          </a:p>
        </p:txBody>
      </p:sp>
    </p:spTree>
    <p:extLst>
      <p:ext uri="{BB962C8B-B14F-4D97-AF65-F5344CB8AC3E}">
        <p14:creationId xmlns:p14="http://schemas.microsoft.com/office/powerpoint/2010/main" val="36780074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122994-5668-4897-BBF7-B9BE4C42AFE3}"/>
              </a:ext>
            </a:extLst>
          </p:cNvPr>
          <p:cNvSpPr>
            <a:spLocks noGrp="1"/>
          </p:cNvSpPr>
          <p:nvPr>
            <p:ph type="ctrTitle"/>
          </p:nvPr>
        </p:nvSpPr>
        <p:spPr>
          <a:xfrm>
            <a:off x="1238250" y="1122362"/>
            <a:ext cx="7429500" cy="3192883"/>
          </a:xfrm>
          <a:prstGeom prst="rect">
            <a:avLst/>
          </a:prstGeom>
        </p:spPr>
        <p:txBody>
          <a:bodyPr anchor="ctr" anchorCtr="0"/>
          <a:lstStyle>
            <a:lvl1pPr algn="ctr">
              <a:defRPr sz="4400">
                <a:solidFill>
                  <a:schemeClr val="tx1"/>
                </a:solidFill>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2ECA535-6149-493C-9115-993C9D9D95DA}"/>
              </a:ext>
            </a:extLst>
          </p:cNvPr>
          <p:cNvSpPr>
            <a:spLocks noGrp="1"/>
          </p:cNvSpPr>
          <p:nvPr>
            <p:ph type="subTitle" idx="1"/>
          </p:nvPr>
        </p:nvSpPr>
        <p:spPr>
          <a:xfrm>
            <a:off x="1238250" y="4509542"/>
            <a:ext cx="7429500" cy="1655762"/>
          </a:xfrm>
          <a:prstGeom prst="rect">
            <a:avLst/>
          </a:prstGeom>
        </p:spPr>
        <p:txBody>
          <a:bodyPr/>
          <a:lstStyle>
            <a:lvl1pPr marL="0" indent="0" algn="ctr">
              <a:spcBef>
                <a:spcPts val="0"/>
              </a:spcBef>
              <a:buNone/>
              <a:defRPr sz="280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endParaRPr kumimoji="1" lang="en-US" altLang="ja-JP"/>
          </a:p>
        </p:txBody>
      </p:sp>
      <p:sp>
        <p:nvSpPr>
          <p:cNvPr id="5" name="Rectangle 10">
            <a:extLst>
              <a:ext uri="{FF2B5EF4-FFF2-40B4-BE49-F238E27FC236}">
                <a16:creationId xmlns:a16="http://schemas.microsoft.com/office/drawing/2014/main" id="{F7FF61F4-0C15-4412-91AD-CB5AE5E82986}"/>
              </a:ext>
            </a:extLst>
          </p:cNvPr>
          <p:cNvSpPr>
            <a:spLocks noChangeArrowheads="1"/>
          </p:cNvSpPr>
          <p:nvPr userDrawn="1"/>
        </p:nvSpPr>
        <p:spPr bwMode="auto">
          <a:xfrm>
            <a:off x="734272" y="3429000"/>
            <a:ext cx="8467200"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6" name="Picture 14" descr="日本総研">
            <a:extLst>
              <a:ext uri="{FF2B5EF4-FFF2-40B4-BE49-F238E27FC236}">
                <a16:creationId xmlns:a16="http://schemas.microsoft.com/office/drawing/2014/main" id="{546051DB-FECC-492C-88BF-075641654FD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69587" y="6237312"/>
            <a:ext cx="1996326" cy="466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0">
            <a:extLst>
              <a:ext uri="{FF2B5EF4-FFF2-40B4-BE49-F238E27FC236}">
                <a16:creationId xmlns:a16="http://schemas.microsoft.com/office/drawing/2014/main" id="{A41A22FF-3CB7-461E-A650-FB87A30F8977}"/>
              </a:ext>
            </a:extLst>
          </p:cNvPr>
          <p:cNvSpPr>
            <a:spLocks noChangeArrowheads="1"/>
          </p:cNvSpPr>
          <p:nvPr userDrawn="1"/>
        </p:nvSpPr>
        <p:spPr bwMode="auto">
          <a:xfrm>
            <a:off x="341279" y="628650"/>
            <a:ext cx="9221821" cy="58572"/>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2430575991"/>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8C13DD4-DDF0-47EA-85C0-33C135D060A2}"/>
              </a:ext>
            </a:extLst>
          </p:cNvPr>
          <p:cNvSpPr>
            <a:spLocks noGrp="1"/>
          </p:cNvSpPr>
          <p:nvPr>
            <p:ph type="title"/>
          </p:nvPr>
        </p:nvSpPr>
        <p:spPr>
          <a:xfrm>
            <a:off x="558800" y="265113"/>
            <a:ext cx="9004300" cy="334962"/>
          </a:xfrm>
          <a:prstGeom prst="rect">
            <a:avLst/>
          </a:prstGeom>
        </p:spPr>
        <p:txBody>
          <a:bodyPr anchor="ctr"/>
          <a:lstStyle>
            <a:lvl1pPr>
              <a:defRPr b="0">
                <a:solidFill>
                  <a:schemeClr val="tx1"/>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3901178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FCC99"/>
        </a:solid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558800" y="265113"/>
            <a:ext cx="9004300" cy="334962"/>
          </a:xfrm>
          <a:prstGeom prst="rect">
            <a:avLst/>
          </a:prstGeom>
        </p:spPr>
        <p:txBody>
          <a:bodyPr anchor="ctr"/>
          <a:lstStyle>
            <a:lvl1pPr>
              <a:defRPr b="0">
                <a:solidFill>
                  <a:schemeClr val="tx1"/>
                </a:solidFill>
              </a:defRPr>
            </a:lvl1pPr>
          </a:lstStyle>
          <a:p>
            <a:r>
              <a:rPr lang="ja-JP" altLang="en-US"/>
              <a:t>マスター タイトルの書式設定</a:t>
            </a:r>
          </a:p>
        </p:txBody>
      </p:sp>
    </p:spTree>
    <p:extLst>
      <p:ext uri="{BB962C8B-B14F-4D97-AF65-F5344CB8AC3E}">
        <p14:creationId xmlns:p14="http://schemas.microsoft.com/office/powerpoint/2010/main" val="22994976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白紙・中表紙">
    <p:spTree>
      <p:nvGrpSpPr>
        <p:cNvPr id="1" name=""/>
        <p:cNvGrpSpPr/>
        <p:nvPr/>
      </p:nvGrpSpPr>
      <p:grpSpPr>
        <a:xfrm>
          <a:off x="0" y="0"/>
          <a:ext cx="0" cy="0"/>
          <a:chOff x="0" y="0"/>
          <a:chExt cx="0" cy="0"/>
        </a:xfrm>
      </p:grpSpPr>
      <p:sp>
        <p:nvSpPr>
          <p:cNvPr id="3" name="正方形/長方形 2"/>
          <p:cNvSpPr/>
          <p:nvPr userDrawn="1"/>
        </p:nvSpPr>
        <p:spPr bwMode="auto">
          <a:xfrm>
            <a:off x="0" y="0"/>
            <a:ext cx="9906000" cy="647382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a:defRPr/>
            </a:pPr>
            <a:endParaRPr lang="ja-JP" altLang="en-US">
              <a:solidFill>
                <a:schemeClr val="tx1"/>
              </a:solidFill>
              <a:latin typeface="+mn-ea"/>
              <a:cs typeface="メイリオ" panose="020B0604030504040204" pitchFamily="50" charset="-128"/>
            </a:endParaRPr>
          </a:p>
        </p:txBody>
      </p:sp>
      <p:sp>
        <p:nvSpPr>
          <p:cNvPr id="4" name="タイトル 1">
            <a:extLst>
              <a:ext uri="{FF2B5EF4-FFF2-40B4-BE49-F238E27FC236}">
                <a16:creationId xmlns:a16="http://schemas.microsoft.com/office/drawing/2014/main" id="{2B995CCE-9770-4E2D-98EC-9924E19141FC}"/>
              </a:ext>
            </a:extLst>
          </p:cNvPr>
          <p:cNvSpPr>
            <a:spLocks noGrp="1"/>
          </p:cNvSpPr>
          <p:nvPr>
            <p:ph type="ctrTitle"/>
          </p:nvPr>
        </p:nvSpPr>
        <p:spPr>
          <a:xfrm>
            <a:off x="1238250" y="1122362"/>
            <a:ext cx="7429500" cy="3192883"/>
          </a:xfrm>
          <a:prstGeom prst="rect">
            <a:avLst/>
          </a:prstGeom>
        </p:spPr>
        <p:txBody>
          <a:bodyPr anchor="ctr" anchorCtr="0"/>
          <a:lstStyle>
            <a:lvl1pPr algn="ctr">
              <a:defRPr sz="4400">
                <a:solidFill>
                  <a:schemeClr val="tx1"/>
                </a:solidFill>
              </a:defRPr>
            </a:lvl1pPr>
          </a:lstStyle>
          <a:p>
            <a:r>
              <a:rPr kumimoji="1" lang="ja-JP" altLang="en-US"/>
              <a:t>マスター タイトルの書式設定</a:t>
            </a:r>
          </a:p>
        </p:txBody>
      </p:sp>
      <p:sp>
        <p:nvSpPr>
          <p:cNvPr id="5" name="字幕 2">
            <a:extLst>
              <a:ext uri="{FF2B5EF4-FFF2-40B4-BE49-F238E27FC236}">
                <a16:creationId xmlns:a16="http://schemas.microsoft.com/office/drawing/2014/main" id="{A58676D7-845A-4D74-8957-623608068456}"/>
              </a:ext>
            </a:extLst>
          </p:cNvPr>
          <p:cNvSpPr>
            <a:spLocks noGrp="1"/>
          </p:cNvSpPr>
          <p:nvPr>
            <p:ph type="subTitle" idx="1"/>
          </p:nvPr>
        </p:nvSpPr>
        <p:spPr>
          <a:xfrm>
            <a:off x="1238250" y="4509542"/>
            <a:ext cx="7429500" cy="1655762"/>
          </a:xfrm>
          <a:prstGeom prst="rect">
            <a:avLst/>
          </a:prstGeom>
        </p:spPr>
        <p:txBody>
          <a:bodyPr/>
          <a:lstStyle>
            <a:lvl1pPr marL="0" indent="0" algn="ctr">
              <a:spcBef>
                <a:spcPts val="0"/>
              </a:spcBef>
              <a:buNone/>
              <a:defRPr sz="2800">
                <a:solidFill>
                  <a:schemeClr val="bg2"/>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endParaRPr kumimoji="1" lang="en-US" altLang="ja-JP"/>
          </a:p>
        </p:txBody>
      </p:sp>
      <p:sp>
        <p:nvSpPr>
          <p:cNvPr id="6" name="Rectangle 10">
            <a:extLst>
              <a:ext uri="{FF2B5EF4-FFF2-40B4-BE49-F238E27FC236}">
                <a16:creationId xmlns:a16="http://schemas.microsoft.com/office/drawing/2014/main" id="{AB95F65A-22E4-4EE5-946C-2D99EC1BD6BF}"/>
              </a:ext>
            </a:extLst>
          </p:cNvPr>
          <p:cNvSpPr>
            <a:spLocks noChangeArrowheads="1"/>
          </p:cNvSpPr>
          <p:nvPr userDrawn="1"/>
        </p:nvSpPr>
        <p:spPr bwMode="auto">
          <a:xfrm>
            <a:off x="734272" y="3429000"/>
            <a:ext cx="8467200" cy="49857"/>
          </a:xfrm>
          <a:prstGeom prst="rect">
            <a:avLst/>
          </a:prstGeom>
          <a:solidFill>
            <a:schemeClr val="bg2"/>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11500000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本文">
    <p:spTree>
      <p:nvGrpSpPr>
        <p:cNvPr id="1" name=""/>
        <p:cNvGrpSpPr/>
        <p:nvPr/>
      </p:nvGrpSpPr>
      <p:grpSpPr>
        <a:xfrm>
          <a:off x="0" y="0"/>
          <a:ext cx="0" cy="0"/>
          <a:chOff x="0" y="0"/>
          <a:chExt cx="0" cy="0"/>
        </a:xfrm>
      </p:grpSpPr>
      <p:sp>
        <p:nvSpPr>
          <p:cNvPr id="2" name="タイトル 1"/>
          <p:cNvSpPr>
            <a:spLocks noGrp="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lang="ja-JP" altLang="en-US" dirty="0">
                <a:latin typeface="Meiryo UI" panose="020B0604030504040204" pitchFamily="50" charset="-128"/>
                <a:ea typeface="Meiryo UI" panose="020B0604030504040204" pitchFamily="50" charset="-128"/>
              </a:defRPr>
            </a:lvl1pPr>
          </a:lstStyle>
          <a:p>
            <a:pPr lvl="0"/>
            <a:r>
              <a:rPr lang="ja-JP" altLang="en-US"/>
              <a:t>マスター タイトルの書式設定</a:t>
            </a:r>
          </a:p>
        </p:txBody>
      </p:sp>
      <p:sp>
        <p:nvSpPr>
          <p:cNvPr id="3" name="フッター プレースホルダー 3"/>
          <p:cNvSpPr>
            <a:spLocks noGrp="1"/>
          </p:cNvSpPr>
          <p:nvPr>
            <p:ph type="ftr" sz="quarter" idx="10"/>
          </p:nvPr>
        </p:nvSpPr>
        <p:spPr/>
        <p:txBody>
          <a:bodyPr/>
          <a:lstStyle>
            <a:lvl1pPr algn="r" defTabSz="987955" fontAlgn="auto">
              <a:spcBef>
                <a:spcPts val="0"/>
              </a:spcBef>
              <a:spcAft>
                <a:spcPts val="0"/>
              </a:spcAft>
              <a:defRPr/>
            </a:lvl1pPr>
          </a:lstStyle>
          <a:p>
            <a:pPr>
              <a:defRPr/>
            </a:pPr>
            <a:endParaRPr lang="ja-JP" altLang="en-US"/>
          </a:p>
        </p:txBody>
      </p:sp>
      <p:sp>
        <p:nvSpPr>
          <p:cNvPr id="4" name="スライド番号プレースホルダー 4"/>
          <p:cNvSpPr>
            <a:spLocks noGrp="1"/>
          </p:cNvSpPr>
          <p:nvPr>
            <p:ph type="sldNum" sz="quarter" idx="11"/>
          </p:nvPr>
        </p:nvSpPr>
        <p:spPr/>
        <p:txBody>
          <a:bodyPr/>
          <a:lstStyle>
            <a:lvl1pPr algn="r" defTabSz="987955" fontAlgn="base">
              <a:spcBef>
                <a:spcPts val="0"/>
              </a:spcBef>
              <a:spcAft>
                <a:spcPts val="0"/>
              </a:spcAft>
              <a:defRPr/>
            </a:lvl1pPr>
          </a:lstStyle>
          <a:p>
            <a:pPr>
              <a:defRPr/>
            </a:pPr>
            <a:fld id="{628BD40F-03B6-4306-A4FA-2BF219DDDEA7}" type="slidenum">
              <a:rPr lang="en-US" altLang="ja-JP" smtClean="0"/>
              <a:pPr>
                <a:defRPr/>
              </a:pPr>
              <a:t>‹#›</a:t>
            </a:fld>
            <a:endParaRPr lang="en-US"/>
          </a:p>
        </p:txBody>
      </p:sp>
      <p:pic>
        <p:nvPicPr>
          <p:cNvPr id="6" name="Picture 2" descr="K:\共有\02_デザイン\01_作業中\C08-817(シス統川嵜／田村）\ITロゴ_グラデカラー.emf">
            <a:extLst>
              <a:ext uri="{FF2B5EF4-FFF2-40B4-BE49-F238E27FC236}">
                <a16:creationId xmlns:a16="http://schemas.microsoft.com/office/drawing/2014/main" id="{0EE96DF3-29F4-441F-89F3-D1795A79534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807826" y="46617"/>
            <a:ext cx="3593012" cy="264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93038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122994-5668-4897-BBF7-B9BE4C42AFE3}"/>
              </a:ext>
            </a:extLst>
          </p:cNvPr>
          <p:cNvSpPr>
            <a:spLocks noGrp="1"/>
          </p:cNvSpPr>
          <p:nvPr>
            <p:ph type="ctrTitle"/>
          </p:nvPr>
        </p:nvSpPr>
        <p:spPr>
          <a:xfrm>
            <a:off x="1238250" y="1122362"/>
            <a:ext cx="7429500" cy="3192883"/>
          </a:xfrm>
          <a:prstGeom prst="rect">
            <a:avLst/>
          </a:prstGeom>
        </p:spPr>
        <p:txBody>
          <a:bodyPr anchor="ctr" anchorCtr="0"/>
          <a:lstStyle>
            <a:lvl1pPr algn="ctr">
              <a:defRPr sz="4400">
                <a:solidFill>
                  <a:schemeClr val="tx1"/>
                </a:solidFill>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2ECA535-6149-493C-9115-993C9D9D95DA}"/>
              </a:ext>
            </a:extLst>
          </p:cNvPr>
          <p:cNvSpPr>
            <a:spLocks noGrp="1"/>
          </p:cNvSpPr>
          <p:nvPr>
            <p:ph type="subTitle" idx="1"/>
          </p:nvPr>
        </p:nvSpPr>
        <p:spPr>
          <a:xfrm>
            <a:off x="1238250" y="4509542"/>
            <a:ext cx="7429500" cy="1655762"/>
          </a:xfrm>
          <a:prstGeom prst="rect">
            <a:avLst/>
          </a:prstGeom>
        </p:spPr>
        <p:txBody>
          <a:bodyPr/>
          <a:lstStyle>
            <a:lvl1pPr marL="0" indent="0" algn="ctr">
              <a:spcBef>
                <a:spcPts val="0"/>
              </a:spcBef>
              <a:buNone/>
              <a:defRPr sz="280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endParaRPr kumimoji="1" lang="en-US" altLang="ja-JP"/>
          </a:p>
        </p:txBody>
      </p:sp>
      <p:sp>
        <p:nvSpPr>
          <p:cNvPr id="5" name="Rectangle 10">
            <a:extLst>
              <a:ext uri="{FF2B5EF4-FFF2-40B4-BE49-F238E27FC236}">
                <a16:creationId xmlns:a16="http://schemas.microsoft.com/office/drawing/2014/main" id="{F7FF61F4-0C15-4412-91AD-CB5AE5E82986}"/>
              </a:ext>
            </a:extLst>
          </p:cNvPr>
          <p:cNvSpPr>
            <a:spLocks noChangeArrowheads="1"/>
          </p:cNvSpPr>
          <p:nvPr userDrawn="1"/>
        </p:nvSpPr>
        <p:spPr bwMode="auto">
          <a:xfrm>
            <a:off x="734272" y="3429000"/>
            <a:ext cx="8467200"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323503919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8C13DD4-DDF0-47EA-85C0-33C135D060A2}"/>
              </a:ext>
            </a:extLst>
          </p:cNvPr>
          <p:cNvSpPr>
            <a:spLocks noGrp="1"/>
          </p:cNvSpPr>
          <p:nvPr>
            <p:ph type="title"/>
          </p:nvPr>
        </p:nvSpPr>
        <p:spPr>
          <a:xfrm>
            <a:off x="558800" y="265113"/>
            <a:ext cx="9004300" cy="334962"/>
          </a:xfrm>
          <a:prstGeom prst="rect">
            <a:avLst/>
          </a:prstGeom>
        </p:spPr>
        <p:txBody>
          <a:bodyPr/>
          <a:lstStyle>
            <a:lvl1pPr>
              <a:defRPr b="0">
                <a:solidFill>
                  <a:schemeClr val="tx1"/>
                </a:solidFill>
                <a:latin typeface="ＭＳ Ｐゴシック" panose="020B0600070205080204" pitchFamily="50" charset="-128"/>
                <a:ea typeface="ＭＳ Ｐゴシック" panose="020B0600070205080204" pitchFamily="50" charset="-128"/>
              </a:defRPr>
            </a:lvl1pPr>
          </a:lstStyle>
          <a:p>
            <a:r>
              <a:rPr lang="ja-JP" altLang="en-US"/>
              <a:t>マスター タイトルの書式設定</a:t>
            </a:r>
          </a:p>
        </p:txBody>
      </p:sp>
    </p:spTree>
    <p:extLst>
      <p:ext uri="{BB962C8B-B14F-4D97-AF65-F5344CB8AC3E}">
        <p14:creationId xmlns:p14="http://schemas.microsoft.com/office/powerpoint/2010/main" val="16067916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FCC99"/>
        </a:solid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558800" y="265113"/>
            <a:ext cx="9004300" cy="334962"/>
          </a:xfrm>
          <a:prstGeom prst="rect">
            <a:avLst/>
          </a:prstGeom>
        </p:spPr>
        <p:txBody>
          <a:bodyPr/>
          <a:lstStyle>
            <a:lvl1pPr>
              <a:defRPr>
                <a:solidFill>
                  <a:schemeClr val="tx1"/>
                </a:solidFill>
                <a:latin typeface="ＭＳ Ｐゴシック" panose="020B0600070205080204" pitchFamily="50" charset="-128"/>
                <a:ea typeface="ＭＳ Ｐゴシック" panose="020B0600070205080204" pitchFamily="50" charset="-128"/>
              </a:defRPr>
            </a:lvl1pPr>
          </a:lstStyle>
          <a:p>
            <a:r>
              <a:rPr lang="ja-JP" altLang="en-US"/>
              <a:t>マスター タイトルの書式設定</a:t>
            </a:r>
          </a:p>
        </p:txBody>
      </p:sp>
    </p:spTree>
    <p:extLst>
      <p:ext uri="{BB962C8B-B14F-4D97-AF65-F5344CB8AC3E}">
        <p14:creationId xmlns:p14="http://schemas.microsoft.com/office/powerpoint/2010/main" val="42468918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白紙・中表紙">
    <p:spTree>
      <p:nvGrpSpPr>
        <p:cNvPr id="1" name=""/>
        <p:cNvGrpSpPr/>
        <p:nvPr/>
      </p:nvGrpSpPr>
      <p:grpSpPr>
        <a:xfrm>
          <a:off x="0" y="0"/>
          <a:ext cx="0" cy="0"/>
          <a:chOff x="0" y="0"/>
          <a:chExt cx="0" cy="0"/>
        </a:xfrm>
      </p:grpSpPr>
      <p:sp>
        <p:nvSpPr>
          <p:cNvPr id="3" name="正方形/長方形 2"/>
          <p:cNvSpPr/>
          <p:nvPr userDrawn="1"/>
        </p:nvSpPr>
        <p:spPr bwMode="auto">
          <a:xfrm>
            <a:off x="0" y="0"/>
            <a:ext cx="9906000" cy="647382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a:defRPr/>
            </a:pPr>
            <a:endParaRPr lang="ja-JP" altLang="en-US">
              <a:solidFill>
                <a:schemeClr val="tx1"/>
              </a:solidFill>
              <a:latin typeface="+mn-ea"/>
              <a:cs typeface="メイリオ" panose="020B0604030504040204" pitchFamily="50" charset="-128"/>
            </a:endParaRPr>
          </a:p>
        </p:txBody>
      </p:sp>
      <p:sp>
        <p:nvSpPr>
          <p:cNvPr id="2" name="タイトル 1"/>
          <p:cNvSpPr>
            <a:spLocks noGrp="1"/>
          </p:cNvSpPr>
          <p:nvPr>
            <p:ph type="title"/>
          </p:nvPr>
        </p:nvSpPr>
        <p:spPr>
          <a:xfrm>
            <a:off x="558800" y="3085949"/>
            <a:ext cx="9004300" cy="553998"/>
          </a:xfrm>
          <a:prstGeom prst="rect">
            <a:avLst/>
          </a:prstGeom>
        </p:spPr>
        <p:txBody>
          <a:bodyPr/>
          <a:lstStyle>
            <a:lvl1pPr algn="ctr">
              <a:defRPr sz="3600">
                <a:solidFill>
                  <a:schemeClr val="tx1"/>
                </a:solidFill>
              </a:defRPr>
            </a:lvl1pPr>
          </a:lstStyle>
          <a:p>
            <a:r>
              <a:rPr lang="ja-JP" altLang="en-US"/>
              <a:t>マスター タイトルの書式設定</a:t>
            </a:r>
          </a:p>
        </p:txBody>
      </p:sp>
    </p:spTree>
    <p:extLst>
      <p:ext uri="{BB962C8B-B14F-4D97-AF65-F5344CB8AC3E}">
        <p14:creationId xmlns:p14="http://schemas.microsoft.com/office/powerpoint/2010/main" val="14136123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本文(総ページ表示なし)">
    <p:spTree>
      <p:nvGrpSpPr>
        <p:cNvPr id="1" name=""/>
        <p:cNvGrpSpPr/>
        <p:nvPr/>
      </p:nvGrpSpPr>
      <p:grpSpPr>
        <a:xfrm>
          <a:off x="0" y="0"/>
          <a:ext cx="0" cy="0"/>
          <a:chOff x="0" y="0"/>
          <a:chExt cx="0" cy="0"/>
        </a:xfrm>
      </p:grpSpPr>
      <p:sp>
        <p:nvSpPr>
          <p:cNvPr id="3" name="正方形/長方形 2"/>
          <p:cNvSpPr/>
          <p:nvPr userDrawn="1"/>
        </p:nvSpPr>
        <p:spPr bwMode="auto">
          <a:xfrm>
            <a:off x="9277462" y="6562725"/>
            <a:ext cx="628538" cy="29527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eaLnBrk="0" hangingPunct="0">
              <a:defRPr/>
            </a:pPr>
            <a:endParaRPr lang="ja-JP" altLang="en-US" sz="1600">
              <a:solidFill>
                <a:schemeClr val="tx2"/>
              </a:solidFill>
              <a:latin typeface="+mn-ea"/>
              <a:cs typeface="メイリオ" panose="020B0604030504040204" pitchFamily="50" charset="-128"/>
            </a:endParaRPr>
          </a:p>
        </p:txBody>
      </p:sp>
      <p:sp>
        <p:nvSpPr>
          <p:cNvPr id="2" name="タイトル 1"/>
          <p:cNvSpPr>
            <a:spLocks noGrp="1"/>
          </p:cNvSpPr>
          <p:nvPr>
            <p:ph type="title"/>
          </p:nvPr>
        </p:nvSpPr>
        <p:spPr>
          <a:xfrm>
            <a:off x="558800" y="265113"/>
            <a:ext cx="9004300" cy="334962"/>
          </a:xfrm>
          <a:prstGeom prst="rect">
            <a:avLst/>
          </a:prstGeom>
        </p:spPr>
        <p:txBody>
          <a:bodyPr/>
          <a:lstStyle>
            <a:lvl1pPr>
              <a:defRPr b="0">
                <a:solidFill>
                  <a:schemeClr val="tx1"/>
                </a:solidFill>
                <a:latin typeface="ＭＳ Ｐゴシック" panose="020B0600070205080204" pitchFamily="50" charset="-128"/>
                <a:ea typeface="ＭＳ Ｐゴシック" panose="020B0600070205080204" pitchFamily="50" charset="-128"/>
              </a:defRPr>
            </a:lvl1pPr>
          </a:lstStyle>
          <a:p>
            <a:r>
              <a:rPr lang="ja-JP" altLang="en-US"/>
              <a:t>マスター タイトルの書式設定</a:t>
            </a:r>
          </a:p>
        </p:txBody>
      </p:sp>
      <p:sp>
        <p:nvSpPr>
          <p:cNvPr id="4" name="Rectangle 22">
            <a:extLst>
              <a:ext uri="{FF2B5EF4-FFF2-40B4-BE49-F238E27FC236}">
                <a16:creationId xmlns:a16="http://schemas.microsoft.com/office/drawing/2014/main" id="{F066FA23-BE1C-4C2D-8D05-E65E0E392846}"/>
              </a:ext>
            </a:extLst>
          </p:cNvPr>
          <p:cNvSpPr>
            <a:spLocks noChangeArrowheads="1"/>
          </p:cNvSpPr>
          <p:nvPr userDrawn="1"/>
        </p:nvSpPr>
        <p:spPr bwMode="auto">
          <a:xfrm>
            <a:off x="9129464" y="6603945"/>
            <a:ext cx="735017" cy="307777"/>
          </a:xfrm>
          <a:prstGeom prst="rect">
            <a:avLst/>
          </a:prstGeom>
          <a:noFill/>
          <a:ln w="9525">
            <a:noFill/>
            <a:miter lim="800000"/>
            <a:headEnd/>
            <a:tailEnd/>
          </a:ln>
          <a:effectLst/>
        </p:spPr>
        <p:txBody>
          <a:bodyPr wrap="square" anchor="ctr">
            <a:spAutoFit/>
          </a:bodyPr>
          <a:lstStyle/>
          <a:p>
            <a:pPr algn="ctr">
              <a:defRPr/>
            </a:pPr>
            <a:fld id="{8A78A693-3208-4FB2-91F2-7485DAC6A137}" type="slidenum">
              <a:rPr lang="en-US" altLang="ja-JP" sz="1400" b="1" smtClean="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40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a:t>
            </a:r>
            <a:endParaRPr lang="en-US" altLang="ja-JP" sz="1200" b="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Rectangle 20">
            <a:extLst>
              <a:ext uri="{FF2B5EF4-FFF2-40B4-BE49-F238E27FC236}">
                <a16:creationId xmlns:a16="http://schemas.microsoft.com/office/drawing/2014/main" id="{1AE5FD77-33F8-47EE-90D6-722F93DCC3B5}"/>
              </a:ext>
            </a:extLst>
          </p:cNvPr>
          <p:cNvSpPr>
            <a:spLocks noChangeArrowheads="1"/>
          </p:cNvSpPr>
          <p:nvPr userDrawn="1"/>
        </p:nvSpPr>
        <p:spPr bwMode="auto">
          <a:xfrm>
            <a:off x="-2175792" y="4975702"/>
            <a:ext cx="2044700" cy="1661988"/>
          </a:xfrm>
          <a:prstGeom prst="rect">
            <a:avLst/>
          </a:prstGeom>
          <a:solidFill>
            <a:schemeClr val="bg1"/>
          </a:solidFill>
          <a:ln w="3175" algn="ctr">
            <a:solidFill>
              <a:schemeClr val="bg2"/>
            </a:solidFill>
            <a:miter lim="800000"/>
            <a:headEnd/>
            <a:tailEnd/>
          </a:ln>
          <a:effectLst>
            <a:outerShdw dist="35921" dir="2700000" algn="ctr" rotWithShape="0">
              <a:schemeClr val="bg2"/>
            </a:outerShdw>
          </a:effectLst>
        </p:spPr>
        <p:txBody>
          <a:bodyPr wrap="square" lIns="180000" tIns="180000" rIns="180000" bIns="180000" anchor="ctr">
            <a:no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6" name="Rectangle 21">
            <a:extLst>
              <a:ext uri="{FF2B5EF4-FFF2-40B4-BE49-F238E27FC236}">
                <a16:creationId xmlns:a16="http://schemas.microsoft.com/office/drawing/2014/main" id="{C1575839-B912-46A7-979D-8B080A070C9E}"/>
              </a:ext>
            </a:extLst>
          </p:cNvPr>
          <p:cNvSpPr>
            <a:spLocks noChangeArrowheads="1"/>
          </p:cNvSpPr>
          <p:nvPr userDrawn="1"/>
        </p:nvSpPr>
        <p:spPr bwMode="auto">
          <a:xfrm>
            <a:off x="-493042" y="5738309"/>
            <a:ext cx="236538" cy="223837"/>
          </a:xfrm>
          <a:prstGeom prst="rect">
            <a:avLst/>
          </a:prstGeom>
          <a:solidFill>
            <a:srgbClr val="376092"/>
          </a:solidFill>
          <a:ln>
            <a:noFill/>
          </a:ln>
          <a:effec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7" name="Rectangle 22">
            <a:extLst>
              <a:ext uri="{FF2B5EF4-FFF2-40B4-BE49-F238E27FC236}">
                <a16:creationId xmlns:a16="http://schemas.microsoft.com/office/drawing/2014/main" id="{6133ECE9-FDFF-4CB8-8168-1B3208C75A25}"/>
              </a:ext>
            </a:extLst>
          </p:cNvPr>
          <p:cNvSpPr>
            <a:spLocks noChangeArrowheads="1"/>
          </p:cNvSpPr>
          <p:nvPr userDrawn="1"/>
        </p:nvSpPr>
        <p:spPr bwMode="auto">
          <a:xfrm>
            <a:off x="-2175792" y="5737309"/>
            <a:ext cx="1584325" cy="292388"/>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US" altLang="ja-JP" sz="1100">
                <a:ea typeface="ＭＳ Ｐゴシック" pitchFamily="50" charset="-128"/>
              </a:rPr>
              <a:t>Blue(2)</a:t>
            </a:r>
            <a:endParaRPr kumimoji="0" lang="en-GB" altLang="ja-JP" sz="1100">
              <a:ea typeface="ＭＳ Ｐゴシック" pitchFamily="50" charset="-128"/>
            </a:endParaRPr>
          </a:p>
          <a:p>
            <a:pPr algn="r" eaLnBrk="1" hangingPunct="1">
              <a:lnSpc>
                <a:spcPct val="65000"/>
              </a:lnSpc>
              <a:spcBef>
                <a:spcPct val="20000"/>
              </a:spcBef>
              <a:spcAft>
                <a:spcPct val="20000"/>
              </a:spcAft>
              <a:defRPr/>
            </a:pPr>
            <a:r>
              <a:rPr kumimoji="0" lang="en-GB" altLang="ja-JP" sz="1100"/>
              <a:t>RGB= 55,</a:t>
            </a:r>
            <a:r>
              <a:rPr kumimoji="0" lang="en-US" altLang="ja-JP" sz="1100"/>
              <a:t>96</a:t>
            </a:r>
            <a:r>
              <a:rPr kumimoji="0" lang="en-GB" altLang="ja-JP" sz="1100"/>
              <a:t>,146</a:t>
            </a:r>
          </a:p>
        </p:txBody>
      </p:sp>
      <p:grpSp>
        <p:nvGrpSpPr>
          <p:cNvPr id="8" name="Group 23">
            <a:extLst>
              <a:ext uri="{FF2B5EF4-FFF2-40B4-BE49-F238E27FC236}">
                <a16:creationId xmlns:a16="http://schemas.microsoft.com/office/drawing/2014/main" id="{F4D799C3-1B1B-4DD9-A97C-3DD8C980A011}"/>
              </a:ext>
            </a:extLst>
          </p:cNvPr>
          <p:cNvGrpSpPr>
            <a:grpSpLocks/>
          </p:cNvGrpSpPr>
          <p:nvPr userDrawn="1"/>
        </p:nvGrpSpPr>
        <p:grpSpPr bwMode="auto">
          <a:xfrm>
            <a:off x="-2175792" y="5185128"/>
            <a:ext cx="1919288" cy="303212"/>
            <a:chOff x="-1379" y="3713"/>
            <a:chExt cx="1209" cy="191"/>
          </a:xfrm>
        </p:grpSpPr>
        <p:sp>
          <p:nvSpPr>
            <p:cNvPr id="9" name="Rectangle 24">
              <a:extLst>
                <a:ext uri="{FF2B5EF4-FFF2-40B4-BE49-F238E27FC236}">
                  <a16:creationId xmlns:a16="http://schemas.microsoft.com/office/drawing/2014/main" id="{F5468B33-FE8C-40D2-8F5E-54F8B420B1B0}"/>
                </a:ext>
              </a:extLst>
            </p:cNvPr>
            <p:cNvSpPr>
              <a:spLocks noChangeArrowheads="1"/>
            </p:cNvSpPr>
            <p:nvPr userDrawn="1"/>
          </p:nvSpPr>
          <p:spPr bwMode="auto">
            <a:xfrm>
              <a:off x="-319" y="3713"/>
              <a:ext cx="149" cy="141"/>
            </a:xfrm>
            <a:prstGeom prst="rect">
              <a:avLst/>
            </a:prstGeom>
            <a:solidFill>
              <a:srgbClr val="0075BF"/>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10" name="Rectangle 25">
              <a:extLst>
                <a:ext uri="{FF2B5EF4-FFF2-40B4-BE49-F238E27FC236}">
                  <a16:creationId xmlns:a16="http://schemas.microsoft.com/office/drawing/2014/main" id="{531EA692-B1F2-4533-8573-DF1C1B991DD8}"/>
                </a:ext>
              </a:extLst>
            </p:cNvPr>
            <p:cNvSpPr>
              <a:spLocks noChangeArrowheads="1"/>
            </p:cNvSpPr>
            <p:nvPr userDrawn="1"/>
          </p:nvSpPr>
          <p:spPr bwMode="auto">
            <a:xfrm>
              <a:off x="-1379" y="3720"/>
              <a:ext cx="998" cy="184"/>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100">
                  <a:ea typeface="ＭＳ Ｐゴシック" pitchFamily="50" charset="-128"/>
                </a:rPr>
                <a:t>Blue</a:t>
              </a:r>
              <a:r>
                <a:rPr kumimoji="0" lang="en-US" altLang="ja-JP" sz="1100">
                  <a:ea typeface="ＭＳ Ｐゴシック" pitchFamily="50" charset="-128"/>
                </a:rPr>
                <a:t>(1)</a:t>
              </a:r>
              <a:endParaRPr kumimoji="0" lang="en-GB" altLang="ja-JP" sz="1100">
                <a:ea typeface="ＭＳ Ｐゴシック" pitchFamily="50" charset="-128"/>
              </a:endParaRPr>
            </a:p>
            <a:p>
              <a:pPr algn="r" eaLnBrk="1" hangingPunct="1">
                <a:lnSpc>
                  <a:spcPct val="65000"/>
                </a:lnSpc>
                <a:spcBef>
                  <a:spcPct val="20000"/>
                </a:spcBef>
                <a:spcAft>
                  <a:spcPct val="20000"/>
                </a:spcAft>
                <a:defRPr/>
              </a:pPr>
              <a:r>
                <a:rPr kumimoji="0" lang="en-GB" altLang="ja-JP" sz="1100"/>
                <a:t>RGB= 0,117,191</a:t>
              </a:r>
            </a:p>
          </p:txBody>
        </p:sp>
      </p:grpSp>
      <p:grpSp>
        <p:nvGrpSpPr>
          <p:cNvPr id="11" name="Group 26">
            <a:extLst>
              <a:ext uri="{FF2B5EF4-FFF2-40B4-BE49-F238E27FC236}">
                <a16:creationId xmlns:a16="http://schemas.microsoft.com/office/drawing/2014/main" id="{8BD273F7-C5B5-4B7F-B42D-5097A0B999E8}"/>
              </a:ext>
            </a:extLst>
          </p:cNvPr>
          <p:cNvGrpSpPr>
            <a:grpSpLocks/>
          </p:cNvGrpSpPr>
          <p:nvPr userDrawn="1"/>
        </p:nvGrpSpPr>
        <p:grpSpPr bwMode="auto">
          <a:xfrm>
            <a:off x="-2175792" y="6212114"/>
            <a:ext cx="1919288" cy="300037"/>
            <a:chOff x="-1379" y="4611"/>
            <a:chExt cx="1209" cy="189"/>
          </a:xfrm>
        </p:grpSpPr>
        <p:sp>
          <p:nvSpPr>
            <p:cNvPr id="12" name="Rectangle 27">
              <a:extLst>
                <a:ext uri="{FF2B5EF4-FFF2-40B4-BE49-F238E27FC236}">
                  <a16:creationId xmlns:a16="http://schemas.microsoft.com/office/drawing/2014/main" id="{B81B691A-BFAF-4FD0-B9E7-09B7FAD3FB16}"/>
                </a:ext>
              </a:extLst>
            </p:cNvPr>
            <p:cNvSpPr>
              <a:spLocks noChangeArrowheads="1"/>
            </p:cNvSpPr>
            <p:nvPr userDrawn="1"/>
          </p:nvSpPr>
          <p:spPr bwMode="auto">
            <a:xfrm>
              <a:off x="-319" y="4611"/>
              <a:ext cx="149" cy="141"/>
            </a:xfrm>
            <a:prstGeom prst="rect">
              <a:avLst/>
            </a:prstGeom>
            <a:solidFill>
              <a:srgbClr val="DDDDDD"/>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13" name="Rectangle 28">
              <a:extLst>
                <a:ext uri="{FF2B5EF4-FFF2-40B4-BE49-F238E27FC236}">
                  <a16:creationId xmlns:a16="http://schemas.microsoft.com/office/drawing/2014/main" id="{0B8886FF-4CC8-44E5-BD22-99B41A762DFA}"/>
                </a:ext>
              </a:extLst>
            </p:cNvPr>
            <p:cNvSpPr>
              <a:spLocks noChangeArrowheads="1"/>
            </p:cNvSpPr>
            <p:nvPr userDrawn="1"/>
          </p:nvSpPr>
          <p:spPr bwMode="auto">
            <a:xfrm>
              <a:off x="-1379" y="4620"/>
              <a:ext cx="998" cy="18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100">
                  <a:ea typeface="ＭＳ Ｐゴシック" pitchFamily="50" charset="-128"/>
                </a:rPr>
                <a:t>Grey</a:t>
              </a:r>
            </a:p>
            <a:p>
              <a:pPr algn="r" eaLnBrk="1" hangingPunct="1">
                <a:lnSpc>
                  <a:spcPct val="65000"/>
                </a:lnSpc>
                <a:spcBef>
                  <a:spcPct val="20000"/>
                </a:spcBef>
                <a:spcAft>
                  <a:spcPct val="20000"/>
                </a:spcAft>
                <a:defRPr/>
              </a:pPr>
              <a:r>
                <a:rPr kumimoji="0" lang="en-GB" altLang="ja-JP" sz="1100"/>
                <a:t>RGB= 221,221,221</a:t>
              </a:r>
            </a:p>
          </p:txBody>
        </p:sp>
      </p:grpSp>
    </p:spTree>
    <p:extLst>
      <p:ext uri="{BB962C8B-B14F-4D97-AF65-F5344CB8AC3E}">
        <p14:creationId xmlns:p14="http://schemas.microsoft.com/office/powerpoint/2010/main" val="3090852942"/>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404664"/>
            <a:ext cx="9396412" cy="414436"/>
          </a:xfrm>
          <a:prstGeom prst="rect">
            <a:avLst/>
          </a:prstGeom>
        </p:spPr>
        <p:txBody>
          <a:bodyPr/>
          <a:lstStyle>
            <a:lvl1pPr>
              <a:defRPr sz="2400" b="0">
                <a:solidFill>
                  <a:schemeClr val="tx1"/>
                </a:solidFill>
              </a:defRPr>
            </a:lvl1pPr>
          </a:lstStyle>
          <a:p>
            <a:r>
              <a:rPr lang="ja-JP" altLang="en-US"/>
              <a:t>マスター タイトルの書式設定</a:t>
            </a:r>
          </a:p>
        </p:txBody>
      </p:sp>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94471" y="819289"/>
            <a:ext cx="9546429"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4" name="Rectangle 12">
            <a:extLst>
              <a:ext uri="{FF2B5EF4-FFF2-40B4-BE49-F238E27FC236}">
                <a16:creationId xmlns:a16="http://schemas.microsoft.com/office/drawing/2014/main" id="{B3ED3A03-A528-4BDF-9DBC-82F29CB5B28B}"/>
              </a:ext>
            </a:extLst>
          </p:cNvPr>
          <p:cNvSpPr>
            <a:spLocks noChangeArrowheads="1"/>
          </p:cNvSpPr>
          <p:nvPr userDrawn="1"/>
        </p:nvSpPr>
        <p:spPr bwMode="auto">
          <a:xfrm>
            <a:off x="194471" y="647769"/>
            <a:ext cx="147955" cy="134554"/>
          </a:xfrm>
          <a:prstGeom prst="rect">
            <a:avLst/>
          </a:prstGeom>
          <a:solidFill>
            <a:srgbClr val="DDDDDD"/>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5" name="Rectangle 13">
            <a:extLst>
              <a:ext uri="{FF2B5EF4-FFF2-40B4-BE49-F238E27FC236}">
                <a16:creationId xmlns:a16="http://schemas.microsoft.com/office/drawing/2014/main" id="{F1A65406-E599-4BA7-9FC2-20DECF167548}"/>
              </a:ext>
            </a:extLst>
          </p:cNvPr>
          <p:cNvSpPr>
            <a:spLocks noChangeArrowheads="1"/>
          </p:cNvSpPr>
          <p:nvPr userDrawn="1"/>
        </p:nvSpPr>
        <p:spPr bwMode="auto">
          <a:xfrm>
            <a:off x="194471" y="476250"/>
            <a:ext cx="147955" cy="134554"/>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7" name="コンテンツ プレースホルダー 6">
            <a:extLst>
              <a:ext uri="{FF2B5EF4-FFF2-40B4-BE49-F238E27FC236}">
                <a16:creationId xmlns:a16="http://schemas.microsoft.com/office/drawing/2014/main" id="{08E9FBC1-F194-4B46-9FB6-4E9F2302CC6D}"/>
              </a:ext>
            </a:extLst>
          </p:cNvPr>
          <p:cNvSpPr>
            <a:spLocks noGrp="1"/>
          </p:cNvSpPr>
          <p:nvPr>
            <p:ph sz="quarter" idx="10"/>
          </p:nvPr>
        </p:nvSpPr>
        <p:spPr>
          <a:xfrm>
            <a:off x="194471" y="980728"/>
            <a:ext cx="9546429" cy="980406"/>
          </a:xfrm>
          <a:prstGeom prst="rect">
            <a:avLst/>
          </a:prstGeom>
          <a:ln>
            <a:solidFill>
              <a:schemeClr val="bg2"/>
            </a:solidFill>
          </a:ln>
        </p:spPr>
        <p:txBody>
          <a:bodyPr/>
          <a:lstStyle>
            <a:lvl1pPr marL="0" indent="0">
              <a:lnSpc>
                <a:spcPct val="100000"/>
              </a:lnSpc>
              <a:spcBef>
                <a:spcPts val="300"/>
              </a:spcBef>
              <a:buClr>
                <a:schemeClr val="tx1"/>
              </a:buClr>
              <a:buFontTx/>
              <a:buNone/>
              <a:defRPr/>
            </a:lvl1pPr>
            <a:lvl2pPr>
              <a:lnSpc>
                <a:spcPct val="100000"/>
              </a:lnSpc>
              <a:spcBef>
                <a:spcPts val="300"/>
              </a:spcBef>
              <a:buClr>
                <a:schemeClr val="tx1"/>
              </a:buClr>
              <a:defRPr/>
            </a:lvl2pPr>
            <a:lvl3pPr marL="627063" indent="-177800">
              <a:lnSpc>
                <a:spcPct val="100000"/>
              </a:lnSpc>
              <a:spcBef>
                <a:spcPts val="300"/>
              </a:spcBef>
              <a:buClr>
                <a:schemeClr val="tx1"/>
              </a:buClr>
              <a:buFont typeface="Wingdings" panose="05000000000000000000" pitchFamily="2" charset="2"/>
              <a:buChar char="l"/>
              <a:defRPr/>
            </a:lvl3pPr>
            <a:lvl4pPr marL="804863" indent="-177800">
              <a:lnSpc>
                <a:spcPct val="100000"/>
              </a:lnSpc>
              <a:spcBef>
                <a:spcPts val="300"/>
              </a:spcBef>
              <a:buClr>
                <a:schemeClr val="tx1"/>
              </a:buClr>
              <a:defRPr/>
            </a:lvl4pPr>
            <a:lvl5pPr marL="982663" indent="-177800">
              <a:lnSpc>
                <a:spcPct val="100000"/>
              </a:lnSpc>
              <a:spcBef>
                <a:spcPts val="300"/>
              </a:spcBef>
              <a:buClr>
                <a:schemeClr val="tx1"/>
              </a:buClr>
              <a:buFont typeface="Wingdings" panose="05000000000000000000" pitchFamily="2" charset="2"/>
              <a:buChar char="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Rectangle 22">
            <a:extLst>
              <a:ext uri="{FF2B5EF4-FFF2-40B4-BE49-F238E27FC236}">
                <a16:creationId xmlns:a16="http://schemas.microsoft.com/office/drawing/2014/main" id="{A7F545D0-E9D9-42EE-A9F7-CEC67E6B3AD6}"/>
              </a:ext>
            </a:extLst>
          </p:cNvPr>
          <p:cNvSpPr>
            <a:spLocks noChangeArrowheads="1"/>
          </p:cNvSpPr>
          <p:nvPr userDrawn="1"/>
        </p:nvSpPr>
        <p:spPr bwMode="auto">
          <a:xfrm>
            <a:off x="9214946" y="6557779"/>
            <a:ext cx="740907" cy="400110"/>
          </a:xfrm>
          <a:prstGeom prst="rect">
            <a:avLst/>
          </a:prstGeom>
          <a:noFill/>
          <a:ln w="9525">
            <a:noFill/>
            <a:miter lim="800000"/>
            <a:headEnd/>
            <a:tailEnd/>
          </a:ln>
          <a:effectLst/>
        </p:spPr>
        <p:txBody>
          <a:bodyPr wrap="none" anchor="ctr">
            <a:spAutoFit/>
          </a:bodyPr>
          <a:lstStyle/>
          <a:p>
            <a:pPr algn="r">
              <a:defRPr/>
            </a:pPr>
            <a:fld id="{8A78A693-3208-4FB2-91F2-7485DAC6A137}" type="slidenum">
              <a:rPr lang="en-US" altLang="ja-JP" sz="2000" b="1" smtClean="0">
                <a:solidFill>
                  <a:srgbClr val="000000"/>
                </a:solidFill>
                <a:effectLst/>
                <a:latin typeface="ＭＳ Ｐゴシック" panose="020B0600070205080204" pitchFamily="50" charset="-128"/>
                <a:ea typeface="ＭＳ Ｐゴシック" panose="020B0600070205080204" pitchFamily="50" charset="-128"/>
                <a:cs typeface="Meiryo UI" panose="020B0604030504040204" pitchFamily="50" charset="-128"/>
              </a:rPr>
              <a:pPr algn="r">
                <a:defRPr/>
              </a:pPr>
              <a:t>‹#›</a:t>
            </a:fld>
            <a:r>
              <a:rPr lang="en-US" altLang="ja-JP" sz="1400">
                <a:solidFill>
                  <a:srgbClr val="000000"/>
                </a:solidFill>
                <a:effectLst/>
                <a:latin typeface="ＭＳ Ｐゴシック" panose="020B0600070205080204" pitchFamily="50" charset="-128"/>
                <a:ea typeface="ＭＳ Ｐゴシック" panose="020B0600070205080204" pitchFamily="50" charset="-128"/>
                <a:cs typeface="Meiryo UI" panose="020B0604030504040204" pitchFamily="50" charset="-128"/>
              </a:rPr>
              <a:t>/</a:t>
            </a:r>
            <a:r>
              <a:rPr lang="en-US" altLang="ja-JP" sz="1200">
                <a:solidFill>
                  <a:srgbClr val="000000"/>
                </a:solidFill>
                <a:effectLst/>
                <a:latin typeface="ＭＳ Ｐゴシック" panose="020B0600070205080204" pitchFamily="50" charset="-128"/>
                <a:ea typeface="ＭＳ Ｐゴシック" panose="020B0600070205080204" pitchFamily="50" charset="-128"/>
                <a:cs typeface="Meiryo UI" panose="020B0604030504040204" pitchFamily="50" charset="-128"/>
              </a:rPr>
              <a:t>2</a:t>
            </a:r>
            <a:endParaRPr lang="en-US" altLang="ja-JP" sz="1200" b="1">
              <a:solidFill>
                <a:srgbClr val="000000"/>
              </a:solidFill>
              <a:effectLst/>
              <a:latin typeface="ＭＳ Ｐゴシック" panose="020B0600070205080204" pitchFamily="50" charset="-128"/>
              <a:ea typeface="ＭＳ Ｐゴシック" panose="020B0600070205080204" pitchFamily="50" charset="-128"/>
              <a:cs typeface="Meiryo UI" panose="020B0604030504040204" pitchFamily="50" charset="-128"/>
            </a:endParaRPr>
          </a:p>
        </p:txBody>
      </p:sp>
    </p:spTree>
    <p:extLst>
      <p:ext uri="{BB962C8B-B14F-4D97-AF65-F5344CB8AC3E}">
        <p14:creationId xmlns:p14="http://schemas.microsoft.com/office/powerpoint/2010/main" val="15316837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122994-5668-4897-BBF7-B9BE4C42AFE3}"/>
              </a:ext>
            </a:extLst>
          </p:cNvPr>
          <p:cNvSpPr>
            <a:spLocks noGrp="1"/>
          </p:cNvSpPr>
          <p:nvPr>
            <p:ph type="ctrTitle"/>
          </p:nvPr>
        </p:nvSpPr>
        <p:spPr>
          <a:xfrm>
            <a:off x="1238250" y="1122362"/>
            <a:ext cx="7429500" cy="3192883"/>
          </a:xfrm>
          <a:prstGeom prst="rect">
            <a:avLst/>
          </a:prstGeom>
        </p:spPr>
        <p:txBody>
          <a:bodyPr anchor="ctr" anchorCtr="0"/>
          <a:lstStyle>
            <a:lvl1pPr algn="ctr">
              <a:defRPr sz="4400">
                <a:solidFill>
                  <a:schemeClr val="tx1"/>
                </a:solidFill>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2ECA535-6149-493C-9115-993C9D9D95DA}"/>
              </a:ext>
            </a:extLst>
          </p:cNvPr>
          <p:cNvSpPr>
            <a:spLocks noGrp="1"/>
          </p:cNvSpPr>
          <p:nvPr>
            <p:ph type="subTitle" idx="1"/>
          </p:nvPr>
        </p:nvSpPr>
        <p:spPr>
          <a:xfrm>
            <a:off x="1238250" y="4509542"/>
            <a:ext cx="7429500" cy="1655762"/>
          </a:xfrm>
          <a:prstGeom prst="rect">
            <a:avLst/>
          </a:prstGeom>
        </p:spPr>
        <p:txBody>
          <a:bodyPr/>
          <a:lstStyle>
            <a:lvl1pPr marL="0" indent="0" algn="ctr">
              <a:spcBef>
                <a:spcPts val="0"/>
              </a:spcBef>
              <a:buNone/>
              <a:defRPr sz="280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endParaRPr kumimoji="1" lang="en-US" altLang="ja-JP"/>
          </a:p>
        </p:txBody>
      </p:sp>
      <p:sp>
        <p:nvSpPr>
          <p:cNvPr id="5" name="Rectangle 10">
            <a:extLst>
              <a:ext uri="{FF2B5EF4-FFF2-40B4-BE49-F238E27FC236}">
                <a16:creationId xmlns:a16="http://schemas.microsoft.com/office/drawing/2014/main" id="{F7FF61F4-0C15-4412-91AD-CB5AE5E82986}"/>
              </a:ext>
            </a:extLst>
          </p:cNvPr>
          <p:cNvSpPr>
            <a:spLocks noChangeArrowheads="1"/>
          </p:cNvSpPr>
          <p:nvPr userDrawn="1"/>
        </p:nvSpPr>
        <p:spPr bwMode="auto">
          <a:xfrm>
            <a:off x="734272" y="3429000"/>
            <a:ext cx="8467200"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sz="1800">
              <a:solidFill>
                <a:srgbClr val="292929"/>
              </a:solidFill>
            </a:endParaRPr>
          </a:p>
        </p:txBody>
      </p:sp>
    </p:spTree>
    <p:extLst>
      <p:ext uri="{BB962C8B-B14F-4D97-AF65-F5344CB8AC3E}">
        <p14:creationId xmlns:p14="http://schemas.microsoft.com/office/powerpoint/2010/main" val="520918453"/>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8C13DD4-DDF0-47EA-85C0-33C135D060A2}"/>
              </a:ext>
            </a:extLst>
          </p:cNvPr>
          <p:cNvSpPr>
            <a:spLocks noGrp="1"/>
          </p:cNvSpPr>
          <p:nvPr>
            <p:ph type="title"/>
          </p:nvPr>
        </p:nvSpPr>
        <p:spPr>
          <a:xfrm>
            <a:off x="558800" y="265113"/>
            <a:ext cx="9004300" cy="334962"/>
          </a:xfrm>
          <a:prstGeom prst="rect">
            <a:avLst/>
          </a:prstGeom>
        </p:spPr>
        <p:txBody>
          <a:bodyPr/>
          <a:lstStyle>
            <a:lvl1pPr>
              <a:defRPr b="0">
                <a:solidFill>
                  <a:schemeClr val="tx1"/>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609959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FCC99"/>
        </a:solid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558800" y="265113"/>
            <a:ext cx="9004300" cy="334962"/>
          </a:xfrm>
          <a:prstGeom prst="rect">
            <a:avLst/>
          </a:prstGeom>
        </p:spPr>
        <p:txBody>
          <a:bodyPr/>
          <a:lstStyle>
            <a:lvl1pPr>
              <a:defRPr>
                <a:solidFill>
                  <a:schemeClr val="tx1"/>
                </a:solidFill>
              </a:defRPr>
            </a:lvl1pPr>
          </a:lstStyle>
          <a:p>
            <a:r>
              <a:rPr lang="ja-JP" altLang="en-US"/>
              <a:t>マスター タイトルの書式設定</a:t>
            </a:r>
          </a:p>
        </p:txBody>
      </p:sp>
    </p:spTree>
    <p:extLst>
      <p:ext uri="{BB962C8B-B14F-4D97-AF65-F5344CB8AC3E}">
        <p14:creationId xmlns:p14="http://schemas.microsoft.com/office/powerpoint/2010/main" val="28558841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白紙・中表紙">
    <p:spTree>
      <p:nvGrpSpPr>
        <p:cNvPr id="1" name=""/>
        <p:cNvGrpSpPr/>
        <p:nvPr/>
      </p:nvGrpSpPr>
      <p:grpSpPr>
        <a:xfrm>
          <a:off x="0" y="0"/>
          <a:ext cx="0" cy="0"/>
          <a:chOff x="0" y="0"/>
          <a:chExt cx="0" cy="0"/>
        </a:xfrm>
      </p:grpSpPr>
      <p:sp>
        <p:nvSpPr>
          <p:cNvPr id="3" name="正方形/長方形 2"/>
          <p:cNvSpPr/>
          <p:nvPr userDrawn="1"/>
        </p:nvSpPr>
        <p:spPr bwMode="auto">
          <a:xfrm>
            <a:off x="0" y="0"/>
            <a:ext cx="9906000" cy="647382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a:defRPr/>
            </a:pPr>
            <a:endParaRPr lang="ja-JP" altLang="en-US" sz="1800">
              <a:solidFill>
                <a:srgbClr val="292929"/>
              </a:solidFill>
              <a:cs typeface="メイリオ" panose="020B0604030504040204" pitchFamily="50" charset="-128"/>
            </a:endParaRPr>
          </a:p>
        </p:txBody>
      </p:sp>
      <p:sp>
        <p:nvSpPr>
          <p:cNvPr id="2" name="タイトル 1"/>
          <p:cNvSpPr>
            <a:spLocks noGrp="1"/>
          </p:cNvSpPr>
          <p:nvPr>
            <p:ph type="title"/>
          </p:nvPr>
        </p:nvSpPr>
        <p:spPr>
          <a:xfrm>
            <a:off x="558800" y="3085949"/>
            <a:ext cx="9004300" cy="553998"/>
          </a:xfrm>
          <a:prstGeom prst="rect">
            <a:avLst/>
          </a:prstGeom>
        </p:spPr>
        <p:txBody>
          <a:bodyPr/>
          <a:lstStyle>
            <a:lvl1pPr algn="ctr">
              <a:defRPr sz="3600">
                <a:solidFill>
                  <a:schemeClr val="tx1"/>
                </a:solidFill>
              </a:defRPr>
            </a:lvl1pPr>
          </a:lstStyle>
          <a:p>
            <a:r>
              <a:rPr lang="ja-JP" altLang="en-US"/>
              <a:t>マスター タイトルの書式設定</a:t>
            </a:r>
          </a:p>
        </p:txBody>
      </p:sp>
    </p:spTree>
    <p:extLst>
      <p:ext uri="{BB962C8B-B14F-4D97-AF65-F5344CB8AC3E}">
        <p14:creationId xmlns:p14="http://schemas.microsoft.com/office/powerpoint/2010/main" val="7026931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本文(総ページ表示なし)">
    <p:spTree>
      <p:nvGrpSpPr>
        <p:cNvPr id="1" name=""/>
        <p:cNvGrpSpPr/>
        <p:nvPr/>
      </p:nvGrpSpPr>
      <p:grpSpPr>
        <a:xfrm>
          <a:off x="0" y="0"/>
          <a:ext cx="0" cy="0"/>
          <a:chOff x="0" y="0"/>
          <a:chExt cx="0" cy="0"/>
        </a:xfrm>
      </p:grpSpPr>
      <p:sp>
        <p:nvSpPr>
          <p:cNvPr id="3" name="正方形/長方形 2"/>
          <p:cNvSpPr/>
          <p:nvPr userDrawn="1"/>
        </p:nvSpPr>
        <p:spPr bwMode="auto">
          <a:xfrm>
            <a:off x="9277462" y="6562725"/>
            <a:ext cx="628538" cy="29527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eaLnBrk="0" hangingPunct="0">
              <a:defRPr/>
            </a:pPr>
            <a:endParaRPr lang="ja-JP" altLang="en-US" sz="1600">
              <a:solidFill>
                <a:srgbClr val="004874"/>
              </a:solidFill>
              <a:cs typeface="メイリオ" panose="020B0604030504040204" pitchFamily="50" charset="-128"/>
            </a:endParaRPr>
          </a:p>
        </p:txBody>
      </p:sp>
      <p:sp>
        <p:nvSpPr>
          <p:cNvPr id="2" name="タイトル 1"/>
          <p:cNvSpPr>
            <a:spLocks noGrp="1"/>
          </p:cNvSpPr>
          <p:nvPr>
            <p:ph type="title"/>
          </p:nvPr>
        </p:nvSpPr>
        <p:spPr>
          <a:xfrm>
            <a:off x="558800" y="265113"/>
            <a:ext cx="9004300" cy="334962"/>
          </a:xfrm>
          <a:prstGeom prst="rect">
            <a:avLst/>
          </a:prstGeom>
        </p:spPr>
        <p:txBody>
          <a:bodyPr/>
          <a:lstStyle>
            <a:lvl1pPr>
              <a:defRPr b="0">
                <a:solidFill>
                  <a:schemeClr val="tx1"/>
                </a:solidFill>
              </a:defRPr>
            </a:lvl1pPr>
          </a:lstStyle>
          <a:p>
            <a:r>
              <a:rPr lang="ja-JP" altLang="en-US"/>
              <a:t>マスター タイトルの書式設定</a:t>
            </a:r>
          </a:p>
        </p:txBody>
      </p:sp>
      <p:sp>
        <p:nvSpPr>
          <p:cNvPr id="4" name="Rectangle 22">
            <a:extLst>
              <a:ext uri="{FF2B5EF4-FFF2-40B4-BE49-F238E27FC236}">
                <a16:creationId xmlns:a16="http://schemas.microsoft.com/office/drawing/2014/main" id="{F066FA23-BE1C-4C2D-8D05-E65E0E392846}"/>
              </a:ext>
            </a:extLst>
          </p:cNvPr>
          <p:cNvSpPr>
            <a:spLocks noChangeArrowheads="1"/>
          </p:cNvSpPr>
          <p:nvPr userDrawn="1"/>
        </p:nvSpPr>
        <p:spPr bwMode="auto">
          <a:xfrm>
            <a:off x="9129464" y="6603945"/>
            <a:ext cx="735017" cy="307777"/>
          </a:xfrm>
          <a:prstGeom prst="rect">
            <a:avLst/>
          </a:prstGeom>
          <a:noFill/>
          <a:ln w="9525">
            <a:noFill/>
            <a:miter lim="800000"/>
            <a:headEnd/>
            <a:tailEnd/>
          </a:ln>
          <a:effectLst/>
        </p:spPr>
        <p:txBody>
          <a:bodyPr wrap="square" anchor="ctr">
            <a:spAutoFit/>
          </a:bodyPr>
          <a:lstStyle/>
          <a:p>
            <a:pPr algn="ctr">
              <a:defRPr/>
            </a:pPr>
            <a:fld id="{8A78A693-3208-4FB2-91F2-7485DAC6A137}" type="slidenum">
              <a:rPr lang="en-US" altLang="ja-JP" sz="1400" b="1"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40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endParaRPr lang="en-US" altLang="ja-JP" sz="1200" b="1">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Rectangle 20">
            <a:extLst>
              <a:ext uri="{FF2B5EF4-FFF2-40B4-BE49-F238E27FC236}">
                <a16:creationId xmlns:a16="http://schemas.microsoft.com/office/drawing/2014/main" id="{1AE5FD77-33F8-47EE-90D6-722F93DCC3B5}"/>
              </a:ext>
            </a:extLst>
          </p:cNvPr>
          <p:cNvSpPr>
            <a:spLocks noChangeArrowheads="1"/>
          </p:cNvSpPr>
          <p:nvPr userDrawn="1"/>
        </p:nvSpPr>
        <p:spPr bwMode="auto">
          <a:xfrm>
            <a:off x="-2175792" y="4975702"/>
            <a:ext cx="2044700" cy="1661988"/>
          </a:xfrm>
          <a:prstGeom prst="rect">
            <a:avLst/>
          </a:prstGeom>
          <a:solidFill>
            <a:schemeClr val="bg1"/>
          </a:solidFill>
          <a:ln w="3175" algn="ctr">
            <a:solidFill>
              <a:schemeClr val="bg2"/>
            </a:solidFill>
            <a:miter lim="800000"/>
            <a:headEnd/>
            <a:tailEnd/>
          </a:ln>
          <a:effectLst>
            <a:outerShdw dist="35921" dir="2700000" algn="ctr" rotWithShape="0">
              <a:schemeClr val="bg2"/>
            </a:outerShdw>
          </a:effectLst>
        </p:spPr>
        <p:txBody>
          <a:bodyPr wrap="square" lIns="180000" tIns="180000" rIns="180000" bIns="180000" anchor="ctr">
            <a:no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solidFill>
                <a:srgbClr val="292929"/>
              </a:solidFill>
            </a:endParaRPr>
          </a:p>
        </p:txBody>
      </p:sp>
      <p:sp>
        <p:nvSpPr>
          <p:cNvPr id="6" name="Rectangle 21">
            <a:extLst>
              <a:ext uri="{FF2B5EF4-FFF2-40B4-BE49-F238E27FC236}">
                <a16:creationId xmlns:a16="http://schemas.microsoft.com/office/drawing/2014/main" id="{C1575839-B912-46A7-979D-8B080A070C9E}"/>
              </a:ext>
            </a:extLst>
          </p:cNvPr>
          <p:cNvSpPr>
            <a:spLocks noChangeArrowheads="1"/>
          </p:cNvSpPr>
          <p:nvPr userDrawn="1"/>
        </p:nvSpPr>
        <p:spPr bwMode="auto">
          <a:xfrm>
            <a:off x="-493042" y="5738309"/>
            <a:ext cx="236538" cy="223837"/>
          </a:xfrm>
          <a:prstGeom prst="rect">
            <a:avLst/>
          </a:prstGeom>
          <a:solidFill>
            <a:srgbClr val="376092"/>
          </a:solidFill>
          <a:ln>
            <a:noFill/>
          </a:ln>
          <a:effec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solidFill>
                <a:srgbClr val="292929"/>
              </a:solidFill>
            </a:endParaRPr>
          </a:p>
        </p:txBody>
      </p:sp>
      <p:sp>
        <p:nvSpPr>
          <p:cNvPr id="7" name="Rectangle 22">
            <a:extLst>
              <a:ext uri="{FF2B5EF4-FFF2-40B4-BE49-F238E27FC236}">
                <a16:creationId xmlns:a16="http://schemas.microsoft.com/office/drawing/2014/main" id="{6133ECE9-FDFF-4CB8-8168-1B3208C75A25}"/>
              </a:ext>
            </a:extLst>
          </p:cNvPr>
          <p:cNvSpPr>
            <a:spLocks noChangeArrowheads="1"/>
          </p:cNvSpPr>
          <p:nvPr userDrawn="1"/>
        </p:nvSpPr>
        <p:spPr bwMode="auto">
          <a:xfrm>
            <a:off x="-2175792" y="5737309"/>
            <a:ext cx="1584325" cy="292388"/>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US" altLang="ja-JP" sz="1100">
                <a:solidFill>
                  <a:srgbClr val="292929"/>
                </a:solidFill>
                <a:ea typeface="ＭＳ Ｐゴシック" pitchFamily="50" charset="-128"/>
              </a:rPr>
              <a:t>Blue(2)</a:t>
            </a:r>
            <a:endParaRPr kumimoji="0" lang="en-GB" altLang="ja-JP" sz="1100">
              <a:solidFill>
                <a:srgbClr val="292929"/>
              </a:solidFill>
              <a:ea typeface="ＭＳ Ｐゴシック" pitchFamily="50" charset="-128"/>
            </a:endParaRPr>
          </a:p>
          <a:p>
            <a:pPr algn="r" eaLnBrk="1" hangingPunct="1">
              <a:lnSpc>
                <a:spcPct val="65000"/>
              </a:lnSpc>
              <a:spcBef>
                <a:spcPct val="20000"/>
              </a:spcBef>
              <a:spcAft>
                <a:spcPct val="20000"/>
              </a:spcAft>
              <a:defRPr/>
            </a:pPr>
            <a:r>
              <a:rPr kumimoji="0" lang="en-GB" altLang="ja-JP" sz="1100">
                <a:solidFill>
                  <a:srgbClr val="292929"/>
                </a:solidFill>
              </a:rPr>
              <a:t>RGB= 55,</a:t>
            </a:r>
            <a:r>
              <a:rPr kumimoji="0" lang="en-US" altLang="ja-JP" sz="1100">
                <a:solidFill>
                  <a:srgbClr val="292929"/>
                </a:solidFill>
              </a:rPr>
              <a:t>96</a:t>
            </a:r>
            <a:r>
              <a:rPr kumimoji="0" lang="en-GB" altLang="ja-JP" sz="1100">
                <a:solidFill>
                  <a:srgbClr val="292929"/>
                </a:solidFill>
              </a:rPr>
              <a:t>,146</a:t>
            </a:r>
          </a:p>
        </p:txBody>
      </p:sp>
      <p:grpSp>
        <p:nvGrpSpPr>
          <p:cNvPr id="8" name="Group 23">
            <a:extLst>
              <a:ext uri="{FF2B5EF4-FFF2-40B4-BE49-F238E27FC236}">
                <a16:creationId xmlns:a16="http://schemas.microsoft.com/office/drawing/2014/main" id="{F4D799C3-1B1B-4DD9-A97C-3DD8C980A011}"/>
              </a:ext>
            </a:extLst>
          </p:cNvPr>
          <p:cNvGrpSpPr>
            <a:grpSpLocks/>
          </p:cNvGrpSpPr>
          <p:nvPr userDrawn="1"/>
        </p:nvGrpSpPr>
        <p:grpSpPr bwMode="auto">
          <a:xfrm>
            <a:off x="-2175792" y="5185128"/>
            <a:ext cx="1919288" cy="303212"/>
            <a:chOff x="-1379" y="3713"/>
            <a:chExt cx="1209" cy="191"/>
          </a:xfrm>
        </p:grpSpPr>
        <p:sp>
          <p:nvSpPr>
            <p:cNvPr id="9" name="Rectangle 24">
              <a:extLst>
                <a:ext uri="{FF2B5EF4-FFF2-40B4-BE49-F238E27FC236}">
                  <a16:creationId xmlns:a16="http://schemas.microsoft.com/office/drawing/2014/main" id="{F5468B33-FE8C-40D2-8F5E-54F8B420B1B0}"/>
                </a:ext>
              </a:extLst>
            </p:cNvPr>
            <p:cNvSpPr>
              <a:spLocks noChangeArrowheads="1"/>
            </p:cNvSpPr>
            <p:nvPr userDrawn="1"/>
          </p:nvSpPr>
          <p:spPr bwMode="auto">
            <a:xfrm>
              <a:off x="-319" y="3713"/>
              <a:ext cx="149" cy="141"/>
            </a:xfrm>
            <a:prstGeom prst="rect">
              <a:avLst/>
            </a:prstGeom>
            <a:solidFill>
              <a:srgbClr val="0075BF"/>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solidFill>
                  <a:srgbClr val="292929"/>
                </a:solidFill>
              </a:endParaRPr>
            </a:p>
          </p:txBody>
        </p:sp>
        <p:sp>
          <p:nvSpPr>
            <p:cNvPr id="10" name="Rectangle 25">
              <a:extLst>
                <a:ext uri="{FF2B5EF4-FFF2-40B4-BE49-F238E27FC236}">
                  <a16:creationId xmlns:a16="http://schemas.microsoft.com/office/drawing/2014/main" id="{531EA692-B1F2-4533-8573-DF1C1B991DD8}"/>
                </a:ext>
              </a:extLst>
            </p:cNvPr>
            <p:cNvSpPr>
              <a:spLocks noChangeArrowheads="1"/>
            </p:cNvSpPr>
            <p:nvPr userDrawn="1"/>
          </p:nvSpPr>
          <p:spPr bwMode="auto">
            <a:xfrm>
              <a:off x="-1379" y="3720"/>
              <a:ext cx="998" cy="184"/>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100">
                  <a:solidFill>
                    <a:srgbClr val="292929"/>
                  </a:solidFill>
                  <a:ea typeface="ＭＳ Ｐゴシック" pitchFamily="50" charset="-128"/>
                </a:rPr>
                <a:t>Blue</a:t>
              </a:r>
              <a:r>
                <a:rPr kumimoji="0" lang="en-US" altLang="ja-JP" sz="1100">
                  <a:solidFill>
                    <a:srgbClr val="292929"/>
                  </a:solidFill>
                  <a:ea typeface="ＭＳ Ｐゴシック" pitchFamily="50" charset="-128"/>
                </a:rPr>
                <a:t>(1)</a:t>
              </a:r>
              <a:endParaRPr kumimoji="0" lang="en-GB" altLang="ja-JP" sz="1100">
                <a:solidFill>
                  <a:srgbClr val="292929"/>
                </a:solidFill>
                <a:ea typeface="ＭＳ Ｐゴシック" pitchFamily="50" charset="-128"/>
              </a:endParaRPr>
            </a:p>
            <a:p>
              <a:pPr algn="r" eaLnBrk="1" hangingPunct="1">
                <a:lnSpc>
                  <a:spcPct val="65000"/>
                </a:lnSpc>
                <a:spcBef>
                  <a:spcPct val="20000"/>
                </a:spcBef>
                <a:spcAft>
                  <a:spcPct val="20000"/>
                </a:spcAft>
                <a:defRPr/>
              </a:pPr>
              <a:r>
                <a:rPr kumimoji="0" lang="en-GB" altLang="ja-JP" sz="1100">
                  <a:solidFill>
                    <a:srgbClr val="292929"/>
                  </a:solidFill>
                </a:rPr>
                <a:t>RGB= 0,117,191</a:t>
              </a:r>
            </a:p>
          </p:txBody>
        </p:sp>
      </p:grpSp>
      <p:grpSp>
        <p:nvGrpSpPr>
          <p:cNvPr id="11" name="Group 26">
            <a:extLst>
              <a:ext uri="{FF2B5EF4-FFF2-40B4-BE49-F238E27FC236}">
                <a16:creationId xmlns:a16="http://schemas.microsoft.com/office/drawing/2014/main" id="{8BD273F7-C5B5-4B7F-B42D-5097A0B999E8}"/>
              </a:ext>
            </a:extLst>
          </p:cNvPr>
          <p:cNvGrpSpPr>
            <a:grpSpLocks/>
          </p:cNvGrpSpPr>
          <p:nvPr userDrawn="1"/>
        </p:nvGrpSpPr>
        <p:grpSpPr bwMode="auto">
          <a:xfrm>
            <a:off x="-2175792" y="6212114"/>
            <a:ext cx="1919288" cy="300037"/>
            <a:chOff x="-1379" y="4611"/>
            <a:chExt cx="1209" cy="189"/>
          </a:xfrm>
        </p:grpSpPr>
        <p:sp>
          <p:nvSpPr>
            <p:cNvPr id="12" name="Rectangle 27">
              <a:extLst>
                <a:ext uri="{FF2B5EF4-FFF2-40B4-BE49-F238E27FC236}">
                  <a16:creationId xmlns:a16="http://schemas.microsoft.com/office/drawing/2014/main" id="{B81B691A-BFAF-4FD0-B9E7-09B7FAD3FB16}"/>
                </a:ext>
              </a:extLst>
            </p:cNvPr>
            <p:cNvSpPr>
              <a:spLocks noChangeArrowheads="1"/>
            </p:cNvSpPr>
            <p:nvPr userDrawn="1"/>
          </p:nvSpPr>
          <p:spPr bwMode="auto">
            <a:xfrm>
              <a:off x="-319" y="4611"/>
              <a:ext cx="149" cy="141"/>
            </a:xfrm>
            <a:prstGeom prst="rect">
              <a:avLst/>
            </a:prstGeom>
            <a:solidFill>
              <a:srgbClr val="DDDDDD"/>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solidFill>
                  <a:srgbClr val="292929"/>
                </a:solidFill>
              </a:endParaRPr>
            </a:p>
          </p:txBody>
        </p:sp>
        <p:sp>
          <p:nvSpPr>
            <p:cNvPr id="13" name="Rectangle 28">
              <a:extLst>
                <a:ext uri="{FF2B5EF4-FFF2-40B4-BE49-F238E27FC236}">
                  <a16:creationId xmlns:a16="http://schemas.microsoft.com/office/drawing/2014/main" id="{0B8886FF-4CC8-44E5-BD22-99B41A762DFA}"/>
                </a:ext>
              </a:extLst>
            </p:cNvPr>
            <p:cNvSpPr>
              <a:spLocks noChangeArrowheads="1"/>
            </p:cNvSpPr>
            <p:nvPr userDrawn="1"/>
          </p:nvSpPr>
          <p:spPr bwMode="auto">
            <a:xfrm>
              <a:off x="-1379" y="4620"/>
              <a:ext cx="998" cy="18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100">
                  <a:solidFill>
                    <a:srgbClr val="292929"/>
                  </a:solidFill>
                  <a:ea typeface="ＭＳ Ｐゴシック" pitchFamily="50" charset="-128"/>
                </a:rPr>
                <a:t>Grey</a:t>
              </a:r>
            </a:p>
            <a:p>
              <a:pPr algn="r" eaLnBrk="1" hangingPunct="1">
                <a:lnSpc>
                  <a:spcPct val="65000"/>
                </a:lnSpc>
                <a:spcBef>
                  <a:spcPct val="20000"/>
                </a:spcBef>
                <a:spcAft>
                  <a:spcPct val="20000"/>
                </a:spcAft>
                <a:defRPr/>
              </a:pPr>
              <a:r>
                <a:rPr kumimoji="0" lang="en-GB" altLang="ja-JP" sz="1100">
                  <a:solidFill>
                    <a:srgbClr val="292929"/>
                  </a:solidFill>
                </a:rPr>
                <a:t>RGB= 221,221,221</a:t>
              </a:r>
            </a:p>
          </p:txBody>
        </p:sp>
      </p:grpSp>
    </p:spTree>
    <p:extLst>
      <p:ext uri="{BB962C8B-B14F-4D97-AF65-F5344CB8AC3E}">
        <p14:creationId xmlns:p14="http://schemas.microsoft.com/office/powerpoint/2010/main" val="3762509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9"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image" Target="../media/image1.emf"/></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5.xml"/><Relationship Id="rId7" Type="http://schemas.openxmlformats.org/officeDocument/2006/relationships/image" Target="../media/image1.emf"/><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theme" Target="../theme/theme6.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40.xml"/><Relationship Id="rId7" Type="http://schemas.openxmlformats.org/officeDocument/2006/relationships/theme" Target="../theme/theme7.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46.xml"/><Relationship Id="rId7" Type="http://schemas.openxmlformats.org/officeDocument/2006/relationships/image" Target="../media/image1.emf"/><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theme" Target="../theme/theme8.xml"/><Relationship Id="rId5" Type="http://schemas.openxmlformats.org/officeDocument/2006/relationships/slideLayout" Target="../slideLayouts/slideLayout48.xml"/><Relationship Id="rId4"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6692744" y="6696277"/>
            <a:ext cx="2598790" cy="215444"/>
          </a:xfrm>
          <a:prstGeom prst="rect">
            <a:avLst/>
          </a:prstGeom>
          <a:noFill/>
          <a:ln w="9525">
            <a:noFill/>
            <a:miter lim="800000"/>
            <a:headEnd/>
            <a:tailEnd/>
          </a:ln>
          <a:effectLst/>
        </p:spPr>
        <p:txBody>
          <a:bodyPr wrap="none" lIns="91441"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800">
                <a:solidFill>
                  <a:srgbClr val="000000"/>
                </a:solidFill>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userDrawn="1"/>
        </p:nvSpPr>
        <p:spPr bwMode="auto">
          <a:xfrm>
            <a:off x="9087070" y="6603945"/>
            <a:ext cx="891591" cy="307777"/>
          </a:xfrm>
          <a:prstGeom prst="rect">
            <a:avLst/>
          </a:prstGeom>
          <a:noFill/>
          <a:ln w="9525">
            <a:noFill/>
            <a:miter lim="800000"/>
            <a:headEnd/>
            <a:tailEnd/>
          </a:ln>
          <a:effectLst/>
        </p:spPr>
        <p:txBody>
          <a:bodyPr wrap="none" anchor="ctr">
            <a:spAutoFit/>
          </a:bodyPr>
          <a:lstStyle/>
          <a:p>
            <a:pPr algn="ctr">
              <a:defRPr/>
            </a:pPr>
            <a:fld id="{8A78A693-3208-4FB2-91F2-7485DAC6A137}" type="slidenum">
              <a:rPr lang="en-US" altLang="ja-JP" sz="1400" b="1" smtClean="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40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/50</a:t>
            </a:r>
            <a:endParaRPr lang="en-US" altLang="ja-JP" sz="1200" b="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pic>
        <p:nvPicPr>
          <p:cNvPr id="13" name="Picture 14" descr="日本総研">
            <a:extLst>
              <a:ext uri="{FF2B5EF4-FFF2-40B4-BE49-F238E27FC236}">
                <a16:creationId xmlns:a16="http://schemas.microsoft.com/office/drawing/2014/main" id="{434C9E4A-990B-4EFF-963D-47954A53A7DD}"/>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8265368" y="11751"/>
            <a:ext cx="1294244" cy="302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
            <a:extLst>
              <a:ext uri="{FF2B5EF4-FFF2-40B4-BE49-F238E27FC236}">
                <a16:creationId xmlns:a16="http://schemas.microsoft.com/office/drawing/2014/main" id="{79C572DE-1618-46D6-9C30-860462530A09}"/>
              </a:ext>
            </a:extLst>
          </p:cNvPr>
          <p:cNvSpPr>
            <a:spLocks noChangeArrowheads="1"/>
          </p:cNvSpPr>
          <p:nvPr userDrawn="1"/>
        </p:nvSpPr>
        <p:spPr bwMode="auto">
          <a:xfrm>
            <a:off x="342867" y="453679"/>
            <a:ext cx="142908" cy="134554"/>
          </a:xfrm>
          <a:prstGeom prst="rect">
            <a:avLst/>
          </a:prstGeom>
          <a:solidFill>
            <a:srgbClr val="DDDDDD"/>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0" name="Rectangle 13">
            <a:extLst>
              <a:ext uri="{FF2B5EF4-FFF2-40B4-BE49-F238E27FC236}">
                <a16:creationId xmlns:a16="http://schemas.microsoft.com/office/drawing/2014/main" id="{3BDB8F85-8C64-48D8-8E87-E210DB25B66B}"/>
              </a:ext>
            </a:extLst>
          </p:cNvPr>
          <p:cNvSpPr>
            <a:spLocks noChangeArrowheads="1"/>
          </p:cNvSpPr>
          <p:nvPr userDrawn="1"/>
        </p:nvSpPr>
        <p:spPr bwMode="auto">
          <a:xfrm>
            <a:off x="342899" y="282834"/>
            <a:ext cx="142875" cy="134554"/>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1" name="Rectangle 10">
            <a:extLst>
              <a:ext uri="{FF2B5EF4-FFF2-40B4-BE49-F238E27FC236}">
                <a16:creationId xmlns:a16="http://schemas.microsoft.com/office/drawing/2014/main" id="{87465963-1E96-4DFB-B975-C03664AA82F1}"/>
              </a:ext>
            </a:extLst>
          </p:cNvPr>
          <p:cNvSpPr>
            <a:spLocks noChangeArrowheads="1"/>
          </p:cNvSpPr>
          <p:nvPr userDrawn="1"/>
        </p:nvSpPr>
        <p:spPr bwMode="auto">
          <a:xfrm>
            <a:off x="341279" y="628650"/>
            <a:ext cx="9221821" cy="58572"/>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2988008253"/>
      </p:ext>
    </p:extLst>
  </p:cSld>
  <p:clrMap bg1="lt1" tx1="dk1" bg2="lt2" tx2="dk2" accent1="accent1" accent2="accent2" accent3="accent3" accent4="accent4" accent5="accent5" accent6="accent6" hlink="hlink" folHlink="folHlink"/>
  <p:sldLayoutIdLst>
    <p:sldLayoutId id="2147483728" r:id="rId1"/>
    <p:sldLayoutId id="2147483711" r:id="rId2"/>
    <p:sldLayoutId id="2147483718" r:id="rId3"/>
    <p:sldLayoutId id="2147483719" r:id="rId4"/>
    <p:sldLayoutId id="2147483720" r:id="rId5"/>
    <p:sldLayoutId id="2147483739" r:id="rId6"/>
    <p:sldLayoutId id="2147483752" r:id="rId7"/>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174154" y="6667000"/>
            <a:ext cx="2110515" cy="200055"/>
          </a:xfrm>
          <a:prstGeom prst="rect">
            <a:avLst/>
          </a:prstGeom>
          <a:noFill/>
          <a:ln w="9525">
            <a:noFill/>
            <a:miter lim="800000"/>
            <a:headEnd/>
            <a:tailEnd/>
          </a:ln>
          <a:effectLst/>
        </p:spPr>
        <p:txBody>
          <a:bodyPr wrap="none" lIns="0"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700">
                <a:solidFill>
                  <a:schemeClr val="bg1">
                    <a:lumMod val="50000"/>
                  </a:schemeClr>
                </a:solidFill>
                <a:latin typeface="Segoe UI" panose="020B0502040204020203" pitchFamily="34" charset="0"/>
                <a:ea typeface="+mn-ea"/>
                <a:cs typeface="Segoe UI" panose="020B0502040204020203" pitchFamily="34" charset="0"/>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userDrawn="1"/>
        </p:nvSpPr>
        <p:spPr bwMode="auto">
          <a:xfrm>
            <a:off x="9435893" y="6597608"/>
            <a:ext cx="433772" cy="261610"/>
          </a:xfrm>
          <a:prstGeom prst="rect">
            <a:avLst/>
          </a:prstGeom>
          <a:noFill/>
          <a:ln w="9525">
            <a:noFill/>
            <a:miter lim="800000"/>
            <a:headEnd/>
            <a:tailEnd/>
          </a:ln>
          <a:effectLst/>
        </p:spPr>
        <p:txBody>
          <a:bodyPr wrap="none" rIns="0" bIns="0" anchor="ctr">
            <a:spAutoFit/>
          </a:bodyPr>
          <a:lstStyle/>
          <a:p>
            <a:pPr algn="r">
              <a:defRPr/>
            </a:pPr>
            <a:fld id="{8A78A693-3208-4FB2-91F2-7485DAC6A137}" type="slidenum">
              <a:rPr lang="en-US" altLang="ja-JP" sz="1400" b="1" smtClean="0">
                <a:solidFill>
                  <a:srgbClr val="000000"/>
                </a:solidFill>
                <a:effectLst/>
                <a:latin typeface="+mn-ea"/>
                <a:ea typeface="+mn-ea"/>
                <a:cs typeface="Meiryo UI" panose="020B0604030504040204" pitchFamily="50" charset="-128"/>
              </a:rPr>
              <a:pPr algn="r">
                <a:defRPr/>
              </a:pPr>
              <a:t>‹#›</a:t>
            </a:fld>
            <a:endParaRPr lang="en-US" altLang="ja-JP" sz="900" b="0">
              <a:solidFill>
                <a:srgbClr val="000000"/>
              </a:solidFill>
              <a:effectLst/>
              <a:latin typeface="+mn-ea"/>
              <a:ea typeface="+mn-ea"/>
              <a:cs typeface="Meiryo UI" panose="020B0604030504040204" pitchFamily="50" charset="-128"/>
            </a:endParaRPr>
          </a:p>
        </p:txBody>
      </p:sp>
    </p:spTree>
    <p:extLst>
      <p:ext uri="{BB962C8B-B14F-4D97-AF65-F5344CB8AC3E}">
        <p14:creationId xmlns:p14="http://schemas.microsoft.com/office/powerpoint/2010/main" val="2392070868"/>
      </p:ext>
    </p:extLst>
  </p:cSld>
  <p:clrMap bg1="lt1" tx1="dk1" bg2="lt2" tx2="dk2" accent1="accent1" accent2="accent2" accent3="accent3" accent4="accent4" accent5="accent5" accent6="accent6" hlink="hlink" folHlink="folHlink"/>
  <p:sldLayoutIdLst>
    <p:sldLayoutId id="2147483800" r:id="rId1"/>
    <p:sldLayoutId id="2147483796" r:id="rId2"/>
    <p:sldLayoutId id="2147483797" r:id="rId3"/>
    <p:sldLayoutId id="2147483798" r:id="rId4"/>
    <p:sldLayoutId id="2147483801" r:id="rId5"/>
    <p:sldLayoutId id="2147483799" r:id="rId6"/>
    <p:sldLayoutId id="2147483802" r:id="rId7"/>
    <p:sldLayoutId id="2147483803" r:id="rId8"/>
    <p:sldLayoutId id="2147483804" r:id="rId9"/>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120">
          <p15:clr>
            <a:srgbClr val="F26B43"/>
          </p15:clr>
        </p15:guide>
        <p15:guide id="3" pos="104">
          <p15:clr>
            <a:srgbClr val="F26B43"/>
          </p15:clr>
        </p15:guide>
        <p15:guide id="4" pos="61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6692744" y="6696277"/>
            <a:ext cx="2598790" cy="215444"/>
          </a:xfrm>
          <a:prstGeom prst="rect">
            <a:avLst/>
          </a:prstGeom>
          <a:noFill/>
          <a:ln w="9525">
            <a:noFill/>
            <a:miter lim="800000"/>
            <a:headEnd/>
            <a:tailEnd/>
          </a:ln>
          <a:effectLst/>
        </p:spPr>
        <p:txBody>
          <a:bodyPr wrap="none" lIns="91441"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800">
                <a:solidFill>
                  <a:srgbClr val="000000"/>
                </a:solidFill>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userDrawn="1"/>
        </p:nvSpPr>
        <p:spPr bwMode="auto">
          <a:xfrm>
            <a:off x="9125172" y="6603945"/>
            <a:ext cx="891591" cy="307777"/>
          </a:xfrm>
          <a:prstGeom prst="rect">
            <a:avLst/>
          </a:prstGeom>
          <a:noFill/>
          <a:ln w="9525">
            <a:noFill/>
            <a:miter lim="800000"/>
            <a:headEnd/>
            <a:tailEnd/>
          </a:ln>
          <a:effectLst/>
        </p:spPr>
        <p:txBody>
          <a:bodyPr wrap="none" anchor="ctr">
            <a:spAutoFit/>
          </a:bodyPr>
          <a:lstStyle/>
          <a:p>
            <a:pPr algn="ctr">
              <a:defRPr/>
            </a:pPr>
            <a:fld id="{8A78A693-3208-4FB2-91F2-7485DAC6A137}" type="slidenum">
              <a:rPr lang="en-US" altLang="ja-JP" sz="1400" b="1" smtClean="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40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/33</a:t>
            </a:r>
            <a:endParaRPr lang="en-US" altLang="ja-JP" sz="1200" b="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pic>
        <p:nvPicPr>
          <p:cNvPr id="13" name="Picture 14" descr="日本総研">
            <a:extLst>
              <a:ext uri="{FF2B5EF4-FFF2-40B4-BE49-F238E27FC236}">
                <a16:creationId xmlns:a16="http://schemas.microsoft.com/office/drawing/2014/main" id="{434C9E4A-990B-4EFF-963D-47954A53A7DD}"/>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8265368" y="11751"/>
            <a:ext cx="1294244" cy="302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
            <a:extLst>
              <a:ext uri="{FF2B5EF4-FFF2-40B4-BE49-F238E27FC236}">
                <a16:creationId xmlns:a16="http://schemas.microsoft.com/office/drawing/2014/main" id="{79C572DE-1618-46D6-9C30-860462530A09}"/>
              </a:ext>
            </a:extLst>
          </p:cNvPr>
          <p:cNvSpPr>
            <a:spLocks noChangeArrowheads="1"/>
          </p:cNvSpPr>
          <p:nvPr userDrawn="1"/>
        </p:nvSpPr>
        <p:spPr bwMode="auto">
          <a:xfrm>
            <a:off x="342867" y="453679"/>
            <a:ext cx="142908" cy="134554"/>
          </a:xfrm>
          <a:prstGeom prst="rect">
            <a:avLst/>
          </a:prstGeom>
          <a:solidFill>
            <a:srgbClr val="DDDDDD"/>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0" name="Rectangle 13">
            <a:extLst>
              <a:ext uri="{FF2B5EF4-FFF2-40B4-BE49-F238E27FC236}">
                <a16:creationId xmlns:a16="http://schemas.microsoft.com/office/drawing/2014/main" id="{3BDB8F85-8C64-48D8-8E87-E210DB25B66B}"/>
              </a:ext>
            </a:extLst>
          </p:cNvPr>
          <p:cNvSpPr>
            <a:spLocks noChangeArrowheads="1"/>
          </p:cNvSpPr>
          <p:nvPr userDrawn="1"/>
        </p:nvSpPr>
        <p:spPr bwMode="auto">
          <a:xfrm>
            <a:off x="342899" y="282834"/>
            <a:ext cx="142875" cy="134554"/>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1" name="Rectangle 10">
            <a:extLst>
              <a:ext uri="{FF2B5EF4-FFF2-40B4-BE49-F238E27FC236}">
                <a16:creationId xmlns:a16="http://schemas.microsoft.com/office/drawing/2014/main" id="{87465963-1E96-4DFB-B975-C03664AA82F1}"/>
              </a:ext>
            </a:extLst>
          </p:cNvPr>
          <p:cNvSpPr>
            <a:spLocks noChangeArrowheads="1"/>
          </p:cNvSpPr>
          <p:nvPr userDrawn="1"/>
        </p:nvSpPr>
        <p:spPr bwMode="auto">
          <a:xfrm>
            <a:off x="341279" y="628650"/>
            <a:ext cx="9221821" cy="58572"/>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3336032479"/>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061427AD-59E9-4BC4-AC87-29A8DD57C211}"/>
              </a:ext>
            </a:extLst>
          </p:cNvPr>
          <p:cNvSpPr>
            <a:spLocks noChangeArrowheads="1"/>
          </p:cNvSpPr>
          <p:nvPr userDrawn="1"/>
        </p:nvSpPr>
        <p:spPr bwMode="auto">
          <a:xfrm>
            <a:off x="194471" y="653032"/>
            <a:ext cx="9546429"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5" name="Rectangle 12">
            <a:extLst>
              <a:ext uri="{FF2B5EF4-FFF2-40B4-BE49-F238E27FC236}">
                <a16:creationId xmlns:a16="http://schemas.microsoft.com/office/drawing/2014/main" id="{6E08E8B8-0013-4E41-A5D3-84C1A91A2D2A}"/>
              </a:ext>
            </a:extLst>
          </p:cNvPr>
          <p:cNvSpPr>
            <a:spLocks noChangeArrowheads="1"/>
          </p:cNvSpPr>
          <p:nvPr userDrawn="1"/>
        </p:nvSpPr>
        <p:spPr bwMode="auto">
          <a:xfrm>
            <a:off x="194471" y="481512"/>
            <a:ext cx="147955" cy="134554"/>
          </a:xfrm>
          <a:prstGeom prst="rect">
            <a:avLst/>
          </a:prstGeom>
          <a:solidFill>
            <a:srgbClr val="DDDDDD"/>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6" name="Rectangle 13">
            <a:extLst>
              <a:ext uri="{FF2B5EF4-FFF2-40B4-BE49-F238E27FC236}">
                <a16:creationId xmlns:a16="http://schemas.microsoft.com/office/drawing/2014/main" id="{91FADBAF-C3FB-44F2-BC55-D0655E00E509}"/>
              </a:ext>
            </a:extLst>
          </p:cNvPr>
          <p:cNvSpPr>
            <a:spLocks noChangeArrowheads="1"/>
          </p:cNvSpPr>
          <p:nvPr userDrawn="1"/>
        </p:nvSpPr>
        <p:spPr bwMode="auto">
          <a:xfrm>
            <a:off x="194471" y="309993"/>
            <a:ext cx="147955" cy="134554"/>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6692744" y="6696277"/>
            <a:ext cx="2598790" cy="215444"/>
          </a:xfrm>
          <a:prstGeom prst="rect">
            <a:avLst/>
          </a:prstGeom>
          <a:noFill/>
          <a:ln w="9525">
            <a:noFill/>
            <a:miter lim="800000"/>
            <a:headEnd/>
            <a:tailEnd/>
          </a:ln>
          <a:effectLst/>
        </p:spPr>
        <p:txBody>
          <a:bodyPr wrap="none" lIns="91441"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800">
                <a:solidFill>
                  <a:srgbClr val="000000"/>
                </a:solidFill>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userDrawn="1"/>
        </p:nvSpPr>
        <p:spPr bwMode="auto">
          <a:xfrm>
            <a:off x="9343985" y="6603945"/>
            <a:ext cx="453970" cy="307777"/>
          </a:xfrm>
          <a:prstGeom prst="rect">
            <a:avLst/>
          </a:prstGeom>
          <a:noFill/>
          <a:ln w="9525">
            <a:noFill/>
            <a:miter lim="800000"/>
            <a:headEnd/>
            <a:tailEnd/>
          </a:ln>
          <a:effectLst/>
        </p:spPr>
        <p:txBody>
          <a:bodyPr wrap="none" anchor="ctr">
            <a:spAutoFit/>
          </a:bodyPr>
          <a:lstStyle/>
          <a:p>
            <a:pPr algn="ctr">
              <a:defRPr/>
            </a:pPr>
            <a:fld id="{8A78A693-3208-4FB2-91F2-7485DAC6A137}" type="slidenum">
              <a:rPr lang="en-US" altLang="ja-JP" sz="1400" b="1" smtClean="0">
                <a:solidFill>
                  <a:srgbClr val="000000"/>
                </a:solidFill>
                <a:effectLst/>
                <a:latin typeface="+mn-ea"/>
                <a:ea typeface="+mn-ea"/>
                <a:cs typeface="Meiryo UI" panose="020B0604030504040204" pitchFamily="50" charset="-128"/>
              </a:rPr>
              <a:pPr algn="ctr">
                <a:defRPr/>
              </a:pPr>
              <a:t>‹#›</a:t>
            </a:fld>
            <a:endParaRPr lang="en-US" altLang="ja-JP" sz="1200" b="1">
              <a:solidFill>
                <a:srgbClr val="000000"/>
              </a:solidFill>
              <a:effectLst/>
              <a:latin typeface="+mn-ea"/>
              <a:ea typeface="+mn-ea"/>
              <a:cs typeface="Meiryo UI" panose="020B0604030504040204" pitchFamily="50" charset="-128"/>
            </a:endParaRPr>
          </a:p>
        </p:txBody>
      </p:sp>
      <p:pic>
        <p:nvPicPr>
          <p:cNvPr id="10" name="Picture 14" descr="日本総研">
            <a:extLst>
              <a:ext uri="{FF2B5EF4-FFF2-40B4-BE49-F238E27FC236}">
                <a16:creationId xmlns:a16="http://schemas.microsoft.com/office/drawing/2014/main" id="{AE9794D4-7F8E-4269-BF6E-ECC8C854277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422694" y="8164"/>
            <a:ext cx="1473840" cy="34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7077082"/>
      </p:ext>
    </p:extLst>
  </p:cSld>
  <p:clrMap bg1="lt1" tx1="dk1" bg2="lt2" tx2="dk2" accent1="accent1" accent2="accent2" accent3="accent3" accent4="accent4" accent5="accent5" accent6="accent6" hlink="hlink" folHlink="folHlink"/>
  <p:sldLayoutIdLst>
    <p:sldLayoutId id="2147483764" r:id="rId1"/>
    <p:sldLayoutId id="2147483765" r:id="rId2"/>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19" name="Design_Grid_2013" hidden="1"/>
          <p:cNvGrpSpPr>
            <a:grpSpLocks/>
          </p:cNvGrpSpPr>
          <p:nvPr userDrawn="1"/>
        </p:nvGrpSpPr>
        <p:grpSpPr bwMode="auto">
          <a:xfrm>
            <a:off x="486357" y="1153988"/>
            <a:ext cx="8932394" cy="5084863"/>
            <a:chOff x="306" y="782"/>
            <a:chExt cx="5625" cy="3447"/>
          </a:xfrm>
        </p:grpSpPr>
        <p:grpSp>
          <p:nvGrpSpPr>
            <p:cNvPr id="320" name="Group 3" hidden="1"/>
            <p:cNvGrpSpPr>
              <a:grpSpLocks/>
            </p:cNvGrpSpPr>
            <p:nvPr userDrawn="1"/>
          </p:nvGrpSpPr>
          <p:grpSpPr bwMode="auto">
            <a:xfrm>
              <a:off x="306" y="873"/>
              <a:ext cx="5625" cy="3266"/>
              <a:chOff x="306" y="828"/>
              <a:chExt cx="5625" cy="3266"/>
            </a:xfrm>
          </p:grpSpPr>
          <p:sp>
            <p:nvSpPr>
              <p:cNvPr id="387" name="Line 4" hidden="1"/>
              <p:cNvSpPr>
                <a:spLocks noChangeShapeType="1"/>
              </p:cNvSpPr>
              <p:nvPr userDrawn="1"/>
            </p:nvSpPr>
            <p:spPr bwMode="auto">
              <a:xfrm>
                <a:off x="306" y="4094"/>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8" name="Line 5" hidden="1"/>
              <p:cNvSpPr>
                <a:spLocks noChangeShapeType="1"/>
              </p:cNvSpPr>
              <p:nvPr userDrawn="1"/>
            </p:nvSpPr>
            <p:spPr bwMode="auto">
              <a:xfrm>
                <a:off x="306" y="400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9" name="Line 6" hidden="1"/>
              <p:cNvSpPr>
                <a:spLocks noChangeShapeType="1"/>
              </p:cNvSpPr>
              <p:nvPr userDrawn="1"/>
            </p:nvSpPr>
            <p:spPr bwMode="auto">
              <a:xfrm>
                <a:off x="306" y="3912"/>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0" name="Line 7" hidden="1"/>
              <p:cNvSpPr>
                <a:spLocks noChangeShapeType="1"/>
              </p:cNvSpPr>
              <p:nvPr userDrawn="1"/>
            </p:nvSpPr>
            <p:spPr bwMode="auto">
              <a:xfrm>
                <a:off x="306" y="382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1" name="Line 8" hidden="1"/>
              <p:cNvSpPr>
                <a:spLocks noChangeShapeType="1"/>
              </p:cNvSpPr>
              <p:nvPr userDrawn="1"/>
            </p:nvSpPr>
            <p:spPr bwMode="auto">
              <a:xfrm>
                <a:off x="306" y="373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2" name="Line 9" hidden="1"/>
              <p:cNvSpPr>
                <a:spLocks noChangeShapeType="1"/>
              </p:cNvSpPr>
              <p:nvPr userDrawn="1"/>
            </p:nvSpPr>
            <p:spPr bwMode="auto">
              <a:xfrm>
                <a:off x="306" y="364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3" name="Line 10" hidden="1"/>
              <p:cNvSpPr>
                <a:spLocks noChangeShapeType="1"/>
              </p:cNvSpPr>
              <p:nvPr userDrawn="1"/>
            </p:nvSpPr>
            <p:spPr bwMode="auto">
              <a:xfrm>
                <a:off x="306" y="354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4" name="Line 11" hidden="1"/>
              <p:cNvSpPr>
                <a:spLocks noChangeShapeType="1"/>
              </p:cNvSpPr>
              <p:nvPr userDrawn="1"/>
            </p:nvSpPr>
            <p:spPr bwMode="auto">
              <a:xfrm>
                <a:off x="306" y="345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5" name="Line 12" hidden="1"/>
              <p:cNvSpPr>
                <a:spLocks noChangeShapeType="1"/>
              </p:cNvSpPr>
              <p:nvPr userDrawn="1"/>
            </p:nvSpPr>
            <p:spPr bwMode="auto">
              <a:xfrm>
                <a:off x="306" y="336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6" name="Line 13" hidden="1"/>
              <p:cNvSpPr>
                <a:spLocks noChangeShapeType="1"/>
              </p:cNvSpPr>
              <p:nvPr userDrawn="1"/>
            </p:nvSpPr>
            <p:spPr bwMode="auto">
              <a:xfrm>
                <a:off x="306" y="3277"/>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7" name="Line 14" hidden="1"/>
              <p:cNvSpPr>
                <a:spLocks noChangeShapeType="1"/>
              </p:cNvSpPr>
              <p:nvPr userDrawn="1"/>
            </p:nvSpPr>
            <p:spPr bwMode="auto">
              <a:xfrm>
                <a:off x="306" y="318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8" name="Line 15" hidden="1"/>
              <p:cNvSpPr>
                <a:spLocks noChangeShapeType="1"/>
              </p:cNvSpPr>
              <p:nvPr userDrawn="1"/>
            </p:nvSpPr>
            <p:spPr bwMode="auto">
              <a:xfrm>
                <a:off x="306" y="309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9" name="Line 16" hidden="1"/>
              <p:cNvSpPr>
                <a:spLocks noChangeShapeType="1"/>
              </p:cNvSpPr>
              <p:nvPr userDrawn="1"/>
            </p:nvSpPr>
            <p:spPr bwMode="auto">
              <a:xfrm>
                <a:off x="306" y="3005"/>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0" name="Line 17" hidden="1"/>
              <p:cNvSpPr>
                <a:spLocks noChangeShapeType="1"/>
              </p:cNvSpPr>
              <p:nvPr userDrawn="1"/>
            </p:nvSpPr>
            <p:spPr bwMode="auto">
              <a:xfrm>
                <a:off x="306" y="2914"/>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1" name="Line 18" hidden="1"/>
              <p:cNvSpPr>
                <a:spLocks noChangeShapeType="1"/>
              </p:cNvSpPr>
              <p:nvPr userDrawn="1"/>
            </p:nvSpPr>
            <p:spPr bwMode="auto">
              <a:xfrm>
                <a:off x="306" y="282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2" name="Line 19" hidden="1"/>
              <p:cNvSpPr>
                <a:spLocks noChangeShapeType="1"/>
              </p:cNvSpPr>
              <p:nvPr userDrawn="1"/>
            </p:nvSpPr>
            <p:spPr bwMode="auto">
              <a:xfrm>
                <a:off x="306" y="273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3" name="Line 20" hidden="1"/>
              <p:cNvSpPr>
                <a:spLocks noChangeShapeType="1"/>
              </p:cNvSpPr>
              <p:nvPr userDrawn="1"/>
            </p:nvSpPr>
            <p:spPr bwMode="auto">
              <a:xfrm>
                <a:off x="306" y="2642"/>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4" name="Line 21" hidden="1"/>
              <p:cNvSpPr>
                <a:spLocks noChangeShapeType="1"/>
              </p:cNvSpPr>
              <p:nvPr userDrawn="1"/>
            </p:nvSpPr>
            <p:spPr bwMode="auto">
              <a:xfrm>
                <a:off x="306" y="255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5" name="Line 22" hidden="1"/>
              <p:cNvSpPr>
                <a:spLocks noChangeShapeType="1"/>
              </p:cNvSpPr>
              <p:nvPr userDrawn="1"/>
            </p:nvSpPr>
            <p:spPr bwMode="auto">
              <a:xfrm>
                <a:off x="306" y="237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6" name="Line 23" hidden="1"/>
              <p:cNvSpPr>
                <a:spLocks noChangeShapeType="1"/>
              </p:cNvSpPr>
              <p:nvPr userDrawn="1"/>
            </p:nvSpPr>
            <p:spPr bwMode="auto">
              <a:xfrm>
                <a:off x="306" y="227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7" name="Line 24" hidden="1"/>
              <p:cNvSpPr>
                <a:spLocks noChangeShapeType="1"/>
              </p:cNvSpPr>
              <p:nvPr userDrawn="1"/>
            </p:nvSpPr>
            <p:spPr bwMode="auto">
              <a:xfrm>
                <a:off x="306" y="218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8" name="Line 25" hidden="1"/>
              <p:cNvSpPr>
                <a:spLocks noChangeShapeType="1"/>
              </p:cNvSpPr>
              <p:nvPr userDrawn="1"/>
            </p:nvSpPr>
            <p:spPr bwMode="auto">
              <a:xfrm>
                <a:off x="306" y="209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9" name="Line 26" hidden="1"/>
              <p:cNvSpPr>
                <a:spLocks noChangeShapeType="1"/>
              </p:cNvSpPr>
              <p:nvPr userDrawn="1"/>
            </p:nvSpPr>
            <p:spPr bwMode="auto">
              <a:xfrm>
                <a:off x="306" y="2007"/>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0" name="Line 27" hidden="1"/>
              <p:cNvSpPr>
                <a:spLocks noChangeShapeType="1"/>
              </p:cNvSpPr>
              <p:nvPr userDrawn="1"/>
            </p:nvSpPr>
            <p:spPr bwMode="auto">
              <a:xfrm>
                <a:off x="306" y="191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1" name="Line 28" hidden="1"/>
              <p:cNvSpPr>
                <a:spLocks noChangeShapeType="1"/>
              </p:cNvSpPr>
              <p:nvPr userDrawn="1"/>
            </p:nvSpPr>
            <p:spPr bwMode="auto">
              <a:xfrm>
                <a:off x="306" y="182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2" name="Line 29" hidden="1"/>
              <p:cNvSpPr>
                <a:spLocks noChangeShapeType="1"/>
              </p:cNvSpPr>
              <p:nvPr userDrawn="1"/>
            </p:nvSpPr>
            <p:spPr bwMode="auto">
              <a:xfrm>
                <a:off x="306" y="1735"/>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3" name="Line 30" hidden="1"/>
              <p:cNvSpPr>
                <a:spLocks noChangeShapeType="1"/>
              </p:cNvSpPr>
              <p:nvPr userDrawn="1"/>
            </p:nvSpPr>
            <p:spPr bwMode="auto">
              <a:xfrm>
                <a:off x="306" y="1644"/>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4" name="Line 31" hidden="1"/>
              <p:cNvSpPr>
                <a:spLocks noChangeShapeType="1"/>
              </p:cNvSpPr>
              <p:nvPr userDrawn="1"/>
            </p:nvSpPr>
            <p:spPr bwMode="auto">
              <a:xfrm>
                <a:off x="306" y="155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5" name="Line 32" hidden="1"/>
              <p:cNvSpPr>
                <a:spLocks noChangeShapeType="1"/>
              </p:cNvSpPr>
              <p:nvPr userDrawn="1"/>
            </p:nvSpPr>
            <p:spPr bwMode="auto">
              <a:xfrm>
                <a:off x="306" y="146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6" name="Line 33" hidden="1"/>
              <p:cNvSpPr>
                <a:spLocks noChangeShapeType="1"/>
              </p:cNvSpPr>
              <p:nvPr userDrawn="1"/>
            </p:nvSpPr>
            <p:spPr bwMode="auto">
              <a:xfrm>
                <a:off x="306" y="1372"/>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7" name="Line 34" hidden="1"/>
              <p:cNvSpPr>
                <a:spLocks noChangeShapeType="1"/>
              </p:cNvSpPr>
              <p:nvPr userDrawn="1"/>
            </p:nvSpPr>
            <p:spPr bwMode="auto">
              <a:xfrm>
                <a:off x="306" y="128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8" name="Line 35" hidden="1"/>
              <p:cNvSpPr>
                <a:spLocks noChangeShapeType="1"/>
              </p:cNvSpPr>
              <p:nvPr userDrawn="1"/>
            </p:nvSpPr>
            <p:spPr bwMode="auto">
              <a:xfrm>
                <a:off x="306" y="119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9" name="Line 36" hidden="1"/>
              <p:cNvSpPr>
                <a:spLocks noChangeShapeType="1"/>
              </p:cNvSpPr>
              <p:nvPr userDrawn="1"/>
            </p:nvSpPr>
            <p:spPr bwMode="auto">
              <a:xfrm>
                <a:off x="306" y="110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20" name="Line 37" hidden="1"/>
              <p:cNvSpPr>
                <a:spLocks noChangeShapeType="1"/>
              </p:cNvSpPr>
              <p:nvPr userDrawn="1"/>
            </p:nvSpPr>
            <p:spPr bwMode="auto">
              <a:xfrm>
                <a:off x="306" y="100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21" name="Line 38" hidden="1"/>
              <p:cNvSpPr>
                <a:spLocks noChangeShapeType="1"/>
              </p:cNvSpPr>
              <p:nvPr userDrawn="1"/>
            </p:nvSpPr>
            <p:spPr bwMode="auto">
              <a:xfrm>
                <a:off x="306" y="91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22" name="Line 39" hidden="1"/>
              <p:cNvSpPr>
                <a:spLocks noChangeShapeType="1"/>
              </p:cNvSpPr>
              <p:nvPr userDrawn="1"/>
            </p:nvSpPr>
            <p:spPr bwMode="auto">
              <a:xfrm>
                <a:off x="306" y="82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322" name="Group 40" hidden="1"/>
            <p:cNvGrpSpPr>
              <a:grpSpLocks/>
            </p:cNvGrpSpPr>
            <p:nvPr userDrawn="1"/>
          </p:nvGrpSpPr>
          <p:grpSpPr bwMode="auto">
            <a:xfrm>
              <a:off x="397" y="782"/>
              <a:ext cx="5443" cy="3447"/>
              <a:chOff x="397" y="737"/>
              <a:chExt cx="5443" cy="3447"/>
            </a:xfrm>
          </p:grpSpPr>
          <p:sp>
            <p:nvSpPr>
              <p:cNvPr id="327" name="Line 41" hidden="1"/>
              <p:cNvSpPr>
                <a:spLocks noChangeShapeType="1"/>
              </p:cNvSpPr>
              <p:nvPr userDrawn="1"/>
            </p:nvSpPr>
            <p:spPr bwMode="auto">
              <a:xfrm>
                <a:off x="48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28" name="Line 42" hidden="1"/>
              <p:cNvSpPr>
                <a:spLocks noChangeShapeType="1"/>
              </p:cNvSpPr>
              <p:nvPr userDrawn="1"/>
            </p:nvSpPr>
            <p:spPr bwMode="auto">
              <a:xfrm>
                <a:off x="57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29" name="Line 43" hidden="1"/>
              <p:cNvSpPr>
                <a:spLocks noChangeShapeType="1"/>
              </p:cNvSpPr>
              <p:nvPr userDrawn="1"/>
            </p:nvSpPr>
            <p:spPr bwMode="auto">
              <a:xfrm>
                <a:off x="67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0" name="Line 44" hidden="1"/>
              <p:cNvSpPr>
                <a:spLocks noChangeShapeType="1"/>
              </p:cNvSpPr>
              <p:nvPr userDrawn="1"/>
            </p:nvSpPr>
            <p:spPr bwMode="auto">
              <a:xfrm>
                <a:off x="76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1" name="Line 45" hidden="1"/>
              <p:cNvSpPr>
                <a:spLocks noChangeShapeType="1"/>
              </p:cNvSpPr>
              <p:nvPr userDrawn="1"/>
            </p:nvSpPr>
            <p:spPr bwMode="auto">
              <a:xfrm>
                <a:off x="85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2" name="Line 46" hidden="1"/>
              <p:cNvSpPr>
                <a:spLocks noChangeShapeType="1"/>
              </p:cNvSpPr>
              <p:nvPr userDrawn="1"/>
            </p:nvSpPr>
            <p:spPr bwMode="auto">
              <a:xfrm>
                <a:off x="94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3" name="Line 47" hidden="1"/>
              <p:cNvSpPr>
                <a:spLocks noChangeShapeType="1"/>
              </p:cNvSpPr>
              <p:nvPr userDrawn="1"/>
            </p:nvSpPr>
            <p:spPr bwMode="auto">
              <a:xfrm>
                <a:off x="103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4" name="Line 48" hidden="1"/>
              <p:cNvSpPr>
                <a:spLocks noChangeShapeType="1"/>
              </p:cNvSpPr>
              <p:nvPr userDrawn="1"/>
            </p:nvSpPr>
            <p:spPr bwMode="auto">
              <a:xfrm>
                <a:off x="112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5" name="Line 49" hidden="1"/>
              <p:cNvSpPr>
                <a:spLocks noChangeShapeType="1"/>
              </p:cNvSpPr>
              <p:nvPr userDrawn="1"/>
            </p:nvSpPr>
            <p:spPr bwMode="auto">
              <a:xfrm>
                <a:off x="121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6" name="Line 50" hidden="1"/>
              <p:cNvSpPr>
                <a:spLocks noChangeShapeType="1"/>
              </p:cNvSpPr>
              <p:nvPr userDrawn="1"/>
            </p:nvSpPr>
            <p:spPr bwMode="auto">
              <a:xfrm>
                <a:off x="130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7" name="Line 51" hidden="1"/>
              <p:cNvSpPr>
                <a:spLocks noChangeShapeType="1"/>
              </p:cNvSpPr>
              <p:nvPr userDrawn="1"/>
            </p:nvSpPr>
            <p:spPr bwMode="auto">
              <a:xfrm>
                <a:off x="139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8" name="Line 52" hidden="1"/>
              <p:cNvSpPr>
                <a:spLocks noChangeShapeType="1"/>
              </p:cNvSpPr>
              <p:nvPr userDrawn="1"/>
            </p:nvSpPr>
            <p:spPr bwMode="auto">
              <a:xfrm>
                <a:off x="148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9" name="Line 53" hidden="1"/>
              <p:cNvSpPr>
                <a:spLocks noChangeShapeType="1"/>
              </p:cNvSpPr>
              <p:nvPr userDrawn="1"/>
            </p:nvSpPr>
            <p:spPr bwMode="auto">
              <a:xfrm>
                <a:off x="157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0" name="Line 54" hidden="1"/>
              <p:cNvSpPr>
                <a:spLocks noChangeShapeType="1"/>
              </p:cNvSpPr>
              <p:nvPr userDrawn="1"/>
            </p:nvSpPr>
            <p:spPr bwMode="auto">
              <a:xfrm>
                <a:off x="166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1" name="Line 55" hidden="1"/>
              <p:cNvSpPr>
                <a:spLocks noChangeShapeType="1"/>
              </p:cNvSpPr>
              <p:nvPr userDrawn="1"/>
            </p:nvSpPr>
            <p:spPr bwMode="auto">
              <a:xfrm>
                <a:off x="175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2" name="Line 56" hidden="1"/>
              <p:cNvSpPr>
                <a:spLocks noChangeShapeType="1"/>
              </p:cNvSpPr>
              <p:nvPr userDrawn="1"/>
            </p:nvSpPr>
            <p:spPr bwMode="auto">
              <a:xfrm>
                <a:off x="184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3" name="Line 57" hidden="1"/>
              <p:cNvSpPr>
                <a:spLocks noChangeShapeType="1"/>
              </p:cNvSpPr>
              <p:nvPr userDrawn="1"/>
            </p:nvSpPr>
            <p:spPr bwMode="auto">
              <a:xfrm>
                <a:off x="194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4" name="Line 58" hidden="1"/>
              <p:cNvSpPr>
                <a:spLocks noChangeShapeType="1"/>
              </p:cNvSpPr>
              <p:nvPr userDrawn="1"/>
            </p:nvSpPr>
            <p:spPr bwMode="auto">
              <a:xfrm>
                <a:off x="203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5" name="Line 59" hidden="1"/>
              <p:cNvSpPr>
                <a:spLocks noChangeShapeType="1"/>
              </p:cNvSpPr>
              <p:nvPr userDrawn="1"/>
            </p:nvSpPr>
            <p:spPr bwMode="auto">
              <a:xfrm>
                <a:off x="212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6" name="Line 60" hidden="1"/>
              <p:cNvSpPr>
                <a:spLocks noChangeShapeType="1"/>
              </p:cNvSpPr>
              <p:nvPr userDrawn="1"/>
            </p:nvSpPr>
            <p:spPr bwMode="auto">
              <a:xfrm>
                <a:off x="221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7" name="Line 61" hidden="1"/>
              <p:cNvSpPr>
                <a:spLocks noChangeShapeType="1"/>
              </p:cNvSpPr>
              <p:nvPr userDrawn="1"/>
            </p:nvSpPr>
            <p:spPr bwMode="auto">
              <a:xfrm>
                <a:off x="230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8" name="Line 62" hidden="1"/>
              <p:cNvSpPr>
                <a:spLocks noChangeShapeType="1"/>
              </p:cNvSpPr>
              <p:nvPr userDrawn="1"/>
            </p:nvSpPr>
            <p:spPr bwMode="auto">
              <a:xfrm>
                <a:off x="239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9" name="Line 63" hidden="1"/>
              <p:cNvSpPr>
                <a:spLocks noChangeShapeType="1"/>
              </p:cNvSpPr>
              <p:nvPr userDrawn="1"/>
            </p:nvSpPr>
            <p:spPr bwMode="auto">
              <a:xfrm>
                <a:off x="248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0" name="Line 64" hidden="1"/>
              <p:cNvSpPr>
                <a:spLocks noChangeShapeType="1"/>
              </p:cNvSpPr>
              <p:nvPr userDrawn="1"/>
            </p:nvSpPr>
            <p:spPr bwMode="auto">
              <a:xfrm>
                <a:off x="257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1" name="Line 65" hidden="1"/>
              <p:cNvSpPr>
                <a:spLocks noChangeShapeType="1"/>
              </p:cNvSpPr>
              <p:nvPr userDrawn="1"/>
            </p:nvSpPr>
            <p:spPr bwMode="auto">
              <a:xfrm>
                <a:off x="266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2" name="Line 66" hidden="1"/>
              <p:cNvSpPr>
                <a:spLocks noChangeShapeType="1"/>
              </p:cNvSpPr>
              <p:nvPr userDrawn="1"/>
            </p:nvSpPr>
            <p:spPr bwMode="auto">
              <a:xfrm>
                <a:off x="275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3" name="Line 67" hidden="1"/>
              <p:cNvSpPr>
                <a:spLocks noChangeShapeType="1"/>
              </p:cNvSpPr>
              <p:nvPr userDrawn="1"/>
            </p:nvSpPr>
            <p:spPr bwMode="auto">
              <a:xfrm>
                <a:off x="284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4" name="Line 68" hidden="1"/>
              <p:cNvSpPr>
                <a:spLocks noChangeShapeType="1"/>
              </p:cNvSpPr>
              <p:nvPr userDrawn="1"/>
            </p:nvSpPr>
            <p:spPr bwMode="auto">
              <a:xfrm>
                <a:off x="293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5" name="Line 69" hidden="1"/>
              <p:cNvSpPr>
                <a:spLocks noChangeShapeType="1"/>
              </p:cNvSpPr>
              <p:nvPr userDrawn="1"/>
            </p:nvSpPr>
            <p:spPr bwMode="auto">
              <a:xfrm>
                <a:off x="302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6" name="Line 70" hidden="1"/>
              <p:cNvSpPr>
                <a:spLocks noChangeShapeType="1"/>
              </p:cNvSpPr>
              <p:nvPr userDrawn="1"/>
            </p:nvSpPr>
            <p:spPr bwMode="auto">
              <a:xfrm>
                <a:off x="320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7" name="Line 71" hidden="1"/>
              <p:cNvSpPr>
                <a:spLocks noChangeShapeType="1"/>
              </p:cNvSpPr>
              <p:nvPr userDrawn="1"/>
            </p:nvSpPr>
            <p:spPr bwMode="auto">
              <a:xfrm>
                <a:off x="329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8" name="Line 72" hidden="1"/>
              <p:cNvSpPr>
                <a:spLocks noChangeShapeType="1"/>
              </p:cNvSpPr>
              <p:nvPr userDrawn="1"/>
            </p:nvSpPr>
            <p:spPr bwMode="auto">
              <a:xfrm>
                <a:off x="339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9" name="Line 73" hidden="1"/>
              <p:cNvSpPr>
                <a:spLocks noChangeShapeType="1"/>
              </p:cNvSpPr>
              <p:nvPr userDrawn="1"/>
            </p:nvSpPr>
            <p:spPr bwMode="auto">
              <a:xfrm>
                <a:off x="348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0" name="Line 74" hidden="1"/>
              <p:cNvSpPr>
                <a:spLocks noChangeShapeType="1"/>
              </p:cNvSpPr>
              <p:nvPr userDrawn="1"/>
            </p:nvSpPr>
            <p:spPr bwMode="auto">
              <a:xfrm>
                <a:off x="357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1" name="Line 75" hidden="1"/>
              <p:cNvSpPr>
                <a:spLocks noChangeShapeType="1"/>
              </p:cNvSpPr>
              <p:nvPr userDrawn="1"/>
            </p:nvSpPr>
            <p:spPr bwMode="auto">
              <a:xfrm>
                <a:off x="366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2" name="Line 76" hidden="1"/>
              <p:cNvSpPr>
                <a:spLocks noChangeShapeType="1"/>
              </p:cNvSpPr>
              <p:nvPr userDrawn="1"/>
            </p:nvSpPr>
            <p:spPr bwMode="auto">
              <a:xfrm>
                <a:off x="375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3" name="Line 77" hidden="1"/>
              <p:cNvSpPr>
                <a:spLocks noChangeShapeType="1"/>
              </p:cNvSpPr>
              <p:nvPr userDrawn="1"/>
            </p:nvSpPr>
            <p:spPr bwMode="auto">
              <a:xfrm>
                <a:off x="384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4" name="Line 78" hidden="1"/>
              <p:cNvSpPr>
                <a:spLocks noChangeShapeType="1"/>
              </p:cNvSpPr>
              <p:nvPr userDrawn="1"/>
            </p:nvSpPr>
            <p:spPr bwMode="auto">
              <a:xfrm>
                <a:off x="393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5" name="Line 79" hidden="1"/>
              <p:cNvSpPr>
                <a:spLocks noChangeShapeType="1"/>
              </p:cNvSpPr>
              <p:nvPr userDrawn="1"/>
            </p:nvSpPr>
            <p:spPr bwMode="auto">
              <a:xfrm>
                <a:off x="402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6" name="Line 80" hidden="1"/>
              <p:cNvSpPr>
                <a:spLocks noChangeShapeType="1"/>
              </p:cNvSpPr>
              <p:nvPr userDrawn="1"/>
            </p:nvSpPr>
            <p:spPr bwMode="auto">
              <a:xfrm>
                <a:off x="411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7" name="Line 81" hidden="1"/>
              <p:cNvSpPr>
                <a:spLocks noChangeShapeType="1"/>
              </p:cNvSpPr>
              <p:nvPr userDrawn="1"/>
            </p:nvSpPr>
            <p:spPr bwMode="auto">
              <a:xfrm>
                <a:off x="420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8" name="Line 82" hidden="1"/>
              <p:cNvSpPr>
                <a:spLocks noChangeShapeType="1"/>
              </p:cNvSpPr>
              <p:nvPr userDrawn="1"/>
            </p:nvSpPr>
            <p:spPr bwMode="auto">
              <a:xfrm>
                <a:off x="429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9" name="Line 83" hidden="1"/>
              <p:cNvSpPr>
                <a:spLocks noChangeShapeType="1"/>
              </p:cNvSpPr>
              <p:nvPr userDrawn="1"/>
            </p:nvSpPr>
            <p:spPr bwMode="auto">
              <a:xfrm>
                <a:off x="438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0" name="Line 84" hidden="1"/>
              <p:cNvSpPr>
                <a:spLocks noChangeShapeType="1"/>
              </p:cNvSpPr>
              <p:nvPr userDrawn="1"/>
            </p:nvSpPr>
            <p:spPr bwMode="auto">
              <a:xfrm>
                <a:off x="447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1" name="Line 85" hidden="1"/>
              <p:cNvSpPr>
                <a:spLocks noChangeShapeType="1"/>
              </p:cNvSpPr>
              <p:nvPr userDrawn="1"/>
            </p:nvSpPr>
            <p:spPr bwMode="auto">
              <a:xfrm>
                <a:off x="456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2" name="Line 86" hidden="1"/>
              <p:cNvSpPr>
                <a:spLocks noChangeShapeType="1"/>
              </p:cNvSpPr>
              <p:nvPr userDrawn="1"/>
            </p:nvSpPr>
            <p:spPr bwMode="auto">
              <a:xfrm>
                <a:off x="466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3" name="Line 87" hidden="1"/>
              <p:cNvSpPr>
                <a:spLocks noChangeShapeType="1"/>
              </p:cNvSpPr>
              <p:nvPr userDrawn="1"/>
            </p:nvSpPr>
            <p:spPr bwMode="auto">
              <a:xfrm>
                <a:off x="475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4" name="Line 88" hidden="1"/>
              <p:cNvSpPr>
                <a:spLocks noChangeShapeType="1"/>
              </p:cNvSpPr>
              <p:nvPr userDrawn="1"/>
            </p:nvSpPr>
            <p:spPr bwMode="auto">
              <a:xfrm>
                <a:off x="484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5" name="Line 89" hidden="1"/>
              <p:cNvSpPr>
                <a:spLocks noChangeShapeType="1"/>
              </p:cNvSpPr>
              <p:nvPr userDrawn="1"/>
            </p:nvSpPr>
            <p:spPr bwMode="auto">
              <a:xfrm>
                <a:off x="493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6" name="Line 90" hidden="1"/>
              <p:cNvSpPr>
                <a:spLocks noChangeShapeType="1"/>
              </p:cNvSpPr>
              <p:nvPr userDrawn="1"/>
            </p:nvSpPr>
            <p:spPr bwMode="auto">
              <a:xfrm>
                <a:off x="502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7" name="Line 91" hidden="1"/>
              <p:cNvSpPr>
                <a:spLocks noChangeShapeType="1"/>
              </p:cNvSpPr>
              <p:nvPr userDrawn="1"/>
            </p:nvSpPr>
            <p:spPr bwMode="auto">
              <a:xfrm>
                <a:off x="511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8" name="Line 92" hidden="1"/>
              <p:cNvSpPr>
                <a:spLocks noChangeShapeType="1"/>
              </p:cNvSpPr>
              <p:nvPr userDrawn="1"/>
            </p:nvSpPr>
            <p:spPr bwMode="auto">
              <a:xfrm>
                <a:off x="520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9" name="Line 93" hidden="1"/>
              <p:cNvSpPr>
                <a:spLocks noChangeShapeType="1"/>
              </p:cNvSpPr>
              <p:nvPr userDrawn="1"/>
            </p:nvSpPr>
            <p:spPr bwMode="auto">
              <a:xfrm>
                <a:off x="529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0" name="Line 94" hidden="1"/>
              <p:cNvSpPr>
                <a:spLocks noChangeShapeType="1"/>
              </p:cNvSpPr>
              <p:nvPr userDrawn="1"/>
            </p:nvSpPr>
            <p:spPr bwMode="auto">
              <a:xfrm>
                <a:off x="538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1" name="Line 95" hidden="1"/>
              <p:cNvSpPr>
                <a:spLocks noChangeShapeType="1"/>
              </p:cNvSpPr>
              <p:nvPr userDrawn="1"/>
            </p:nvSpPr>
            <p:spPr bwMode="auto">
              <a:xfrm>
                <a:off x="547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2" name="Line 96" hidden="1"/>
              <p:cNvSpPr>
                <a:spLocks noChangeShapeType="1"/>
              </p:cNvSpPr>
              <p:nvPr userDrawn="1"/>
            </p:nvSpPr>
            <p:spPr bwMode="auto">
              <a:xfrm>
                <a:off x="556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3" name="Line 97" hidden="1"/>
              <p:cNvSpPr>
                <a:spLocks noChangeShapeType="1"/>
              </p:cNvSpPr>
              <p:nvPr userDrawn="1"/>
            </p:nvSpPr>
            <p:spPr bwMode="auto">
              <a:xfrm>
                <a:off x="565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4" name="Line 98" hidden="1"/>
              <p:cNvSpPr>
                <a:spLocks noChangeShapeType="1"/>
              </p:cNvSpPr>
              <p:nvPr userDrawn="1"/>
            </p:nvSpPr>
            <p:spPr bwMode="auto">
              <a:xfrm>
                <a:off x="574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5" name="Line 99" hidden="1"/>
              <p:cNvSpPr>
                <a:spLocks noChangeShapeType="1"/>
              </p:cNvSpPr>
              <p:nvPr userDrawn="1"/>
            </p:nvSpPr>
            <p:spPr bwMode="auto">
              <a:xfrm>
                <a:off x="39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6" name="Line 100" hidden="1"/>
              <p:cNvSpPr>
                <a:spLocks noChangeShapeType="1"/>
              </p:cNvSpPr>
              <p:nvPr userDrawn="1"/>
            </p:nvSpPr>
            <p:spPr bwMode="auto">
              <a:xfrm>
                <a:off x="584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323" name="Group 101" hidden="1"/>
            <p:cNvGrpSpPr>
              <a:grpSpLocks/>
            </p:cNvGrpSpPr>
            <p:nvPr userDrawn="1"/>
          </p:nvGrpSpPr>
          <p:grpSpPr bwMode="auto">
            <a:xfrm>
              <a:off x="306" y="782"/>
              <a:ext cx="5625" cy="3447"/>
              <a:chOff x="306" y="737"/>
              <a:chExt cx="5625" cy="3447"/>
            </a:xfrm>
          </p:grpSpPr>
          <p:sp>
            <p:nvSpPr>
              <p:cNvPr id="324" name="Line 102" hidden="1"/>
              <p:cNvSpPr>
                <a:spLocks noChangeShapeType="1"/>
              </p:cNvSpPr>
              <p:nvPr userDrawn="1"/>
            </p:nvSpPr>
            <p:spPr bwMode="auto">
              <a:xfrm>
                <a:off x="306" y="2461"/>
                <a:ext cx="5625" cy="0"/>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25" name="Line 103" hidden="1"/>
              <p:cNvSpPr>
                <a:spLocks noChangeShapeType="1"/>
              </p:cNvSpPr>
              <p:nvPr userDrawn="1"/>
            </p:nvSpPr>
            <p:spPr bwMode="auto">
              <a:xfrm>
                <a:off x="3119" y="737"/>
                <a:ext cx="0" cy="3447"/>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26" name="Rectangle 104" hidden="1"/>
              <p:cNvSpPr>
                <a:spLocks noChangeArrowheads="1"/>
              </p:cNvSpPr>
              <p:nvPr userDrawn="1"/>
            </p:nvSpPr>
            <p:spPr bwMode="auto">
              <a:xfrm>
                <a:off x="306" y="737"/>
                <a:ext cx="5625" cy="3447"/>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grpSp>
      </p:grpSp>
      <p:sp>
        <p:nvSpPr>
          <p:cNvPr id="159" name="テキスト プレースホルダー 158"/>
          <p:cNvSpPr>
            <a:spLocks noGrp="1"/>
          </p:cNvSpPr>
          <p:nvPr>
            <p:ph type="body" idx="1"/>
          </p:nvPr>
        </p:nvSpPr>
        <p:spPr bwMode="gray">
          <a:xfrm>
            <a:off x="486234" y="1154106"/>
            <a:ext cx="8933983" cy="5086337"/>
          </a:xfrm>
          <a:prstGeom prst="rect">
            <a:avLst/>
          </a:prstGeom>
          <a:ln cmpd="sng">
            <a:noFill/>
          </a:ln>
          <a:extLst>
            <a:ext uri="{91240B29-F687-4F45-9708-019B960494DF}">
              <a14:hiddenLine xmlns:a14="http://schemas.microsoft.com/office/drawing/2010/main" cmpd="sng">
                <a:solidFill>
                  <a:srgbClr val="F24A38"/>
                </a:solidFill>
              </a14:hiddenLine>
            </a:ext>
          </a:extLst>
        </p:spPr>
        <p:txBody>
          <a:bodyPr vert="horz" lIns="216000" tIns="36000" rIns="0" bIns="0" rtlCol="0">
            <a:noAutofit/>
          </a:bodyPr>
          <a:lstStyle/>
          <a:p>
            <a:pPr marL="200125" marR="0" lvl="0" indent="-200125" algn="l" defTabSz="987919" rtl="0" eaLnBrk="0" fontAlgn="ctr" latinLnBrk="0" hangingPunct="0">
              <a:lnSpc>
                <a:spcPct val="125000"/>
              </a:lnSpc>
              <a:spcBef>
                <a:spcPts val="1351"/>
              </a:spcBef>
              <a:spcAft>
                <a:spcPct val="0"/>
              </a:spcAft>
              <a:buClr>
                <a:srgbClr val="004831"/>
              </a:buClr>
              <a:buSzTx/>
              <a:buFont typeface="Wingdings" pitchFamily="2" charset="2"/>
              <a:buChar char="l"/>
              <a:tabLst/>
              <a:defRPr/>
            </a:pPr>
            <a:r>
              <a:rPr kumimoji="1" lang="ja-JP" altLang="en-US" sz="1401" b="0" i="0" u="none" strike="noStrike" kern="1200" cap="none" spc="0" normalizeH="0" baseline="0" noProof="0">
                <a:ln>
                  <a:noFill/>
                </a:ln>
                <a:solidFill>
                  <a:srgbClr val="000000"/>
                </a:solidFill>
                <a:effectLst/>
                <a:uLnTx/>
                <a:uFillTx/>
                <a:latin typeface="ＭＳ Ｐゴシック"/>
                <a:ea typeface="ＭＳ Ｐゴシック"/>
                <a:cs typeface="+mn-cs"/>
              </a:rPr>
              <a:t>マスター テキストの書式設定</a:t>
            </a:r>
          </a:p>
          <a:p>
            <a:pPr marL="420898" marR="0" lvl="1" indent="-182654" algn="l" defTabSz="987919" rtl="0" eaLnBrk="0" fontAlgn="ctr" latinLnBrk="0" hangingPunct="0">
              <a:lnSpc>
                <a:spcPct val="125000"/>
              </a:lnSpc>
              <a:spcBef>
                <a:spcPct val="20000"/>
              </a:spcBef>
              <a:spcAft>
                <a:spcPct val="0"/>
              </a:spcAft>
              <a:buClr>
                <a:srgbClr val="C4D700"/>
              </a:buClr>
              <a:buSzPct val="90000"/>
              <a:buFont typeface="Wingdings" pitchFamily="2" charset="2"/>
              <a:buChar char="l"/>
              <a:tabLst/>
              <a:defRPr/>
            </a:pPr>
            <a:r>
              <a:rPr kumimoji="1" lang="ja-JP" altLang="en-US" sz="12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201" b="0" i="0" u="none" strike="noStrike" kern="1200" cap="none" spc="0" normalizeH="0" baseline="0" noProof="0">
                <a:ln>
                  <a:noFill/>
                </a:ln>
                <a:solidFill>
                  <a:srgbClr val="000000"/>
                </a:solidFill>
                <a:effectLst/>
                <a:uLnTx/>
                <a:uFillTx/>
                <a:latin typeface="ＭＳ Ｐゴシック"/>
                <a:ea typeface="ＭＳ Ｐゴシック"/>
                <a:cs typeface="+mn-cs"/>
              </a:rPr>
              <a:t>2 </a:t>
            </a:r>
            <a:r>
              <a:rPr kumimoji="1" lang="ja-JP" altLang="en-US" sz="12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421411" marR="0" lvl="2" indent="0" algn="l" defTabSz="987919" rtl="0" eaLnBrk="0" fontAlgn="ctr" latinLnBrk="0" hangingPunct="0">
              <a:lnSpc>
                <a:spcPct val="125000"/>
              </a:lnSpc>
              <a:spcBef>
                <a:spcPts val="288"/>
              </a:spcBef>
              <a:spcAft>
                <a:spcPct val="0"/>
              </a:spcAft>
              <a:buClrTx/>
              <a:buSzTx/>
              <a:buFontTx/>
              <a:buNone/>
              <a:tabLst/>
              <a:defRPr/>
            </a:pPr>
            <a:r>
              <a:rPr kumimoji="1" lang="ja-JP" altLang="en-US" sz="12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201" b="0" i="0" u="none" strike="noStrike" kern="1200" cap="none" spc="0" normalizeH="0" baseline="0" noProof="0">
                <a:ln>
                  <a:noFill/>
                </a:ln>
                <a:solidFill>
                  <a:srgbClr val="000000"/>
                </a:solidFill>
                <a:effectLst/>
                <a:uLnTx/>
                <a:uFillTx/>
                <a:latin typeface="ＭＳ Ｐゴシック"/>
                <a:ea typeface="ＭＳ Ｐゴシック"/>
                <a:cs typeface="+mn-cs"/>
              </a:rPr>
              <a:t>3 </a:t>
            </a:r>
            <a:r>
              <a:rPr kumimoji="1" lang="ja-JP" altLang="en-US" sz="12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603552" marR="0" lvl="3" indent="-128652" algn="l" defTabSz="987919" rtl="0" eaLnBrk="0" fontAlgn="ctr" latinLnBrk="0" hangingPunct="0">
              <a:lnSpc>
                <a:spcPct val="125000"/>
              </a:lnSpc>
              <a:spcBef>
                <a:spcPts val="263"/>
              </a:spcBef>
              <a:spcAft>
                <a:spcPct val="0"/>
              </a:spcAft>
              <a:buClr>
                <a:srgbClr val="A2A2A2"/>
              </a:buClr>
              <a:buSzPct val="70000"/>
              <a:buFont typeface="Wingdings" pitchFamily="2" charset="2"/>
              <a:buChar char="l"/>
              <a:tabLst/>
              <a:defRPr/>
            </a:pPr>
            <a:r>
              <a:rPr kumimoji="1" lang="ja-JP" altLang="en-US" sz="11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101" b="0" i="0" u="none" strike="noStrike" kern="1200" cap="none" spc="0" normalizeH="0" baseline="0" noProof="0">
                <a:ln>
                  <a:noFill/>
                </a:ln>
                <a:solidFill>
                  <a:srgbClr val="000000"/>
                </a:solidFill>
                <a:effectLst/>
                <a:uLnTx/>
                <a:uFillTx/>
                <a:latin typeface="ＭＳ Ｐゴシック"/>
                <a:ea typeface="ＭＳ Ｐゴシック"/>
                <a:cs typeface="+mn-cs"/>
              </a:rPr>
              <a:t>4 </a:t>
            </a:r>
            <a:r>
              <a:rPr kumimoji="1" lang="ja-JP" altLang="en-US" sz="11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603552" marR="0" lvl="4" indent="0" algn="l" defTabSz="987919" rtl="0" eaLnBrk="0" fontAlgn="ctr" latinLnBrk="0" hangingPunct="0">
              <a:lnSpc>
                <a:spcPct val="125000"/>
              </a:lnSpc>
              <a:spcBef>
                <a:spcPts val="263"/>
              </a:spcBef>
              <a:spcAft>
                <a:spcPct val="0"/>
              </a:spcAft>
              <a:buClr>
                <a:srgbClr val="A2A2A2"/>
              </a:buClr>
              <a:buSzPct val="70000"/>
              <a:buFont typeface="Wingdings" pitchFamily="2" charset="2"/>
              <a:buNone/>
              <a:tabLst/>
              <a:defRPr/>
            </a:pPr>
            <a:r>
              <a:rPr kumimoji="1" lang="ja-JP" altLang="en-US" sz="11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101" b="0" i="0" u="none" strike="noStrike" kern="1200" cap="none" spc="0" normalizeH="0" baseline="0" noProof="0">
                <a:ln>
                  <a:noFill/>
                </a:ln>
                <a:solidFill>
                  <a:srgbClr val="000000"/>
                </a:solidFill>
                <a:effectLst/>
                <a:uLnTx/>
                <a:uFillTx/>
                <a:latin typeface="ＭＳ Ｐゴシック"/>
                <a:ea typeface="ＭＳ Ｐゴシック"/>
                <a:cs typeface="+mn-cs"/>
              </a:rPr>
              <a:t>5 </a:t>
            </a:r>
            <a:r>
              <a:rPr kumimoji="1" lang="ja-JP" altLang="en-US" sz="11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endParaRPr kumimoji="1" lang="en-US" altLang="ja-JP" sz="1101" b="0" i="0" u="none" strike="noStrike" kern="1200" cap="none" spc="0" normalizeH="0" baseline="0" noProof="0">
              <a:ln>
                <a:noFill/>
              </a:ln>
              <a:solidFill>
                <a:srgbClr val="000000"/>
              </a:solidFill>
              <a:effectLst/>
              <a:uLnTx/>
              <a:uFillTx/>
              <a:latin typeface="ＭＳ Ｐゴシック"/>
              <a:ea typeface="ＭＳ Ｐゴシック"/>
              <a:cs typeface="+mn-cs"/>
            </a:endParaRPr>
          </a:p>
          <a:p>
            <a:pPr marL="792396" marR="0" lvl="5" indent="-126063" algn="l" defTabSz="987955" rtl="0" eaLnBrk="1" fontAlgn="ctr" latinLnBrk="0" hangingPunct="1">
              <a:lnSpc>
                <a:spcPct val="125000"/>
              </a:lnSpc>
              <a:spcBef>
                <a:spcPts val="264"/>
              </a:spcBef>
              <a:spcAft>
                <a:spcPts val="0"/>
              </a:spcAft>
              <a:buClr>
                <a:srgbClr val="A2A2A2"/>
              </a:buClr>
              <a:buSzPct val="70000"/>
              <a:buFont typeface="Wingdings" pitchFamily="2" charset="2"/>
              <a:buChar char="l"/>
              <a:tabLst/>
              <a:defRPr/>
            </a:pP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001" b="0" i="0" u="none" strike="noStrike" kern="1200" cap="none" spc="0" normalizeH="0" baseline="0" noProof="0">
                <a:ln>
                  <a:noFill/>
                </a:ln>
                <a:solidFill>
                  <a:srgbClr val="000000"/>
                </a:solidFill>
                <a:effectLst/>
                <a:uLnTx/>
                <a:uFillTx/>
                <a:latin typeface="ＭＳ Ｐゴシック"/>
                <a:ea typeface="ＭＳ Ｐゴシック"/>
                <a:cs typeface="+mn-cs"/>
              </a:rPr>
              <a:t>6 </a:t>
            </a: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792396" marR="0" lvl="6" indent="0" algn="l" defTabSz="987955" rtl="0" eaLnBrk="1" fontAlgn="ctr" latinLnBrk="0" hangingPunct="1">
              <a:lnSpc>
                <a:spcPct val="125000"/>
              </a:lnSpc>
              <a:spcBef>
                <a:spcPts val="264"/>
              </a:spcBef>
              <a:spcAft>
                <a:spcPts val="0"/>
              </a:spcAft>
              <a:buClrTx/>
              <a:buSzTx/>
              <a:buFontTx/>
              <a:buNone/>
              <a:tabLst/>
              <a:defRPr/>
            </a:pP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001" b="0" i="0" u="none" strike="noStrike" kern="1200" cap="none" spc="0" normalizeH="0" baseline="0" noProof="0">
                <a:ln>
                  <a:noFill/>
                </a:ln>
                <a:solidFill>
                  <a:srgbClr val="000000"/>
                </a:solidFill>
                <a:effectLst/>
                <a:uLnTx/>
                <a:uFillTx/>
                <a:latin typeface="ＭＳ Ｐゴシック"/>
                <a:ea typeface="ＭＳ Ｐゴシック"/>
                <a:cs typeface="+mn-cs"/>
              </a:rPr>
              <a:t>7 </a:t>
            </a: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954477" marR="0" lvl="7" indent="-108054" algn="l" defTabSz="987955" rtl="0" eaLnBrk="1" fontAlgn="ctr" latinLnBrk="0" hangingPunct="1">
              <a:lnSpc>
                <a:spcPct val="125000"/>
              </a:lnSpc>
              <a:spcBef>
                <a:spcPts val="264"/>
              </a:spcBef>
              <a:spcAft>
                <a:spcPts val="0"/>
              </a:spcAft>
              <a:buClr>
                <a:srgbClr val="A2A2A2"/>
              </a:buClr>
              <a:buSzPct val="70000"/>
              <a:buFont typeface="Wingdings" pitchFamily="2" charset="2"/>
              <a:buChar char="l"/>
              <a:tabLst/>
              <a:defRPr/>
            </a:pP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001" b="0" i="0" u="none" strike="noStrike" kern="1200" cap="none" spc="0" normalizeH="0" baseline="0" noProof="0">
                <a:ln>
                  <a:noFill/>
                </a:ln>
                <a:solidFill>
                  <a:srgbClr val="000000"/>
                </a:solidFill>
                <a:effectLst/>
                <a:uLnTx/>
                <a:uFillTx/>
                <a:latin typeface="ＭＳ Ｐゴシック"/>
                <a:ea typeface="ＭＳ Ｐゴシック"/>
                <a:cs typeface="+mn-cs"/>
              </a:rPr>
              <a:t>8 </a:t>
            </a: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954477" marR="0" lvl="8" indent="0" algn="l" defTabSz="987955" rtl="0" eaLnBrk="1" fontAlgn="ctr" latinLnBrk="0" hangingPunct="1">
              <a:lnSpc>
                <a:spcPct val="125000"/>
              </a:lnSpc>
              <a:spcBef>
                <a:spcPts val="264"/>
              </a:spcBef>
              <a:spcAft>
                <a:spcPts val="0"/>
              </a:spcAft>
              <a:buClrTx/>
              <a:buSzTx/>
              <a:buFontTx/>
              <a:buNone/>
              <a:tabLst/>
              <a:defRPr/>
            </a:pP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001" b="0" i="0" u="none" strike="noStrike" kern="1200" cap="none" spc="0" normalizeH="0" baseline="0" noProof="0">
                <a:ln>
                  <a:noFill/>
                </a:ln>
                <a:solidFill>
                  <a:srgbClr val="000000"/>
                </a:solidFill>
                <a:effectLst/>
                <a:uLnTx/>
                <a:uFillTx/>
                <a:latin typeface="ＭＳ Ｐゴシック"/>
                <a:ea typeface="ＭＳ Ｐゴシック"/>
                <a:cs typeface="+mn-cs"/>
              </a:rPr>
              <a:t>9 </a:t>
            </a: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p:txBody>
      </p:sp>
      <p:grpSp>
        <p:nvGrpSpPr>
          <p:cNvPr id="1027" name="グループ化 130"/>
          <p:cNvGrpSpPr>
            <a:grpSpLocks/>
          </p:cNvGrpSpPr>
          <p:nvPr/>
        </p:nvGrpSpPr>
        <p:grpSpPr bwMode="auto">
          <a:xfrm>
            <a:off x="341477" y="476476"/>
            <a:ext cx="9223046" cy="408618"/>
            <a:chOff x="341313" y="512763"/>
            <a:chExt cx="9218612" cy="439737"/>
          </a:xfrm>
        </p:grpSpPr>
        <p:sp>
          <p:nvSpPr>
            <p:cNvPr id="1342" name="Rectangle 114"/>
            <p:cNvSpPr>
              <a:spLocks noChangeArrowheads="1"/>
            </p:cNvSpPr>
            <p:nvPr userDrawn="1"/>
          </p:nvSpPr>
          <p:spPr bwMode="gray">
            <a:xfrm>
              <a:off x="341313" y="881063"/>
              <a:ext cx="9218612" cy="53529"/>
            </a:xfrm>
            <a:prstGeom prst="rect">
              <a:avLst/>
            </a:prstGeom>
            <a:solidFill>
              <a:srgbClr val="00483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latin typeface="Meiryo UI" panose="020B0604030504040204" pitchFamily="50" charset="-128"/>
                <a:ea typeface="Meiryo UI" panose="020B0604030504040204" pitchFamily="50" charset="-128"/>
              </a:endParaRPr>
            </a:p>
          </p:txBody>
        </p:sp>
        <p:sp>
          <p:nvSpPr>
            <p:cNvPr id="1343" name="Rectangle 115"/>
            <p:cNvSpPr>
              <a:spLocks noChangeArrowheads="1"/>
            </p:cNvSpPr>
            <p:nvPr userDrawn="1"/>
          </p:nvSpPr>
          <p:spPr bwMode="gray">
            <a:xfrm>
              <a:off x="341313" y="934592"/>
              <a:ext cx="9218612" cy="17908"/>
            </a:xfrm>
            <a:prstGeom prst="rect">
              <a:avLst/>
            </a:prstGeom>
            <a:solidFill>
              <a:srgbClr val="C4D7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latin typeface="Meiryo UI" panose="020B0604030504040204" pitchFamily="50" charset="-128"/>
                <a:ea typeface="Meiryo UI" panose="020B0604030504040204" pitchFamily="50" charset="-128"/>
              </a:endParaRPr>
            </a:p>
          </p:txBody>
        </p:sp>
        <p:sp>
          <p:nvSpPr>
            <p:cNvPr id="1344" name="Rectangle 116"/>
            <p:cNvSpPr>
              <a:spLocks noChangeArrowheads="1"/>
            </p:cNvSpPr>
            <p:nvPr userDrawn="1"/>
          </p:nvSpPr>
          <p:spPr bwMode="gray">
            <a:xfrm>
              <a:off x="341313" y="696913"/>
              <a:ext cx="142875" cy="144462"/>
            </a:xfrm>
            <a:prstGeom prst="rect">
              <a:avLst/>
            </a:prstGeom>
            <a:solidFill>
              <a:srgbClr val="C4D7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latin typeface="Meiryo UI" panose="020B0604030504040204" pitchFamily="50" charset="-128"/>
                <a:ea typeface="Meiryo UI" panose="020B0604030504040204" pitchFamily="50" charset="-128"/>
              </a:endParaRPr>
            </a:p>
          </p:txBody>
        </p:sp>
        <p:sp>
          <p:nvSpPr>
            <p:cNvPr id="1345" name="Rectangle 117"/>
            <p:cNvSpPr>
              <a:spLocks noChangeArrowheads="1"/>
            </p:cNvSpPr>
            <p:nvPr userDrawn="1"/>
          </p:nvSpPr>
          <p:spPr bwMode="gray">
            <a:xfrm>
              <a:off x="341313" y="512763"/>
              <a:ext cx="142875" cy="144462"/>
            </a:xfrm>
            <a:prstGeom prst="rect">
              <a:avLst/>
            </a:prstGeom>
            <a:solidFill>
              <a:srgbClr val="00483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latin typeface="Meiryo UI" panose="020B0604030504040204" pitchFamily="50" charset="-128"/>
                <a:ea typeface="Meiryo UI" panose="020B0604030504040204" pitchFamily="50" charset="-128"/>
              </a:endParaRPr>
            </a:p>
          </p:txBody>
        </p:sp>
      </p:grpSp>
      <p:sp>
        <p:nvSpPr>
          <p:cNvPr id="5" name="フッター プレースホルダー 4"/>
          <p:cNvSpPr>
            <a:spLocks noGrp="1"/>
          </p:cNvSpPr>
          <p:nvPr>
            <p:ph type="ftr" sz="quarter" idx="3"/>
          </p:nvPr>
        </p:nvSpPr>
        <p:spPr bwMode="gray">
          <a:xfrm>
            <a:off x="2431632" y="6439056"/>
            <a:ext cx="632129" cy="253715"/>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34" tIns="49367" rIns="98734" bIns="49367" numCol="1" anchor="t" anchorCtr="0" compatLnSpc="1">
            <a:prstTxWarp prst="textNoShape">
              <a:avLst/>
            </a:prstTxWarp>
            <a:spAutoFit/>
          </a:bodyPr>
          <a:lstStyle>
            <a:lvl1pPr algn="r">
              <a:defRPr lang="ja-JP" altLang="en-US" sz="1001">
                <a:solidFill>
                  <a:srgbClr val="000000"/>
                </a:solidFill>
                <a:latin typeface="Meiryo UI" panose="020B0604030504040204" pitchFamily="50" charset="-128"/>
                <a:ea typeface="Meiryo UI" panose="020B0604030504040204" pitchFamily="50" charset="-128"/>
              </a:defRPr>
            </a:lvl1pPr>
          </a:lstStyle>
          <a:p>
            <a:pPr>
              <a:defRPr/>
            </a:pPr>
            <a:endParaRPr lang="ja-JP" altLang="en-US"/>
          </a:p>
        </p:txBody>
      </p:sp>
      <p:sp>
        <p:nvSpPr>
          <p:cNvPr id="6" name="スライド番号プレースホルダー 5"/>
          <p:cNvSpPr>
            <a:spLocks noGrp="1"/>
          </p:cNvSpPr>
          <p:nvPr>
            <p:ph type="sldNum" sz="quarter" idx="4"/>
          </p:nvPr>
        </p:nvSpPr>
        <p:spPr bwMode="gray">
          <a:xfrm>
            <a:off x="9183216" y="6388970"/>
            <a:ext cx="712357" cy="469030"/>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734" tIns="49367" rIns="98734" bIns="49367" numCol="1" anchor="t" anchorCtr="0" compatLnSpc="1">
            <a:prstTxWarp prst="textNoShape">
              <a:avLst/>
            </a:prstTxWarp>
            <a:spAutoFit/>
          </a:bodyPr>
          <a:lstStyle>
            <a:lvl1pPr algn="r">
              <a:defRPr lang="ja-JP" altLang="en-US" sz="2400">
                <a:solidFill>
                  <a:srgbClr val="004831"/>
                </a:solidFill>
                <a:latin typeface="Meiryo UI" panose="020B0604030504040204" pitchFamily="50" charset="-128"/>
                <a:ea typeface="Meiryo UI" panose="020B0604030504040204" pitchFamily="50" charset="-128"/>
              </a:defRPr>
            </a:lvl1pPr>
          </a:lstStyle>
          <a:p>
            <a:pPr>
              <a:defRPr/>
            </a:pPr>
            <a:fld id="{3179AA56-C2CD-4E8B-A33B-C0FAB915FEB3}" type="slidenum">
              <a:rPr lang="en-US" altLang="ja-JP" smtClean="0"/>
              <a:pPr>
                <a:defRPr/>
              </a:pPr>
              <a:t>‹#›</a:t>
            </a:fld>
            <a:endParaRPr lang="en-US" altLang="ja-JP"/>
          </a:p>
        </p:txBody>
      </p:sp>
      <p:sp>
        <p:nvSpPr>
          <p:cNvPr id="1031" name="タイトル プレースホルダー 1"/>
          <p:cNvSpPr>
            <a:spLocks noGrp="1"/>
          </p:cNvSpPr>
          <p:nvPr>
            <p:ph type="title"/>
          </p:nvPr>
        </p:nvSpPr>
        <p:spPr bwMode="gray">
          <a:xfrm>
            <a:off x="559069" y="391721"/>
            <a:ext cx="8986395" cy="369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0" rIns="90000" bIns="0" numCol="1" anchor="b" anchorCtr="0" compatLnSpc="1">
            <a:prstTxWarp prst="textNoShape">
              <a:avLst/>
            </a:prstTxWarp>
            <a:spAutoFit/>
          </a:bodyPr>
          <a:lstStyle/>
          <a:p>
            <a:pPr lvl="0"/>
            <a:r>
              <a:rPr lang="ja-JP" altLang="en-US"/>
              <a:t>マスター タイトルの書式設定</a:t>
            </a:r>
          </a:p>
        </p:txBody>
      </p:sp>
      <p:sp>
        <p:nvSpPr>
          <p:cNvPr id="156" name="テキスト ボックス 155"/>
          <p:cNvSpPr txBox="1"/>
          <p:nvPr/>
        </p:nvSpPr>
        <p:spPr bwMode="gray">
          <a:xfrm>
            <a:off x="5493036" y="6558543"/>
            <a:ext cx="3710952" cy="123111"/>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ja-JP"/>
            </a:defPPr>
            <a:lvl1pPr algn="r" defTabSz="987425">
              <a:defRPr sz="800">
                <a:solidFill>
                  <a:srgbClr val="808080"/>
                </a:solidFill>
                <a:latin typeface="Arial" charset="0"/>
                <a:ea typeface="ＭＳ Ｐゴシック" pitchFamily="50" charset="-128"/>
              </a:defRPr>
            </a:lvl1pPr>
            <a:lvl2pPr defTabSz="987425">
              <a:defRPr>
                <a:latin typeface="Arial" charset="0"/>
                <a:ea typeface="ＭＳ Ｐゴシック" pitchFamily="50" charset="-128"/>
              </a:defRPr>
            </a:lvl2pPr>
            <a:lvl3pPr defTabSz="987425">
              <a:defRPr>
                <a:latin typeface="Arial" charset="0"/>
                <a:ea typeface="ＭＳ Ｐゴシック" pitchFamily="50" charset="-128"/>
              </a:defRPr>
            </a:lvl3pPr>
            <a:lvl4pPr defTabSz="987425">
              <a:defRPr>
                <a:latin typeface="Arial" charset="0"/>
                <a:ea typeface="ＭＳ Ｐゴシック" pitchFamily="50" charset="-128"/>
              </a:defRPr>
            </a:lvl4pPr>
            <a:lvl5pPr defTabSz="987425">
              <a:defRPr>
                <a:latin typeface="Arial" charset="0"/>
                <a:ea typeface="ＭＳ Ｐゴシック" pitchFamily="50" charset="-128"/>
              </a:defRPr>
            </a:lvl5pPr>
            <a:lvl6pPr defTabSz="987425" fontAlgn="base">
              <a:spcBef>
                <a:spcPct val="0"/>
              </a:spcBef>
              <a:spcAft>
                <a:spcPct val="0"/>
              </a:spcAft>
              <a:defRPr>
                <a:latin typeface="Arial" charset="0"/>
                <a:ea typeface="ＭＳ Ｐゴシック" pitchFamily="50" charset="-128"/>
              </a:defRPr>
            </a:lvl6pPr>
            <a:lvl7pPr defTabSz="987425" fontAlgn="base">
              <a:spcBef>
                <a:spcPct val="0"/>
              </a:spcBef>
              <a:spcAft>
                <a:spcPct val="0"/>
              </a:spcAft>
              <a:defRPr>
                <a:latin typeface="Arial" charset="0"/>
                <a:ea typeface="ＭＳ Ｐゴシック" pitchFamily="50" charset="-128"/>
              </a:defRPr>
            </a:lvl7pPr>
            <a:lvl8pPr defTabSz="987425" fontAlgn="base">
              <a:spcBef>
                <a:spcPct val="0"/>
              </a:spcBef>
              <a:spcAft>
                <a:spcPct val="0"/>
              </a:spcAft>
              <a:defRPr>
                <a:latin typeface="Arial" charset="0"/>
                <a:ea typeface="ＭＳ Ｐゴシック" pitchFamily="50" charset="-128"/>
              </a:defRPr>
            </a:lvl8pPr>
            <a:lvl9pPr defTabSz="987425" fontAlgn="base">
              <a:spcBef>
                <a:spcPct val="0"/>
              </a:spcBef>
              <a:spcAft>
                <a:spcPct val="0"/>
              </a:spcAft>
              <a:defRPr>
                <a:latin typeface="Arial" charset="0"/>
                <a:ea typeface="ＭＳ Ｐゴシック" pitchFamily="50" charset="-128"/>
              </a:defRPr>
            </a:lvl9pPr>
          </a:lstStyle>
          <a:p>
            <a:pPr fontAlgn="auto">
              <a:spcBef>
                <a:spcPts val="0"/>
              </a:spcBef>
              <a:spcAft>
                <a:spcPts val="0"/>
              </a:spcAft>
              <a:defRPr/>
            </a:pPr>
            <a:r>
              <a:rPr lang="en-US" altLang="ja-JP" sz="800">
                <a:latin typeface="Meiryo UI" panose="020B0604030504040204" pitchFamily="50" charset="-128"/>
                <a:ea typeface="Meiryo UI" panose="020B0604030504040204" pitchFamily="50" charset="-128"/>
              </a:rPr>
              <a:t>Copyright © 2021 The Japan Research Institute,</a:t>
            </a:r>
            <a:r>
              <a:rPr lang="ja-JP" altLang="en-US" sz="800">
                <a:latin typeface="Meiryo UI" panose="020B0604030504040204" pitchFamily="50" charset="-128"/>
                <a:ea typeface="Meiryo UI" panose="020B0604030504040204" pitchFamily="50" charset="-128"/>
              </a:rPr>
              <a:t> </a:t>
            </a:r>
            <a:r>
              <a:rPr lang="en-US" altLang="ja-JP" sz="800">
                <a:latin typeface="Meiryo UI" panose="020B0604030504040204" pitchFamily="50" charset="-128"/>
                <a:ea typeface="Meiryo UI" panose="020B0604030504040204" pitchFamily="50" charset="-128"/>
              </a:rPr>
              <a:t>Ltd. All Rights Reserved.</a:t>
            </a:r>
          </a:p>
        </p:txBody>
      </p:sp>
      <p:grpSp>
        <p:nvGrpSpPr>
          <p:cNvPr id="116" name="グループ化 115"/>
          <p:cNvGrpSpPr/>
          <p:nvPr userDrawn="1"/>
        </p:nvGrpSpPr>
        <p:grpSpPr>
          <a:xfrm>
            <a:off x="486009" y="1153572"/>
            <a:ext cx="8932394" cy="5084863"/>
            <a:chOff x="485775" y="1241425"/>
            <a:chExt cx="8928100" cy="5472113"/>
          </a:xfrm>
        </p:grpSpPr>
        <p:grpSp>
          <p:nvGrpSpPr>
            <p:cNvPr id="118" name="Design_Grid_2013"/>
            <p:cNvGrpSpPr>
              <a:grpSpLocks/>
            </p:cNvGrpSpPr>
            <p:nvPr userDrawn="1"/>
          </p:nvGrpSpPr>
          <p:grpSpPr bwMode="auto">
            <a:xfrm>
              <a:off x="485775" y="1241425"/>
              <a:ext cx="8928100" cy="5472113"/>
              <a:chOff x="306" y="782"/>
              <a:chExt cx="5625" cy="3447"/>
            </a:xfrm>
          </p:grpSpPr>
          <p:grpSp>
            <p:nvGrpSpPr>
              <p:cNvPr id="426" name="Group 3"/>
              <p:cNvGrpSpPr>
                <a:grpSpLocks/>
              </p:cNvGrpSpPr>
              <p:nvPr userDrawn="1"/>
            </p:nvGrpSpPr>
            <p:grpSpPr bwMode="auto">
              <a:xfrm>
                <a:off x="306" y="873"/>
                <a:ext cx="5625" cy="3266"/>
                <a:chOff x="306" y="828"/>
                <a:chExt cx="5625" cy="3266"/>
              </a:xfrm>
            </p:grpSpPr>
            <p:sp>
              <p:nvSpPr>
                <p:cNvPr id="492"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93"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94"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95"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96"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97"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98"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99"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00"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01"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02"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03"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04"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05"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06"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07"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08"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09"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10"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11"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12"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13"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14"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15"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16"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17"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18"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19"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20"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21"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22"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23"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24"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25"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26"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27"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nvGrpSpPr>
              <p:cNvPr id="427" name="Group 40"/>
              <p:cNvGrpSpPr>
                <a:grpSpLocks/>
              </p:cNvGrpSpPr>
              <p:nvPr userDrawn="1"/>
            </p:nvGrpSpPr>
            <p:grpSpPr bwMode="auto">
              <a:xfrm>
                <a:off x="397" y="782"/>
                <a:ext cx="5443" cy="3447"/>
                <a:chOff x="397" y="737"/>
                <a:chExt cx="5443" cy="3447"/>
              </a:xfrm>
            </p:grpSpPr>
            <p:sp>
              <p:nvSpPr>
                <p:cNvPr id="432"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33"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34"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35"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36"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37"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38"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39"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40"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41"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42"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43"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44"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45"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46"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47"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48"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49"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50"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51"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52"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53"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54"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55"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56"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57"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58"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59"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60"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61"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62"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63"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64"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65"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66"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67"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68"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69"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70"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71"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72"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73"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74"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75"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76"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77"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78"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79"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80"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81"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82"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83"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84"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85"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86"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87"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88"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89"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90"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91"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nvGrpSpPr>
              <p:cNvPr id="428" name="Group 101"/>
              <p:cNvGrpSpPr>
                <a:grpSpLocks/>
              </p:cNvGrpSpPr>
              <p:nvPr userDrawn="1"/>
            </p:nvGrpSpPr>
            <p:grpSpPr bwMode="auto">
              <a:xfrm>
                <a:off x="306" y="782"/>
                <a:ext cx="5625" cy="3447"/>
                <a:chOff x="306" y="737"/>
                <a:chExt cx="5625" cy="3447"/>
              </a:xfrm>
            </p:grpSpPr>
            <p:sp>
              <p:nvSpPr>
                <p:cNvPr id="429" name="Line 102"/>
                <p:cNvSpPr>
                  <a:spLocks noChangeShapeType="1"/>
                </p:cNvSpPr>
                <p:nvPr userDrawn="1"/>
              </p:nvSpPr>
              <p:spPr bwMode="gray">
                <a:xfrm>
                  <a:off x="306" y="246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30" name="Line 103"/>
                <p:cNvSpPr>
                  <a:spLocks noChangeShapeType="1"/>
                </p:cNvSpPr>
                <p:nvPr userDrawn="1"/>
              </p:nvSpPr>
              <p:spPr bwMode="gray">
                <a:xfrm>
                  <a:off x="311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31" name="Rectangle 104"/>
                <p:cNvSpPr>
                  <a:spLocks noChangeArrowheads="1"/>
                </p:cNvSpPr>
                <p:nvPr userDrawn="1"/>
              </p:nvSpPr>
              <p:spPr bwMode="gray">
                <a:xfrm>
                  <a:off x="306" y="737"/>
                  <a:ext cx="5625" cy="3447"/>
                </a:xfrm>
                <a:prstGeom prst="rect">
                  <a:avLst/>
                </a:prstGeom>
                <a:noFill/>
                <a:ln w="9525"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latin typeface="Meiryo UI" panose="020B0604030504040204" pitchFamily="50" charset="-128"/>
                    <a:ea typeface="Meiryo UI" panose="020B0604030504040204" pitchFamily="50" charset="-128"/>
                  </a:endParaRPr>
                </a:p>
              </p:txBody>
            </p:sp>
          </p:grpSp>
        </p:grpSp>
        <p:grpSp>
          <p:nvGrpSpPr>
            <p:cNvPr id="119" name="Group 3"/>
            <p:cNvGrpSpPr>
              <a:grpSpLocks/>
            </p:cNvGrpSpPr>
            <p:nvPr userDrawn="1"/>
          </p:nvGrpSpPr>
          <p:grpSpPr bwMode="auto">
            <a:xfrm>
              <a:off x="485775" y="1385888"/>
              <a:ext cx="8928100" cy="5184775"/>
              <a:chOff x="306" y="828"/>
              <a:chExt cx="5625" cy="3266"/>
            </a:xfrm>
          </p:grpSpPr>
          <p:sp>
            <p:nvSpPr>
              <p:cNvPr id="287"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88"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89"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90"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91"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92"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93"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94"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95"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96"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97"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98"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99"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00"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01"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02"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03"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04"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05"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06"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07"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08"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09"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10"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11"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12"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13"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14"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15"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16"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17"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18"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321"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23"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24"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425"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nvGrpSpPr>
            <p:cNvPr id="120" name="Group 40"/>
            <p:cNvGrpSpPr>
              <a:grpSpLocks/>
            </p:cNvGrpSpPr>
            <p:nvPr userDrawn="1"/>
          </p:nvGrpSpPr>
          <p:grpSpPr bwMode="auto">
            <a:xfrm>
              <a:off x="630212" y="1241425"/>
              <a:ext cx="8639226" cy="5472113"/>
              <a:chOff x="397" y="737"/>
              <a:chExt cx="5443" cy="3447"/>
            </a:xfrm>
          </p:grpSpPr>
          <p:sp>
            <p:nvSpPr>
              <p:cNvPr id="227"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28"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29"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30"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31"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32"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33"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34"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35"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36"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37"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38"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39"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40"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41"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42"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43"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44"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45"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46"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47"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48"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49"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50"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51"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52"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53"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54"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55"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56"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57"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58"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59"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60"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61"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62"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63"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64"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65"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66"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67"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68"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69"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70"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71"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72"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73"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74"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75"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76"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77"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78"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79"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80"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81"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82"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83"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84"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85"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86"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nvGrpSpPr>
            <p:cNvPr id="121" name="Group 101"/>
            <p:cNvGrpSpPr>
              <a:grpSpLocks/>
            </p:cNvGrpSpPr>
            <p:nvPr userDrawn="1"/>
          </p:nvGrpSpPr>
          <p:grpSpPr bwMode="auto">
            <a:xfrm>
              <a:off x="485775" y="1241425"/>
              <a:ext cx="8928100" cy="5472113"/>
              <a:chOff x="306" y="737"/>
              <a:chExt cx="5625" cy="3447"/>
            </a:xfrm>
          </p:grpSpPr>
          <p:sp>
            <p:nvSpPr>
              <p:cNvPr id="224" name="Line 102"/>
              <p:cNvSpPr>
                <a:spLocks noChangeShapeType="1"/>
              </p:cNvSpPr>
              <p:nvPr userDrawn="1"/>
            </p:nvSpPr>
            <p:spPr bwMode="gray">
              <a:xfrm>
                <a:off x="306" y="246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25" name="Line 103"/>
              <p:cNvSpPr>
                <a:spLocks noChangeShapeType="1"/>
              </p:cNvSpPr>
              <p:nvPr userDrawn="1"/>
            </p:nvSpPr>
            <p:spPr bwMode="gray">
              <a:xfrm>
                <a:off x="311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26" name="Rectangle 104"/>
              <p:cNvSpPr>
                <a:spLocks noChangeArrowheads="1"/>
              </p:cNvSpPr>
              <p:nvPr userDrawn="1"/>
            </p:nvSpPr>
            <p:spPr bwMode="gray">
              <a:xfrm>
                <a:off x="306" y="737"/>
                <a:ext cx="5625" cy="3447"/>
              </a:xfrm>
              <a:prstGeom prst="rect">
                <a:avLst/>
              </a:prstGeom>
              <a:noFill/>
              <a:ln w="9525"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latin typeface="Meiryo UI" panose="020B0604030504040204" pitchFamily="50" charset="-128"/>
                  <a:ea typeface="Meiryo UI" panose="020B0604030504040204" pitchFamily="50" charset="-128"/>
                </a:endParaRPr>
              </a:p>
            </p:txBody>
          </p:sp>
        </p:grpSp>
        <p:sp>
          <p:nvSpPr>
            <p:cNvPr id="122" name="Line 102"/>
            <p:cNvSpPr>
              <a:spLocks noChangeShapeType="1"/>
            </p:cNvSpPr>
            <p:nvPr userDrawn="1"/>
          </p:nvSpPr>
          <p:spPr bwMode="gray">
            <a:xfrm>
              <a:off x="485775" y="3978275"/>
              <a:ext cx="8928100"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23" name="Line 103"/>
            <p:cNvSpPr>
              <a:spLocks noChangeShapeType="1"/>
            </p:cNvSpPr>
            <p:nvPr userDrawn="1"/>
          </p:nvSpPr>
          <p:spPr bwMode="gray">
            <a:xfrm>
              <a:off x="4950619" y="1241425"/>
              <a:ext cx="0" cy="5472113"/>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nvGrpSpPr>
            <p:cNvPr id="124" name="Group 3"/>
            <p:cNvGrpSpPr>
              <a:grpSpLocks/>
            </p:cNvGrpSpPr>
            <p:nvPr userDrawn="1"/>
          </p:nvGrpSpPr>
          <p:grpSpPr bwMode="auto">
            <a:xfrm>
              <a:off x="485775" y="1385888"/>
              <a:ext cx="8928100" cy="5184775"/>
              <a:chOff x="306" y="828"/>
              <a:chExt cx="5625" cy="3266"/>
            </a:xfrm>
          </p:grpSpPr>
          <p:sp>
            <p:nvSpPr>
              <p:cNvPr id="188"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89"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90"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91"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92"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93"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94"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95"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96"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97"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98"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99"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00"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01"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02"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03"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04"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05"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06"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07"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08"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09"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10"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11"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12"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13"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14"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15"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16"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17"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18"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19"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20"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21"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22"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223"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nvGrpSpPr>
            <p:cNvPr id="125" name="Group 40"/>
            <p:cNvGrpSpPr>
              <a:grpSpLocks/>
            </p:cNvGrpSpPr>
            <p:nvPr userDrawn="1"/>
          </p:nvGrpSpPr>
          <p:grpSpPr bwMode="auto">
            <a:xfrm>
              <a:off x="630212" y="1241425"/>
              <a:ext cx="8639226" cy="5472113"/>
              <a:chOff x="397" y="737"/>
              <a:chExt cx="5443" cy="3447"/>
            </a:xfrm>
          </p:grpSpPr>
          <p:sp>
            <p:nvSpPr>
              <p:cNvPr id="126"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27"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28"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29"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30"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31"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32"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33"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34"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35"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36"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37"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38"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39"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40"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41"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42"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43"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44"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45"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46"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47"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48"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49"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50"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51"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52"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53"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54"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55"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57"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58"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60"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61"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62"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63"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64"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65"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66"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67"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68"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69"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70"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71"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72"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73"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74"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75"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76"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77"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78"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79"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80"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81"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82"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83"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84"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85"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86"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187"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grpSp>
        <p:nvGrpSpPr>
          <p:cNvPr id="528" name="グループ化 527"/>
          <p:cNvGrpSpPr/>
          <p:nvPr userDrawn="1"/>
        </p:nvGrpSpPr>
        <p:grpSpPr>
          <a:xfrm>
            <a:off x="486803" y="1142184"/>
            <a:ext cx="8932394" cy="5084863"/>
            <a:chOff x="485775" y="1241425"/>
            <a:chExt cx="8928100" cy="5472113"/>
          </a:xfrm>
        </p:grpSpPr>
        <p:grpSp>
          <p:nvGrpSpPr>
            <p:cNvPr id="529" name="Design_Grid_2013"/>
            <p:cNvGrpSpPr>
              <a:grpSpLocks/>
            </p:cNvGrpSpPr>
            <p:nvPr userDrawn="1"/>
          </p:nvGrpSpPr>
          <p:grpSpPr bwMode="auto">
            <a:xfrm>
              <a:off x="485775" y="1241425"/>
              <a:ext cx="8928100" cy="5472113"/>
              <a:chOff x="306" y="782"/>
              <a:chExt cx="5625" cy="3447"/>
            </a:xfrm>
          </p:grpSpPr>
          <p:grpSp>
            <p:nvGrpSpPr>
              <p:cNvPr id="732" name="Group 3"/>
              <p:cNvGrpSpPr>
                <a:grpSpLocks/>
              </p:cNvGrpSpPr>
              <p:nvPr userDrawn="1"/>
            </p:nvGrpSpPr>
            <p:grpSpPr bwMode="auto">
              <a:xfrm>
                <a:off x="306" y="873"/>
                <a:ext cx="5625" cy="3266"/>
                <a:chOff x="306" y="828"/>
                <a:chExt cx="5625" cy="3266"/>
              </a:xfrm>
            </p:grpSpPr>
            <p:sp>
              <p:nvSpPr>
                <p:cNvPr id="798"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99"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00"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01"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02"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03"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04"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05"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06"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07"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08"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09"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10"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11"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12"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13"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14"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15"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16"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17"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18"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19"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20"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21"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22"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23"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24"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25"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26"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27"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28"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29"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30"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31"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32"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833"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nvGrpSpPr>
              <p:cNvPr id="733" name="Group 40"/>
              <p:cNvGrpSpPr>
                <a:grpSpLocks/>
              </p:cNvGrpSpPr>
              <p:nvPr userDrawn="1"/>
            </p:nvGrpSpPr>
            <p:grpSpPr bwMode="auto">
              <a:xfrm>
                <a:off x="397" y="782"/>
                <a:ext cx="5443" cy="3447"/>
                <a:chOff x="397" y="737"/>
                <a:chExt cx="5443" cy="3447"/>
              </a:xfrm>
            </p:grpSpPr>
            <p:sp>
              <p:nvSpPr>
                <p:cNvPr id="738"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39"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40"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41"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42"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43"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44"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45"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46"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47"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48"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49"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50"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51"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52"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53"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54"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55"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56"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57"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58"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59"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60"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61"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62"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63"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64"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65"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66"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67"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68"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69"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70"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71"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72"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73"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74"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75"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76"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77"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78"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79"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80"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81"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82"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83"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84"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85"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86"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87"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88"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89"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90"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91"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92"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93"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94"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95"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96"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97"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nvGrpSpPr>
              <p:cNvPr id="734" name="Group 101"/>
              <p:cNvGrpSpPr>
                <a:grpSpLocks/>
              </p:cNvGrpSpPr>
              <p:nvPr userDrawn="1"/>
            </p:nvGrpSpPr>
            <p:grpSpPr bwMode="auto">
              <a:xfrm>
                <a:off x="306" y="782"/>
                <a:ext cx="5625" cy="3447"/>
                <a:chOff x="306" y="737"/>
                <a:chExt cx="5625" cy="3447"/>
              </a:xfrm>
            </p:grpSpPr>
            <p:sp>
              <p:nvSpPr>
                <p:cNvPr id="735" name="Line 102"/>
                <p:cNvSpPr>
                  <a:spLocks noChangeShapeType="1"/>
                </p:cNvSpPr>
                <p:nvPr userDrawn="1"/>
              </p:nvSpPr>
              <p:spPr bwMode="gray">
                <a:xfrm>
                  <a:off x="306" y="246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36" name="Line 103"/>
                <p:cNvSpPr>
                  <a:spLocks noChangeShapeType="1"/>
                </p:cNvSpPr>
                <p:nvPr userDrawn="1"/>
              </p:nvSpPr>
              <p:spPr bwMode="gray">
                <a:xfrm>
                  <a:off x="311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37" name="Rectangle 104"/>
                <p:cNvSpPr>
                  <a:spLocks noChangeArrowheads="1"/>
                </p:cNvSpPr>
                <p:nvPr userDrawn="1"/>
              </p:nvSpPr>
              <p:spPr bwMode="gray">
                <a:xfrm>
                  <a:off x="306" y="737"/>
                  <a:ext cx="5625" cy="3447"/>
                </a:xfrm>
                <a:prstGeom prst="rect">
                  <a:avLst/>
                </a:prstGeom>
                <a:noFill/>
                <a:ln w="9525"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latin typeface="Meiryo UI" panose="020B0604030504040204" pitchFamily="50" charset="-128"/>
                    <a:ea typeface="Meiryo UI" panose="020B0604030504040204" pitchFamily="50" charset="-128"/>
                  </a:endParaRPr>
                </a:p>
              </p:txBody>
            </p:sp>
          </p:grpSp>
        </p:grpSp>
        <p:grpSp>
          <p:nvGrpSpPr>
            <p:cNvPr id="530" name="Group 3"/>
            <p:cNvGrpSpPr>
              <a:grpSpLocks/>
            </p:cNvGrpSpPr>
            <p:nvPr userDrawn="1"/>
          </p:nvGrpSpPr>
          <p:grpSpPr bwMode="auto">
            <a:xfrm>
              <a:off x="485775" y="1385888"/>
              <a:ext cx="8928100" cy="5184775"/>
              <a:chOff x="306" y="828"/>
              <a:chExt cx="5625" cy="3266"/>
            </a:xfrm>
          </p:grpSpPr>
          <p:sp>
            <p:nvSpPr>
              <p:cNvPr id="696"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97"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98"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99"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00"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01"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02"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03"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04"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05"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06"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07"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08"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09"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10"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11"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12"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13"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14"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15"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16"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17"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18"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19"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20"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21"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22"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23"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24"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25"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26"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27"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28"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29"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30"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731"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nvGrpSpPr>
            <p:cNvPr id="531" name="Group 40"/>
            <p:cNvGrpSpPr>
              <a:grpSpLocks/>
            </p:cNvGrpSpPr>
            <p:nvPr userDrawn="1"/>
          </p:nvGrpSpPr>
          <p:grpSpPr bwMode="auto">
            <a:xfrm>
              <a:off x="630212" y="1241425"/>
              <a:ext cx="8639226" cy="5472113"/>
              <a:chOff x="397" y="737"/>
              <a:chExt cx="5443" cy="3447"/>
            </a:xfrm>
          </p:grpSpPr>
          <p:sp>
            <p:nvSpPr>
              <p:cNvPr id="636"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37"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38"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39"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40"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41"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42"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43"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44"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45"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46"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47"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48"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49"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50"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51"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52"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53"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54"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55"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56"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57"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58"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59"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60"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61"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62"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63"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64"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65"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66"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67"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68"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69"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70"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71"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72"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73"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74"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75"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76"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77"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78"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79"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80"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81"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82"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83"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84"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85"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86"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87"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88"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89"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90"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91"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92"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93"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94"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95"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nvGrpSpPr>
            <p:cNvPr id="532" name="Group 101"/>
            <p:cNvGrpSpPr>
              <a:grpSpLocks/>
            </p:cNvGrpSpPr>
            <p:nvPr userDrawn="1"/>
          </p:nvGrpSpPr>
          <p:grpSpPr bwMode="auto">
            <a:xfrm>
              <a:off x="485775" y="1241425"/>
              <a:ext cx="8928100" cy="5472113"/>
              <a:chOff x="306" y="737"/>
              <a:chExt cx="5625" cy="3447"/>
            </a:xfrm>
          </p:grpSpPr>
          <p:sp>
            <p:nvSpPr>
              <p:cNvPr id="633" name="Line 102"/>
              <p:cNvSpPr>
                <a:spLocks noChangeShapeType="1"/>
              </p:cNvSpPr>
              <p:nvPr userDrawn="1"/>
            </p:nvSpPr>
            <p:spPr bwMode="gray">
              <a:xfrm>
                <a:off x="306" y="246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34" name="Line 103"/>
              <p:cNvSpPr>
                <a:spLocks noChangeShapeType="1"/>
              </p:cNvSpPr>
              <p:nvPr userDrawn="1"/>
            </p:nvSpPr>
            <p:spPr bwMode="gray">
              <a:xfrm>
                <a:off x="311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35" name="Rectangle 104"/>
              <p:cNvSpPr>
                <a:spLocks noChangeArrowheads="1"/>
              </p:cNvSpPr>
              <p:nvPr userDrawn="1"/>
            </p:nvSpPr>
            <p:spPr bwMode="gray">
              <a:xfrm>
                <a:off x="306" y="737"/>
                <a:ext cx="5625" cy="3447"/>
              </a:xfrm>
              <a:prstGeom prst="rect">
                <a:avLst/>
              </a:prstGeom>
              <a:noFill/>
              <a:ln w="9525"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latin typeface="Meiryo UI" panose="020B0604030504040204" pitchFamily="50" charset="-128"/>
                  <a:ea typeface="Meiryo UI" panose="020B0604030504040204" pitchFamily="50" charset="-128"/>
                </a:endParaRPr>
              </a:p>
            </p:txBody>
          </p:sp>
        </p:grpSp>
        <p:sp>
          <p:nvSpPr>
            <p:cNvPr id="533" name="Line 102"/>
            <p:cNvSpPr>
              <a:spLocks noChangeShapeType="1"/>
            </p:cNvSpPr>
            <p:nvPr userDrawn="1"/>
          </p:nvSpPr>
          <p:spPr bwMode="gray">
            <a:xfrm>
              <a:off x="485775" y="3978275"/>
              <a:ext cx="8928100"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34" name="Line 103"/>
            <p:cNvSpPr>
              <a:spLocks noChangeShapeType="1"/>
            </p:cNvSpPr>
            <p:nvPr userDrawn="1"/>
          </p:nvSpPr>
          <p:spPr bwMode="gray">
            <a:xfrm>
              <a:off x="4950619" y="1241425"/>
              <a:ext cx="0" cy="5472113"/>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nvGrpSpPr>
            <p:cNvPr id="535" name="Group 3"/>
            <p:cNvGrpSpPr>
              <a:grpSpLocks/>
            </p:cNvGrpSpPr>
            <p:nvPr userDrawn="1"/>
          </p:nvGrpSpPr>
          <p:grpSpPr bwMode="auto">
            <a:xfrm>
              <a:off x="485775" y="1385888"/>
              <a:ext cx="8928100" cy="5184775"/>
              <a:chOff x="306" y="828"/>
              <a:chExt cx="5625" cy="3266"/>
            </a:xfrm>
          </p:grpSpPr>
          <p:sp>
            <p:nvSpPr>
              <p:cNvPr id="597"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98"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99"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00"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01"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02"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03"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04"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05"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06"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07"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08"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09"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10"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11"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12"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13"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14"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15"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16"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17"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18"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19"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20"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21"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22"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23"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24"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25"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26"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27"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28"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29"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30"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31"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632"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nvGrpSpPr>
            <p:cNvPr id="536" name="Group 40"/>
            <p:cNvGrpSpPr>
              <a:grpSpLocks/>
            </p:cNvGrpSpPr>
            <p:nvPr userDrawn="1"/>
          </p:nvGrpSpPr>
          <p:grpSpPr bwMode="auto">
            <a:xfrm>
              <a:off x="630212" y="1241425"/>
              <a:ext cx="8639226" cy="5472113"/>
              <a:chOff x="397" y="737"/>
              <a:chExt cx="5443" cy="3447"/>
            </a:xfrm>
          </p:grpSpPr>
          <p:sp>
            <p:nvSpPr>
              <p:cNvPr id="537"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38"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39"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40"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41"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42"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43"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44"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45"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46"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47"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48"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49"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50"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51"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52"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53"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54"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55"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56"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57"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58"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59"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60"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61"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62"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63"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64"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65"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66"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67"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68"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69"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70"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71"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72"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73"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74"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75"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76"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77"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78"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79"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80"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81"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82"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83"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84"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85"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86"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87"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88"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89"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90"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91"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92"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93"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94"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95"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sp>
            <p:nvSpPr>
              <p:cNvPr id="596"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latin typeface="Meiryo UI" panose="020B0604030504040204" pitchFamily="50" charset="-128"/>
                  <a:ea typeface="Meiryo UI" panose="020B0604030504040204" pitchFamily="50" charset="-128"/>
                </a:endParaRPr>
              </a:p>
            </p:txBody>
          </p:sp>
        </p:grpSp>
      </p:grpSp>
      <p:grpSp>
        <p:nvGrpSpPr>
          <p:cNvPr id="3" name="グループ化 2">
            <a:extLst>
              <a:ext uri="{FF2B5EF4-FFF2-40B4-BE49-F238E27FC236}">
                <a16:creationId xmlns:a16="http://schemas.microsoft.com/office/drawing/2014/main" id="{DAE6B1EB-DE5D-4F3A-8924-0FF93208F7FB}"/>
              </a:ext>
            </a:extLst>
          </p:cNvPr>
          <p:cNvGrpSpPr/>
          <p:nvPr userDrawn="1"/>
        </p:nvGrpSpPr>
        <p:grpSpPr>
          <a:xfrm>
            <a:off x="-1019472" y="414816"/>
            <a:ext cx="943717" cy="1100871"/>
            <a:chOff x="-1019472" y="414816"/>
            <a:chExt cx="943717" cy="1100871"/>
          </a:xfrm>
        </p:grpSpPr>
        <p:sp>
          <p:nvSpPr>
            <p:cNvPr id="844" name="正方形/長方形 843">
              <a:extLst>
                <a:ext uri="{FF2B5EF4-FFF2-40B4-BE49-F238E27FC236}">
                  <a16:creationId xmlns:a16="http://schemas.microsoft.com/office/drawing/2014/main" id="{052653A3-B9E9-4C2D-92AC-B3BC5DA030DE}"/>
                </a:ext>
              </a:extLst>
            </p:cNvPr>
            <p:cNvSpPr/>
            <p:nvPr userDrawn="1"/>
          </p:nvSpPr>
          <p:spPr bwMode="auto">
            <a:xfrm>
              <a:off x="-255755" y="414816"/>
              <a:ext cx="180000" cy="180000"/>
            </a:xfrm>
            <a:prstGeom prst="rect">
              <a:avLst/>
            </a:prstGeom>
            <a:solidFill>
              <a:srgbClr val="004831"/>
            </a:solidFill>
            <a:ln w="9525" cap="flat" cmpd="sng" algn="ctr">
              <a:no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45" name="正方形/長方形 844">
              <a:extLst>
                <a:ext uri="{FF2B5EF4-FFF2-40B4-BE49-F238E27FC236}">
                  <a16:creationId xmlns:a16="http://schemas.microsoft.com/office/drawing/2014/main" id="{211AFDCB-D0F6-4117-B2F3-E54F1D08580B}"/>
                </a:ext>
              </a:extLst>
            </p:cNvPr>
            <p:cNvSpPr/>
            <p:nvPr userDrawn="1"/>
          </p:nvSpPr>
          <p:spPr bwMode="auto">
            <a:xfrm>
              <a:off x="-510403" y="414816"/>
              <a:ext cx="180000" cy="180000"/>
            </a:xfrm>
            <a:prstGeom prst="rect">
              <a:avLst/>
            </a:prstGeom>
            <a:solidFill>
              <a:srgbClr val="C4D700"/>
            </a:solidFill>
            <a:ln w="9525" cap="flat" cmpd="sng" algn="ctr">
              <a:no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46" name="正方形/長方形 845">
              <a:extLst>
                <a:ext uri="{FF2B5EF4-FFF2-40B4-BE49-F238E27FC236}">
                  <a16:creationId xmlns:a16="http://schemas.microsoft.com/office/drawing/2014/main" id="{1C44ACA7-3B32-445C-BC9A-CA5003A81473}"/>
                </a:ext>
              </a:extLst>
            </p:cNvPr>
            <p:cNvSpPr/>
            <p:nvPr userDrawn="1"/>
          </p:nvSpPr>
          <p:spPr bwMode="auto">
            <a:xfrm>
              <a:off x="-765051" y="414816"/>
              <a:ext cx="180000" cy="180000"/>
            </a:xfrm>
            <a:prstGeom prst="rect">
              <a:avLst/>
            </a:prstGeom>
            <a:solidFill>
              <a:srgbClr val="EAFF7F"/>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47" name="正方形/長方形 846">
              <a:extLst>
                <a:ext uri="{FF2B5EF4-FFF2-40B4-BE49-F238E27FC236}">
                  <a16:creationId xmlns:a16="http://schemas.microsoft.com/office/drawing/2014/main" id="{18AF799B-72F4-46CB-B944-39B8306BE0B3}"/>
                </a:ext>
              </a:extLst>
            </p:cNvPr>
            <p:cNvSpPr/>
            <p:nvPr userDrawn="1"/>
          </p:nvSpPr>
          <p:spPr bwMode="auto">
            <a:xfrm>
              <a:off x="-255755" y="647376"/>
              <a:ext cx="180000" cy="180000"/>
            </a:xfrm>
            <a:prstGeom prst="rect">
              <a:avLst/>
            </a:prstGeom>
            <a:solidFill>
              <a:srgbClr val="1F1F1F"/>
            </a:solidFill>
            <a:ln w="9525" cap="flat" cmpd="sng" algn="ctr">
              <a:no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48" name="正方形/長方形 847">
              <a:extLst>
                <a:ext uri="{FF2B5EF4-FFF2-40B4-BE49-F238E27FC236}">
                  <a16:creationId xmlns:a16="http://schemas.microsoft.com/office/drawing/2014/main" id="{C7009311-3BE4-4314-B1FA-8AF7CE4FEDBB}"/>
                </a:ext>
              </a:extLst>
            </p:cNvPr>
            <p:cNvSpPr/>
            <p:nvPr userDrawn="1"/>
          </p:nvSpPr>
          <p:spPr bwMode="auto">
            <a:xfrm>
              <a:off x="-510403" y="647376"/>
              <a:ext cx="180000" cy="180000"/>
            </a:xfrm>
            <a:prstGeom prst="rect">
              <a:avLst/>
            </a:prstGeom>
            <a:solidFill>
              <a:srgbClr val="808080"/>
            </a:solidFill>
            <a:ln w="9525" cap="flat" cmpd="sng" algn="ctr">
              <a:no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49" name="正方形/長方形 848">
              <a:extLst>
                <a:ext uri="{FF2B5EF4-FFF2-40B4-BE49-F238E27FC236}">
                  <a16:creationId xmlns:a16="http://schemas.microsoft.com/office/drawing/2014/main" id="{202DE2D2-360E-42CA-814D-8C9B60EC32EC}"/>
                </a:ext>
              </a:extLst>
            </p:cNvPr>
            <p:cNvSpPr/>
            <p:nvPr userDrawn="1"/>
          </p:nvSpPr>
          <p:spPr bwMode="auto">
            <a:xfrm>
              <a:off x="-255755" y="879935"/>
              <a:ext cx="180000" cy="180000"/>
            </a:xfrm>
            <a:prstGeom prst="rect">
              <a:avLst/>
            </a:prstGeom>
            <a:solidFill>
              <a:srgbClr val="6666FF"/>
            </a:solidFill>
            <a:ln w="9525" cap="flat" cmpd="sng" algn="ctr">
              <a:no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50" name="正方形/長方形 849">
              <a:extLst>
                <a:ext uri="{FF2B5EF4-FFF2-40B4-BE49-F238E27FC236}">
                  <a16:creationId xmlns:a16="http://schemas.microsoft.com/office/drawing/2014/main" id="{31485179-FD88-4AE8-A505-4D1218D3A01F}"/>
                </a:ext>
              </a:extLst>
            </p:cNvPr>
            <p:cNvSpPr/>
            <p:nvPr userDrawn="1"/>
          </p:nvSpPr>
          <p:spPr bwMode="auto">
            <a:xfrm>
              <a:off x="-510403" y="879935"/>
              <a:ext cx="180000" cy="180000"/>
            </a:xfrm>
            <a:prstGeom prst="rect">
              <a:avLst/>
            </a:prstGeom>
            <a:solidFill>
              <a:srgbClr val="99CCFF"/>
            </a:solidFill>
            <a:ln w="9525" cap="flat" cmpd="sng" algn="ctr">
              <a:no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51" name="正方形/長方形 850">
              <a:extLst>
                <a:ext uri="{FF2B5EF4-FFF2-40B4-BE49-F238E27FC236}">
                  <a16:creationId xmlns:a16="http://schemas.microsoft.com/office/drawing/2014/main" id="{0AC7E11F-6FD4-4196-9E1A-FBF689461EC1}"/>
                </a:ext>
              </a:extLst>
            </p:cNvPr>
            <p:cNvSpPr/>
            <p:nvPr userDrawn="1"/>
          </p:nvSpPr>
          <p:spPr bwMode="auto">
            <a:xfrm>
              <a:off x="-765051" y="647376"/>
              <a:ext cx="180000" cy="180000"/>
            </a:xfrm>
            <a:prstGeom prst="rect">
              <a:avLst/>
            </a:prstGeom>
            <a:solidFill>
              <a:srgbClr val="E6E6E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52" name="正方形/長方形 851">
              <a:extLst>
                <a:ext uri="{FF2B5EF4-FFF2-40B4-BE49-F238E27FC236}">
                  <a16:creationId xmlns:a16="http://schemas.microsoft.com/office/drawing/2014/main" id="{4FAF8C92-F209-43B8-9939-2A0468595157}"/>
                </a:ext>
              </a:extLst>
            </p:cNvPr>
            <p:cNvSpPr/>
            <p:nvPr userDrawn="1"/>
          </p:nvSpPr>
          <p:spPr bwMode="auto">
            <a:xfrm>
              <a:off x="-255755" y="1107811"/>
              <a:ext cx="180000" cy="180000"/>
            </a:xfrm>
            <a:prstGeom prst="rect">
              <a:avLst/>
            </a:prstGeom>
            <a:solidFill>
              <a:srgbClr val="0000FF"/>
            </a:solidFill>
            <a:ln w="9525" cap="flat" cmpd="sng" algn="ctr">
              <a:no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53" name="正方形/長方形 852">
              <a:extLst>
                <a:ext uri="{FF2B5EF4-FFF2-40B4-BE49-F238E27FC236}">
                  <a16:creationId xmlns:a16="http://schemas.microsoft.com/office/drawing/2014/main" id="{9D9D2D27-770A-4DEA-8F8D-FC5B02D719EA}"/>
                </a:ext>
              </a:extLst>
            </p:cNvPr>
            <p:cNvSpPr/>
            <p:nvPr userDrawn="1"/>
          </p:nvSpPr>
          <p:spPr bwMode="auto">
            <a:xfrm>
              <a:off x="-1019472" y="647376"/>
              <a:ext cx="180000" cy="180000"/>
            </a:xfrm>
            <a:prstGeom prst="rect">
              <a:avLst/>
            </a:prstGeom>
            <a:solidFill>
              <a:srgbClr val="FAFAFA"/>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34" name="正方形/長方形 833">
              <a:extLst>
                <a:ext uri="{FF2B5EF4-FFF2-40B4-BE49-F238E27FC236}">
                  <a16:creationId xmlns:a16="http://schemas.microsoft.com/office/drawing/2014/main" id="{05C31720-131C-41B1-BE3E-AAA3901A369F}"/>
                </a:ext>
              </a:extLst>
            </p:cNvPr>
            <p:cNvSpPr/>
            <p:nvPr userDrawn="1"/>
          </p:nvSpPr>
          <p:spPr bwMode="auto">
            <a:xfrm>
              <a:off x="-1018799" y="414816"/>
              <a:ext cx="180000" cy="180000"/>
            </a:xfrm>
            <a:prstGeom prst="rect">
              <a:avLst/>
            </a:prstGeom>
            <a:solidFill>
              <a:srgbClr val="E5F3E3"/>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35" name="正方形/長方形 834">
              <a:extLst>
                <a:ext uri="{FF2B5EF4-FFF2-40B4-BE49-F238E27FC236}">
                  <a16:creationId xmlns:a16="http://schemas.microsoft.com/office/drawing/2014/main" id="{0EBAA4E6-F1E3-47B8-B655-57B5066E7030}"/>
                </a:ext>
              </a:extLst>
            </p:cNvPr>
            <p:cNvSpPr/>
            <p:nvPr userDrawn="1"/>
          </p:nvSpPr>
          <p:spPr bwMode="auto">
            <a:xfrm>
              <a:off x="-255755" y="1335687"/>
              <a:ext cx="180000" cy="180000"/>
            </a:xfrm>
            <a:prstGeom prst="rect">
              <a:avLst/>
            </a:prstGeom>
            <a:solidFill>
              <a:srgbClr val="FF0000"/>
            </a:solidFill>
            <a:ln w="9525" cap="flat" cmpd="sng" algn="ctr">
              <a:no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36" name="正方形/長方形 835">
              <a:extLst>
                <a:ext uri="{FF2B5EF4-FFF2-40B4-BE49-F238E27FC236}">
                  <a16:creationId xmlns:a16="http://schemas.microsoft.com/office/drawing/2014/main" id="{057AF7AB-00F6-469E-A8F4-0CE4A91A9E64}"/>
                </a:ext>
              </a:extLst>
            </p:cNvPr>
            <p:cNvSpPr/>
            <p:nvPr userDrawn="1"/>
          </p:nvSpPr>
          <p:spPr bwMode="auto">
            <a:xfrm>
              <a:off x="-510403" y="1330575"/>
              <a:ext cx="180000" cy="180000"/>
            </a:xfrm>
            <a:prstGeom prst="rect">
              <a:avLst/>
            </a:prstGeom>
            <a:solidFill>
              <a:srgbClr val="FF9900"/>
            </a:solidFill>
            <a:ln w="9525" cap="flat" cmpd="sng" algn="ctr">
              <a:no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sp>
          <p:nvSpPr>
            <p:cNvPr id="837" name="正方形/長方形 836">
              <a:extLst>
                <a:ext uri="{FF2B5EF4-FFF2-40B4-BE49-F238E27FC236}">
                  <a16:creationId xmlns:a16="http://schemas.microsoft.com/office/drawing/2014/main" id="{E2A056CE-EE48-4475-8B62-2AE3A99FBFAE}"/>
                </a:ext>
              </a:extLst>
            </p:cNvPr>
            <p:cNvSpPr/>
            <p:nvPr userDrawn="1"/>
          </p:nvSpPr>
          <p:spPr bwMode="auto">
            <a:xfrm>
              <a:off x="-765051" y="1330575"/>
              <a:ext cx="180000" cy="180000"/>
            </a:xfrm>
            <a:prstGeom prst="rect">
              <a:avLst/>
            </a:prstGeom>
            <a:solidFill>
              <a:srgbClr val="FFFF6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marL="0" marR="0" indent="0" algn="ctr" defTabSz="987425" rtl="0" eaLnBrk="1" fontAlgn="base" latinLnBrk="0" hangingPunct="1">
                <a:lnSpc>
                  <a:spcPct val="100000"/>
                </a:lnSpc>
                <a:spcBef>
                  <a:spcPct val="0"/>
                </a:spcBef>
                <a:spcAft>
                  <a:spcPct val="0"/>
                </a:spcAft>
                <a:buClrTx/>
                <a:buSzTx/>
                <a:buFontTx/>
                <a:buNone/>
                <a:tabLst/>
              </a:pPr>
              <a:endParaRPr kumimoji="1" lang="ja-JP" altLang="en-US" sz="1200" b="0" i="0" u="none" strike="noStrike" cap="none" normalizeH="0" baseline="0">
                <a:ln>
                  <a:noFill/>
                </a:ln>
                <a:solidFill>
                  <a:schemeClr val="tx1"/>
                </a:solidFill>
                <a:effectLst/>
                <a:latin typeface="ＭＳ Ｐゴシック" pitchFamily="50" charset="-128"/>
                <a:ea typeface="ＭＳ Ｐゴシック" pitchFamily="50" charset="-128"/>
              </a:endParaRPr>
            </a:p>
          </p:txBody>
        </p:sp>
      </p:grpSp>
      <p:pic>
        <p:nvPicPr>
          <p:cNvPr id="2" name="図 1">
            <a:extLst>
              <a:ext uri="{FF2B5EF4-FFF2-40B4-BE49-F238E27FC236}">
                <a16:creationId xmlns:a16="http://schemas.microsoft.com/office/drawing/2014/main" id="{82837D55-4194-4BAB-A6C8-71D52B2AC7C3}"/>
              </a:ext>
            </a:extLst>
          </p:cNvPr>
          <p:cNvPicPr>
            <a:picLocks noChangeAspect="1"/>
          </p:cNvPicPr>
          <p:nvPr userDrawn="1"/>
        </p:nvPicPr>
        <p:blipFill>
          <a:blip r:embed="rId9"/>
          <a:stretch>
            <a:fillRect/>
          </a:stretch>
        </p:blipFill>
        <p:spPr>
          <a:xfrm>
            <a:off x="-1723810" y="1578076"/>
            <a:ext cx="1648055" cy="1448002"/>
          </a:xfrm>
          <a:prstGeom prst="rect">
            <a:avLst/>
          </a:prstGeom>
        </p:spPr>
      </p:pic>
    </p:spTree>
    <p:extLst>
      <p:ext uri="{BB962C8B-B14F-4D97-AF65-F5344CB8AC3E}">
        <p14:creationId xmlns:p14="http://schemas.microsoft.com/office/powerpoint/2010/main" val="2367891111"/>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Lst>
  <p:hf hdr="0" ftr="0" dt="0"/>
  <p:txStyles>
    <p:titleStyle>
      <a:lvl1pPr algn="l" defTabSz="987919" rtl="0" eaLnBrk="1" fontAlgn="base" hangingPunct="1">
        <a:spcBef>
          <a:spcPct val="0"/>
        </a:spcBef>
        <a:spcAft>
          <a:spcPct val="0"/>
        </a:spcAft>
        <a:defRPr kumimoji="1" lang="ja-JP" altLang="en-US" sz="2401" b="1" kern="1200" baseline="0">
          <a:solidFill>
            <a:srgbClr val="000000"/>
          </a:solidFill>
          <a:latin typeface="Meiryo UI" panose="020B0604030504040204" pitchFamily="50" charset="-128"/>
          <a:ea typeface="Meiryo UI" panose="020B0604030504040204" pitchFamily="50" charset="-128"/>
          <a:cs typeface="+mj-cs"/>
        </a:defRPr>
      </a:lvl1pPr>
      <a:lvl2pPr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2pPr>
      <a:lvl3pPr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3pPr>
      <a:lvl4pPr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4pPr>
      <a:lvl5pPr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5pPr>
      <a:lvl6pPr marL="457429"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6pPr>
      <a:lvl7pPr marL="914857"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7pPr>
      <a:lvl8pPr marL="1372286"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8pPr>
      <a:lvl9pPr marL="1829714"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9pPr>
    </p:titleStyle>
    <p:bodyStyle>
      <a:lvl1pPr marL="200125" marR="0" indent="-200125" algn="l" defTabSz="987919" rtl="0" eaLnBrk="1" fontAlgn="ctr" latinLnBrk="0" hangingPunct="1">
        <a:lnSpc>
          <a:spcPct val="125000"/>
        </a:lnSpc>
        <a:spcBef>
          <a:spcPts val="1351"/>
        </a:spcBef>
        <a:spcAft>
          <a:spcPct val="0"/>
        </a:spcAft>
        <a:buClr>
          <a:srgbClr val="004831"/>
        </a:buClr>
        <a:buSzTx/>
        <a:buFont typeface="Wingdings" pitchFamily="2" charset="2"/>
        <a:buChar char="l"/>
        <a:tabLst/>
        <a:defRPr kumimoji="1" lang="ja-JP" altLang="en-US" sz="1401" kern="1200" dirty="0">
          <a:solidFill>
            <a:srgbClr val="000000"/>
          </a:solidFill>
          <a:latin typeface="Meiryo UI" panose="020B0604030504040204" pitchFamily="50" charset="-128"/>
          <a:ea typeface="Meiryo UI" panose="020B0604030504040204" pitchFamily="50" charset="-128"/>
          <a:cs typeface="+mn-cs"/>
        </a:defRPr>
      </a:lvl1pPr>
      <a:lvl2pPr marL="420898" marR="0" indent="-182654" algn="l" defTabSz="987919" rtl="0" eaLnBrk="1" fontAlgn="ctr" latinLnBrk="0" hangingPunct="1">
        <a:lnSpc>
          <a:spcPct val="125000"/>
        </a:lnSpc>
        <a:spcBef>
          <a:spcPct val="20000"/>
        </a:spcBef>
        <a:spcAft>
          <a:spcPct val="0"/>
        </a:spcAft>
        <a:buClr>
          <a:srgbClr val="C4D700"/>
        </a:buClr>
        <a:buSzPct val="90000"/>
        <a:buFont typeface="Wingdings" pitchFamily="2" charset="2"/>
        <a:buChar char="l"/>
        <a:tabLst/>
        <a:defRPr kumimoji="1" lang="ja-JP" altLang="en-US" sz="1201" kern="1200" dirty="0">
          <a:solidFill>
            <a:srgbClr val="000000"/>
          </a:solidFill>
          <a:latin typeface="Meiryo UI" panose="020B0604030504040204" pitchFamily="50" charset="-128"/>
          <a:ea typeface="Meiryo UI" panose="020B0604030504040204" pitchFamily="50" charset="-128"/>
          <a:cs typeface="+mn-cs"/>
        </a:defRPr>
      </a:lvl2pPr>
      <a:lvl3pPr marL="421411" marR="0" indent="0" algn="l" defTabSz="987919" rtl="0" eaLnBrk="1" fontAlgn="ctr" latinLnBrk="0" hangingPunct="1">
        <a:lnSpc>
          <a:spcPct val="125000"/>
        </a:lnSpc>
        <a:spcBef>
          <a:spcPts val="288"/>
        </a:spcBef>
        <a:spcAft>
          <a:spcPct val="0"/>
        </a:spcAft>
        <a:buClrTx/>
        <a:buSzTx/>
        <a:buFontTx/>
        <a:buNone/>
        <a:tabLst/>
        <a:defRPr kumimoji="1" lang="ja-JP" altLang="en-US" sz="1201" kern="1200" dirty="0">
          <a:solidFill>
            <a:srgbClr val="000000"/>
          </a:solidFill>
          <a:latin typeface="Meiryo UI" panose="020B0604030504040204" pitchFamily="50" charset="-128"/>
          <a:ea typeface="Meiryo UI" panose="020B0604030504040204" pitchFamily="50" charset="-128"/>
          <a:cs typeface="+mn-cs"/>
        </a:defRPr>
      </a:lvl3pPr>
      <a:lvl4pPr marL="603552" marR="0" indent="-128652" algn="l" defTabSz="987919" rtl="0" eaLnBrk="1" fontAlgn="ctr" latinLnBrk="0" hangingPunct="1">
        <a:lnSpc>
          <a:spcPct val="125000"/>
        </a:lnSpc>
        <a:spcBef>
          <a:spcPts val="263"/>
        </a:spcBef>
        <a:spcAft>
          <a:spcPct val="0"/>
        </a:spcAft>
        <a:buClr>
          <a:srgbClr val="A2A2A2"/>
        </a:buClr>
        <a:buSzPct val="70000"/>
        <a:buFont typeface="Wingdings" pitchFamily="2" charset="2"/>
        <a:buChar char="l"/>
        <a:tabLst/>
        <a:defRPr kumimoji="1" lang="ja-JP" altLang="en-US" sz="1101" kern="1200" dirty="0">
          <a:solidFill>
            <a:srgbClr val="000000"/>
          </a:solidFill>
          <a:latin typeface="Meiryo UI" panose="020B0604030504040204" pitchFamily="50" charset="-128"/>
          <a:ea typeface="Meiryo UI" panose="020B0604030504040204" pitchFamily="50" charset="-128"/>
          <a:cs typeface="+mn-cs"/>
        </a:defRPr>
      </a:lvl4pPr>
      <a:lvl5pPr marL="603552" marR="0" indent="0" algn="l" defTabSz="987919" rtl="0" eaLnBrk="1" fontAlgn="ctr" latinLnBrk="0" hangingPunct="1">
        <a:lnSpc>
          <a:spcPct val="125000"/>
        </a:lnSpc>
        <a:spcBef>
          <a:spcPts val="263"/>
        </a:spcBef>
        <a:spcAft>
          <a:spcPct val="0"/>
        </a:spcAft>
        <a:buClr>
          <a:srgbClr val="A2A2A2"/>
        </a:buClr>
        <a:buSzPct val="70000"/>
        <a:buFont typeface="Wingdings" pitchFamily="2" charset="2"/>
        <a:buNone/>
        <a:tabLst/>
        <a:defRPr kumimoji="1" lang="ja-JP" altLang="en-US" sz="1101" kern="1200" dirty="0">
          <a:solidFill>
            <a:srgbClr val="000000"/>
          </a:solidFill>
          <a:latin typeface="Meiryo UI" panose="020B0604030504040204" pitchFamily="50" charset="-128"/>
          <a:ea typeface="Meiryo UI" panose="020B0604030504040204" pitchFamily="50" charset="-128"/>
          <a:cs typeface="+mn-cs"/>
        </a:defRPr>
      </a:lvl5pPr>
      <a:lvl6pPr marL="792396" marR="0" indent="-126063" algn="l" defTabSz="987955" rtl="0" eaLnBrk="1" fontAlgn="ctr" latinLnBrk="0" hangingPunct="1">
        <a:lnSpc>
          <a:spcPct val="125000"/>
        </a:lnSpc>
        <a:spcBef>
          <a:spcPts val="264"/>
        </a:spcBef>
        <a:spcAft>
          <a:spcPts val="0"/>
        </a:spcAft>
        <a:buClr>
          <a:srgbClr val="A2A2A2"/>
        </a:buClr>
        <a:buSzPct val="70000"/>
        <a:buFont typeface="Wingdings" pitchFamily="2" charset="2"/>
        <a:buChar char="l"/>
        <a:tabLst/>
        <a:defRPr kumimoji="1" sz="1001" kern="1200">
          <a:solidFill>
            <a:srgbClr val="000000"/>
          </a:solidFill>
          <a:latin typeface="Meiryo UI" panose="020B0604030504040204" pitchFamily="50" charset="-128"/>
          <a:ea typeface="Meiryo UI" panose="020B0604030504040204" pitchFamily="50" charset="-128"/>
          <a:cs typeface="+mn-cs"/>
        </a:defRPr>
      </a:lvl6pPr>
      <a:lvl7pPr marL="792396" marR="0" indent="0" algn="l" defTabSz="987955" rtl="0" eaLnBrk="1" fontAlgn="ctr" latinLnBrk="0" hangingPunct="1">
        <a:lnSpc>
          <a:spcPct val="125000"/>
        </a:lnSpc>
        <a:spcBef>
          <a:spcPts val="264"/>
        </a:spcBef>
        <a:spcAft>
          <a:spcPts val="0"/>
        </a:spcAft>
        <a:buClrTx/>
        <a:buSzTx/>
        <a:buFontTx/>
        <a:buNone/>
        <a:tabLst/>
        <a:defRPr kumimoji="1" sz="1001" kern="1200">
          <a:solidFill>
            <a:srgbClr val="000000"/>
          </a:solidFill>
          <a:latin typeface="Meiryo UI" panose="020B0604030504040204" pitchFamily="50" charset="-128"/>
          <a:ea typeface="Meiryo UI" panose="020B0604030504040204" pitchFamily="50" charset="-128"/>
          <a:cs typeface="+mn-cs"/>
        </a:defRPr>
      </a:lvl7pPr>
      <a:lvl8pPr marL="954477" marR="0" indent="-108054" algn="l" defTabSz="987955" rtl="0" eaLnBrk="1" fontAlgn="ctr" latinLnBrk="0" hangingPunct="1">
        <a:lnSpc>
          <a:spcPct val="125000"/>
        </a:lnSpc>
        <a:spcBef>
          <a:spcPts val="264"/>
        </a:spcBef>
        <a:spcAft>
          <a:spcPts val="0"/>
        </a:spcAft>
        <a:buClr>
          <a:srgbClr val="A2A2A2"/>
        </a:buClr>
        <a:buSzPct val="70000"/>
        <a:buFont typeface="Wingdings" pitchFamily="2" charset="2"/>
        <a:buChar char="l"/>
        <a:tabLst/>
        <a:defRPr kumimoji="1" sz="1001" kern="1200">
          <a:solidFill>
            <a:srgbClr val="000000"/>
          </a:solidFill>
          <a:latin typeface="Meiryo UI" panose="020B0604030504040204" pitchFamily="50" charset="-128"/>
          <a:ea typeface="Meiryo UI" panose="020B0604030504040204" pitchFamily="50" charset="-128"/>
          <a:cs typeface="+mn-cs"/>
        </a:defRPr>
      </a:lvl8pPr>
      <a:lvl9pPr marL="954477" marR="0" indent="0" algn="l" defTabSz="987955" rtl="0" eaLnBrk="1" fontAlgn="ctr" latinLnBrk="0" hangingPunct="1">
        <a:lnSpc>
          <a:spcPct val="125000"/>
        </a:lnSpc>
        <a:spcBef>
          <a:spcPts val="264"/>
        </a:spcBef>
        <a:spcAft>
          <a:spcPts val="0"/>
        </a:spcAft>
        <a:buClrTx/>
        <a:buSzTx/>
        <a:buFontTx/>
        <a:buNone/>
        <a:tabLst/>
        <a:defRPr kumimoji="1" sz="1001" kern="1200">
          <a:solidFill>
            <a:srgbClr val="000000"/>
          </a:solidFill>
          <a:latin typeface="Meiryo UI" panose="020B0604030504040204" pitchFamily="50" charset="-128"/>
          <a:ea typeface="Meiryo UI" panose="020B0604030504040204" pitchFamily="50" charset="-128"/>
          <a:cs typeface="+mn-cs"/>
        </a:defRPr>
      </a:lvl9pPr>
    </p:bodyStyle>
    <p:otherStyle>
      <a:defPPr>
        <a:defRPr lang="ja-JP"/>
      </a:defPPr>
      <a:lvl1pPr marL="0" algn="l" defTabSz="987955" rtl="0" eaLnBrk="1" latinLnBrk="0" hangingPunct="1">
        <a:defRPr kumimoji="1" sz="1201" kern="1200">
          <a:solidFill>
            <a:schemeClr val="tx1"/>
          </a:solidFill>
          <a:latin typeface="+mn-lt"/>
          <a:ea typeface="+mn-ea"/>
          <a:cs typeface="+mn-cs"/>
        </a:defRPr>
      </a:lvl1pPr>
      <a:lvl2pPr marL="493977" algn="l" defTabSz="987955" rtl="0" eaLnBrk="1" latinLnBrk="0" hangingPunct="1">
        <a:defRPr kumimoji="1" sz="1201" kern="1200">
          <a:solidFill>
            <a:schemeClr val="tx1"/>
          </a:solidFill>
          <a:latin typeface="+mn-lt"/>
          <a:ea typeface="+mn-ea"/>
          <a:cs typeface="+mn-cs"/>
        </a:defRPr>
      </a:lvl2pPr>
      <a:lvl3pPr marL="987955" algn="l" defTabSz="987955" rtl="0" eaLnBrk="1" latinLnBrk="0" hangingPunct="1">
        <a:defRPr kumimoji="1" sz="1201" kern="1200">
          <a:solidFill>
            <a:schemeClr val="tx1"/>
          </a:solidFill>
          <a:latin typeface="+mn-lt"/>
          <a:ea typeface="+mn-ea"/>
          <a:cs typeface="+mn-cs"/>
        </a:defRPr>
      </a:lvl3pPr>
      <a:lvl4pPr marL="1481932" algn="l" defTabSz="987955" rtl="0" eaLnBrk="1" latinLnBrk="0" hangingPunct="1">
        <a:defRPr kumimoji="1" sz="1201" kern="1200">
          <a:solidFill>
            <a:schemeClr val="tx1"/>
          </a:solidFill>
          <a:latin typeface="+mn-lt"/>
          <a:ea typeface="+mn-ea"/>
          <a:cs typeface="+mn-cs"/>
        </a:defRPr>
      </a:lvl4pPr>
      <a:lvl5pPr marL="1975908" algn="l" defTabSz="987955" rtl="0" eaLnBrk="1" latinLnBrk="0" hangingPunct="1">
        <a:defRPr kumimoji="1" sz="1201" kern="1200">
          <a:solidFill>
            <a:schemeClr val="tx1"/>
          </a:solidFill>
          <a:latin typeface="+mn-lt"/>
          <a:ea typeface="+mn-ea"/>
          <a:cs typeface="+mn-cs"/>
        </a:defRPr>
      </a:lvl5pPr>
      <a:lvl6pPr marL="2469885" algn="l" defTabSz="987955" rtl="0" eaLnBrk="1" latinLnBrk="0" hangingPunct="1">
        <a:defRPr kumimoji="1" sz="1201" kern="1200">
          <a:solidFill>
            <a:schemeClr val="tx1"/>
          </a:solidFill>
          <a:latin typeface="+mn-lt"/>
          <a:ea typeface="+mn-ea"/>
          <a:cs typeface="+mn-cs"/>
        </a:defRPr>
      </a:lvl6pPr>
      <a:lvl7pPr marL="2963863" algn="l" defTabSz="987955" rtl="0" eaLnBrk="1" latinLnBrk="0" hangingPunct="1">
        <a:defRPr kumimoji="1" sz="1201" kern="1200">
          <a:solidFill>
            <a:schemeClr val="tx1"/>
          </a:solidFill>
          <a:latin typeface="+mn-lt"/>
          <a:ea typeface="+mn-ea"/>
          <a:cs typeface="+mn-cs"/>
        </a:defRPr>
      </a:lvl7pPr>
      <a:lvl8pPr marL="3457840" algn="l" defTabSz="987955" rtl="0" eaLnBrk="1" latinLnBrk="0" hangingPunct="1">
        <a:defRPr kumimoji="1" sz="1201" kern="1200">
          <a:solidFill>
            <a:schemeClr val="tx1"/>
          </a:solidFill>
          <a:latin typeface="+mn-lt"/>
          <a:ea typeface="+mn-ea"/>
          <a:cs typeface="+mn-cs"/>
        </a:defRPr>
      </a:lvl8pPr>
      <a:lvl9pPr marL="3951817" algn="l" defTabSz="987955" rtl="0" eaLnBrk="1" latinLnBrk="0" hangingPunct="1">
        <a:defRPr kumimoji="1" sz="1201"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6692744" y="6696277"/>
            <a:ext cx="2598790" cy="215444"/>
          </a:xfrm>
          <a:prstGeom prst="rect">
            <a:avLst/>
          </a:prstGeom>
          <a:noFill/>
          <a:ln w="9525">
            <a:noFill/>
            <a:miter lim="800000"/>
            <a:headEnd/>
            <a:tailEnd/>
          </a:ln>
          <a:effectLst/>
        </p:spPr>
        <p:txBody>
          <a:bodyPr wrap="none" lIns="91441"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800">
                <a:solidFill>
                  <a:srgbClr val="000000"/>
                </a:solidFill>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userDrawn="1"/>
        </p:nvSpPr>
        <p:spPr bwMode="auto">
          <a:xfrm>
            <a:off x="9125176" y="6603945"/>
            <a:ext cx="891591" cy="307777"/>
          </a:xfrm>
          <a:prstGeom prst="rect">
            <a:avLst/>
          </a:prstGeom>
          <a:noFill/>
          <a:ln w="9525">
            <a:noFill/>
            <a:miter lim="800000"/>
            <a:headEnd/>
            <a:tailEnd/>
          </a:ln>
          <a:effectLst/>
        </p:spPr>
        <p:txBody>
          <a:bodyPr wrap="none" anchor="ctr">
            <a:spAutoFit/>
          </a:bodyPr>
          <a:lstStyle/>
          <a:p>
            <a:pPr algn="ctr">
              <a:defRPr/>
            </a:pPr>
            <a:fld id="{8A78A693-3208-4FB2-91F2-7485DAC6A137}" type="slidenum">
              <a:rPr lang="en-US" altLang="ja-JP" sz="1400" b="1" smtClean="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40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/14</a:t>
            </a:r>
            <a:endParaRPr lang="en-US" altLang="ja-JP" sz="1200" b="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pic>
        <p:nvPicPr>
          <p:cNvPr id="13" name="Picture 14" descr="日本総研">
            <a:extLst>
              <a:ext uri="{FF2B5EF4-FFF2-40B4-BE49-F238E27FC236}">
                <a16:creationId xmlns:a16="http://schemas.microsoft.com/office/drawing/2014/main" id="{434C9E4A-990B-4EFF-963D-47954A53A7DD}"/>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265368" y="11751"/>
            <a:ext cx="1294244" cy="302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
            <a:extLst>
              <a:ext uri="{FF2B5EF4-FFF2-40B4-BE49-F238E27FC236}">
                <a16:creationId xmlns:a16="http://schemas.microsoft.com/office/drawing/2014/main" id="{79C572DE-1618-46D6-9C30-860462530A09}"/>
              </a:ext>
            </a:extLst>
          </p:cNvPr>
          <p:cNvSpPr>
            <a:spLocks noChangeArrowheads="1"/>
          </p:cNvSpPr>
          <p:nvPr userDrawn="1"/>
        </p:nvSpPr>
        <p:spPr bwMode="auto">
          <a:xfrm>
            <a:off x="342867" y="453679"/>
            <a:ext cx="142908" cy="134554"/>
          </a:xfrm>
          <a:prstGeom prst="rect">
            <a:avLst/>
          </a:prstGeom>
          <a:solidFill>
            <a:srgbClr val="DDDDDD"/>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0" name="Rectangle 13">
            <a:extLst>
              <a:ext uri="{FF2B5EF4-FFF2-40B4-BE49-F238E27FC236}">
                <a16:creationId xmlns:a16="http://schemas.microsoft.com/office/drawing/2014/main" id="{3BDB8F85-8C64-48D8-8E87-E210DB25B66B}"/>
              </a:ext>
            </a:extLst>
          </p:cNvPr>
          <p:cNvSpPr>
            <a:spLocks noChangeArrowheads="1"/>
          </p:cNvSpPr>
          <p:nvPr userDrawn="1"/>
        </p:nvSpPr>
        <p:spPr bwMode="auto">
          <a:xfrm>
            <a:off x="342899" y="282834"/>
            <a:ext cx="142875" cy="134554"/>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1" name="Rectangle 10">
            <a:extLst>
              <a:ext uri="{FF2B5EF4-FFF2-40B4-BE49-F238E27FC236}">
                <a16:creationId xmlns:a16="http://schemas.microsoft.com/office/drawing/2014/main" id="{87465963-1E96-4DFB-B975-C03664AA82F1}"/>
              </a:ext>
            </a:extLst>
          </p:cNvPr>
          <p:cNvSpPr>
            <a:spLocks noChangeArrowheads="1"/>
          </p:cNvSpPr>
          <p:nvPr userDrawn="1"/>
        </p:nvSpPr>
        <p:spPr bwMode="auto">
          <a:xfrm>
            <a:off x="341279" y="628650"/>
            <a:ext cx="9221821" cy="58572"/>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grpSp>
        <p:nvGrpSpPr>
          <p:cNvPr id="98" name="グループ化 97">
            <a:extLst>
              <a:ext uri="{FF2B5EF4-FFF2-40B4-BE49-F238E27FC236}">
                <a16:creationId xmlns:a16="http://schemas.microsoft.com/office/drawing/2014/main" id="{26B26541-8904-41A3-B5CE-18AF8A93D8D5}"/>
              </a:ext>
            </a:extLst>
          </p:cNvPr>
          <p:cNvGrpSpPr/>
          <p:nvPr userDrawn="1"/>
        </p:nvGrpSpPr>
        <p:grpSpPr>
          <a:xfrm>
            <a:off x="-1687961" y="908720"/>
            <a:ext cx="1597871" cy="1287788"/>
            <a:chOff x="-1687961" y="908720"/>
            <a:chExt cx="1597871" cy="1287788"/>
          </a:xfrm>
        </p:grpSpPr>
        <p:sp>
          <p:nvSpPr>
            <p:cNvPr id="2" name="正方形/長方形 1">
              <a:extLst>
                <a:ext uri="{FF2B5EF4-FFF2-40B4-BE49-F238E27FC236}">
                  <a16:creationId xmlns:a16="http://schemas.microsoft.com/office/drawing/2014/main" id="{4D8A7B9A-6CE4-4D57-ADBD-9BD089BC15D0}"/>
                </a:ext>
              </a:extLst>
            </p:cNvPr>
            <p:cNvSpPr/>
            <p:nvPr userDrawn="1"/>
          </p:nvSpPr>
          <p:spPr bwMode="auto">
            <a:xfrm>
              <a:off x="-879648" y="908720"/>
              <a:ext cx="142908" cy="144000"/>
            </a:xfrm>
            <a:prstGeom prst="rect">
              <a:avLst/>
            </a:prstGeom>
            <a:solidFill>
              <a:srgbClr val="007ECC"/>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14" name="正方形/長方形 13">
              <a:extLst>
                <a:ext uri="{FF2B5EF4-FFF2-40B4-BE49-F238E27FC236}">
                  <a16:creationId xmlns:a16="http://schemas.microsoft.com/office/drawing/2014/main" id="{EA59DCB4-8D78-44EE-A56D-5A2F1C7BC702}"/>
                </a:ext>
              </a:extLst>
            </p:cNvPr>
            <p:cNvSpPr/>
            <p:nvPr userDrawn="1"/>
          </p:nvSpPr>
          <p:spPr bwMode="auto">
            <a:xfrm>
              <a:off x="-717985" y="908720"/>
              <a:ext cx="142908" cy="144000"/>
            </a:xfrm>
            <a:prstGeom prst="rect">
              <a:avLst/>
            </a:prstGeom>
            <a:solidFill>
              <a:srgbClr val="0075BF"/>
            </a:solidFill>
            <a:ln w="6350"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15" name="正方形/長方形 14">
              <a:extLst>
                <a:ext uri="{FF2B5EF4-FFF2-40B4-BE49-F238E27FC236}">
                  <a16:creationId xmlns:a16="http://schemas.microsoft.com/office/drawing/2014/main" id="{C0148BF2-BF14-47EF-837B-C30895AC31DD}"/>
                </a:ext>
              </a:extLst>
            </p:cNvPr>
            <p:cNvSpPr/>
            <p:nvPr userDrawn="1"/>
          </p:nvSpPr>
          <p:spPr bwMode="auto">
            <a:xfrm>
              <a:off x="-556322" y="908720"/>
              <a:ext cx="142908" cy="144000"/>
            </a:xfrm>
            <a:prstGeom prst="rect">
              <a:avLst/>
            </a:prstGeom>
            <a:solidFill>
              <a:srgbClr val="00588F"/>
            </a:solidFill>
            <a:ln w="6350"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16" name="正方形/長方形 15">
              <a:extLst>
                <a:ext uri="{FF2B5EF4-FFF2-40B4-BE49-F238E27FC236}">
                  <a16:creationId xmlns:a16="http://schemas.microsoft.com/office/drawing/2014/main" id="{2237FF13-7132-4CB6-8B37-37E7C9F6EF5C}"/>
                </a:ext>
              </a:extLst>
            </p:cNvPr>
            <p:cNvSpPr/>
            <p:nvPr userDrawn="1"/>
          </p:nvSpPr>
          <p:spPr bwMode="auto">
            <a:xfrm>
              <a:off x="-394659" y="908720"/>
              <a:ext cx="142908" cy="144000"/>
            </a:xfrm>
            <a:prstGeom prst="rect">
              <a:avLst/>
            </a:prstGeom>
            <a:solidFill>
              <a:srgbClr val="003F66"/>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17" name="正方形/長方形 16">
              <a:extLst>
                <a:ext uri="{FF2B5EF4-FFF2-40B4-BE49-F238E27FC236}">
                  <a16:creationId xmlns:a16="http://schemas.microsoft.com/office/drawing/2014/main" id="{DBF9DDCB-0161-4142-A8A0-09127B3BC5CC}"/>
                </a:ext>
              </a:extLst>
            </p:cNvPr>
            <p:cNvSpPr/>
            <p:nvPr userDrawn="1"/>
          </p:nvSpPr>
          <p:spPr bwMode="auto">
            <a:xfrm>
              <a:off x="-232998" y="908720"/>
              <a:ext cx="142908" cy="144000"/>
            </a:xfrm>
            <a:prstGeom prst="rect">
              <a:avLst/>
            </a:prstGeom>
            <a:solidFill>
              <a:srgbClr val="001F33"/>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22" name="正方形/長方形 21">
              <a:extLst>
                <a:ext uri="{FF2B5EF4-FFF2-40B4-BE49-F238E27FC236}">
                  <a16:creationId xmlns:a16="http://schemas.microsoft.com/office/drawing/2014/main" id="{F496215C-808B-43DF-B95E-FE0946186438}"/>
                </a:ext>
              </a:extLst>
            </p:cNvPr>
            <p:cNvSpPr/>
            <p:nvPr userDrawn="1"/>
          </p:nvSpPr>
          <p:spPr bwMode="auto">
            <a:xfrm>
              <a:off x="-1041311" y="908720"/>
              <a:ext cx="142908" cy="144000"/>
            </a:xfrm>
            <a:prstGeom prst="rect">
              <a:avLst/>
            </a:prstGeom>
            <a:solidFill>
              <a:srgbClr val="009DFF"/>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2" name="正方形/長方形 31">
              <a:extLst>
                <a:ext uri="{FF2B5EF4-FFF2-40B4-BE49-F238E27FC236}">
                  <a16:creationId xmlns:a16="http://schemas.microsoft.com/office/drawing/2014/main" id="{47DF7F99-D002-4063-AA6F-D906C80354A0}"/>
                </a:ext>
              </a:extLst>
            </p:cNvPr>
            <p:cNvSpPr/>
            <p:nvPr userDrawn="1"/>
          </p:nvSpPr>
          <p:spPr bwMode="auto">
            <a:xfrm>
              <a:off x="-232998" y="1072118"/>
              <a:ext cx="142908" cy="144000"/>
            </a:xfrm>
            <a:prstGeom prst="rect">
              <a:avLst/>
            </a:prstGeom>
            <a:solidFill>
              <a:srgbClr val="0075BF"/>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3" name="正方形/長方形 32">
              <a:extLst>
                <a:ext uri="{FF2B5EF4-FFF2-40B4-BE49-F238E27FC236}">
                  <a16:creationId xmlns:a16="http://schemas.microsoft.com/office/drawing/2014/main" id="{74F4A216-F5C6-4AC6-B190-A13A35424001}"/>
                </a:ext>
              </a:extLst>
            </p:cNvPr>
            <p:cNvSpPr/>
            <p:nvPr userDrawn="1"/>
          </p:nvSpPr>
          <p:spPr bwMode="auto">
            <a:xfrm>
              <a:off x="-394659" y="1072118"/>
              <a:ext cx="142908" cy="144000"/>
            </a:xfrm>
            <a:prstGeom prst="rect">
              <a:avLst/>
            </a:prstGeom>
            <a:solidFill>
              <a:srgbClr val="2685B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4" name="正方形/長方形 33">
              <a:extLst>
                <a:ext uri="{FF2B5EF4-FFF2-40B4-BE49-F238E27FC236}">
                  <a16:creationId xmlns:a16="http://schemas.microsoft.com/office/drawing/2014/main" id="{55E0D9A3-A6F5-4A05-9200-A4FCB6BD082C}"/>
                </a:ext>
              </a:extLst>
            </p:cNvPr>
            <p:cNvSpPr/>
            <p:nvPr userDrawn="1"/>
          </p:nvSpPr>
          <p:spPr bwMode="auto">
            <a:xfrm>
              <a:off x="-556322" y="1072118"/>
              <a:ext cx="142908" cy="144000"/>
            </a:xfrm>
            <a:prstGeom prst="rect">
              <a:avLst/>
            </a:prstGeom>
            <a:solidFill>
              <a:srgbClr val="4D93B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5" name="正方形/長方形 34">
              <a:extLst>
                <a:ext uri="{FF2B5EF4-FFF2-40B4-BE49-F238E27FC236}">
                  <a16:creationId xmlns:a16="http://schemas.microsoft.com/office/drawing/2014/main" id="{FC61149A-3560-460E-BDC5-2C2FC7C588AA}"/>
                </a:ext>
              </a:extLst>
            </p:cNvPr>
            <p:cNvSpPr/>
            <p:nvPr userDrawn="1"/>
          </p:nvSpPr>
          <p:spPr bwMode="auto">
            <a:xfrm>
              <a:off x="-717985" y="1072118"/>
              <a:ext cx="142908" cy="144000"/>
            </a:xfrm>
            <a:prstGeom prst="rect">
              <a:avLst/>
            </a:prstGeom>
            <a:solidFill>
              <a:srgbClr val="73A2B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6" name="正方形/長方形 35">
              <a:extLst>
                <a:ext uri="{FF2B5EF4-FFF2-40B4-BE49-F238E27FC236}">
                  <a16:creationId xmlns:a16="http://schemas.microsoft.com/office/drawing/2014/main" id="{2E493397-8BF7-4A2B-9865-7F66C6BDEC23}"/>
                </a:ext>
              </a:extLst>
            </p:cNvPr>
            <p:cNvSpPr/>
            <p:nvPr userDrawn="1"/>
          </p:nvSpPr>
          <p:spPr bwMode="auto">
            <a:xfrm>
              <a:off x="-879648" y="1072118"/>
              <a:ext cx="142908" cy="144000"/>
            </a:xfrm>
            <a:prstGeom prst="rect">
              <a:avLst/>
            </a:prstGeom>
            <a:solidFill>
              <a:srgbClr val="99B1B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7" name="正方形/長方形 36">
              <a:extLst>
                <a:ext uri="{FF2B5EF4-FFF2-40B4-BE49-F238E27FC236}">
                  <a16:creationId xmlns:a16="http://schemas.microsoft.com/office/drawing/2014/main" id="{D23E3B59-3858-49DD-8B60-DC68E462A070}"/>
                </a:ext>
              </a:extLst>
            </p:cNvPr>
            <p:cNvSpPr/>
            <p:nvPr userDrawn="1"/>
          </p:nvSpPr>
          <p:spPr bwMode="auto">
            <a:xfrm>
              <a:off x="-232998" y="1235516"/>
              <a:ext cx="142908" cy="144000"/>
            </a:xfrm>
            <a:prstGeom prst="rect">
              <a:avLst/>
            </a:prstGeom>
            <a:solidFill>
              <a:srgbClr val="003314"/>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8" name="正方形/長方形 37">
              <a:extLst>
                <a:ext uri="{FF2B5EF4-FFF2-40B4-BE49-F238E27FC236}">
                  <a16:creationId xmlns:a16="http://schemas.microsoft.com/office/drawing/2014/main" id="{F46DF83F-CFEB-4B3E-AA1C-CE9C6C495F62}"/>
                </a:ext>
              </a:extLst>
            </p:cNvPr>
            <p:cNvSpPr/>
            <p:nvPr userDrawn="1"/>
          </p:nvSpPr>
          <p:spPr bwMode="auto">
            <a:xfrm>
              <a:off x="-394659" y="1235516"/>
              <a:ext cx="142908" cy="144000"/>
            </a:xfrm>
            <a:prstGeom prst="rect">
              <a:avLst/>
            </a:prstGeom>
            <a:solidFill>
              <a:srgbClr val="006627"/>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9" name="正方形/長方形 38">
              <a:extLst>
                <a:ext uri="{FF2B5EF4-FFF2-40B4-BE49-F238E27FC236}">
                  <a16:creationId xmlns:a16="http://schemas.microsoft.com/office/drawing/2014/main" id="{7FF83F98-E376-4678-88A0-DA03EAE894FB}"/>
                </a:ext>
              </a:extLst>
            </p:cNvPr>
            <p:cNvSpPr/>
            <p:nvPr userDrawn="1"/>
          </p:nvSpPr>
          <p:spPr bwMode="auto">
            <a:xfrm>
              <a:off x="-556322" y="1235516"/>
              <a:ext cx="142908" cy="144000"/>
            </a:xfrm>
            <a:prstGeom prst="rect">
              <a:avLst/>
            </a:prstGeom>
            <a:solidFill>
              <a:srgbClr val="00993B"/>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0" name="正方形/長方形 39">
              <a:extLst>
                <a:ext uri="{FF2B5EF4-FFF2-40B4-BE49-F238E27FC236}">
                  <a16:creationId xmlns:a16="http://schemas.microsoft.com/office/drawing/2014/main" id="{AD427A32-46E6-43AE-A50A-A47E5C04EAB2}"/>
                </a:ext>
              </a:extLst>
            </p:cNvPr>
            <p:cNvSpPr/>
            <p:nvPr userDrawn="1"/>
          </p:nvSpPr>
          <p:spPr bwMode="auto">
            <a:xfrm>
              <a:off x="-717985" y="1235516"/>
              <a:ext cx="142908" cy="144000"/>
            </a:xfrm>
            <a:prstGeom prst="rect">
              <a:avLst/>
            </a:prstGeom>
            <a:solidFill>
              <a:srgbClr val="00BF49"/>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1" name="正方形/長方形 40">
              <a:extLst>
                <a:ext uri="{FF2B5EF4-FFF2-40B4-BE49-F238E27FC236}">
                  <a16:creationId xmlns:a16="http://schemas.microsoft.com/office/drawing/2014/main" id="{23B36D70-B92B-4DA0-A402-A318A5AE9311}"/>
                </a:ext>
              </a:extLst>
            </p:cNvPr>
            <p:cNvSpPr/>
            <p:nvPr userDrawn="1"/>
          </p:nvSpPr>
          <p:spPr bwMode="auto">
            <a:xfrm>
              <a:off x="-879648" y="1235516"/>
              <a:ext cx="142908" cy="144000"/>
            </a:xfrm>
            <a:prstGeom prst="rect">
              <a:avLst/>
            </a:prstGeom>
            <a:solidFill>
              <a:srgbClr val="00CC4E"/>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2" name="正方形/長方形 41">
              <a:extLst>
                <a:ext uri="{FF2B5EF4-FFF2-40B4-BE49-F238E27FC236}">
                  <a16:creationId xmlns:a16="http://schemas.microsoft.com/office/drawing/2014/main" id="{7055C1B3-C666-4A41-8CC2-209D2CDB6A18}"/>
                </a:ext>
              </a:extLst>
            </p:cNvPr>
            <p:cNvSpPr/>
            <p:nvPr userDrawn="1"/>
          </p:nvSpPr>
          <p:spPr bwMode="auto">
            <a:xfrm>
              <a:off x="-232998" y="1398914"/>
              <a:ext cx="142908" cy="144000"/>
            </a:xfrm>
            <a:prstGeom prst="rect">
              <a:avLst/>
            </a:prstGeom>
            <a:solidFill>
              <a:srgbClr val="00BF49"/>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3" name="正方形/長方形 42">
              <a:extLst>
                <a:ext uri="{FF2B5EF4-FFF2-40B4-BE49-F238E27FC236}">
                  <a16:creationId xmlns:a16="http://schemas.microsoft.com/office/drawing/2014/main" id="{C12F10F5-C924-4530-B25C-CB24D06C5EB5}"/>
                </a:ext>
              </a:extLst>
            </p:cNvPr>
            <p:cNvSpPr/>
            <p:nvPr userDrawn="1"/>
          </p:nvSpPr>
          <p:spPr bwMode="auto">
            <a:xfrm>
              <a:off x="-394659" y="1398914"/>
              <a:ext cx="142908" cy="144000"/>
            </a:xfrm>
            <a:prstGeom prst="rect">
              <a:avLst/>
            </a:prstGeom>
            <a:solidFill>
              <a:srgbClr val="26BF61"/>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4" name="正方形/長方形 43">
              <a:extLst>
                <a:ext uri="{FF2B5EF4-FFF2-40B4-BE49-F238E27FC236}">
                  <a16:creationId xmlns:a16="http://schemas.microsoft.com/office/drawing/2014/main" id="{D85D87F0-4102-4191-AC24-EBA573E82936}"/>
                </a:ext>
              </a:extLst>
            </p:cNvPr>
            <p:cNvSpPr/>
            <p:nvPr userDrawn="1"/>
          </p:nvSpPr>
          <p:spPr bwMode="auto">
            <a:xfrm>
              <a:off x="-556322" y="1398914"/>
              <a:ext cx="142908" cy="144000"/>
            </a:xfrm>
            <a:prstGeom prst="rect">
              <a:avLst/>
            </a:prstGeom>
            <a:solidFill>
              <a:srgbClr val="4DBF78"/>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5" name="正方形/長方形 44">
              <a:extLst>
                <a:ext uri="{FF2B5EF4-FFF2-40B4-BE49-F238E27FC236}">
                  <a16:creationId xmlns:a16="http://schemas.microsoft.com/office/drawing/2014/main" id="{93A05B7E-9B36-493A-9A2C-D0D1AFB82C84}"/>
                </a:ext>
              </a:extLst>
            </p:cNvPr>
            <p:cNvSpPr/>
            <p:nvPr userDrawn="1"/>
          </p:nvSpPr>
          <p:spPr bwMode="auto">
            <a:xfrm>
              <a:off x="-717985" y="1398914"/>
              <a:ext cx="142908" cy="144000"/>
            </a:xfrm>
            <a:prstGeom prst="rect">
              <a:avLst/>
            </a:prstGeom>
            <a:solidFill>
              <a:srgbClr val="73BF9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6" name="正方形/長方形 45">
              <a:extLst>
                <a:ext uri="{FF2B5EF4-FFF2-40B4-BE49-F238E27FC236}">
                  <a16:creationId xmlns:a16="http://schemas.microsoft.com/office/drawing/2014/main" id="{F51B6AD4-BC0A-4852-897B-3AA4AD93FF41}"/>
                </a:ext>
              </a:extLst>
            </p:cNvPr>
            <p:cNvSpPr/>
            <p:nvPr userDrawn="1"/>
          </p:nvSpPr>
          <p:spPr bwMode="auto">
            <a:xfrm>
              <a:off x="-879648" y="1398914"/>
              <a:ext cx="142908" cy="144000"/>
            </a:xfrm>
            <a:prstGeom prst="rect">
              <a:avLst/>
            </a:prstGeom>
            <a:solidFill>
              <a:srgbClr val="99BFA8"/>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8" name="正方形/長方形 47">
              <a:extLst>
                <a:ext uri="{FF2B5EF4-FFF2-40B4-BE49-F238E27FC236}">
                  <a16:creationId xmlns:a16="http://schemas.microsoft.com/office/drawing/2014/main" id="{1746099A-FDA8-4E62-B669-ECF8877CC4C5}"/>
                </a:ext>
              </a:extLst>
            </p:cNvPr>
            <p:cNvSpPr/>
            <p:nvPr userDrawn="1"/>
          </p:nvSpPr>
          <p:spPr bwMode="auto">
            <a:xfrm>
              <a:off x="-1041311" y="1235516"/>
              <a:ext cx="142908" cy="144000"/>
            </a:xfrm>
            <a:prstGeom prst="rect">
              <a:avLst/>
            </a:prstGeom>
            <a:solidFill>
              <a:srgbClr val="00FF62"/>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9" name="正方形/長方形 48">
              <a:extLst>
                <a:ext uri="{FF2B5EF4-FFF2-40B4-BE49-F238E27FC236}">
                  <a16:creationId xmlns:a16="http://schemas.microsoft.com/office/drawing/2014/main" id="{DF68EB8A-1AB5-4832-85C5-84300534CE01}"/>
                </a:ext>
              </a:extLst>
            </p:cNvPr>
            <p:cNvSpPr/>
            <p:nvPr userDrawn="1"/>
          </p:nvSpPr>
          <p:spPr bwMode="auto">
            <a:xfrm>
              <a:off x="-232998" y="1562312"/>
              <a:ext cx="142908" cy="144000"/>
            </a:xfrm>
            <a:prstGeom prst="rect">
              <a:avLst/>
            </a:prstGeom>
            <a:solidFill>
              <a:srgbClr val="333333"/>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0" name="正方形/長方形 49">
              <a:extLst>
                <a:ext uri="{FF2B5EF4-FFF2-40B4-BE49-F238E27FC236}">
                  <a16:creationId xmlns:a16="http://schemas.microsoft.com/office/drawing/2014/main" id="{B51B5651-423A-4CED-ACBD-C10B83E986F4}"/>
                </a:ext>
              </a:extLst>
            </p:cNvPr>
            <p:cNvSpPr/>
            <p:nvPr userDrawn="1"/>
          </p:nvSpPr>
          <p:spPr bwMode="auto">
            <a:xfrm>
              <a:off x="-394659" y="1562312"/>
              <a:ext cx="142908" cy="144000"/>
            </a:xfrm>
            <a:prstGeom prst="rect">
              <a:avLst/>
            </a:prstGeom>
            <a:solidFill>
              <a:srgbClr val="666666"/>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1" name="正方形/長方形 50">
              <a:extLst>
                <a:ext uri="{FF2B5EF4-FFF2-40B4-BE49-F238E27FC236}">
                  <a16:creationId xmlns:a16="http://schemas.microsoft.com/office/drawing/2014/main" id="{23240390-BD94-4E36-BDFF-DB99D8D5BA9A}"/>
                </a:ext>
              </a:extLst>
            </p:cNvPr>
            <p:cNvSpPr/>
            <p:nvPr userDrawn="1"/>
          </p:nvSpPr>
          <p:spPr bwMode="auto">
            <a:xfrm>
              <a:off x="-556322" y="1562312"/>
              <a:ext cx="142908" cy="144000"/>
            </a:xfrm>
            <a:prstGeom prst="rect">
              <a:avLst/>
            </a:prstGeom>
            <a:solidFill>
              <a:srgbClr val="999999"/>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2" name="正方形/長方形 51">
              <a:extLst>
                <a:ext uri="{FF2B5EF4-FFF2-40B4-BE49-F238E27FC236}">
                  <a16:creationId xmlns:a16="http://schemas.microsoft.com/office/drawing/2014/main" id="{CC9702DE-E8F7-4A91-AE73-5CE78146FDCF}"/>
                </a:ext>
              </a:extLst>
            </p:cNvPr>
            <p:cNvSpPr/>
            <p:nvPr userDrawn="1"/>
          </p:nvSpPr>
          <p:spPr bwMode="auto">
            <a:xfrm>
              <a:off x="-717985" y="1562312"/>
              <a:ext cx="142908" cy="144000"/>
            </a:xfrm>
            <a:prstGeom prst="rect">
              <a:avLst/>
            </a:prstGeom>
            <a:solidFill>
              <a:srgbClr val="999999"/>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3" name="正方形/長方形 52">
              <a:extLst>
                <a:ext uri="{FF2B5EF4-FFF2-40B4-BE49-F238E27FC236}">
                  <a16:creationId xmlns:a16="http://schemas.microsoft.com/office/drawing/2014/main" id="{96740955-A5C8-4EE8-94DD-747365CBD051}"/>
                </a:ext>
              </a:extLst>
            </p:cNvPr>
            <p:cNvSpPr/>
            <p:nvPr userDrawn="1"/>
          </p:nvSpPr>
          <p:spPr bwMode="auto">
            <a:xfrm>
              <a:off x="-879648" y="1562312"/>
              <a:ext cx="142908" cy="144000"/>
            </a:xfrm>
            <a:prstGeom prst="rect">
              <a:avLst/>
            </a:prstGeom>
            <a:solidFill>
              <a:srgbClr val="DDDDDD"/>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5" name="正方形/長方形 54">
              <a:extLst>
                <a:ext uri="{FF2B5EF4-FFF2-40B4-BE49-F238E27FC236}">
                  <a16:creationId xmlns:a16="http://schemas.microsoft.com/office/drawing/2014/main" id="{78CD483E-84E9-410B-B164-915128241D19}"/>
                </a:ext>
              </a:extLst>
            </p:cNvPr>
            <p:cNvSpPr/>
            <p:nvPr userDrawn="1"/>
          </p:nvSpPr>
          <p:spPr bwMode="auto">
            <a:xfrm>
              <a:off x="-1041311" y="1562312"/>
              <a:ext cx="142908" cy="144000"/>
            </a:xfrm>
            <a:prstGeom prst="rect">
              <a:avLst/>
            </a:prstGeom>
            <a:solidFill>
              <a:srgbClr val="F5F5F5"/>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7" name="正方形/長方形 56">
              <a:extLst>
                <a:ext uri="{FF2B5EF4-FFF2-40B4-BE49-F238E27FC236}">
                  <a16:creationId xmlns:a16="http://schemas.microsoft.com/office/drawing/2014/main" id="{8672BB9B-ABF6-49C5-9F16-FE41953C93F0}"/>
                </a:ext>
              </a:extLst>
            </p:cNvPr>
            <p:cNvSpPr/>
            <p:nvPr userDrawn="1"/>
          </p:nvSpPr>
          <p:spPr bwMode="auto">
            <a:xfrm>
              <a:off x="-232998" y="1725710"/>
              <a:ext cx="142908" cy="144000"/>
            </a:xfrm>
            <a:prstGeom prst="rect">
              <a:avLst/>
            </a:prstGeom>
            <a:solidFill>
              <a:srgbClr val="33140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8" name="正方形/長方形 57">
              <a:extLst>
                <a:ext uri="{FF2B5EF4-FFF2-40B4-BE49-F238E27FC236}">
                  <a16:creationId xmlns:a16="http://schemas.microsoft.com/office/drawing/2014/main" id="{092E9010-5CF4-48D2-A222-C58916105921}"/>
                </a:ext>
              </a:extLst>
            </p:cNvPr>
            <p:cNvSpPr/>
            <p:nvPr userDrawn="1"/>
          </p:nvSpPr>
          <p:spPr bwMode="auto">
            <a:xfrm>
              <a:off x="-394659" y="1725710"/>
              <a:ext cx="142908" cy="144000"/>
            </a:xfrm>
            <a:prstGeom prst="rect">
              <a:avLst/>
            </a:prstGeom>
            <a:solidFill>
              <a:srgbClr val="66270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9" name="正方形/長方形 58">
              <a:extLst>
                <a:ext uri="{FF2B5EF4-FFF2-40B4-BE49-F238E27FC236}">
                  <a16:creationId xmlns:a16="http://schemas.microsoft.com/office/drawing/2014/main" id="{65567612-B4CA-4C7B-A837-9F421AE3FE2B}"/>
                </a:ext>
              </a:extLst>
            </p:cNvPr>
            <p:cNvSpPr/>
            <p:nvPr userDrawn="1"/>
          </p:nvSpPr>
          <p:spPr bwMode="auto">
            <a:xfrm>
              <a:off x="-556322" y="1725710"/>
              <a:ext cx="142908" cy="144000"/>
            </a:xfrm>
            <a:prstGeom prst="rect">
              <a:avLst/>
            </a:prstGeom>
            <a:solidFill>
              <a:srgbClr val="993B0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0" name="正方形/長方形 59">
              <a:extLst>
                <a:ext uri="{FF2B5EF4-FFF2-40B4-BE49-F238E27FC236}">
                  <a16:creationId xmlns:a16="http://schemas.microsoft.com/office/drawing/2014/main" id="{464969AC-DE63-4152-BC28-55B419082519}"/>
                </a:ext>
              </a:extLst>
            </p:cNvPr>
            <p:cNvSpPr/>
            <p:nvPr userDrawn="1"/>
          </p:nvSpPr>
          <p:spPr bwMode="auto">
            <a:xfrm>
              <a:off x="-717985" y="1725710"/>
              <a:ext cx="142908" cy="144000"/>
            </a:xfrm>
            <a:prstGeom prst="rect">
              <a:avLst/>
            </a:prstGeom>
            <a:solidFill>
              <a:srgbClr val="BF4900"/>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1" name="正方形/長方形 60">
              <a:extLst>
                <a:ext uri="{FF2B5EF4-FFF2-40B4-BE49-F238E27FC236}">
                  <a16:creationId xmlns:a16="http://schemas.microsoft.com/office/drawing/2014/main" id="{3F83A8CF-BA56-495B-A464-AE7BB1D1B976}"/>
                </a:ext>
              </a:extLst>
            </p:cNvPr>
            <p:cNvSpPr/>
            <p:nvPr userDrawn="1"/>
          </p:nvSpPr>
          <p:spPr bwMode="auto">
            <a:xfrm>
              <a:off x="-879648" y="1725710"/>
              <a:ext cx="142908" cy="144000"/>
            </a:xfrm>
            <a:prstGeom prst="rect">
              <a:avLst/>
            </a:prstGeom>
            <a:solidFill>
              <a:srgbClr val="CC4E0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2" name="正方形/長方形 61">
              <a:extLst>
                <a:ext uri="{FF2B5EF4-FFF2-40B4-BE49-F238E27FC236}">
                  <a16:creationId xmlns:a16="http://schemas.microsoft.com/office/drawing/2014/main" id="{2E9FCA52-4EAD-47B5-A8DE-96752CB9C931}"/>
                </a:ext>
              </a:extLst>
            </p:cNvPr>
            <p:cNvSpPr/>
            <p:nvPr userDrawn="1"/>
          </p:nvSpPr>
          <p:spPr bwMode="auto">
            <a:xfrm>
              <a:off x="-232998" y="1889108"/>
              <a:ext cx="142908" cy="144000"/>
            </a:xfrm>
            <a:prstGeom prst="rect">
              <a:avLst/>
            </a:prstGeom>
            <a:solidFill>
              <a:srgbClr val="BF0016"/>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3" name="正方形/長方形 62">
              <a:extLst>
                <a:ext uri="{FF2B5EF4-FFF2-40B4-BE49-F238E27FC236}">
                  <a16:creationId xmlns:a16="http://schemas.microsoft.com/office/drawing/2014/main" id="{E6C3FCB9-D875-4E58-B990-91324844117E}"/>
                </a:ext>
              </a:extLst>
            </p:cNvPr>
            <p:cNvSpPr/>
            <p:nvPr userDrawn="1"/>
          </p:nvSpPr>
          <p:spPr bwMode="auto">
            <a:xfrm>
              <a:off x="-394659" y="1889108"/>
              <a:ext cx="142908" cy="144000"/>
            </a:xfrm>
            <a:prstGeom prst="rect">
              <a:avLst/>
            </a:prstGeom>
            <a:solidFill>
              <a:srgbClr val="BF2638"/>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4" name="正方形/長方形 63">
              <a:extLst>
                <a:ext uri="{FF2B5EF4-FFF2-40B4-BE49-F238E27FC236}">
                  <a16:creationId xmlns:a16="http://schemas.microsoft.com/office/drawing/2014/main" id="{482BEADC-DD11-4B38-8B7B-09CD994A716E}"/>
                </a:ext>
              </a:extLst>
            </p:cNvPr>
            <p:cNvSpPr/>
            <p:nvPr userDrawn="1"/>
          </p:nvSpPr>
          <p:spPr bwMode="auto">
            <a:xfrm>
              <a:off x="-556322" y="1889108"/>
              <a:ext cx="142908" cy="144000"/>
            </a:xfrm>
            <a:prstGeom prst="rect">
              <a:avLst/>
            </a:prstGeom>
            <a:solidFill>
              <a:srgbClr val="BF4D5A"/>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5" name="正方形/長方形 64">
              <a:extLst>
                <a:ext uri="{FF2B5EF4-FFF2-40B4-BE49-F238E27FC236}">
                  <a16:creationId xmlns:a16="http://schemas.microsoft.com/office/drawing/2014/main" id="{97FD3B57-755F-4056-9C1C-6147AD0CC004}"/>
                </a:ext>
              </a:extLst>
            </p:cNvPr>
            <p:cNvSpPr/>
            <p:nvPr userDrawn="1"/>
          </p:nvSpPr>
          <p:spPr bwMode="auto">
            <a:xfrm>
              <a:off x="-717985" y="1889108"/>
              <a:ext cx="142908" cy="144000"/>
            </a:xfrm>
            <a:prstGeom prst="rect">
              <a:avLst/>
            </a:prstGeom>
            <a:solidFill>
              <a:srgbClr val="BF737C"/>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6" name="正方形/長方形 65">
              <a:extLst>
                <a:ext uri="{FF2B5EF4-FFF2-40B4-BE49-F238E27FC236}">
                  <a16:creationId xmlns:a16="http://schemas.microsoft.com/office/drawing/2014/main" id="{A4DACC19-151A-4E9D-8B64-14EEACB9CFAD}"/>
                </a:ext>
              </a:extLst>
            </p:cNvPr>
            <p:cNvSpPr/>
            <p:nvPr userDrawn="1"/>
          </p:nvSpPr>
          <p:spPr bwMode="auto">
            <a:xfrm>
              <a:off x="-879648" y="1889108"/>
              <a:ext cx="142908" cy="144000"/>
            </a:xfrm>
            <a:prstGeom prst="rect">
              <a:avLst/>
            </a:prstGeom>
            <a:solidFill>
              <a:srgbClr val="BF999D"/>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7" name="正方形/長方形 66">
              <a:extLst>
                <a:ext uri="{FF2B5EF4-FFF2-40B4-BE49-F238E27FC236}">
                  <a16:creationId xmlns:a16="http://schemas.microsoft.com/office/drawing/2014/main" id="{FDC7F51E-EDA0-41C0-A2EF-C65802D8E8DD}"/>
                </a:ext>
              </a:extLst>
            </p:cNvPr>
            <p:cNvSpPr/>
            <p:nvPr userDrawn="1"/>
          </p:nvSpPr>
          <p:spPr bwMode="auto">
            <a:xfrm>
              <a:off x="-1041311" y="1725710"/>
              <a:ext cx="142908" cy="144000"/>
            </a:xfrm>
            <a:prstGeom prst="rect">
              <a:avLst/>
            </a:prstGeom>
            <a:solidFill>
              <a:srgbClr val="FF6200"/>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9" name="正方形/長方形 68">
              <a:extLst>
                <a:ext uri="{FF2B5EF4-FFF2-40B4-BE49-F238E27FC236}">
                  <a16:creationId xmlns:a16="http://schemas.microsoft.com/office/drawing/2014/main" id="{728082C4-0F72-4330-A975-59C18F0CD948}"/>
                </a:ext>
              </a:extLst>
            </p:cNvPr>
            <p:cNvSpPr/>
            <p:nvPr userDrawn="1"/>
          </p:nvSpPr>
          <p:spPr bwMode="auto">
            <a:xfrm>
              <a:off x="-1202974" y="908720"/>
              <a:ext cx="142908" cy="144000"/>
            </a:xfrm>
            <a:prstGeom prst="rect">
              <a:avLst/>
            </a:prstGeom>
            <a:solidFill>
              <a:srgbClr val="33B1F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0" name="正方形/長方形 69">
              <a:extLst>
                <a:ext uri="{FF2B5EF4-FFF2-40B4-BE49-F238E27FC236}">
                  <a16:creationId xmlns:a16="http://schemas.microsoft.com/office/drawing/2014/main" id="{FBBDD5E5-7B4A-4E90-9174-F950778180CC}"/>
                </a:ext>
              </a:extLst>
            </p:cNvPr>
            <p:cNvSpPr/>
            <p:nvPr userDrawn="1"/>
          </p:nvSpPr>
          <p:spPr bwMode="auto">
            <a:xfrm>
              <a:off x="-1364635" y="908720"/>
              <a:ext cx="142908" cy="144000"/>
            </a:xfrm>
            <a:prstGeom prst="rect">
              <a:avLst/>
            </a:prstGeom>
            <a:solidFill>
              <a:srgbClr val="66C4F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1" name="正方形/長方形 70">
              <a:extLst>
                <a:ext uri="{FF2B5EF4-FFF2-40B4-BE49-F238E27FC236}">
                  <a16:creationId xmlns:a16="http://schemas.microsoft.com/office/drawing/2014/main" id="{647F9D13-A362-4300-B080-CC1BD337881B}"/>
                </a:ext>
              </a:extLst>
            </p:cNvPr>
            <p:cNvSpPr/>
            <p:nvPr userDrawn="1"/>
          </p:nvSpPr>
          <p:spPr bwMode="auto">
            <a:xfrm>
              <a:off x="-1526298" y="908720"/>
              <a:ext cx="142908" cy="144000"/>
            </a:xfrm>
            <a:prstGeom prst="rect">
              <a:avLst/>
            </a:prstGeom>
            <a:solidFill>
              <a:srgbClr val="99D8F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2" name="正方形/長方形 71">
              <a:extLst>
                <a:ext uri="{FF2B5EF4-FFF2-40B4-BE49-F238E27FC236}">
                  <a16:creationId xmlns:a16="http://schemas.microsoft.com/office/drawing/2014/main" id="{3885EC14-295B-4389-A087-B25E163B7CC1}"/>
                </a:ext>
              </a:extLst>
            </p:cNvPr>
            <p:cNvSpPr/>
            <p:nvPr userDrawn="1"/>
          </p:nvSpPr>
          <p:spPr bwMode="auto">
            <a:xfrm>
              <a:off x="-1687961" y="908720"/>
              <a:ext cx="142908" cy="144000"/>
            </a:xfrm>
            <a:prstGeom prst="rect">
              <a:avLst/>
            </a:prstGeom>
            <a:solidFill>
              <a:srgbClr val="CCEBF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5" name="正方形/長方形 74">
              <a:extLst>
                <a:ext uri="{FF2B5EF4-FFF2-40B4-BE49-F238E27FC236}">
                  <a16:creationId xmlns:a16="http://schemas.microsoft.com/office/drawing/2014/main" id="{0E284A7D-2BA9-44E2-9416-5FFE33ACD138}"/>
                </a:ext>
              </a:extLst>
            </p:cNvPr>
            <p:cNvSpPr/>
            <p:nvPr userDrawn="1"/>
          </p:nvSpPr>
          <p:spPr bwMode="auto">
            <a:xfrm>
              <a:off x="-1200065" y="1235516"/>
              <a:ext cx="142908" cy="144000"/>
            </a:xfrm>
            <a:prstGeom prst="rect">
              <a:avLst/>
            </a:prstGeom>
            <a:solidFill>
              <a:srgbClr val="33FF81"/>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6" name="正方形/長方形 75">
              <a:extLst>
                <a:ext uri="{FF2B5EF4-FFF2-40B4-BE49-F238E27FC236}">
                  <a16:creationId xmlns:a16="http://schemas.microsoft.com/office/drawing/2014/main" id="{2A94EE1A-A1D9-4B68-B89A-4E317D87D0E5}"/>
                </a:ext>
              </a:extLst>
            </p:cNvPr>
            <p:cNvSpPr/>
            <p:nvPr userDrawn="1"/>
          </p:nvSpPr>
          <p:spPr bwMode="auto">
            <a:xfrm>
              <a:off x="-1361726" y="1235516"/>
              <a:ext cx="142908" cy="144000"/>
            </a:xfrm>
            <a:prstGeom prst="rect">
              <a:avLst/>
            </a:prstGeom>
            <a:solidFill>
              <a:srgbClr val="66FFA1"/>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7" name="正方形/長方形 76">
              <a:extLst>
                <a:ext uri="{FF2B5EF4-FFF2-40B4-BE49-F238E27FC236}">
                  <a16:creationId xmlns:a16="http://schemas.microsoft.com/office/drawing/2014/main" id="{F5FA3AC6-7567-45F7-AD1A-69C0BF02BB22}"/>
                </a:ext>
              </a:extLst>
            </p:cNvPr>
            <p:cNvSpPr/>
            <p:nvPr userDrawn="1"/>
          </p:nvSpPr>
          <p:spPr bwMode="auto">
            <a:xfrm>
              <a:off x="-1523389" y="1235516"/>
              <a:ext cx="142908" cy="144000"/>
            </a:xfrm>
            <a:prstGeom prst="rect">
              <a:avLst/>
            </a:prstGeom>
            <a:solidFill>
              <a:srgbClr val="99FFC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8" name="正方形/長方形 77">
              <a:extLst>
                <a:ext uri="{FF2B5EF4-FFF2-40B4-BE49-F238E27FC236}">
                  <a16:creationId xmlns:a16="http://schemas.microsoft.com/office/drawing/2014/main" id="{E279E9F6-A10C-4AA0-B5B0-0550B6BCDA3B}"/>
                </a:ext>
              </a:extLst>
            </p:cNvPr>
            <p:cNvSpPr/>
            <p:nvPr userDrawn="1"/>
          </p:nvSpPr>
          <p:spPr bwMode="auto">
            <a:xfrm>
              <a:off x="-1685052" y="1235516"/>
              <a:ext cx="142908" cy="144000"/>
            </a:xfrm>
            <a:prstGeom prst="rect">
              <a:avLst/>
            </a:prstGeom>
            <a:solidFill>
              <a:srgbClr val="CCFFE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90" name="正方形/長方形 89">
              <a:extLst>
                <a:ext uri="{FF2B5EF4-FFF2-40B4-BE49-F238E27FC236}">
                  <a16:creationId xmlns:a16="http://schemas.microsoft.com/office/drawing/2014/main" id="{491CF514-2E44-4742-B355-585AE89D7385}"/>
                </a:ext>
              </a:extLst>
            </p:cNvPr>
            <p:cNvSpPr/>
            <p:nvPr userDrawn="1"/>
          </p:nvSpPr>
          <p:spPr bwMode="auto">
            <a:xfrm>
              <a:off x="-232998" y="2052508"/>
              <a:ext cx="142908" cy="144000"/>
            </a:xfrm>
            <a:prstGeom prst="rect">
              <a:avLst/>
            </a:prstGeom>
            <a:solidFill>
              <a:srgbClr val="BFA900"/>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91" name="正方形/長方形 90">
              <a:extLst>
                <a:ext uri="{FF2B5EF4-FFF2-40B4-BE49-F238E27FC236}">
                  <a16:creationId xmlns:a16="http://schemas.microsoft.com/office/drawing/2014/main" id="{5AE0069B-B8C1-40CC-B507-CC13211891E1}"/>
                </a:ext>
              </a:extLst>
            </p:cNvPr>
            <p:cNvSpPr/>
            <p:nvPr userDrawn="1"/>
          </p:nvSpPr>
          <p:spPr bwMode="auto">
            <a:xfrm>
              <a:off x="-394659" y="2052508"/>
              <a:ext cx="142908" cy="144000"/>
            </a:xfrm>
            <a:prstGeom prst="rect">
              <a:avLst/>
            </a:prstGeom>
            <a:solidFill>
              <a:srgbClr val="BFAD26"/>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92" name="正方形/長方形 91">
              <a:extLst>
                <a:ext uri="{FF2B5EF4-FFF2-40B4-BE49-F238E27FC236}">
                  <a16:creationId xmlns:a16="http://schemas.microsoft.com/office/drawing/2014/main" id="{26F658B3-9CC3-49FB-AD5C-25AE9A265E3F}"/>
                </a:ext>
              </a:extLst>
            </p:cNvPr>
            <p:cNvSpPr/>
            <p:nvPr userDrawn="1"/>
          </p:nvSpPr>
          <p:spPr bwMode="auto">
            <a:xfrm>
              <a:off x="-556322" y="2052508"/>
              <a:ext cx="142908" cy="144000"/>
            </a:xfrm>
            <a:prstGeom prst="rect">
              <a:avLst/>
            </a:prstGeom>
            <a:solidFill>
              <a:srgbClr val="BFB24D"/>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93" name="正方形/長方形 92">
              <a:extLst>
                <a:ext uri="{FF2B5EF4-FFF2-40B4-BE49-F238E27FC236}">
                  <a16:creationId xmlns:a16="http://schemas.microsoft.com/office/drawing/2014/main" id="{914D29BA-8CF9-4800-BC37-1CA160BB7D80}"/>
                </a:ext>
              </a:extLst>
            </p:cNvPr>
            <p:cNvSpPr/>
            <p:nvPr userDrawn="1"/>
          </p:nvSpPr>
          <p:spPr bwMode="auto">
            <a:xfrm>
              <a:off x="-717985" y="2052508"/>
              <a:ext cx="142908" cy="144000"/>
            </a:xfrm>
            <a:prstGeom prst="rect">
              <a:avLst/>
            </a:prstGeom>
            <a:solidFill>
              <a:srgbClr val="BFB673"/>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94" name="正方形/長方形 93">
              <a:extLst>
                <a:ext uri="{FF2B5EF4-FFF2-40B4-BE49-F238E27FC236}">
                  <a16:creationId xmlns:a16="http://schemas.microsoft.com/office/drawing/2014/main" id="{DB30D298-49EE-4A52-914C-FBC6E705AA1B}"/>
                </a:ext>
              </a:extLst>
            </p:cNvPr>
            <p:cNvSpPr/>
            <p:nvPr userDrawn="1"/>
          </p:nvSpPr>
          <p:spPr bwMode="auto">
            <a:xfrm>
              <a:off x="-879648" y="2052508"/>
              <a:ext cx="142908" cy="144000"/>
            </a:xfrm>
            <a:prstGeom prst="rect">
              <a:avLst/>
            </a:prstGeom>
            <a:solidFill>
              <a:srgbClr val="BFBB99"/>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grpSp>
    </p:spTree>
    <p:extLst>
      <p:ext uri="{BB962C8B-B14F-4D97-AF65-F5344CB8AC3E}">
        <p14:creationId xmlns:p14="http://schemas.microsoft.com/office/powerpoint/2010/main" val="2933937066"/>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Lst>
  <p:txStyles>
    <p:titleStyle>
      <a:lvl1pPr algn="l" rtl="0" eaLnBrk="1" fontAlgn="base" hangingPunct="1">
        <a:spcBef>
          <a:spcPct val="0"/>
        </a:spcBef>
        <a:spcAft>
          <a:spcPct val="0"/>
        </a:spcAft>
        <a:defRPr kumimoji="1" sz="2200" b="1">
          <a:solidFill>
            <a:schemeClr val="tx2"/>
          </a:solidFill>
          <a:latin typeface="+mj-lt"/>
          <a:ea typeface="+mj-ea"/>
          <a:cs typeface="+mj-cs"/>
        </a:defRPr>
      </a:lvl1pPr>
      <a:lvl2pPr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1" fontAlgn="base" hangingPunct="1">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1" fontAlgn="base" hangingPunct="1">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1" fontAlgn="base" hangingPunct="1">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1" fontAlgn="ctr" hangingPunct="1">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1" fontAlgn="ctr" hangingPunct="1">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eaLnBrk="1" fontAlgn="ctr" hangingPunct="1">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eaLnBrk="1" fontAlgn="ctr" hangingPunct="1">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eaLnBrk="1" fontAlgn="ctr" hangingPunct="1">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eaLnBrk="1" fontAlgn="ctr" hangingPunct="1">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6692744" y="6696277"/>
            <a:ext cx="2598790" cy="215444"/>
          </a:xfrm>
          <a:prstGeom prst="rect">
            <a:avLst/>
          </a:prstGeom>
          <a:noFill/>
          <a:ln w="9525">
            <a:noFill/>
            <a:miter lim="800000"/>
            <a:headEnd/>
            <a:tailEnd/>
          </a:ln>
          <a:effectLst/>
        </p:spPr>
        <p:txBody>
          <a:bodyPr wrap="none" lIns="91441"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800">
                <a:solidFill>
                  <a:srgbClr val="000000"/>
                </a:solidFill>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userDrawn="1"/>
        </p:nvSpPr>
        <p:spPr bwMode="auto">
          <a:xfrm>
            <a:off x="9381657" y="6557779"/>
            <a:ext cx="574196" cy="400110"/>
          </a:xfrm>
          <a:prstGeom prst="rect">
            <a:avLst/>
          </a:prstGeom>
          <a:noFill/>
          <a:ln w="9525">
            <a:noFill/>
            <a:miter lim="800000"/>
            <a:headEnd/>
            <a:tailEnd/>
          </a:ln>
          <a:effectLst/>
        </p:spPr>
        <p:txBody>
          <a:bodyPr wrap="none" anchor="ctr">
            <a:spAutoFit/>
          </a:bodyPr>
          <a:lstStyle/>
          <a:p>
            <a:pPr algn="r">
              <a:defRPr/>
            </a:pPr>
            <a:fld id="{8A78A693-3208-4FB2-91F2-7485DAC6A137}" type="slidenum">
              <a:rPr lang="en-US" altLang="ja-JP" sz="2000" b="1" smtClean="0">
                <a:solidFill>
                  <a:srgbClr val="000000"/>
                </a:solidFill>
                <a:effectLst/>
                <a:latin typeface="+mn-ea"/>
                <a:ea typeface="+mn-ea"/>
                <a:cs typeface="Meiryo UI" panose="020B0604030504040204" pitchFamily="50" charset="-128"/>
              </a:rPr>
              <a:pPr algn="r">
                <a:defRPr/>
              </a:pPr>
              <a:t>‹#›</a:t>
            </a:fld>
            <a:endParaRPr lang="en-US" altLang="ja-JP" sz="1200" b="1">
              <a:solidFill>
                <a:srgbClr val="000000"/>
              </a:solidFill>
              <a:effectLst/>
              <a:latin typeface="+mn-ea"/>
              <a:ea typeface="+mn-ea"/>
              <a:cs typeface="Meiryo UI" panose="020B0604030504040204" pitchFamily="50" charset="-128"/>
            </a:endParaRPr>
          </a:p>
        </p:txBody>
      </p:sp>
      <p:pic>
        <p:nvPicPr>
          <p:cNvPr id="13" name="Picture 14" descr="日本総研">
            <a:extLst>
              <a:ext uri="{FF2B5EF4-FFF2-40B4-BE49-F238E27FC236}">
                <a16:creationId xmlns:a16="http://schemas.microsoft.com/office/drawing/2014/main" id="{434C9E4A-990B-4EFF-963D-47954A53A7DD}"/>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8265368" y="11751"/>
            <a:ext cx="1294244" cy="302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
            <a:extLst>
              <a:ext uri="{FF2B5EF4-FFF2-40B4-BE49-F238E27FC236}">
                <a16:creationId xmlns:a16="http://schemas.microsoft.com/office/drawing/2014/main" id="{79C572DE-1618-46D6-9C30-860462530A09}"/>
              </a:ext>
            </a:extLst>
          </p:cNvPr>
          <p:cNvSpPr>
            <a:spLocks noChangeArrowheads="1"/>
          </p:cNvSpPr>
          <p:nvPr userDrawn="1"/>
        </p:nvSpPr>
        <p:spPr bwMode="auto">
          <a:xfrm>
            <a:off x="208582" y="453679"/>
            <a:ext cx="142908" cy="134554"/>
          </a:xfrm>
          <a:prstGeom prst="rect">
            <a:avLst/>
          </a:prstGeom>
          <a:solidFill>
            <a:srgbClr val="DDDDDD"/>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0" name="Rectangle 13">
            <a:extLst>
              <a:ext uri="{FF2B5EF4-FFF2-40B4-BE49-F238E27FC236}">
                <a16:creationId xmlns:a16="http://schemas.microsoft.com/office/drawing/2014/main" id="{3BDB8F85-8C64-48D8-8E87-E210DB25B66B}"/>
              </a:ext>
            </a:extLst>
          </p:cNvPr>
          <p:cNvSpPr>
            <a:spLocks noChangeArrowheads="1"/>
          </p:cNvSpPr>
          <p:nvPr userDrawn="1"/>
        </p:nvSpPr>
        <p:spPr bwMode="auto">
          <a:xfrm>
            <a:off x="208582" y="282834"/>
            <a:ext cx="142875" cy="134554"/>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1" name="Rectangle 10">
            <a:extLst>
              <a:ext uri="{FF2B5EF4-FFF2-40B4-BE49-F238E27FC236}">
                <a16:creationId xmlns:a16="http://schemas.microsoft.com/office/drawing/2014/main" id="{87465963-1E96-4DFB-B975-C03664AA82F1}"/>
              </a:ext>
            </a:extLst>
          </p:cNvPr>
          <p:cNvSpPr>
            <a:spLocks noChangeArrowheads="1"/>
          </p:cNvSpPr>
          <p:nvPr userDrawn="1"/>
        </p:nvSpPr>
        <p:spPr bwMode="auto">
          <a:xfrm>
            <a:off x="208581" y="628650"/>
            <a:ext cx="9504000" cy="58572"/>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1532776056"/>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6692744" y="6696277"/>
            <a:ext cx="2598790" cy="215444"/>
          </a:xfrm>
          <a:prstGeom prst="rect">
            <a:avLst/>
          </a:prstGeom>
          <a:noFill/>
          <a:ln w="9525">
            <a:noFill/>
            <a:miter lim="800000"/>
            <a:headEnd/>
            <a:tailEnd/>
          </a:ln>
          <a:effectLst/>
        </p:spPr>
        <p:txBody>
          <a:bodyPr wrap="none" lIns="91441"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800">
                <a:solidFill>
                  <a:srgbClr val="000000"/>
                </a:solidFill>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userDrawn="1"/>
        </p:nvSpPr>
        <p:spPr bwMode="auto">
          <a:xfrm>
            <a:off x="9289857" y="6603945"/>
            <a:ext cx="486030" cy="307777"/>
          </a:xfrm>
          <a:prstGeom prst="rect">
            <a:avLst/>
          </a:prstGeom>
          <a:noFill/>
          <a:ln w="9525">
            <a:noFill/>
            <a:miter lim="800000"/>
            <a:headEnd/>
            <a:tailEnd/>
          </a:ln>
          <a:effectLst/>
        </p:spPr>
        <p:txBody>
          <a:bodyPr wrap="none" anchor="ctr">
            <a:spAutoFit/>
          </a:bodyPr>
          <a:lstStyle/>
          <a:p>
            <a:pPr algn="ctr">
              <a:defRPr/>
            </a:pPr>
            <a:fld id="{8A78A693-3208-4FB2-91F2-7485DAC6A137}" type="slidenum">
              <a:rPr lang="en-US" altLang="ja-JP" sz="1400" b="0" smtClean="0">
                <a:solidFill>
                  <a:srgbClr val="000000"/>
                </a:solidFill>
                <a:latin typeface="Meiryo UI" panose="020B0604030504040204" pitchFamily="50" charset="-128"/>
                <a:ea typeface="Meiryo UI" panose="020B0604030504040204" pitchFamily="50" charset="-128"/>
                <a:cs typeface="Meiryo UI" panose="020B0604030504040204" pitchFamily="50" charset="-128"/>
              </a:rPr>
              <a:pPr algn="ctr">
                <a:defRPr/>
              </a:pPr>
              <a:t>‹#›</a:t>
            </a:fld>
            <a:endParaRPr lang="en-US" altLang="ja-JP" sz="1200" b="1">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3" name="Picture 14" descr="日本総研">
            <a:extLst>
              <a:ext uri="{FF2B5EF4-FFF2-40B4-BE49-F238E27FC236}">
                <a16:creationId xmlns:a16="http://schemas.microsoft.com/office/drawing/2014/main" id="{434C9E4A-990B-4EFF-963D-47954A53A7DD}"/>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265368" y="11751"/>
            <a:ext cx="1294244" cy="302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
            <a:extLst>
              <a:ext uri="{FF2B5EF4-FFF2-40B4-BE49-F238E27FC236}">
                <a16:creationId xmlns:a16="http://schemas.microsoft.com/office/drawing/2014/main" id="{79C572DE-1618-46D6-9C30-860462530A09}"/>
              </a:ext>
            </a:extLst>
          </p:cNvPr>
          <p:cNvSpPr>
            <a:spLocks noChangeArrowheads="1"/>
          </p:cNvSpPr>
          <p:nvPr userDrawn="1"/>
        </p:nvSpPr>
        <p:spPr bwMode="auto">
          <a:xfrm>
            <a:off x="342867" y="453679"/>
            <a:ext cx="142908" cy="134554"/>
          </a:xfrm>
          <a:prstGeom prst="rect">
            <a:avLst/>
          </a:prstGeom>
          <a:solidFill>
            <a:srgbClr val="DDDDDD"/>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sz="1800">
              <a:solidFill>
                <a:srgbClr val="292929"/>
              </a:solidFill>
            </a:endParaRPr>
          </a:p>
        </p:txBody>
      </p:sp>
      <p:sp>
        <p:nvSpPr>
          <p:cNvPr id="20" name="Rectangle 13">
            <a:extLst>
              <a:ext uri="{FF2B5EF4-FFF2-40B4-BE49-F238E27FC236}">
                <a16:creationId xmlns:a16="http://schemas.microsoft.com/office/drawing/2014/main" id="{3BDB8F85-8C64-48D8-8E87-E210DB25B66B}"/>
              </a:ext>
            </a:extLst>
          </p:cNvPr>
          <p:cNvSpPr>
            <a:spLocks noChangeArrowheads="1"/>
          </p:cNvSpPr>
          <p:nvPr userDrawn="1"/>
        </p:nvSpPr>
        <p:spPr bwMode="auto">
          <a:xfrm>
            <a:off x="342899" y="282834"/>
            <a:ext cx="142875" cy="134554"/>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sz="1800">
              <a:solidFill>
                <a:srgbClr val="292929"/>
              </a:solidFill>
            </a:endParaRPr>
          </a:p>
        </p:txBody>
      </p:sp>
      <p:sp>
        <p:nvSpPr>
          <p:cNvPr id="21" name="Rectangle 10">
            <a:extLst>
              <a:ext uri="{FF2B5EF4-FFF2-40B4-BE49-F238E27FC236}">
                <a16:creationId xmlns:a16="http://schemas.microsoft.com/office/drawing/2014/main" id="{87465963-1E96-4DFB-B975-C03664AA82F1}"/>
              </a:ext>
            </a:extLst>
          </p:cNvPr>
          <p:cNvSpPr>
            <a:spLocks noChangeArrowheads="1"/>
          </p:cNvSpPr>
          <p:nvPr userDrawn="1"/>
        </p:nvSpPr>
        <p:spPr bwMode="auto">
          <a:xfrm>
            <a:off x="341279" y="628650"/>
            <a:ext cx="9221821" cy="58572"/>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sz="1800">
              <a:solidFill>
                <a:srgbClr val="292929"/>
              </a:solidFill>
            </a:endParaRPr>
          </a:p>
        </p:txBody>
      </p:sp>
    </p:spTree>
    <p:extLst>
      <p:ext uri="{BB962C8B-B14F-4D97-AF65-F5344CB8AC3E}">
        <p14:creationId xmlns:p14="http://schemas.microsoft.com/office/powerpoint/2010/main" val="3402882568"/>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Lst>
  <p:hf hdr="0" ftr="0" dt="0"/>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16.xml"/><Relationship Id="rId6" Type="http://schemas.openxmlformats.org/officeDocument/2006/relationships/image" Target="../media/image15.pn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05EC1ACE-9D1A-41E4-9C71-0F34A7756D4B}"/>
              </a:ext>
            </a:extLst>
          </p:cNvPr>
          <p:cNvSpPr>
            <a:spLocks noGrp="1"/>
          </p:cNvSpPr>
          <p:nvPr>
            <p:ph type="ctrTitle"/>
          </p:nvPr>
        </p:nvSpPr>
        <p:spPr>
          <a:xfrm>
            <a:off x="876614" y="668213"/>
            <a:ext cx="8064863" cy="3192883"/>
          </a:xfrm>
        </p:spPr>
        <p:txBody>
          <a:bodyPr/>
          <a:lstStyle/>
          <a:p>
            <a:r>
              <a:rPr lang="en-US" altLang="ja-JP" dirty="0"/>
              <a:t>【SMCC CTI</a:t>
            </a:r>
            <a:r>
              <a:rPr lang="ja-JP" altLang="en-US" dirty="0"/>
              <a:t>基盤更改</a:t>
            </a:r>
            <a:r>
              <a:rPr lang="en-US" altLang="ja-JP" dirty="0"/>
              <a:t>】</a:t>
            </a:r>
            <a:br>
              <a:rPr lang="en-US" altLang="ja-JP" dirty="0"/>
            </a:br>
            <a:r>
              <a:rPr lang="ja-JP" altLang="en-US" dirty="0"/>
              <a:t>プロジェクト計画書</a:t>
            </a:r>
            <a:endParaRPr kumimoji="1" lang="ja-JP" altLang="en-US" dirty="0"/>
          </a:p>
        </p:txBody>
      </p:sp>
      <p:sp>
        <p:nvSpPr>
          <p:cNvPr id="5" name="字幕 2">
            <a:extLst>
              <a:ext uri="{FF2B5EF4-FFF2-40B4-BE49-F238E27FC236}">
                <a16:creationId xmlns:a16="http://schemas.microsoft.com/office/drawing/2014/main" id="{69F2D9E0-C9E8-47C8-AE64-50B204567C9D}"/>
              </a:ext>
            </a:extLst>
          </p:cNvPr>
          <p:cNvSpPr>
            <a:spLocks noGrp="1"/>
          </p:cNvSpPr>
          <p:nvPr/>
        </p:nvSpPr>
        <p:spPr>
          <a:xfrm>
            <a:off x="1149241" y="4135095"/>
            <a:ext cx="7739494" cy="1924898"/>
          </a:xfrm>
          <a:prstGeom prst="rect">
            <a:avLst/>
          </a:prstGeom>
        </p:spPr>
        <p:txBody>
          <a:bodyPr/>
          <a:lstStyle>
            <a:lvl1pPr marL="0" indent="0" algn="ctr" rtl="0" eaLnBrk="0" fontAlgn="base" hangingPunct="0">
              <a:lnSpc>
                <a:spcPct val="125000"/>
              </a:lnSpc>
              <a:spcBef>
                <a:spcPts val="0"/>
              </a:spcBef>
              <a:spcAft>
                <a:spcPct val="0"/>
              </a:spcAft>
              <a:buClr>
                <a:srgbClr val="003C2C"/>
              </a:buClr>
              <a:buFont typeface="Wingdings" pitchFamily="2" charset="2"/>
              <a:buNone/>
              <a:defRPr kumimoji="1" sz="2800">
                <a:solidFill>
                  <a:schemeClr val="tx1"/>
                </a:solidFill>
                <a:latin typeface="+mn-lt"/>
                <a:ea typeface="+mn-ea"/>
                <a:cs typeface="+mn-cs"/>
              </a:defRPr>
            </a:lvl1pPr>
            <a:lvl2pPr marL="371475" indent="0" algn="ctr" rtl="0" eaLnBrk="0" fontAlgn="base" hangingPunct="0">
              <a:lnSpc>
                <a:spcPct val="125000"/>
              </a:lnSpc>
              <a:spcBef>
                <a:spcPct val="20000"/>
              </a:spcBef>
              <a:spcAft>
                <a:spcPct val="0"/>
              </a:spcAft>
              <a:buClr>
                <a:srgbClr val="A8D435"/>
              </a:buClr>
              <a:buSzPct val="90000"/>
              <a:buFont typeface="Wingdings" pitchFamily="2" charset="2"/>
              <a:buNone/>
              <a:defRPr kumimoji="1" sz="1625">
                <a:solidFill>
                  <a:schemeClr val="tx1"/>
                </a:solidFill>
                <a:latin typeface="+mn-lt"/>
                <a:ea typeface="+mn-ea"/>
              </a:defRPr>
            </a:lvl2pPr>
            <a:lvl3pPr marL="742950" indent="0" algn="ctr" rtl="0" eaLnBrk="0" fontAlgn="base" hangingPunct="0">
              <a:lnSpc>
                <a:spcPct val="125000"/>
              </a:lnSpc>
              <a:spcBef>
                <a:spcPct val="20000"/>
              </a:spcBef>
              <a:spcAft>
                <a:spcPct val="0"/>
              </a:spcAft>
              <a:buClr>
                <a:srgbClr val="A2A2A2"/>
              </a:buClr>
              <a:buSzPct val="70000"/>
              <a:buFont typeface="Wingdings" pitchFamily="2" charset="2"/>
              <a:buNone/>
              <a:defRPr kumimoji="1" sz="1463">
                <a:solidFill>
                  <a:schemeClr val="tx1"/>
                </a:solidFill>
                <a:latin typeface="+mn-lt"/>
                <a:ea typeface="+mn-ea"/>
              </a:defRPr>
            </a:lvl3pPr>
            <a:lvl4pPr marL="1114425" indent="0" algn="ctr" rtl="0" eaLnBrk="0" fontAlgn="ctr" hangingPunct="0">
              <a:lnSpc>
                <a:spcPct val="125000"/>
              </a:lnSpc>
              <a:spcBef>
                <a:spcPct val="20000"/>
              </a:spcBef>
              <a:spcAft>
                <a:spcPct val="0"/>
              </a:spcAft>
              <a:buClr>
                <a:srgbClr val="A2A2A2"/>
              </a:buClr>
              <a:buSzPct val="70000"/>
              <a:buFont typeface="Wingdings" pitchFamily="2" charset="2"/>
              <a:buNone/>
              <a:defRPr kumimoji="1" sz="1300">
                <a:solidFill>
                  <a:schemeClr val="tx1"/>
                </a:solidFill>
                <a:latin typeface="+mn-lt"/>
                <a:ea typeface="+mn-ea"/>
              </a:defRPr>
            </a:lvl4pPr>
            <a:lvl5pPr marL="1485900" indent="0" algn="ctr" rtl="0" eaLnBrk="0" fontAlgn="ctr" hangingPunct="0">
              <a:lnSpc>
                <a:spcPct val="125000"/>
              </a:lnSpc>
              <a:spcBef>
                <a:spcPct val="20000"/>
              </a:spcBef>
              <a:spcAft>
                <a:spcPct val="0"/>
              </a:spcAft>
              <a:buClr>
                <a:srgbClr val="A2A2A2"/>
              </a:buClr>
              <a:buSzPct val="70000"/>
              <a:buFont typeface="Wingdings" pitchFamily="2" charset="2"/>
              <a:buNone/>
              <a:defRPr kumimoji="1" sz="1300">
                <a:solidFill>
                  <a:schemeClr val="tx1"/>
                </a:solidFill>
                <a:latin typeface="+mn-lt"/>
                <a:ea typeface="+mn-ea"/>
              </a:defRPr>
            </a:lvl5pPr>
            <a:lvl6pPr marL="1857375" indent="0" algn="ctr" rtl="0" fontAlgn="ctr">
              <a:lnSpc>
                <a:spcPct val="125000"/>
              </a:lnSpc>
              <a:spcBef>
                <a:spcPct val="20000"/>
              </a:spcBef>
              <a:spcAft>
                <a:spcPct val="0"/>
              </a:spcAft>
              <a:buClr>
                <a:srgbClr val="A2A2A2"/>
              </a:buClr>
              <a:buSzPct val="70000"/>
              <a:buFont typeface="Wingdings" pitchFamily="2" charset="2"/>
              <a:buNone/>
              <a:defRPr kumimoji="1" sz="1300">
                <a:solidFill>
                  <a:schemeClr val="tx1"/>
                </a:solidFill>
                <a:latin typeface="+mn-lt"/>
                <a:ea typeface="+mn-ea"/>
              </a:defRPr>
            </a:lvl6pPr>
            <a:lvl7pPr marL="2228850" indent="0" algn="ctr" rtl="0" fontAlgn="ctr">
              <a:lnSpc>
                <a:spcPct val="125000"/>
              </a:lnSpc>
              <a:spcBef>
                <a:spcPct val="20000"/>
              </a:spcBef>
              <a:spcAft>
                <a:spcPct val="0"/>
              </a:spcAft>
              <a:buClr>
                <a:srgbClr val="A2A2A2"/>
              </a:buClr>
              <a:buSzPct val="70000"/>
              <a:buFont typeface="Wingdings" pitchFamily="2" charset="2"/>
              <a:buNone/>
              <a:defRPr kumimoji="1" sz="1300">
                <a:solidFill>
                  <a:schemeClr val="tx1"/>
                </a:solidFill>
                <a:latin typeface="+mn-lt"/>
                <a:ea typeface="+mn-ea"/>
              </a:defRPr>
            </a:lvl7pPr>
            <a:lvl8pPr marL="2600325" indent="0" algn="ctr" rtl="0" fontAlgn="ctr">
              <a:lnSpc>
                <a:spcPct val="125000"/>
              </a:lnSpc>
              <a:spcBef>
                <a:spcPct val="20000"/>
              </a:spcBef>
              <a:spcAft>
                <a:spcPct val="0"/>
              </a:spcAft>
              <a:buClr>
                <a:srgbClr val="A2A2A2"/>
              </a:buClr>
              <a:buSzPct val="70000"/>
              <a:buFont typeface="Wingdings" pitchFamily="2" charset="2"/>
              <a:buNone/>
              <a:defRPr kumimoji="1" sz="1300">
                <a:solidFill>
                  <a:schemeClr val="tx1"/>
                </a:solidFill>
                <a:latin typeface="+mn-lt"/>
                <a:ea typeface="+mn-ea"/>
              </a:defRPr>
            </a:lvl8pPr>
            <a:lvl9pPr marL="2971800" indent="0" algn="ctr" rtl="0" fontAlgn="ctr">
              <a:lnSpc>
                <a:spcPct val="125000"/>
              </a:lnSpc>
              <a:spcBef>
                <a:spcPct val="20000"/>
              </a:spcBef>
              <a:spcAft>
                <a:spcPct val="0"/>
              </a:spcAft>
              <a:buClr>
                <a:srgbClr val="A2A2A2"/>
              </a:buClr>
              <a:buSzPct val="70000"/>
              <a:buFont typeface="Wingdings" pitchFamily="2" charset="2"/>
              <a:buNone/>
              <a:defRPr kumimoji="1" sz="1300">
                <a:solidFill>
                  <a:schemeClr val="tx1"/>
                </a:solidFill>
                <a:latin typeface="+mn-lt"/>
                <a:ea typeface="+mn-ea"/>
              </a:defRPr>
            </a:lvl9pPr>
          </a:lstStyle>
          <a:p>
            <a:r>
              <a:rPr lang="en-US" altLang="ja-JP" dirty="0"/>
              <a:t>1.0</a:t>
            </a:r>
            <a:r>
              <a:rPr kumimoji="1" lang="ja-JP" altLang="en-US" dirty="0"/>
              <a:t>版</a:t>
            </a:r>
            <a:endParaRPr kumimoji="1" lang="en-US" altLang="ja-JP" dirty="0"/>
          </a:p>
          <a:p>
            <a:r>
              <a:rPr kumimoji="1" lang="en-US" altLang="ja-JP" dirty="0"/>
              <a:t>2025</a:t>
            </a:r>
            <a:r>
              <a:rPr kumimoji="1" lang="ja-JP" altLang="en-US" dirty="0"/>
              <a:t>年</a:t>
            </a:r>
            <a:r>
              <a:rPr lang="en-US" altLang="ja-JP" dirty="0"/>
              <a:t>10</a:t>
            </a:r>
            <a:r>
              <a:rPr kumimoji="1" lang="ja-JP" altLang="en-US" dirty="0"/>
              <a:t>月</a:t>
            </a:r>
            <a:r>
              <a:rPr kumimoji="1" lang="en-US" altLang="ja-JP" dirty="0"/>
              <a:t>31</a:t>
            </a:r>
            <a:r>
              <a:rPr kumimoji="1" lang="ja-JP" altLang="en-US" dirty="0"/>
              <a:t>日</a:t>
            </a:r>
            <a:endParaRPr kumimoji="1" lang="en-US" altLang="ja-JP" dirty="0"/>
          </a:p>
          <a:p>
            <a:r>
              <a:rPr lang="en-US" altLang="ja-JP" dirty="0"/>
              <a:t>PF</a:t>
            </a:r>
            <a:r>
              <a:rPr lang="ja-JP" altLang="en-US" dirty="0"/>
              <a:t>基盤システム本部　コンタクト基盤</a:t>
            </a:r>
            <a:r>
              <a:rPr lang="en-US" altLang="ja-JP" dirty="0"/>
              <a:t>G</a:t>
            </a:r>
            <a:endParaRPr kumimoji="1" lang="en-US" altLang="ja-JP" dirty="0"/>
          </a:p>
        </p:txBody>
      </p:sp>
    </p:spTree>
    <p:extLst>
      <p:ext uri="{BB962C8B-B14F-4D97-AF65-F5344CB8AC3E}">
        <p14:creationId xmlns:p14="http://schemas.microsoft.com/office/powerpoint/2010/main" val="897920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05EC1ACE-9D1A-41E4-9C71-0F34A7756D4B}"/>
              </a:ext>
            </a:extLst>
          </p:cNvPr>
          <p:cNvSpPr>
            <a:spLocks noGrp="1"/>
          </p:cNvSpPr>
          <p:nvPr>
            <p:ph type="title"/>
          </p:nvPr>
        </p:nvSpPr>
        <p:spPr>
          <a:prstGeom prst="rect">
            <a:avLst/>
          </a:prstGeom>
        </p:spPr>
        <p:txBody>
          <a:bodyPr lIns="36000" tIns="0" rIns="36000" bIns="0"/>
          <a:lstStyle/>
          <a:p>
            <a:r>
              <a:rPr kumimoji="1" lang="ja-JP" altLang="en-US"/>
              <a:t>改定履歴</a:t>
            </a:r>
          </a:p>
        </p:txBody>
      </p:sp>
      <p:graphicFrame>
        <p:nvGraphicFramePr>
          <p:cNvPr id="8" name="表 7">
            <a:extLst>
              <a:ext uri="{FF2B5EF4-FFF2-40B4-BE49-F238E27FC236}">
                <a16:creationId xmlns:a16="http://schemas.microsoft.com/office/drawing/2014/main" id="{1CED70AD-1F5A-4ECC-B898-8C0357186DC4}"/>
              </a:ext>
            </a:extLst>
          </p:cNvPr>
          <p:cNvGraphicFramePr>
            <a:graphicFrameLocks noGrp="1"/>
          </p:cNvGraphicFramePr>
          <p:nvPr>
            <p:extLst>
              <p:ext uri="{D42A27DB-BD31-4B8C-83A1-F6EECF244321}">
                <p14:modId xmlns:p14="http://schemas.microsoft.com/office/powerpoint/2010/main" val="3570336250"/>
              </p:ext>
            </p:extLst>
          </p:nvPr>
        </p:nvGraphicFramePr>
        <p:xfrm>
          <a:off x="307478" y="911410"/>
          <a:ext cx="9259494" cy="2712432"/>
        </p:xfrm>
        <a:graphic>
          <a:graphicData uri="http://schemas.openxmlformats.org/drawingml/2006/table">
            <a:tbl>
              <a:tblPr firstRow="1" bandRow="1">
                <a:tableStyleId>{5C22544A-7EE6-4342-B048-85BDC9FD1C3A}</a:tableStyleId>
              </a:tblPr>
              <a:tblGrid>
                <a:gridCol w="492622">
                  <a:extLst>
                    <a:ext uri="{9D8B030D-6E8A-4147-A177-3AD203B41FA5}">
                      <a16:colId xmlns:a16="http://schemas.microsoft.com/office/drawing/2014/main" val="20000"/>
                    </a:ext>
                  </a:extLst>
                </a:gridCol>
                <a:gridCol w="1008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gridCol w="2612571">
                  <a:extLst>
                    <a:ext uri="{9D8B030D-6E8A-4147-A177-3AD203B41FA5}">
                      <a16:colId xmlns:a16="http://schemas.microsoft.com/office/drawing/2014/main" val="20003"/>
                    </a:ext>
                  </a:extLst>
                </a:gridCol>
                <a:gridCol w="3670301">
                  <a:extLst>
                    <a:ext uri="{9D8B030D-6E8A-4147-A177-3AD203B41FA5}">
                      <a16:colId xmlns:a16="http://schemas.microsoft.com/office/drawing/2014/main" val="20004"/>
                    </a:ext>
                  </a:extLst>
                </a:gridCol>
              </a:tblGrid>
              <a:tr h="165772">
                <a:tc>
                  <a:txBody>
                    <a:bodyPr/>
                    <a:lstStyle/>
                    <a:p>
                      <a:r>
                        <a:rPr kumimoji="1" lang="ja-JP" altLang="en-US" sz="1000">
                          <a:solidFill>
                            <a:schemeClr val="bg1"/>
                          </a:solidFill>
                          <a:latin typeface="+mn-ea"/>
                          <a:ea typeface="+mn-ea"/>
                        </a:rPr>
                        <a:t>版</a:t>
                      </a: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kumimoji="1" lang="ja-JP" altLang="en-US" sz="1000">
                          <a:solidFill>
                            <a:schemeClr val="bg1"/>
                          </a:solidFill>
                          <a:latin typeface="+mn-ea"/>
                          <a:ea typeface="+mn-ea"/>
                        </a:rPr>
                        <a:t>変更日付</a:t>
                      </a: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kumimoji="1" lang="ja-JP" altLang="en-US" sz="1000">
                          <a:solidFill>
                            <a:schemeClr val="bg1"/>
                          </a:solidFill>
                          <a:latin typeface="+mn-ea"/>
                          <a:ea typeface="+mn-ea"/>
                        </a:rPr>
                        <a:t>変更理由</a:t>
                      </a: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kumimoji="1" lang="ja-JP" altLang="en-US" sz="1000">
                          <a:solidFill>
                            <a:schemeClr val="bg1"/>
                          </a:solidFill>
                          <a:latin typeface="+mn-ea"/>
                          <a:ea typeface="+mn-ea"/>
                        </a:rPr>
                        <a:t>変更箇所</a:t>
                      </a: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kumimoji="1" lang="ja-JP" altLang="en-US" sz="1000">
                          <a:solidFill>
                            <a:schemeClr val="bg1"/>
                          </a:solidFill>
                          <a:latin typeface="+mn-ea"/>
                          <a:ea typeface="+mn-ea"/>
                        </a:rPr>
                        <a:t>変更内容</a:t>
                      </a: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165772">
                <a:tc>
                  <a:txBody>
                    <a:bodyPr/>
                    <a:lstStyle/>
                    <a:p>
                      <a:r>
                        <a:rPr kumimoji="1" lang="en-US" altLang="ja-JP" sz="1000">
                          <a:solidFill>
                            <a:schemeClr val="tx1"/>
                          </a:solidFill>
                          <a:latin typeface="+mn-ea"/>
                          <a:ea typeface="+mn-ea"/>
                        </a:rPr>
                        <a:t>1.0</a:t>
                      </a:r>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a:solidFill>
                            <a:schemeClr val="tx1"/>
                          </a:solidFill>
                          <a:latin typeface="+mn-ea"/>
                          <a:ea typeface="+mn-ea"/>
                        </a:rPr>
                        <a:t>2025/4/17</a:t>
                      </a:r>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a:solidFill>
                            <a:schemeClr val="tx1"/>
                          </a:solidFill>
                          <a:latin typeface="+mn-ea"/>
                          <a:ea typeface="+mn-ea"/>
                        </a:rPr>
                        <a:t>初版作成</a:t>
                      </a: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a:solidFill>
                            <a:schemeClr val="tx1"/>
                          </a:solidFill>
                          <a:latin typeface="+mn-ea"/>
                          <a:ea typeface="+mn-ea"/>
                        </a:rPr>
                        <a:t>ー</a:t>
                      </a: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a:solidFill>
                            <a:schemeClr val="tx1"/>
                          </a:solidFill>
                          <a:latin typeface="+mn-ea"/>
                          <a:ea typeface="+mn-ea"/>
                        </a:rPr>
                        <a:t>ー</a:t>
                      </a: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48664">
                <a:tc>
                  <a:txBody>
                    <a:bodyPr/>
                    <a:lstStyle/>
                    <a:p>
                      <a:endParaRPr lang="ja-JP" altLang="en-US" sz="1000">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ja-JP" altLang="en-US" sz="1000">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69388">
                <a:tc>
                  <a:txBody>
                    <a:bodyPr/>
                    <a:lstStyle/>
                    <a:p>
                      <a:endParaRPr lang="ja-JP" altLang="en-US" sz="1000">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000">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5772">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5772">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5772">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5772">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38386611"/>
                  </a:ext>
                </a:extLst>
              </a:tr>
              <a:tr h="165772">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000" kern="0">
                        <a:latin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5567473"/>
                  </a:ext>
                </a:extLst>
              </a:tr>
              <a:tr h="165772">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000" kern="0">
                        <a:latin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6036477"/>
                  </a:ext>
                </a:extLst>
              </a:tr>
              <a:tr h="165772">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000" kern="0"/>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a:solidFill>
                          <a:schemeClr val="tx1"/>
                        </a:solidFill>
                        <a:latin typeface="+mn-ea"/>
                        <a:ea typeface="+mn-ea"/>
                      </a:endParaRPr>
                    </a:p>
                  </a:txBody>
                  <a:tcPr marL="99059" marR="99059"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060162"/>
                  </a:ext>
                </a:extLst>
              </a:tr>
            </a:tbl>
          </a:graphicData>
        </a:graphic>
      </p:graphicFrame>
    </p:spTree>
    <p:extLst>
      <p:ext uri="{BB962C8B-B14F-4D97-AF65-F5344CB8AC3E}">
        <p14:creationId xmlns:p14="http://schemas.microsoft.com/office/powerpoint/2010/main" val="1585736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63E1A25-6DC2-4A89-95C5-AC449959531B}"/>
              </a:ext>
            </a:extLst>
          </p:cNvPr>
          <p:cNvSpPr>
            <a:spLocks noGrp="1"/>
          </p:cNvSpPr>
          <p:nvPr>
            <p:ph type="title" idx="4294967295"/>
          </p:nvPr>
        </p:nvSpPr>
        <p:spPr>
          <a:xfrm>
            <a:off x="697583" y="176115"/>
            <a:ext cx="7392988" cy="338137"/>
          </a:xfrm>
          <a:prstGeom prst="rect">
            <a:avLst/>
          </a:prstGeom>
        </p:spPr>
        <p:txBody>
          <a:bodyPr anchor="ctr"/>
          <a:lstStyle/>
          <a:p>
            <a:r>
              <a:rPr lang="ja-JP" altLang="en-US" b="1"/>
              <a:t>目次</a:t>
            </a:r>
            <a:endParaRPr kumimoji="1" lang="ja-JP" altLang="en-US" sz="2000" b="1">
              <a:cs typeface="Meiryo UI" panose="020B0604030504040204" pitchFamily="50" charset="-128"/>
            </a:endParaRPr>
          </a:p>
        </p:txBody>
      </p:sp>
      <p:sp>
        <p:nvSpPr>
          <p:cNvPr id="91" name="Text Box 3"/>
          <p:cNvSpPr txBox="1">
            <a:spLocks noChangeArrowheads="1"/>
          </p:cNvSpPr>
          <p:nvPr/>
        </p:nvSpPr>
        <p:spPr bwMode="auto">
          <a:xfrm>
            <a:off x="64123" y="784230"/>
            <a:ext cx="5376256" cy="4862426"/>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lstStyle>
            <a:lvl1pPr indent="266700" algn="l" eaLnBrk="0" hangingPunct="0">
              <a:spcBef>
                <a:spcPct val="20000"/>
              </a:spcBef>
              <a:buChar char="•"/>
              <a:defRPr kumimoji="1" sz="3200">
                <a:solidFill>
                  <a:schemeClr val="tx1"/>
                </a:solidFill>
                <a:latin typeface="Arial" charset="0"/>
                <a:ea typeface="ＭＳ Ｐゴシック" charset="-128"/>
              </a:defRPr>
            </a:lvl1pPr>
            <a:lvl2pPr marL="742950" indent="-285750" algn="l" eaLnBrk="0" hangingPunct="0">
              <a:spcBef>
                <a:spcPct val="20000"/>
              </a:spcBef>
              <a:buChar char="–"/>
              <a:defRPr kumimoji="1" sz="2800">
                <a:solidFill>
                  <a:schemeClr val="tx1"/>
                </a:solidFill>
                <a:latin typeface="Arial" charset="0"/>
                <a:ea typeface="ＭＳ Ｐゴシック" charset="-128"/>
              </a:defRPr>
            </a:lvl2pPr>
            <a:lvl3pPr marL="1143000" indent="-228600" algn="l" eaLnBrk="0" hangingPunct="0">
              <a:spcBef>
                <a:spcPct val="20000"/>
              </a:spcBef>
              <a:buChar char="•"/>
              <a:defRPr kumimoji="1" sz="2400">
                <a:solidFill>
                  <a:schemeClr val="tx1"/>
                </a:solidFill>
                <a:latin typeface="Arial" charset="0"/>
                <a:ea typeface="ＭＳ Ｐゴシック" charset="-128"/>
              </a:defRPr>
            </a:lvl3pPr>
            <a:lvl4pPr marL="1600200" indent="-228600" algn="l" eaLnBrk="0" hangingPunct="0">
              <a:spcBef>
                <a:spcPct val="20000"/>
              </a:spcBef>
              <a:buChar char="–"/>
              <a:defRPr kumimoji="1" sz="2000">
                <a:solidFill>
                  <a:schemeClr val="tx1"/>
                </a:solidFill>
                <a:latin typeface="Arial" charset="0"/>
                <a:ea typeface="ＭＳ Ｐゴシック" charset="-128"/>
              </a:defRPr>
            </a:lvl4pPr>
            <a:lvl5pPr marL="2057400" indent="-228600" algn="l"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buClr>
                <a:srgbClr val="808080"/>
              </a:buClr>
              <a:buSzPct val="75000"/>
              <a:buFont typeface="Wingdings" pitchFamily="2" charset="2"/>
              <a:buNone/>
              <a:defRPr/>
            </a:pPr>
            <a:r>
              <a:rPr lang="ja-JP" altLang="en-US" sz="1800" dirty="0">
                <a:latin typeface="+mn-ea"/>
                <a:ea typeface="+mn-ea"/>
              </a:rPr>
              <a:t>１．案件概要</a:t>
            </a:r>
            <a:endParaRPr lang="en-US" altLang="ja-JP" sz="1800" dirty="0">
              <a:latin typeface="+mn-ea"/>
              <a:ea typeface="+mn-ea"/>
            </a:endParaRPr>
          </a:p>
          <a:p>
            <a:pPr eaLnBrk="1" hangingPunct="1">
              <a:buClr>
                <a:srgbClr val="808080"/>
              </a:buClr>
              <a:buSzPct val="75000"/>
              <a:buFont typeface="Wingdings" pitchFamily="2" charset="2"/>
              <a:buNone/>
              <a:defRPr/>
            </a:pPr>
            <a:r>
              <a:rPr lang="ja-JP" altLang="en-US" sz="1800" dirty="0">
                <a:latin typeface="+mn-ea"/>
                <a:ea typeface="+mn-ea"/>
              </a:rPr>
              <a:t>　１－１．背景</a:t>
            </a:r>
            <a:r>
              <a:rPr lang="en-US" altLang="ja-JP" sz="1800" dirty="0">
                <a:latin typeface="+mn-ea"/>
                <a:ea typeface="+mn-ea"/>
              </a:rPr>
              <a:t>/</a:t>
            </a:r>
            <a:r>
              <a:rPr lang="ja-JP" altLang="en-US" sz="1800" dirty="0">
                <a:latin typeface="+mn-ea"/>
                <a:ea typeface="+mn-ea"/>
              </a:rPr>
              <a:t>目的</a:t>
            </a:r>
            <a:endParaRPr lang="en-US" altLang="ja-JP" sz="1800" dirty="0">
              <a:latin typeface="+mn-ea"/>
              <a:ea typeface="+mn-ea"/>
            </a:endParaRPr>
          </a:p>
          <a:p>
            <a:pPr eaLnBrk="1" hangingPunct="1">
              <a:buClr>
                <a:srgbClr val="808080"/>
              </a:buClr>
              <a:buSzPct val="75000"/>
              <a:buNone/>
              <a:defRPr/>
            </a:pPr>
            <a:r>
              <a:rPr lang="ja-JP" altLang="en-US" sz="1800" dirty="0">
                <a:latin typeface="+mn-ea"/>
                <a:ea typeface="+mn-ea"/>
              </a:rPr>
              <a:t>　１－２．システム対応概要</a:t>
            </a:r>
            <a:endParaRPr lang="en-US" altLang="ja-JP" sz="1800" dirty="0">
              <a:latin typeface="+mn-ea"/>
              <a:ea typeface="+mn-ea"/>
            </a:endParaRPr>
          </a:p>
          <a:p>
            <a:pPr eaLnBrk="1" hangingPunct="1">
              <a:buClr>
                <a:srgbClr val="808080"/>
              </a:buClr>
              <a:buSzPct val="75000"/>
              <a:buNone/>
              <a:defRPr/>
            </a:pPr>
            <a:r>
              <a:rPr lang="ja-JP" altLang="en-US" sz="1800" dirty="0">
                <a:latin typeface="+mn-ea"/>
                <a:ea typeface="+mn-ea"/>
              </a:rPr>
              <a:t>　</a:t>
            </a:r>
            <a:endParaRPr lang="en-US" altLang="ja-JP" sz="1800" dirty="0">
              <a:latin typeface="+mn-ea"/>
              <a:ea typeface="+mn-ea"/>
            </a:endParaRPr>
          </a:p>
          <a:p>
            <a:pPr eaLnBrk="1" hangingPunct="1">
              <a:buClr>
                <a:srgbClr val="808080"/>
              </a:buClr>
              <a:buSzPct val="75000"/>
              <a:buNone/>
              <a:defRPr/>
            </a:pPr>
            <a:r>
              <a:rPr lang="ja-JP" altLang="en-US" sz="1800" dirty="0">
                <a:latin typeface="+mn-ea"/>
                <a:ea typeface="+mn-ea"/>
              </a:rPr>
              <a:t>２．プロジェクトスコープ</a:t>
            </a:r>
            <a:endParaRPr lang="en-US" altLang="ja-JP" sz="1800" dirty="0">
              <a:latin typeface="+mn-ea"/>
              <a:ea typeface="+mn-ea"/>
            </a:endParaRPr>
          </a:p>
          <a:p>
            <a:pPr eaLnBrk="1" hangingPunct="1">
              <a:buClr>
                <a:srgbClr val="808080"/>
              </a:buClr>
              <a:buSzPct val="75000"/>
              <a:buFont typeface="Wingdings" pitchFamily="2" charset="2"/>
              <a:buNone/>
              <a:defRPr/>
            </a:pPr>
            <a:r>
              <a:rPr lang="ja-JP" altLang="en-US" sz="1800" dirty="0">
                <a:latin typeface="+mn-ea"/>
                <a:ea typeface="+mn-ea"/>
              </a:rPr>
              <a:t>　２－１．作業スコープ</a:t>
            </a:r>
            <a:endParaRPr lang="en-US" altLang="ja-JP" sz="1800" dirty="0">
              <a:latin typeface="+mn-ea"/>
              <a:ea typeface="+mn-ea"/>
            </a:endParaRPr>
          </a:p>
          <a:p>
            <a:pPr eaLnBrk="1" hangingPunct="1">
              <a:buClr>
                <a:srgbClr val="808080"/>
              </a:buClr>
              <a:buSzPct val="75000"/>
              <a:buFont typeface="Wingdings" pitchFamily="2" charset="2"/>
              <a:buNone/>
              <a:defRPr/>
            </a:pPr>
            <a:r>
              <a:rPr lang="ja-JP" altLang="en-US" sz="1800" dirty="0">
                <a:latin typeface="+mn-ea"/>
                <a:ea typeface="+mn-ea"/>
              </a:rPr>
              <a:t>　２－２．要件定義検討項目</a:t>
            </a:r>
          </a:p>
          <a:p>
            <a:pPr eaLnBrk="1" hangingPunct="1">
              <a:buClr>
                <a:srgbClr val="808080"/>
              </a:buClr>
              <a:buSzPct val="75000"/>
              <a:buFont typeface="Wingdings" pitchFamily="2" charset="2"/>
              <a:buNone/>
              <a:defRPr/>
            </a:pPr>
            <a:endParaRPr lang="en-US" altLang="ja-JP" sz="1800" dirty="0">
              <a:latin typeface="+mn-ea"/>
              <a:ea typeface="+mn-ea"/>
            </a:endParaRPr>
          </a:p>
          <a:p>
            <a:pPr eaLnBrk="1" hangingPunct="1">
              <a:buClr>
                <a:srgbClr val="808080"/>
              </a:buClr>
              <a:buSzPct val="75000"/>
              <a:buFont typeface="Wingdings" pitchFamily="2" charset="2"/>
              <a:buNone/>
              <a:defRPr/>
            </a:pPr>
            <a:r>
              <a:rPr lang="ja-JP" altLang="en-US" sz="1800" dirty="0">
                <a:latin typeface="+mn-ea"/>
                <a:ea typeface="+mn-ea"/>
              </a:rPr>
              <a:t>３．推進体制</a:t>
            </a:r>
            <a:endParaRPr lang="en-US" altLang="ja-JP" sz="1800" dirty="0">
              <a:latin typeface="+mn-ea"/>
              <a:ea typeface="+mn-ea"/>
            </a:endParaRPr>
          </a:p>
          <a:p>
            <a:pPr eaLnBrk="1" hangingPunct="1">
              <a:buClr>
                <a:srgbClr val="808080"/>
              </a:buClr>
              <a:buSzPct val="75000"/>
              <a:buFont typeface="Wingdings" pitchFamily="2" charset="2"/>
              <a:buNone/>
              <a:defRPr/>
            </a:pPr>
            <a:r>
              <a:rPr lang="ja-JP" altLang="en-US" sz="1800" dirty="0">
                <a:latin typeface="+mn-ea"/>
                <a:ea typeface="+mn-ea"/>
              </a:rPr>
              <a:t>　３－１．プロジェクト関連図</a:t>
            </a:r>
            <a:endParaRPr lang="en-US" altLang="ja-JP" sz="1800" dirty="0">
              <a:latin typeface="+mn-ea"/>
              <a:ea typeface="+mn-ea"/>
            </a:endParaRPr>
          </a:p>
          <a:p>
            <a:pPr eaLnBrk="1" hangingPunct="1">
              <a:buClr>
                <a:srgbClr val="808080"/>
              </a:buClr>
              <a:buSzPct val="75000"/>
              <a:buFont typeface="Wingdings" pitchFamily="2" charset="2"/>
              <a:buNone/>
              <a:defRPr/>
            </a:pPr>
            <a:r>
              <a:rPr lang="ja-JP" altLang="en-US" sz="1800" dirty="0">
                <a:latin typeface="+mn-ea"/>
                <a:ea typeface="+mn-ea"/>
              </a:rPr>
              <a:t>　３－２．役割</a:t>
            </a:r>
            <a:endParaRPr lang="en-US" altLang="ja-JP" sz="1800" dirty="0">
              <a:latin typeface="+mn-ea"/>
              <a:ea typeface="+mn-ea"/>
            </a:endParaRPr>
          </a:p>
          <a:p>
            <a:pPr eaLnBrk="1" hangingPunct="1">
              <a:buClr>
                <a:srgbClr val="808080"/>
              </a:buClr>
              <a:buSzPct val="75000"/>
              <a:buFont typeface="Wingdings" pitchFamily="2" charset="2"/>
              <a:buNone/>
              <a:defRPr/>
            </a:pPr>
            <a:endParaRPr lang="en-US" altLang="ja-JP" sz="1800" dirty="0">
              <a:latin typeface="+mn-ea"/>
              <a:ea typeface="+mn-ea"/>
            </a:endParaRPr>
          </a:p>
          <a:p>
            <a:pPr eaLnBrk="1" hangingPunct="1">
              <a:buClr>
                <a:srgbClr val="808080"/>
              </a:buClr>
              <a:buSzPct val="75000"/>
              <a:buFont typeface="Wingdings" pitchFamily="2" charset="2"/>
              <a:buNone/>
              <a:defRPr/>
            </a:pPr>
            <a:r>
              <a:rPr lang="ja-JP" altLang="en-US" sz="1800" dirty="0">
                <a:latin typeface="+mn-ea"/>
                <a:ea typeface="+mn-ea"/>
              </a:rPr>
              <a:t>４．スケジュール管理</a:t>
            </a:r>
            <a:endParaRPr lang="en-US" altLang="ja-JP" sz="1800" dirty="0">
              <a:latin typeface="+mn-ea"/>
              <a:ea typeface="+mn-ea"/>
            </a:endParaRPr>
          </a:p>
          <a:p>
            <a:pPr eaLnBrk="1" hangingPunct="1">
              <a:buClr>
                <a:srgbClr val="808080"/>
              </a:buClr>
              <a:buSzPct val="75000"/>
              <a:buFont typeface="Wingdings" pitchFamily="2" charset="2"/>
              <a:buNone/>
              <a:defRPr/>
            </a:pPr>
            <a:r>
              <a:rPr lang="ja-JP" altLang="en-US" sz="1800" dirty="0">
                <a:latin typeface="+mn-ea"/>
                <a:ea typeface="+mn-ea"/>
              </a:rPr>
              <a:t>　４－１．マスタスケジュール</a:t>
            </a:r>
            <a:endParaRPr lang="en-US" altLang="ja-JP" sz="1800" dirty="0">
              <a:latin typeface="+mn-ea"/>
              <a:ea typeface="+mn-ea"/>
            </a:endParaRPr>
          </a:p>
          <a:p>
            <a:pPr eaLnBrk="1" hangingPunct="1">
              <a:buClr>
                <a:srgbClr val="808080"/>
              </a:buClr>
              <a:buSzPct val="75000"/>
              <a:buFont typeface="Wingdings" pitchFamily="2" charset="2"/>
              <a:buNone/>
              <a:defRPr/>
            </a:pPr>
            <a:r>
              <a:rPr lang="ja-JP" altLang="en-US" sz="1800" dirty="0">
                <a:latin typeface="+mn-ea"/>
                <a:ea typeface="+mn-ea"/>
              </a:rPr>
              <a:t>　４－２</a:t>
            </a:r>
            <a:r>
              <a:rPr lang="en-US" altLang="ja-JP" sz="1800" dirty="0">
                <a:latin typeface="+mn-ea"/>
                <a:ea typeface="+mn-ea"/>
              </a:rPr>
              <a:t>.</a:t>
            </a:r>
            <a:r>
              <a:rPr lang="ja-JP" altLang="en-US" sz="1800" dirty="0">
                <a:latin typeface="+mn-ea"/>
                <a:ea typeface="+mn-ea"/>
              </a:rPr>
              <a:t>　決裁予定</a:t>
            </a:r>
            <a:endParaRPr lang="en-US" altLang="ja-JP" sz="1800" dirty="0">
              <a:latin typeface="+mn-ea"/>
              <a:ea typeface="+mn-ea"/>
            </a:endParaRPr>
          </a:p>
        </p:txBody>
      </p:sp>
      <p:sp>
        <p:nvSpPr>
          <p:cNvPr id="8" name="Text Box 3">
            <a:extLst>
              <a:ext uri="{FF2B5EF4-FFF2-40B4-BE49-F238E27FC236}">
                <a16:creationId xmlns:a16="http://schemas.microsoft.com/office/drawing/2014/main" id="{B0D0A6FE-0645-4F1A-A4A0-AE73496057BA}"/>
              </a:ext>
            </a:extLst>
          </p:cNvPr>
          <p:cNvSpPr txBox="1">
            <a:spLocks noChangeArrowheads="1"/>
          </p:cNvSpPr>
          <p:nvPr/>
        </p:nvSpPr>
        <p:spPr bwMode="auto">
          <a:xfrm>
            <a:off x="5040350" y="784230"/>
            <a:ext cx="4652289" cy="418441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lstStyle>
            <a:lvl1pPr indent="266700" algn="l" eaLnBrk="0" hangingPunct="0">
              <a:spcBef>
                <a:spcPct val="20000"/>
              </a:spcBef>
              <a:buChar char="•"/>
              <a:defRPr kumimoji="1" sz="3200">
                <a:solidFill>
                  <a:schemeClr val="tx1"/>
                </a:solidFill>
                <a:latin typeface="Arial" charset="0"/>
                <a:ea typeface="ＭＳ Ｐゴシック" charset="-128"/>
              </a:defRPr>
            </a:lvl1pPr>
            <a:lvl2pPr marL="742950" indent="-285750" algn="l" eaLnBrk="0" hangingPunct="0">
              <a:spcBef>
                <a:spcPct val="20000"/>
              </a:spcBef>
              <a:buChar char="–"/>
              <a:defRPr kumimoji="1" sz="2800">
                <a:solidFill>
                  <a:schemeClr val="tx1"/>
                </a:solidFill>
                <a:latin typeface="Arial" charset="0"/>
                <a:ea typeface="ＭＳ Ｐゴシック" charset="-128"/>
              </a:defRPr>
            </a:lvl2pPr>
            <a:lvl3pPr marL="1143000" indent="-228600" algn="l" eaLnBrk="0" hangingPunct="0">
              <a:spcBef>
                <a:spcPct val="20000"/>
              </a:spcBef>
              <a:buChar char="•"/>
              <a:defRPr kumimoji="1" sz="2400">
                <a:solidFill>
                  <a:schemeClr val="tx1"/>
                </a:solidFill>
                <a:latin typeface="Arial" charset="0"/>
                <a:ea typeface="ＭＳ Ｐゴシック" charset="-128"/>
              </a:defRPr>
            </a:lvl3pPr>
            <a:lvl4pPr marL="1600200" indent="-228600" algn="l" eaLnBrk="0" hangingPunct="0">
              <a:spcBef>
                <a:spcPct val="20000"/>
              </a:spcBef>
              <a:buChar char="–"/>
              <a:defRPr kumimoji="1" sz="2000">
                <a:solidFill>
                  <a:schemeClr val="tx1"/>
                </a:solidFill>
                <a:latin typeface="Arial" charset="0"/>
                <a:ea typeface="ＭＳ Ｐゴシック" charset="-128"/>
              </a:defRPr>
            </a:lvl4pPr>
            <a:lvl5pPr marL="2057400" indent="-228600" algn="l" eaLnBrk="0" hangingPunct="0">
              <a:spcBef>
                <a:spcPct val="20000"/>
              </a:spcBef>
              <a:buChar char="»"/>
              <a:defRPr kumimoji="1"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Arial" charset="0"/>
                <a:ea typeface="ＭＳ Ｐゴシック" charset="-128"/>
              </a:defRPr>
            </a:lvl9pPr>
          </a:lstStyle>
          <a:p>
            <a:pPr eaLnBrk="1" hangingPunct="1">
              <a:buClr>
                <a:srgbClr val="808080"/>
              </a:buClr>
              <a:buSzPct val="75000"/>
              <a:buFont typeface="Wingdings" pitchFamily="2" charset="2"/>
              <a:buNone/>
              <a:defRPr/>
            </a:pPr>
            <a:r>
              <a:rPr lang="ja-JP" altLang="en-US" sz="1800">
                <a:latin typeface="+mn-ea"/>
                <a:ea typeface="+mn-ea"/>
              </a:rPr>
              <a:t>５．運営要領</a:t>
            </a:r>
            <a:endParaRPr lang="en-US" altLang="ja-JP" sz="1800">
              <a:latin typeface="+mn-ea"/>
              <a:ea typeface="+mn-ea"/>
            </a:endParaRPr>
          </a:p>
          <a:p>
            <a:pPr eaLnBrk="1" hangingPunct="1">
              <a:buClr>
                <a:srgbClr val="808080"/>
              </a:buClr>
              <a:buSzPct val="75000"/>
              <a:buFont typeface="Wingdings" pitchFamily="2" charset="2"/>
              <a:buNone/>
              <a:defRPr/>
            </a:pPr>
            <a:r>
              <a:rPr lang="ja-JP" altLang="en-US" sz="1800">
                <a:latin typeface="+mn-ea"/>
                <a:ea typeface="+mn-ea"/>
              </a:rPr>
              <a:t>　５－１．会議体</a:t>
            </a:r>
            <a:endParaRPr lang="en-US" altLang="ja-JP" sz="1800">
              <a:latin typeface="+mn-ea"/>
              <a:ea typeface="+mn-ea"/>
            </a:endParaRPr>
          </a:p>
          <a:p>
            <a:pPr eaLnBrk="1" hangingPunct="1">
              <a:buClr>
                <a:srgbClr val="808080"/>
              </a:buClr>
              <a:buSzPct val="75000"/>
              <a:buFont typeface="Wingdings" pitchFamily="2" charset="2"/>
              <a:buNone/>
              <a:defRPr/>
            </a:pPr>
            <a:r>
              <a:rPr lang="ja-JP" altLang="en-US" sz="1800">
                <a:latin typeface="+mn-ea"/>
                <a:ea typeface="+mn-ea"/>
              </a:rPr>
              <a:t>　５－２．管理帳票</a:t>
            </a:r>
            <a:endParaRPr lang="en-US" altLang="ja-JP" sz="1800">
              <a:latin typeface="+mn-ea"/>
              <a:ea typeface="+mn-ea"/>
            </a:endParaRPr>
          </a:p>
          <a:p>
            <a:pPr eaLnBrk="1" hangingPunct="1">
              <a:buClr>
                <a:srgbClr val="808080"/>
              </a:buClr>
              <a:buSzPct val="75000"/>
              <a:buFont typeface="Wingdings" pitchFamily="2" charset="2"/>
              <a:buNone/>
              <a:defRPr/>
            </a:pPr>
            <a:r>
              <a:rPr lang="ja-JP" altLang="en-US" sz="1800">
                <a:latin typeface="+mn-ea"/>
                <a:ea typeface="+mn-ea"/>
              </a:rPr>
              <a:t>　５－３．</a:t>
            </a:r>
            <a:r>
              <a:rPr lang="zh-TW" altLang="en-US" sz="1800">
                <a:latin typeface="+mn-ea"/>
                <a:ea typeface="+mn-ea"/>
              </a:rPr>
              <a:t>管理帳票更新要領</a:t>
            </a:r>
            <a:endParaRPr lang="en-US" altLang="ja-JP" sz="1800">
              <a:latin typeface="+mn-ea"/>
              <a:ea typeface="+mn-ea"/>
            </a:endParaRPr>
          </a:p>
          <a:p>
            <a:pPr eaLnBrk="1" hangingPunct="1">
              <a:buClr>
                <a:srgbClr val="808080"/>
              </a:buClr>
              <a:buSzPct val="75000"/>
              <a:buFont typeface="Wingdings" pitchFamily="2" charset="2"/>
              <a:buNone/>
              <a:defRPr/>
            </a:pPr>
            <a:endParaRPr lang="en-US" altLang="ja-JP" sz="1800">
              <a:latin typeface="+mn-ea"/>
              <a:ea typeface="+mn-ea"/>
            </a:endParaRPr>
          </a:p>
          <a:p>
            <a:pPr eaLnBrk="1" hangingPunct="1">
              <a:buClr>
                <a:srgbClr val="808080"/>
              </a:buClr>
              <a:buSzPct val="75000"/>
              <a:buFont typeface="Wingdings" pitchFamily="2" charset="2"/>
              <a:buNone/>
              <a:defRPr/>
            </a:pPr>
            <a:r>
              <a:rPr lang="ja-JP" altLang="en-US" sz="1800">
                <a:latin typeface="+mn-ea"/>
                <a:ea typeface="+mn-ea"/>
              </a:rPr>
              <a:t>６．開発管理</a:t>
            </a:r>
            <a:endParaRPr lang="en-US" altLang="ja-JP" sz="1800">
              <a:latin typeface="+mn-ea"/>
              <a:ea typeface="+mn-ea"/>
            </a:endParaRPr>
          </a:p>
          <a:p>
            <a:pPr eaLnBrk="1" hangingPunct="1">
              <a:buClr>
                <a:srgbClr val="808080"/>
              </a:buClr>
              <a:buSzPct val="75000"/>
              <a:buFont typeface="Wingdings" pitchFamily="2" charset="2"/>
              <a:buNone/>
              <a:defRPr/>
            </a:pPr>
            <a:r>
              <a:rPr lang="ja-JP" altLang="en-US" sz="1800">
                <a:latin typeface="+mn-ea"/>
                <a:ea typeface="+mn-ea"/>
              </a:rPr>
              <a:t>　６－１．成果物定義</a:t>
            </a:r>
            <a:endParaRPr lang="en-US" altLang="ja-JP" sz="1800">
              <a:latin typeface="+mn-ea"/>
              <a:ea typeface="+mn-ea"/>
            </a:endParaRPr>
          </a:p>
          <a:p>
            <a:pPr eaLnBrk="1" hangingPunct="1">
              <a:buClr>
                <a:srgbClr val="808080"/>
              </a:buClr>
              <a:buSzPct val="75000"/>
              <a:buNone/>
              <a:defRPr/>
            </a:pPr>
            <a:r>
              <a:rPr lang="ja-JP" altLang="en-US" sz="1800">
                <a:latin typeface="+mn-ea"/>
                <a:ea typeface="+mn-ea"/>
              </a:rPr>
              <a:t>　６－２．テスト方針</a:t>
            </a:r>
            <a:endParaRPr lang="en-US" altLang="ja-JP" sz="1800">
              <a:latin typeface="+mn-ea"/>
              <a:ea typeface="+mn-ea"/>
            </a:endParaRPr>
          </a:p>
          <a:p>
            <a:pPr eaLnBrk="1" hangingPunct="1">
              <a:buClr>
                <a:srgbClr val="808080"/>
              </a:buClr>
              <a:buSzPct val="75000"/>
              <a:buFont typeface="Wingdings" pitchFamily="2" charset="2"/>
              <a:buNone/>
              <a:defRPr/>
            </a:pPr>
            <a:r>
              <a:rPr lang="ja-JP" altLang="en-US" sz="1800">
                <a:latin typeface="+mn-ea"/>
                <a:ea typeface="+mn-ea"/>
              </a:rPr>
              <a:t>　６－３．品質管理方針</a:t>
            </a:r>
            <a:endParaRPr lang="en-US" altLang="ja-JP" sz="1800">
              <a:latin typeface="+mn-ea"/>
              <a:ea typeface="+mn-ea"/>
            </a:endParaRPr>
          </a:p>
          <a:p>
            <a:pPr eaLnBrk="1" hangingPunct="1">
              <a:buClr>
                <a:srgbClr val="808080"/>
              </a:buClr>
              <a:buSzPct val="75000"/>
              <a:buFont typeface="Wingdings" pitchFamily="2" charset="2"/>
              <a:buNone/>
              <a:defRPr/>
            </a:pPr>
            <a:endParaRPr lang="en-US" altLang="ja-JP" sz="1800">
              <a:latin typeface="+mn-ea"/>
              <a:ea typeface="+mn-ea"/>
            </a:endParaRPr>
          </a:p>
          <a:p>
            <a:pPr eaLnBrk="1" hangingPunct="1">
              <a:buClr>
                <a:srgbClr val="808080"/>
              </a:buClr>
              <a:buSzPct val="75000"/>
              <a:buFont typeface="Wingdings" pitchFamily="2" charset="2"/>
              <a:buNone/>
              <a:defRPr/>
            </a:pPr>
            <a:r>
              <a:rPr lang="ja-JP" altLang="en-US" sz="1800">
                <a:latin typeface="+mn-ea"/>
                <a:ea typeface="+mn-ea"/>
              </a:rPr>
              <a:t>７．プロジェクトリスクと対策</a:t>
            </a:r>
            <a:endParaRPr lang="en-US" altLang="ja-JP" sz="1800">
              <a:latin typeface="+mn-ea"/>
              <a:ea typeface="+mn-ea"/>
            </a:endParaRPr>
          </a:p>
          <a:p>
            <a:pPr eaLnBrk="1" hangingPunct="1">
              <a:buClr>
                <a:srgbClr val="808080"/>
              </a:buClr>
              <a:buSzPct val="75000"/>
              <a:buNone/>
              <a:defRPr/>
            </a:pPr>
            <a:r>
              <a:rPr lang="ja-JP" altLang="en-US" sz="1800">
                <a:latin typeface="+mn-ea"/>
                <a:ea typeface="+mn-ea"/>
              </a:rPr>
              <a:t>　７－１．主要リスクと対策</a:t>
            </a:r>
            <a:endParaRPr lang="en-US" altLang="ja-JP" sz="1800">
              <a:latin typeface="+mn-ea"/>
              <a:ea typeface="+mn-ea"/>
            </a:endParaRPr>
          </a:p>
          <a:p>
            <a:pPr eaLnBrk="1" hangingPunct="1">
              <a:buClr>
                <a:srgbClr val="808080"/>
              </a:buClr>
              <a:buSzPct val="75000"/>
              <a:buNone/>
              <a:defRPr/>
            </a:pPr>
            <a:r>
              <a:rPr lang="ja-JP" altLang="en-US" sz="1800">
                <a:latin typeface="+mn-ea"/>
                <a:ea typeface="+mn-ea"/>
              </a:rPr>
              <a:t>　７－２．重要課題</a:t>
            </a:r>
            <a:endParaRPr lang="en-US" altLang="ja-JP" sz="1800">
              <a:latin typeface="+mn-ea"/>
              <a:ea typeface="+mn-ea"/>
            </a:endParaRPr>
          </a:p>
          <a:p>
            <a:pPr eaLnBrk="1" hangingPunct="1">
              <a:buClr>
                <a:srgbClr val="808080"/>
              </a:buClr>
              <a:buSzPct val="75000"/>
              <a:buNone/>
              <a:defRPr/>
            </a:pPr>
            <a:endParaRPr lang="en-US" altLang="ja-JP" sz="1800">
              <a:latin typeface="+mn-ea"/>
              <a:ea typeface="+mn-ea"/>
            </a:endParaRPr>
          </a:p>
          <a:p>
            <a:pPr eaLnBrk="1" hangingPunct="1">
              <a:buClr>
                <a:srgbClr val="808080"/>
              </a:buClr>
              <a:buSzPct val="75000"/>
              <a:buNone/>
              <a:defRPr/>
            </a:pPr>
            <a:r>
              <a:rPr lang="ja-JP" altLang="en-US" sz="1800">
                <a:latin typeface="+mn-ea"/>
                <a:ea typeface="+mn-ea"/>
              </a:rPr>
              <a:t>付録（別紙）</a:t>
            </a:r>
            <a:endParaRPr lang="en-US" altLang="ja-JP" sz="1800">
              <a:latin typeface="+mn-ea"/>
              <a:ea typeface="+mn-ea"/>
            </a:endParaRPr>
          </a:p>
        </p:txBody>
      </p:sp>
    </p:spTree>
    <p:extLst>
      <p:ext uri="{BB962C8B-B14F-4D97-AF65-F5344CB8AC3E}">
        <p14:creationId xmlns:p14="http://schemas.microsoft.com/office/powerpoint/2010/main" val="649697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84E3CD83-BC39-CD99-50F3-8C86CB776ED0}"/>
              </a:ext>
            </a:extLst>
          </p:cNvPr>
          <p:cNvSpPr txBox="1">
            <a:spLocks/>
          </p:cNvSpPr>
          <p:nvPr/>
        </p:nvSpPr>
        <p:spPr>
          <a:xfrm>
            <a:off x="635836" y="126961"/>
            <a:ext cx="8420100" cy="476847"/>
          </a:xfrm>
        </p:spPr>
        <p:txBody>
          <a:bodyPr/>
          <a:lst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a:lstStyle>
          <a:p>
            <a:r>
              <a:rPr lang="ja-JP" altLang="en-US" kern="0">
                <a:latin typeface="Meiryo UI" panose="020B0604030504040204" pitchFamily="50" charset="-128"/>
                <a:ea typeface="Meiryo UI" panose="020B0604030504040204" pitchFamily="50" charset="-128"/>
              </a:rPr>
              <a:t>１</a:t>
            </a:r>
            <a:r>
              <a:rPr lang="en-US" altLang="ja-JP" kern="0">
                <a:latin typeface="Meiryo UI" panose="020B0604030504040204" pitchFamily="50" charset="-128"/>
                <a:ea typeface="Meiryo UI" panose="020B0604030504040204" pitchFamily="50" charset="-128"/>
              </a:rPr>
              <a:t>-</a:t>
            </a:r>
            <a:r>
              <a:rPr lang="ja-JP" altLang="en-US" kern="0">
                <a:latin typeface="Meiryo UI" panose="020B0604030504040204" pitchFamily="50" charset="-128"/>
                <a:ea typeface="Meiryo UI" panose="020B0604030504040204" pitchFamily="50" charset="-128"/>
              </a:rPr>
              <a:t>１．</a:t>
            </a:r>
            <a:r>
              <a:rPr lang="en-US" altLang="ja-JP" kern="0">
                <a:latin typeface="Meiryo UI" panose="020B0604030504040204" pitchFamily="50" charset="-128"/>
                <a:ea typeface="Meiryo UI" panose="020B0604030504040204" pitchFamily="50" charset="-128"/>
              </a:rPr>
              <a:t>【</a:t>
            </a:r>
            <a:r>
              <a:rPr lang="ja-JP" altLang="en-US" kern="0">
                <a:latin typeface="Meiryo UI" panose="020B0604030504040204" pitchFamily="50" charset="-128"/>
                <a:ea typeface="Meiryo UI" panose="020B0604030504040204" pitchFamily="50" charset="-128"/>
              </a:rPr>
              <a:t>案件概要</a:t>
            </a:r>
            <a:r>
              <a:rPr lang="en-US" altLang="ja-JP" kern="0">
                <a:latin typeface="Meiryo UI" panose="020B0604030504040204" pitchFamily="50" charset="-128"/>
                <a:ea typeface="Meiryo UI" panose="020B0604030504040204" pitchFamily="50" charset="-128"/>
              </a:rPr>
              <a:t>】</a:t>
            </a:r>
            <a:r>
              <a:rPr lang="ja-JP" altLang="en-US" kern="0">
                <a:latin typeface="Meiryo UI" panose="020B0604030504040204" pitchFamily="50" charset="-128"/>
                <a:ea typeface="Meiryo UI" panose="020B0604030504040204" pitchFamily="50" charset="-128"/>
              </a:rPr>
              <a:t>背景</a:t>
            </a:r>
            <a:r>
              <a:rPr lang="en-US" altLang="ja-JP" kern="0">
                <a:latin typeface="Meiryo UI" panose="020B0604030504040204" pitchFamily="50" charset="-128"/>
                <a:ea typeface="Meiryo UI" panose="020B0604030504040204" pitchFamily="50" charset="-128"/>
              </a:rPr>
              <a:t>/</a:t>
            </a:r>
            <a:r>
              <a:rPr lang="ja-JP" altLang="en-US" kern="0">
                <a:latin typeface="Meiryo UI" panose="020B0604030504040204" pitchFamily="50" charset="-128"/>
                <a:ea typeface="Meiryo UI" panose="020B0604030504040204" pitchFamily="50" charset="-128"/>
              </a:rPr>
              <a:t>目的</a:t>
            </a:r>
            <a:endParaRPr lang="ja-JP" altLang="en-US" kern="0"/>
          </a:p>
        </p:txBody>
      </p:sp>
      <p:sp>
        <p:nvSpPr>
          <p:cNvPr id="4" name="テキスト プレースホルダー 2">
            <a:extLst>
              <a:ext uri="{FF2B5EF4-FFF2-40B4-BE49-F238E27FC236}">
                <a16:creationId xmlns:a16="http://schemas.microsoft.com/office/drawing/2014/main" id="{DD1FC143-BE86-9083-54C6-C11E4AFFD5FA}"/>
              </a:ext>
            </a:extLst>
          </p:cNvPr>
          <p:cNvSpPr>
            <a:spLocks noGrp="1"/>
          </p:cNvSpPr>
          <p:nvPr>
            <p:ph type="body" sz="quarter" idx="12"/>
          </p:nvPr>
        </p:nvSpPr>
        <p:spPr>
          <a:xfrm>
            <a:off x="155753" y="592598"/>
            <a:ext cx="9575310" cy="693883"/>
          </a:xfrm>
          <a:noFill/>
        </p:spPr>
        <p:txBody>
          <a:bodyPr/>
          <a:lstStyle/>
          <a:p>
            <a:r>
              <a:rPr lang="en-US" altLang="ja-JP" sz="1600" dirty="0">
                <a:latin typeface="+mn-ea"/>
              </a:rPr>
              <a:t>2028</a:t>
            </a:r>
            <a:r>
              <a:rPr lang="ja-JP" altLang="en-US" sz="1600" dirty="0">
                <a:latin typeface="+mn-ea"/>
              </a:rPr>
              <a:t>年</a:t>
            </a:r>
            <a:r>
              <a:rPr lang="en-US" altLang="ja-JP" sz="1600" dirty="0">
                <a:latin typeface="+mn-ea"/>
              </a:rPr>
              <a:t>2</a:t>
            </a:r>
            <a:r>
              <a:rPr lang="ja-JP" altLang="en-US" sz="1600" dirty="0">
                <a:latin typeface="+mn-ea"/>
              </a:rPr>
              <a:t>月にコンタクト共通基盤の保守期限を迎え、水準更改を基本とした次期基盤への更改を行う。</a:t>
            </a:r>
            <a:endParaRPr lang="en-US" altLang="ja-JP" sz="1600" dirty="0">
              <a:latin typeface="+mn-ea"/>
            </a:endParaRPr>
          </a:p>
          <a:p>
            <a:r>
              <a:rPr lang="ja-JP" altLang="en-US" sz="1600" dirty="0">
                <a:latin typeface="+mn-ea"/>
              </a:rPr>
              <a:t>費用削減を目的とした基盤統合や製品の販売終了等に伴う全体システム構成の変更対応を実施する。</a:t>
            </a:r>
          </a:p>
          <a:p>
            <a:pPr marL="0" indent="0">
              <a:buNone/>
            </a:pPr>
            <a:endParaRPr lang="en-US" altLang="ja-JP" sz="1600" dirty="0">
              <a:latin typeface="+mn-ea"/>
            </a:endParaRPr>
          </a:p>
        </p:txBody>
      </p:sp>
      <p:grpSp>
        <p:nvGrpSpPr>
          <p:cNvPr id="8" name="グループ化 7">
            <a:extLst>
              <a:ext uri="{FF2B5EF4-FFF2-40B4-BE49-F238E27FC236}">
                <a16:creationId xmlns:a16="http://schemas.microsoft.com/office/drawing/2014/main" id="{F7C1F9E4-D134-B828-6C96-00BB9D388265}"/>
              </a:ext>
            </a:extLst>
          </p:cNvPr>
          <p:cNvGrpSpPr/>
          <p:nvPr/>
        </p:nvGrpSpPr>
        <p:grpSpPr>
          <a:xfrm>
            <a:off x="132348" y="1301390"/>
            <a:ext cx="4642386" cy="237463"/>
            <a:chOff x="997893" y="668547"/>
            <a:chExt cx="4176001" cy="237463"/>
          </a:xfrm>
        </p:grpSpPr>
        <p:sp>
          <p:nvSpPr>
            <p:cNvPr id="11" name="Rectangle 2">
              <a:extLst>
                <a:ext uri="{FF2B5EF4-FFF2-40B4-BE49-F238E27FC236}">
                  <a16:creationId xmlns:a16="http://schemas.microsoft.com/office/drawing/2014/main" id="{B0EE261B-171B-B9D5-A273-EE4BE5C82960}"/>
                </a:ext>
              </a:extLst>
            </p:cNvPr>
            <p:cNvSpPr txBox="1">
              <a:spLocks noChangeArrowheads="1"/>
            </p:cNvSpPr>
            <p:nvPr/>
          </p:nvSpPr>
          <p:spPr bwMode="auto">
            <a:xfrm>
              <a:off x="997893" y="668547"/>
              <a:ext cx="4140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lstStyle>
              <a:lvl1pPr eaLnBrk="0" hangingPunct="0">
                <a:lnSpc>
                  <a:spcPts val="2100"/>
                </a:lnSpc>
                <a:spcBef>
                  <a:spcPct val="80000"/>
                </a:spcBef>
                <a:buClr>
                  <a:srgbClr val="003C2C"/>
                </a:buClr>
                <a:buFont typeface="Wingdings" pitchFamily="2" charset="2"/>
                <a:buChar char="l"/>
                <a:tabLst>
                  <a:tab pos="6372225" algn="l"/>
                </a:tabLst>
                <a:defRPr kumimoji="1">
                  <a:solidFill>
                    <a:schemeClr val="tx1"/>
                  </a:solidFill>
                  <a:latin typeface="ＭＳ Ｐゴシック" charset="-128"/>
                  <a:ea typeface="ＭＳ Ｐゴシック" charset="-128"/>
                </a:defRPr>
              </a:lvl1pPr>
              <a:lvl2pPr marL="742950" indent="-285750" eaLnBrk="0" hangingPunct="0">
                <a:lnSpc>
                  <a:spcPts val="2100"/>
                </a:lnSpc>
                <a:spcBef>
                  <a:spcPct val="20000"/>
                </a:spcBef>
                <a:buClr>
                  <a:srgbClr val="A8D435"/>
                </a:buClr>
                <a:buSzPct val="90000"/>
                <a:buFont typeface="Wingdings" pitchFamily="2" charset="2"/>
                <a:buChar char="l"/>
                <a:tabLst>
                  <a:tab pos="6372225" algn="l"/>
                </a:tabLst>
                <a:defRPr kumimoji="1" sz="1600">
                  <a:solidFill>
                    <a:schemeClr val="tx1"/>
                  </a:solidFill>
                  <a:latin typeface="ＭＳ Ｐゴシック" charset="-128"/>
                  <a:ea typeface="ＭＳ Ｐゴシック" charset="-128"/>
                </a:defRPr>
              </a:lvl2pPr>
              <a:lvl3pPr marL="1143000" indent="-228600" eaLnBrk="0" hangingPunct="0">
                <a:lnSpc>
                  <a:spcPct val="125000"/>
                </a:lnSpc>
                <a:spcBef>
                  <a:spcPct val="20000"/>
                </a:spcBef>
                <a:buClr>
                  <a:srgbClr val="A2A2A2"/>
                </a:buClr>
                <a:buSzPct val="70000"/>
                <a:buFont typeface="Wingdings" pitchFamily="2" charset="2"/>
                <a:tabLst>
                  <a:tab pos="6372225" algn="l"/>
                </a:tabLst>
                <a:defRPr kumimoji="1" sz="1600">
                  <a:solidFill>
                    <a:schemeClr val="tx1"/>
                  </a:solidFill>
                  <a:latin typeface="ＭＳ Ｐゴシック" charset="-128"/>
                  <a:ea typeface="ＭＳ Ｐゴシック" charset="-128"/>
                </a:defRPr>
              </a:lvl3pPr>
              <a:lvl4pPr marL="1600200" indent="-228600" eaLnBrk="0" fontAlgn="ctr" hangingPunct="0">
                <a:lnSpc>
                  <a:spcPts val="2100"/>
                </a:lnSpc>
                <a:spcBef>
                  <a:spcPct val="20000"/>
                </a:spcBef>
                <a:buClr>
                  <a:srgbClr val="A2A2A2"/>
                </a:buClr>
                <a:buSzPct val="70000"/>
                <a:buFont typeface="Wingdings" pitchFamily="2" charset="2"/>
                <a:buChar char="l"/>
                <a:tabLst>
                  <a:tab pos="6372225" algn="l"/>
                </a:tabLst>
                <a:defRPr kumimoji="1" sz="1400">
                  <a:solidFill>
                    <a:schemeClr val="tx1"/>
                  </a:solidFill>
                  <a:latin typeface="ＭＳ Ｐゴシック" charset="-128"/>
                  <a:ea typeface="ＭＳ Ｐゴシック" charset="-128"/>
                </a:defRPr>
              </a:lvl4pPr>
              <a:lvl5pPr marL="2057400" indent="-228600" eaLnBrk="0" fontAlgn="ctr" hangingPunct="0">
                <a:lnSpc>
                  <a:spcPts val="2100"/>
                </a:lnSpc>
                <a:spcBef>
                  <a:spcPct val="20000"/>
                </a:spcBef>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5pPr>
              <a:lvl6pPr marL="25146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6pPr>
              <a:lvl7pPr marL="29718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7pPr>
              <a:lvl8pPr marL="34290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8pPr>
              <a:lvl9pPr marL="38862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tab pos="6372225" algn="l"/>
                </a:tabLst>
                <a:defRPr/>
              </a:pPr>
              <a:r>
                <a:rPr kumimoji="1" lang="ja-JP" altLang="en-US" sz="1400" b="1" dirty="0">
                  <a:latin typeface="+mn-ea"/>
                  <a:ea typeface="+mn-ea"/>
                </a:rPr>
                <a:t>費用削減対応</a:t>
              </a:r>
              <a:endParaRPr kumimoji="1" lang="en-US" altLang="ja-JP" sz="1400" b="1" i="0" u="none" strike="noStrike" kern="1200" cap="none" spc="0" normalizeH="0" baseline="0" noProof="0" dirty="0">
                <a:ln>
                  <a:noFill/>
                </a:ln>
                <a:effectLst/>
                <a:uLnTx/>
                <a:uFillTx/>
                <a:latin typeface="Meiryo UI" pitchFamily="50" charset="-128"/>
                <a:ea typeface="Meiryo UI" pitchFamily="50" charset="-128"/>
                <a:cs typeface="Meiryo UI" pitchFamily="50" charset="-128"/>
              </a:endParaRPr>
            </a:p>
          </p:txBody>
        </p:sp>
        <p:cxnSp>
          <p:nvCxnSpPr>
            <p:cNvPr id="12" name="直線コネクタ 11">
              <a:extLst>
                <a:ext uri="{FF2B5EF4-FFF2-40B4-BE49-F238E27FC236}">
                  <a16:creationId xmlns:a16="http://schemas.microsoft.com/office/drawing/2014/main" id="{63057D61-2B2A-4C63-0AEA-340C7E0C9BCD}"/>
                </a:ext>
              </a:extLst>
            </p:cNvPr>
            <p:cNvCxnSpPr>
              <a:cxnSpLocks/>
            </p:cNvCxnSpPr>
            <p:nvPr/>
          </p:nvCxnSpPr>
          <p:spPr bwMode="auto">
            <a:xfrm>
              <a:off x="997894" y="906010"/>
              <a:ext cx="4176000" cy="0"/>
            </a:xfrm>
            <a:prstGeom prst="line">
              <a:avLst/>
            </a:prstGeom>
            <a:noFill/>
            <a:ln w="19050" cap="flat" cmpd="sng" algn="ctr">
              <a:solidFill>
                <a:srgbClr val="0072CE"/>
              </a:solidFill>
              <a:prstDash val="solid"/>
              <a:headEnd type="none" w="med" len="med"/>
              <a:tailEnd type="none" w="med" len="med"/>
            </a:ln>
            <a:effectLst/>
          </p:spPr>
        </p:cxnSp>
      </p:grpSp>
      <p:sp>
        <p:nvSpPr>
          <p:cNvPr id="13" name="正方形/長方形 12">
            <a:extLst>
              <a:ext uri="{FF2B5EF4-FFF2-40B4-BE49-F238E27FC236}">
                <a16:creationId xmlns:a16="http://schemas.microsoft.com/office/drawing/2014/main" id="{330661A1-7D86-37A0-87E9-F93B4DD83B78}"/>
              </a:ext>
            </a:extLst>
          </p:cNvPr>
          <p:cNvSpPr/>
          <p:nvPr/>
        </p:nvSpPr>
        <p:spPr bwMode="auto">
          <a:xfrm>
            <a:off x="115210" y="1573328"/>
            <a:ext cx="4676661" cy="737446"/>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82563" indent="-182563" defTabSz="742950" eaLnBrk="1" hangingPunct="1">
              <a:buFont typeface="Wingdings" panose="05000000000000000000" pitchFamily="2" charset="2"/>
              <a:buChar char="ü"/>
              <a:defRPr/>
            </a:pPr>
            <a:r>
              <a:rPr kumimoji="1" lang="ja-JP" altLang="en-US" sz="1200" dirty="0">
                <a:latin typeface="+mn-ea"/>
                <a:ea typeface="+mn-ea"/>
              </a:rPr>
              <a:t>更改費用削減を目的とした対応として、</a:t>
            </a:r>
            <a:r>
              <a:rPr lang="ja-JP" altLang="en-US" sz="1200" dirty="0">
                <a:latin typeface="+mn-ea"/>
                <a:ea typeface="+mn-ea"/>
              </a:rPr>
              <a:t>①</a:t>
            </a:r>
            <a:r>
              <a:rPr lang="en-US" altLang="ja-JP" sz="1200" dirty="0">
                <a:latin typeface="+mn-ea"/>
                <a:ea typeface="+mn-ea"/>
              </a:rPr>
              <a:t>CTI</a:t>
            </a:r>
            <a:r>
              <a:rPr lang="ja-JP" altLang="en-US" sz="1200" dirty="0">
                <a:latin typeface="+mn-ea"/>
                <a:ea typeface="+mn-ea"/>
              </a:rPr>
              <a:t>基盤統合、②拠点設置機器の</a:t>
            </a:r>
            <a:r>
              <a:rPr lang="en-US" altLang="ja-JP" sz="1200" dirty="0">
                <a:latin typeface="+mn-ea"/>
                <a:ea typeface="+mn-ea"/>
              </a:rPr>
              <a:t>DC</a:t>
            </a:r>
            <a:r>
              <a:rPr lang="ja-JP" altLang="en-US" sz="1200" dirty="0">
                <a:latin typeface="+mn-ea"/>
                <a:ea typeface="+mn-ea"/>
              </a:rPr>
              <a:t>集約、③席数の見直しによるライセンス費用の削減を実施。</a:t>
            </a:r>
            <a:endParaRPr lang="en-US" altLang="ja-JP" sz="1200" dirty="0">
              <a:latin typeface="+mn-ea"/>
              <a:ea typeface="+mn-ea"/>
            </a:endParaRPr>
          </a:p>
        </p:txBody>
      </p:sp>
      <p:sp>
        <p:nvSpPr>
          <p:cNvPr id="14" name="正方形/長方形 13">
            <a:extLst>
              <a:ext uri="{FF2B5EF4-FFF2-40B4-BE49-F238E27FC236}">
                <a16:creationId xmlns:a16="http://schemas.microsoft.com/office/drawing/2014/main" id="{F211FEC2-9D25-5677-C0BD-E1220D75934F}"/>
              </a:ext>
            </a:extLst>
          </p:cNvPr>
          <p:cNvSpPr/>
          <p:nvPr/>
        </p:nvSpPr>
        <p:spPr bwMode="auto">
          <a:xfrm>
            <a:off x="585458" y="2888133"/>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ACD1</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5" name="正方形/長方形 14">
            <a:extLst>
              <a:ext uri="{FF2B5EF4-FFF2-40B4-BE49-F238E27FC236}">
                <a16:creationId xmlns:a16="http://schemas.microsoft.com/office/drawing/2014/main" id="{5FDC1B73-AC4C-037F-C4DE-85911375BBE2}"/>
              </a:ext>
            </a:extLst>
          </p:cNvPr>
          <p:cNvSpPr/>
          <p:nvPr/>
        </p:nvSpPr>
        <p:spPr bwMode="auto">
          <a:xfrm>
            <a:off x="585458" y="3225319"/>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ACD2</a:t>
            </a:r>
            <a:r>
              <a:rPr lang="ja-JP" altLang="en-US" sz="900" dirty="0">
                <a:latin typeface="+mn-ea"/>
                <a:cs typeface="Meiryo UI" panose="020B0604030504040204" pitchFamily="50" charset="-128"/>
              </a:rPr>
              <a:t>災対）</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6" name="Graphic 78" descr="Corporate data center group icon. ">
            <a:extLst>
              <a:ext uri="{FF2B5EF4-FFF2-40B4-BE49-F238E27FC236}">
                <a16:creationId xmlns:a16="http://schemas.microsoft.com/office/drawing/2014/main" id="{18802E18-BE98-F6DA-FF9A-B74CF82FAD9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96648" y="3694249"/>
            <a:ext cx="226073" cy="211538"/>
          </a:xfrm>
          <a:prstGeom prst="rect">
            <a:avLst/>
          </a:prstGeom>
        </p:spPr>
      </p:pic>
      <p:pic>
        <p:nvPicPr>
          <p:cNvPr id="17" name="Graphic 78" descr="Corporate data center group icon. ">
            <a:extLst>
              <a:ext uri="{FF2B5EF4-FFF2-40B4-BE49-F238E27FC236}">
                <a16:creationId xmlns:a16="http://schemas.microsoft.com/office/drawing/2014/main" id="{6728AB00-3349-9B60-E943-06CA3567854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96648" y="2665266"/>
            <a:ext cx="226073" cy="211538"/>
          </a:xfrm>
          <a:prstGeom prst="rect">
            <a:avLst/>
          </a:prstGeom>
        </p:spPr>
      </p:pic>
      <p:sp>
        <p:nvSpPr>
          <p:cNvPr id="18" name="Rectangle 77">
            <a:extLst>
              <a:ext uri="{FF2B5EF4-FFF2-40B4-BE49-F238E27FC236}">
                <a16:creationId xmlns:a16="http://schemas.microsoft.com/office/drawing/2014/main" id="{F838B573-1383-AA16-03BC-362CC9A2BD0C}"/>
              </a:ext>
            </a:extLst>
          </p:cNvPr>
          <p:cNvSpPr/>
          <p:nvPr/>
        </p:nvSpPr>
        <p:spPr>
          <a:xfrm>
            <a:off x="403972" y="3694249"/>
            <a:ext cx="1747993" cy="9315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大和</a:t>
            </a:r>
            <a:r>
              <a:rPr lang="en-US" altLang="ja-JP" sz="900" dirty="0">
                <a:solidFill>
                  <a:schemeClr val="tx1"/>
                </a:solidFill>
                <a:latin typeface="Arial" panose="020B0604020202020204" pitchFamily="34" charset="0"/>
                <a:cs typeface="Arial" panose="020B0604020202020204" pitchFamily="34" charset="0"/>
              </a:rPr>
              <a:t>DC</a:t>
            </a:r>
            <a:endParaRPr lang="en-US" sz="900" dirty="0">
              <a:solidFill>
                <a:schemeClr val="tx1"/>
              </a:solidFill>
              <a:latin typeface="Arial" panose="020B0604020202020204" pitchFamily="34" charset="0"/>
              <a:cs typeface="Arial" panose="020B0604020202020204" pitchFamily="34" charset="0"/>
            </a:endParaRPr>
          </a:p>
        </p:txBody>
      </p:sp>
      <p:sp>
        <p:nvSpPr>
          <p:cNvPr id="19" name="Rectangle 77">
            <a:extLst>
              <a:ext uri="{FF2B5EF4-FFF2-40B4-BE49-F238E27FC236}">
                <a16:creationId xmlns:a16="http://schemas.microsoft.com/office/drawing/2014/main" id="{E6BE4F78-4128-002B-6C96-6EB2BCB331D8}"/>
              </a:ext>
            </a:extLst>
          </p:cNvPr>
          <p:cNvSpPr/>
          <p:nvPr/>
        </p:nvSpPr>
        <p:spPr>
          <a:xfrm>
            <a:off x="403972" y="2662931"/>
            <a:ext cx="1747993" cy="9315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鰻谷</a:t>
            </a:r>
            <a:r>
              <a:rPr lang="en-US" altLang="ja-JP" sz="900" dirty="0">
                <a:solidFill>
                  <a:schemeClr val="tx1"/>
                </a:solidFill>
                <a:latin typeface="Arial" panose="020B0604020202020204" pitchFamily="34" charset="0"/>
                <a:cs typeface="Arial" panose="020B0604020202020204" pitchFamily="34" charset="0"/>
              </a:rPr>
              <a:t>DC</a:t>
            </a:r>
            <a:endParaRPr lang="en-US" sz="900" dirty="0">
              <a:solidFill>
                <a:schemeClr val="tx1"/>
              </a:solidFill>
              <a:latin typeface="Arial" panose="020B0604020202020204" pitchFamily="34" charset="0"/>
              <a:cs typeface="Arial" panose="020B0604020202020204" pitchFamily="34" charset="0"/>
            </a:endParaRPr>
          </a:p>
        </p:txBody>
      </p:sp>
      <p:sp>
        <p:nvSpPr>
          <p:cNvPr id="20" name="正方形/長方形 19">
            <a:extLst>
              <a:ext uri="{FF2B5EF4-FFF2-40B4-BE49-F238E27FC236}">
                <a16:creationId xmlns:a16="http://schemas.microsoft.com/office/drawing/2014/main" id="{4E89CFEA-78C4-BE9B-FECF-FF38065A533F}"/>
              </a:ext>
            </a:extLst>
          </p:cNvPr>
          <p:cNvSpPr/>
          <p:nvPr/>
        </p:nvSpPr>
        <p:spPr bwMode="auto">
          <a:xfrm>
            <a:off x="1389619" y="2888133"/>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FS</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21" name="正方形/長方形 20">
            <a:extLst>
              <a:ext uri="{FF2B5EF4-FFF2-40B4-BE49-F238E27FC236}">
                <a16:creationId xmlns:a16="http://schemas.microsoft.com/office/drawing/2014/main" id="{9B7A69AA-1375-56CA-75E7-66CF136DA318}"/>
              </a:ext>
            </a:extLst>
          </p:cNvPr>
          <p:cNvSpPr/>
          <p:nvPr/>
        </p:nvSpPr>
        <p:spPr bwMode="auto">
          <a:xfrm>
            <a:off x="585458" y="391623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ACD2</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22" name="正方形/長方形 21">
            <a:extLst>
              <a:ext uri="{FF2B5EF4-FFF2-40B4-BE49-F238E27FC236}">
                <a16:creationId xmlns:a16="http://schemas.microsoft.com/office/drawing/2014/main" id="{5137B80A-A732-EF20-1034-8A59ACD80164}"/>
              </a:ext>
            </a:extLst>
          </p:cNvPr>
          <p:cNvSpPr/>
          <p:nvPr/>
        </p:nvSpPr>
        <p:spPr bwMode="auto">
          <a:xfrm>
            <a:off x="1389619" y="391623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（受託先）</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23" name="正方形/長方形 22">
            <a:extLst>
              <a:ext uri="{FF2B5EF4-FFF2-40B4-BE49-F238E27FC236}">
                <a16:creationId xmlns:a16="http://schemas.microsoft.com/office/drawing/2014/main" id="{AB3F479F-D2B7-82D4-D103-299ABDF6F438}"/>
              </a:ext>
            </a:extLst>
          </p:cNvPr>
          <p:cNvSpPr/>
          <p:nvPr/>
        </p:nvSpPr>
        <p:spPr bwMode="auto">
          <a:xfrm>
            <a:off x="585458" y="4262411"/>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ACD1</a:t>
            </a:r>
            <a:r>
              <a:rPr lang="ja-JP" altLang="en-US" sz="900" dirty="0">
                <a:latin typeface="+mn-ea"/>
                <a:cs typeface="Meiryo UI" panose="020B0604030504040204" pitchFamily="50" charset="-128"/>
              </a:rPr>
              <a:t>災対）</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24" name="正方形/長方形 23">
            <a:extLst>
              <a:ext uri="{FF2B5EF4-FFF2-40B4-BE49-F238E27FC236}">
                <a16:creationId xmlns:a16="http://schemas.microsoft.com/office/drawing/2014/main" id="{741895F7-48AC-54FD-0420-F238975CB2BD}"/>
              </a:ext>
            </a:extLst>
          </p:cNvPr>
          <p:cNvSpPr/>
          <p:nvPr/>
        </p:nvSpPr>
        <p:spPr bwMode="auto">
          <a:xfrm>
            <a:off x="3301320" y="3067032"/>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p:txBody>
      </p:sp>
      <p:pic>
        <p:nvPicPr>
          <p:cNvPr id="25" name="Graphic 78" descr="Corporate data center group icon. ">
            <a:extLst>
              <a:ext uri="{FF2B5EF4-FFF2-40B4-BE49-F238E27FC236}">
                <a16:creationId xmlns:a16="http://schemas.microsoft.com/office/drawing/2014/main" id="{FB64A7EF-B52A-BCF8-E014-CAEC9A6F495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018097" y="3710131"/>
            <a:ext cx="226073" cy="211538"/>
          </a:xfrm>
          <a:prstGeom prst="rect">
            <a:avLst/>
          </a:prstGeom>
        </p:spPr>
      </p:pic>
      <p:pic>
        <p:nvPicPr>
          <p:cNvPr id="26" name="Graphic 78" descr="Corporate data center group icon. ">
            <a:extLst>
              <a:ext uri="{FF2B5EF4-FFF2-40B4-BE49-F238E27FC236}">
                <a16:creationId xmlns:a16="http://schemas.microsoft.com/office/drawing/2014/main" id="{ED95166B-9B83-0B85-2300-6CC772A4E254}"/>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018097" y="2681148"/>
            <a:ext cx="226073" cy="211538"/>
          </a:xfrm>
          <a:prstGeom prst="rect">
            <a:avLst/>
          </a:prstGeom>
        </p:spPr>
      </p:pic>
      <p:sp>
        <p:nvSpPr>
          <p:cNvPr id="27" name="Rectangle 77">
            <a:extLst>
              <a:ext uri="{FF2B5EF4-FFF2-40B4-BE49-F238E27FC236}">
                <a16:creationId xmlns:a16="http://schemas.microsoft.com/office/drawing/2014/main" id="{44C2194E-1115-AF3A-D2E2-AA13FC1F2500}"/>
              </a:ext>
            </a:extLst>
          </p:cNvPr>
          <p:cNvSpPr/>
          <p:nvPr/>
        </p:nvSpPr>
        <p:spPr>
          <a:xfrm>
            <a:off x="3017802" y="3699680"/>
            <a:ext cx="1206470" cy="9315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大和</a:t>
            </a:r>
            <a:r>
              <a:rPr lang="en-US" altLang="ja-JP" sz="900" dirty="0">
                <a:solidFill>
                  <a:schemeClr val="tx1"/>
                </a:solidFill>
                <a:latin typeface="Arial" panose="020B0604020202020204" pitchFamily="34" charset="0"/>
                <a:cs typeface="Arial" panose="020B0604020202020204" pitchFamily="34" charset="0"/>
              </a:rPr>
              <a:t>DC</a:t>
            </a:r>
            <a:endParaRPr lang="en-US" sz="900" dirty="0">
              <a:solidFill>
                <a:schemeClr val="tx1"/>
              </a:solidFill>
              <a:latin typeface="Arial" panose="020B0604020202020204" pitchFamily="34" charset="0"/>
              <a:cs typeface="Arial" panose="020B0604020202020204" pitchFamily="34" charset="0"/>
            </a:endParaRPr>
          </a:p>
        </p:txBody>
      </p:sp>
      <p:sp>
        <p:nvSpPr>
          <p:cNvPr id="28" name="Rectangle 77">
            <a:extLst>
              <a:ext uri="{FF2B5EF4-FFF2-40B4-BE49-F238E27FC236}">
                <a16:creationId xmlns:a16="http://schemas.microsoft.com/office/drawing/2014/main" id="{67544109-18CC-52D3-CEC4-B526FE48CFD7}"/>
              </a:ext>
            </a:extLst>
          </p:cNvPr>
          <p:cNvSpPr/>
          <p:nvPr/>
        </p:nvSpPr>
        <p:spPr>
          <a:xfrm>
            <a:off x="3025422" y="2668362"/>
            <a:ext cx="1201192" cy="9315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鰻谷</a:t>
            </a:r>
            <a:r>
              <a:rPr lang="en-US" altLang="ja-JP" sz="900" dirty="0">
                <a:solidFill>
                  <a:schemeClr val="tx1"/>
                </a:solidFill>
                <a:latin typeface="Arial" panose="020B0604020202020204" pitchFamily="34" charset="0"/>
                <a:cs typeface="Arial" panose="020B0604020202020204" pitchFamily="34" charset="0"/>
              </a:rPr>
              <a:t>DC</a:t>
            </a:r>
            <a:endParaRPr lang="en-US" sz="900" dirty="0">
              <a:solidFill>
                <a:schemeClr val="tx1"/>
              </a:solidFill>
              <a:latin typeface="Arial" panose="020B0604020202020204" pitchFamily="34" charset="0"/>
              <a:cs typeface="Arial" panose="020B0604020202020204" pitchFamily="34" charset="0"/>
            </a:endParaRPr>
          </a:p>
        </p:txBody>
      </p:sp>
      <p:sp>
        <p:nvSpPr>
          <p:cNvPr id="29" name="正方形/長方形 28">
            <a:extLst>
              <a:ext uri="{FF2B5EF4-FFF2-40B4-BE49-F238E27FC236}">
                <a16:creationId xmlns:a16="http://schemas.microsoft.com/office/drawing/2014/main" id="{C06953E2-8871-4178-F6FA-7AE8F1B3CEA2}"/>
              </a:ext>
            </a:extLst>
          </p:cNvPr>
          <p:cNvSpPr/>
          <p:nvPr/>
        </p:nvSpPr>
        <p:spPr bwMode="auto">
          <a:xfrm>
            <a:off x="3301320" y="4037647"/>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（災対）</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30" name="正方形/長方形 29">
            <a:extLst>
              <a:ext uri="{FF2B5EF4-FFF2-40B4-BE49-F238E27FC236}">
                <a16:creationId xmlns:a16="http://schemas.microsoft.com/office/drawing/2014/main" id="{16B50B89-ED5F-E6D3-F363-8CAAAB8023A4}"/>
              </a:ext>
            </a:extLst>
          </p:cNvPr>
          <p:cNvSpPr/>
          <p:nvPr/>
        </p:nvSpPr>
        <p:spPr bwMode="auto">
          <a:xfrm>
            <a:off x="1389619" y="4262411"/>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FS</a:t>
            </a:r>
            <a:r>
              <a:rPr lang="ja-JP" altLang="en-US" sz="900" dirty="0">
                <a:latin typeface="+mn-ea"/>
                <a:cs typeface="Meiryo UI" panose="020B0604030504040204" pitchFamily="50" charset="-128"/>
              </a:rPr>
              <a:t>災対）</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31" name="テキスト ボックス 30">
            <a:extLst>
              <a:ext uri="{FF2B5EF4-FFF2-40B4-BE49-F238E27FC236}">
                <a16:creationId xmlns:a16="http://schemas.microsoft.com/office/drawing/2014/main" id="{5427901D-CBA1-C694-641B-E5947C9732F9}"/>
              </a:ext>
            </a:extLst>
          </p:cNvPr>
          <p:cNvSpPr txBox="1"/>
          <p:nvPr/>
        </p:nvSpPr>
        <p:spPr>
          <a:xfrm>
            <a:off x="388674" y="2412276"/>
            <a:ext cx="1632663" cy="253916"/>
          </a:xfrm>
          <a:prstGeom prst="rect">
            <a:avLst/>
          </a:prstGeom>
          <a:noFill/>
        </p:spPr>
        <p:txBody>
          <a:bodyPr wrap="square" rtlCol="0">
            <a:spAutoFit/>
          </a:bodyPr>
          <a:lstStyle/>
          <a:p>
            <a:pPr algn="l"/>
            <a:r>
              <a:rPr kumimoji="1" lang="ja-JP" altLang="en-US" sz="1050" dirty="0">
                <a:latin typeface="+mn-ea"/>
                <a:ea typeface="+mn-ea"/>
                <a:cs typeface="Meiryo UI" panose="020B0604030504040204" pitchFamily="50" charset="-128"/>
              </a:rPr>
              <a:t>更改前（４システム）</a:t>
            </a:r>
          </a:p>
        </p:txBody>
      </p:sp>
      <p:sp>
        <p:nvSpPr>
          <p:cNvPr id="32" name="テキスト ボックス 31">
            <a:extLst>
              <a:ext uri="{FF2B5EF4-FFF2-40B4-BE49-F238E27FC236}">
                <a16:creationId xmlns:a16="http://schemas.microsoft.com/office/drawing/2014/main" id="{F218415F-C61A-D6AF-BDF7-6F396342C158}"/>
              </a:ext>
            </a:extLst>
          </p:cNvPr>
          <p:cNvSpPr txBox="1"/>
          <p:nvPr/>
        </p:nvSpPr>
        <p:spPr>
          <a:xfrm>
            <a:off x="3024671" y="2412276"/>
            <a:ext cx="1561364" cy="253916"/>
          </a:xfrm>
          <a:prstGeom prst="rect">
            <a:avLst/>
          </a:prstGeom>
          <a:noFill/>
        </p:spPr>
        <p:txBody>
          <a:bodyPr wrap="square" rtlCol="0">
            <a:spAutoFit/>
          </a:bodyPr>
          <a:lstStyle/>
          <a:p>
            <a:pPr algn="l"/>
            <a:r>
              <a:rPr kumimoji="1" lang="ja-JP" altLang="en-US" sz="1050" dirty="0">
                <a:latin typeface="+mn-ea"/>
                <a:ea typeface="+mn-ea"/>
                <a:cs typeface="Meiryo UI" panose="020B0604030504040204" pitchFamily="50" charset="-128"/>
              </a:rPr>
              <a:t>更改後（１システム）</a:t>
            </a:r>
          </a:p>
        </p:txBody>
      </p:sp>
      <p:sp>
        <p:nvSpPr>
          <p:cNvPr id="33" name="矢印: 右 32">
            <a:extLst>
              <a:ext uri="{FF2B5EF4-FFF2-40B4-BE49-F238E27FC236}">
                <a16:creationId xmlns:a16="http://schemas.microsoft.com/office/drawing/2014/main" id="{3DBCAC21-3355-4DA5-12C3-6A82B09BA795}"/>
              </a:ext>
            </a:extLst>
          </p:cNvPr>
          <p:cNvSpPr/>
          <p:nvPr/>
        </p:nvSpPr>
        <p:spPr bwMode="auto">
          <a:xfrm>
            <a:off x="1984435" y="3181639"/>
            <a:ext cx="1201193" cy="496774"/>
          </a:xfrm>
          <a:prstGeom prst="rightArrow">
            <a:avLst/>
          </a:prstGeom>
          <a:solidFill>
            <a:schemeClr val="tx2"/>
          </a:solidFill>
          <a:ln w="9525" cap="flat" cmpd="sng" algn="ctr">
            <a:solidFill>
              <a:schemeClr val="bg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050" b="1" i="0" u="none" strike="noStrike" cap="none" normalizeH="0" baseline="0" dirty="0">
                <a:ln>
                  <a:noFill/>
                </a:ln>
                <a:solidFill>
                  <a:schemeClr val="bg1"/>
                </a:solidFill>
                <a:effectLst/>
                <a:latin typeface="+mn-ea"/>
                <a:ea typeface="+mn-ea"/>
                <a:cs typeface="Meiryo UI" panose="020B0604030504040204" pitchFamily="50" charset="-128"/>
              </a:rPr>
              <a:t>①</a:t>
            </a:r>
            <a:r>
              <a:rPr kumimoji="1" lang="en-US" altLang="ja-JP" sz="1050" b="1" i="0" u="none" strike="noStrike" cap="none" normalizeH="0" baseline="0" dirty="0">
                <a:ln>
                  <a:noFill/>
                </a:ln>
                <a:solidFill>
                  <a:schemeClr val="bg1"/>
                </a:solidFill>
                <a:effectLst/>
                <a:latin typeface="+mn-ea"/>
                <a:ea typeface="+mn-ea"/>
                <a:cs typeface="Meiryo UI" panose="020B0604030504040204" pitchFamily="50" charset="-128"/>
              </a:rPr>
              <a:t>CTI</a:t>
            </a:r>
            <a:r>
              <a:rPr kumimoji="1" lang="ja-JP" altLang="en-US" sz="1050" b="1" i="0" u="none" strike="noStrike" cap="none" normalizeH="0" baseline="0" dirty="0">
                <a:ln>
                  <a:noFill/>
                </a:ln>
                <a:solidFill>
                  <a:schemeClr val="bg1"/>
                </a:solidFill>
                <a:effectLst/>
                <a:latin typeface="+mn-ea"/>
                <a:ea typeface="+mn-ea"/>
                <a:cs typeface="Meiryo UI" panose="020B0604030504040204" pitchFamily="50" charset="-128"/>
              </a:rPr>
              <a:t>基盤統合</a:t>
            </a:r>
          </a:p>
        </p:txBody>
      </p:sp>
      <p:sp>
        <p:nvSpPr>
          <p:cNvPr id="34" name="Rectangle 77">
            <a:extLst>
              <a:ext uri="{FF2B5EF4-FFF2-40B4-BE49-F238E27FC236}">
                <a16:creationId xmlns:a16="http://schemas.microsoft.com/office/drawing/2014/main" id="{DB289868-7CD7-5577-571D-AE13493F3281}"/>
              </a:ext>
            </a:extLst>
          </p:cNvPr>
          <p:cNvSpPr/>
          <p:nvPr/>
        </p:nvSpPr>
        <p:spPr>
          <a:xfrm>
            <a:off x="403973" y="4807151"/>
            <a:ext cx="842602" cy="1230406"/>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6000" tIns="91440" rIns="0"/>
          <a:lstStyle/>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       拠点</a:t>
            </a:r>
            <a:endParaRPr lang="en-US" altLang="ja-JP" sz="900" dirty="0">
              <a:solidFill>
                <a:schemeClr val="tx1"/>
              </a:solidFill>
              <a:latin typeface="Arial" panose="020B0604020202020204" pitchFamily="34" charset="0"/>
              <a:cs typeface="Arial" panose="020B0604020202020204" pitchFamily="34" charset="0"/>
            </a:endParaRPr>
          </a:p>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    （</a:t>
            </a:r>
            <a:r>
              <a:rPr lang="en-US" altLang="ja-JP" sz="900" dirty="0">
                <a:solidFill>
                  <a:schemeClr val="tx1"/>
                </a:solidFill>
                <a:latin typeface="Arial" panose="020B0604020202020204" pitchFamily="34" charset="0"/>
                <a:cs typeface="Arial" panose="020B0604020202020204" pitchFamily="34" charset="0"/>
              </a:rPr>
              <a:t>CC/</a:t>
            </a:r>
            <a:r>
              <a:rPr lang="ja-JP" altLang="en-US" sz="900" dirty="0">
                <a:solidFill>
                  <a:schemeClr val="tx1"/>
                </a:solidFill>
                <a:latin typeface="Arial" panose="020B0604020202020204" pitchFamily="34" charset="0"/>
                <a:cs typeface="Arial" panose="020B0604020202020204" pitchFamily="34" charset="0"/>
              </a:rPr>
              <a:t>受託）</a:t>
            </a:r>
            <a:endParaRPr lang="en-US" sz="900" dirty="0">
              <a:solidFill>
                <a:schemeClr val="tx1"/>
              </a:solidFill>
              <a:latin typeface="Arial" panose="020B0604020202020204" pitchFamily="34" charset="0"/>
              <a:cs typeface="Arial" panose="020B0604020202020204" pitchFamily="34" charset="0"/>
            </a:endParaRPr>
          </a:p>
        </p:txBody>
      </p:sp>
      <p:pic>
        <p:nvPicPr>
          <p:cNvPr id="35" name="Graphic 99" descr="Office building resource icon for the General Icons category.">
            <a:extLst>
              <a:ext uri="{FF2B5EF4-FFF2-40B4-BE49-F238E27FC236}">
                <a16:creationId xmlns:a16="http://schemas.microsoft.com/office/drawing/2014/main" id="{5FC343CE-92E3-026A-8BE4-4B79F0A656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3972" y="4810327"/>
            <a:ext cx="238977" cy="215613"/>
          </a:xfrm>
          <a:prstGeom prst="rect">
            <a:avLst/>
          </a:prstGeom>
        </p:spPr>
      </p:pic>
      <p:sp>
        <p:nvSpPr>
          <p:cNvPr id="36" name="正方形/長方形 35">
            <a:extLst>
              <a:ext uri="{FF2B5EF4-FFF2-40B4-BE49-F238E27FC236}">
                <a16:creationId xmlns:a16="http://schemas.microsoft.com/office/drawing/2014/main" id="{7CED548E-4699-4364-7DAA-905BEA7011A6}"/>
              </a:ext>
            </a:extLst>
          </p:cNvPr>
          <p:cNvSpPr/>
          <p:nvPr/>
        </p:nvSpPr>
        <p:spPr bwMode="auto">
          <a:xfrm>
            <a:off x="533369" y="5245770"/>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IP</a:t>
            </a:r>
            <a:r>
              <a:rPr kumimoji="1" lang="ja-JP" altLang="en-US" sz="900" i="0" u="none" strike="noStrike" cap="none" normalizeH="0" baseline="0" dirty="0">
                <a:ln>
                  <a:noFill/>
                </a:ln>
                <a:solidFill>
                  <a:schemeClr val="tx1"/>
                </a:solidFill>
                <a:effectLst/>
                <a:latin typeface="+mn-ea"/>
                <a:cs typeface="Meiryo UI" panose="020B0604030504040204" pitchFamily="50" charset="-128"/>
              </a:rPr>
              <a:t>電話機</a:t>
            </a:r>
            <a:endParaRPr kumimoji="1" lang="en-US" altLang="ja-JP" sz="900" i="0" u="none" strike="noStrike" cap="none" normalizeH="0" baseline="0" dirty="0">
              <a:ln>
                <a:noFill/>
              </a:ln>
              <a:solidFill>
                <a:schemeClr val="tx1"/>
              </a:solidFill>
              <a:effectLst/>
              <a:latin typeface="+mn-ea"/>
              <a:cs typeface="Meiryo UI" panose="020B0604030504040204" pitchFamily="50" charset="-128"/>
            </a:endParaRP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業務アプリ</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37" name="正方形/長方形 36">
            <a:extLst>
              <a:ext uri="{FF2B5EF4-FFF2-40B4-BE49-F238E27FC236}">
                <a16:creationId xmlns:a16="http://schemas.microsoft.com/office/drawing/2014/main" id="{A39FB220-F2DA-1CCC-1B92-3E041CB4DF38}"/>
              </a:ext>
            </a:extLst>
          </p:cNvPr>
          <p:cNvSpPr/>
          <p:nvPr/>
        </p:nvSpPr>
        <p:spPr bwMode="auto">
          <a:xfrm>
            <a:off x="533369" y="564783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G450</a:t>
            </a:r>
            <a:r>
              <a:rPr kumimoji="1" lang="ja-JP" altLang="en-US" sz="900" i="0" u="none" strike="noStrike" cap="none" normalizeH="0" baseline="0" dirty="0">
                <a:ln>
                  <a:noFill/>
                </a:ln>
                <a:solidFill>
                  <a:schemeClr val="tx1"/>
                </a:solidFill>
                <a:effectLst/>
                <a:latin typeface="+mn-ea"/>
                <a:cs typeface="Meiryo UI" panose="020B0604030504040204" pitchFamily="50" charset="-128"/>
              </a:rPr>
              <a:t>・</a:t>
            </a:r>
            <a:r>
              <a:rPr kumimoji="1" lang="en-US" altLang="ja-JP" sz="900" i="0" u="none" strike="noStrike" cap="none" normalizeH="0" baseline="0" dirty="0">
                <a:ln>
                  <a:noFill/>
                </a:ln>
                <a:solidFill>
                  <a:schemeClr val="tx1"/>
                </a:solidFill>
                <a:effectLst/>
                <a:latin typeface="+mn-ea"/>
                <a:cs typeface="Meiryo UI" panose="020B0604030504040204" pitchFamily="50" charset="-128"/>
              </a:rPr>
              <a:t>AIR</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38" name="Picture 13" descr="20">
            <a:extLst>
              <a:ext uri="{FF2B5EF4-FFF2-40B4-BE49-F238E27FC236}">
                <a16:creationId xmlns:a16="http://schemas.microsoft.com/office/drawing/2014/main" id="{B41ED63A-F5A1-0414-FEC6-BE5A4539BFC8}"/>
              </a:ext>
            </a:extLst>
          </p:cNvPr>
          <p:cNvPicPr>
            <a:picLocks noChangeAspect="1" noChangeArrowheads="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40398" y="6109904"/>
            <a:ext cx="795130" cy="609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Text Box 117">
            <a:extLst>
              <a:ext uri="{FF2B5EF4-FFF2-40B4-BE49-F238E27FC236}">
                <a16:creationId xmlns:a16="http://schemas.microsoft.com/office/drawing/2014/main" id="{C802818A-7D6A-C984-89BF-97EA8A61B645}"/>
              </a:ext>
            </a:extLst>
          </p:cNvPr>
          <p:cNvSpPr txBox="1">
            <a:spLocks noChangeAspect="1" noChangeArrowheads="1"/>
          </p:cNvSpPr>
          <p:nvPr/>
        </p:nvSpPr>
        <p:spPr bwMode="auto">
          <a:xfrm>
            <a:off x="462398" y="6190105"/>
            <a:ext cx="793558" cy="404156"/>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800" i="0" u="none" strike="noStrike" baseline="0" dirty="0">
                <a:latin typeface="+mn-ea"/>
              </a:rPr>
              <a:t>電話回線</a:t>
            </a:r>
            <a:endParaRPr lang="en-US" altLang="ja-JP" sz="800" i="0" u="none" strike="noStrike" baseline="0" dirty="0">
              <a:latin typeface="+mn-ea"/>
            </a:endParaRPr>
          </a:p>
          <a:p>
            <a:pPr algn="ctr" rtl="0">
              <a:defRPr sz="1000"/>
            </a:pPr>
            <a:r>
              <a:rPr lang="ja-JP" altLang="en-US" sz="800" dirty="0">
                <a:latin typeface="+mn-ea"/>
              </a:rPr>
              <a:t>（</a:t>
            </a:r>
            <a:r>
              <a:rPr lang="en-US" altLang="ja-JP" sz="800" dirty="0">
                <a:latin typeface="+mn-ea"/>
              </a:rPr>
              <a:t>CC/</a:t>
            </a:r>
            <a:r>
              <a:rPr lang="ja-JP" altLang="en-US" sz="800" dirty="0">
                <a:latin typeface="+mn-ea"/>
              </a:rPr>
              <a:t>受託）</a:t>
            </a:r>
            <a:endParaRPr lang="ja-JP" altLang="en-US" sz="800" i="0" u="none" strike="noStrike" baseline="0" dirty="0">
              <a:latin typeface="+mn-ea"/>
            </a:endParaRPr>
          </a:p>
        </p:txBody>
      </p:sp>
      <p:cxnSp>
        <p:nvCxnSpPr>
          <p:cNvPr id="40" name="直線コネクタ 39">
            <a:extLst>
              <a:ext uri="{FF2B5EF4-FFF2-40B4-BE49-F238E27FC236}">
                <a16:creationId xmlns:a16="http://schemas.microsoft.com/office/drawing/2014/main" id="{F3516302-339E-D8C4-F4AD-7E02C3A8E25E}"/>
              </a:ext>
            </a:extLst>
          </p:cNvPr>
          <p:cNvCxnSpPr>
            <a:cxnSpLocks/>
            <a:stCxn id="39" idx="0"/>
            <a:endCxn id="37" idx="2"/>
          </p:cNvCxnSpPr>
          <p:nvPr/>
        </p:nvCxnSpPr>
        <p:spPr bwMode="auto">
          <a:xfrm flipH="1" flipV="1">
            <a:off x="855649" y="5943028"/>
            <a:ext cx="3528" cy="247077"/>
          </a:xfrm>
          <a:prstGeom prst="line">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Rectangle 77">
            <a:extLst>
              <a:ext uri="{FF2B5EF4-FFF2-40B4-BE49-F238E27FC236}">
                <a16:creationId xmlns:a16="http://schemas.microsoft.com/office/drawing/2014/main" id="{AD83C618-FD94-93A1-63EB-E516A3EF34BF}"/>
              </a:ext>
            </a:extLst>
          </p:cNvPr>
          <p:cNvSpPr/>
          <p:nvPr/>
        </p:nvSpPr>
        <p:spPr>
          <a:xfrm>
            <a:off x="1326714" y="4813456"/>
            <a:ext cx="825252" cy="1230406"/>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6000" tIns="91440" rIns="36000"/>
          <a:lstStyle/>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        拠点</a:t>
            </a:r>
            <a:endParaRPr lang="en-US" altLang="ja-JP" sz="900" dirty="0">
              <a:solidFill>
                <a:schemeClr val="tx1"/>
              </a:solidFill>
              <a:latin typeface="Arial" panose="020B0604020202020204" pitchFamily="34" charset="0"/>
              <a:cs typeface="Arial" panose="020B0604020202020204" pitchFamily="34" charset="0"/>
            </a:endParaRPr>
          </a:p>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      （</a:t>
            </a:r>
            <a:r>
              <a:rPr lang="en-US" altLang="ja-JP" sz="900" dirty="0">
                <a:solidFill>
                  <a:schemeClr val="tx1"/>
                </a:solidFill>
                <a:latin typeface="Arial" panose="020B0604020202020204" pitchFamily="34" charset="0"/>
                <a:cs typeface="Arial" panose="020B0604020202020204" pitchFamily="34" charset="0"/>
              </a:rPr>
              <a:t>FS</a:t>
            </a:r>
            <a:r>
              <a:rPr lang="ja-JP" altLang="en-US" sz="900" dirty="0">
                <a:solidFill>
                  <a:schemeClr val="tx1"/>
                </a:solidFill>
                <a:latin typeface="Arial" panose="020B0604020202020204" pitchFamily="34" charset="0"/>
                <a:cs typeface="Arial" panose="020B0604020202020204" pitchFamily="34" charset="0"/>
              </a:rPr>
              <a:t>）</a:t>
            </a:r>
            <a:endParaRPr lang="en-US" sz="900" dirty="0">
              <a:solidFill>
                <a:schemeClr val="tx1"/>
              </a:solidFill>
              <a:latin typeface="Arial" panose="020B0604020202020204" pitchFamily="34" charset="0"/>
              <a:cs typeface="Arial" panose="020B0604020202020204" pitchFamily="34" charset="0"/>
            </a:endParaRPr>
          </a:p>
        </p:txBody>
      </p:sp>
      <p:pic>
        <p:nvPicPr>
          <p:cNvPr id="42" name="Graphic 99" descr="Office building resource icon for the General Icons category.">
            <a:extLst>
              <a:ext uri="{FF2B5EF4-FFF2-40B4-BE49-F238E27FC236}">
                <a16:creationId xmlns:a16="http://schemas.microsoft.com/office/drawing/2014/main" id="{78070FA9-B563-8A20-B9B4-313A6F35808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26713" y="4816632"/>
            <a:ext cx="238977" cy="215613"/>
          </a:xfrm>
          <a:prstGeom prst="rect">
            <a:avLst/>
          </a:prstGeom>
        </p:spPr>
      </p:pic>
      <p:sp>
        <p:nvSpPr>
          <p:cNvPr id="43" name="正方形/長方形 42">
            <a:extLst>
              <a:ext uri="{FF2B5EF4-FFF2-40B4-BE49-F238E27FC236}">
                <a16:creationId xmlns:a16="http://schemas.microsoft.com/office/drawing/2014/main" id="{84E9023B-026F-842A-4362-E40532BD897C}"/>
              </a:ext>
            </a:extLst>
          </p:cNvPr>
          <p:cNvSpPr/>
          <p:nvPr/>
        </p:nvSpPr>
        <p:spPr bwMode="auto">
          <a:xfrm>
            <a:off x="1408578" y="5252075"/>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IP</a:t>
            </a:r>
            <a:r>
              <a:rPr kumimoji="1" lang="ja-JP" altLang="en-US" sz="900" i="0" u="none" strike="noStrike" cap="none" normalizeH="0" baseline="0" dirty="0">
                <a:ln>
                  <a:noFill/>
                </a:ln>
                <a:solidFill>
                  <a:schemeClr val="tx1"/>
                </a:solidFill>
                <a:effectLst/>
                <a:latin typeface="+mn-ea"/>
                <a:cs typeface="Meiryo UI" panose="020B0604030504040204" pitchFamily="50" charset="-128"/>
              </a:rPr>
              <a:t>電話機</a:t>
            </a:r>
            <a:endParaRPr kumimoji="1" lang="en-US" altLang="ja-JP" sz="900" i="0" u="none" strike="noStrike" cap="none" normalizeH="0" baseline="0" dirty="0">
              <a:ln>
                <a:noFill/>
              </a:ln>
              <a:solidFill>
                <a:schemeClr val="tx1"/>
              </a:solidFill>
              <a:effectLst/>
              <a:latin typeface="+mn-ea"/>
              <a:cs typeface="Meiryo UI" panose="020B0604030504040204" pitchFamily="50" charset="-128"/>
            </a:endParaRP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業務アプリ</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44" name="Picture 13" descr="20">
            <a:extLst>
              <a:ext uri="{FF2B5EF4-FFF2-40B4-BE49-F238E27FC236}">
                <a16:creationId xmlns:a16="http://schemas.microsoft.com/office/drawing/2014/main" id="{0DC6A609-67CC-CA49-05C9-9E43ED174AC7}"/>
              </a:ext>
            </a:extLst>
          </p:cNvPr>
          <p:cNvPicPr>
            <a:picLocks noChangeAspect="1" noChangeArrowheads="1"/>
          </p:cNvPicPr>
          <p:nvPr/>
        </p:nvPicPr>
        <p:blipFill>
          <a:blip r:embed="rId8"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171648" y="2782972"/>
            <a:ext cx="634133" cy="486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 Box 117">
            <a:extLst>
              <a:ext uri="{FF2B5EF4-FFF2-40B4-BE49-F238E27FC236}">
                <a16:creationId xmlns:a16="http://schemas.microsoft.com/office/drawing/2014/main" id="{D2911D19-0F57-59BD-F1E9-DDBDAC0EAC43}"/>
              </a:ext>
            </a:extLst>
          </p:cNvPr>
          <p:cNvSpPr txBox="1">
            <a:spLocks noChangeAspect="1" noChangeArrowheads="1"/>
          </p:cNvSpPr>
          <p:nvPr/>
        </p:nvSpPr>
        <p:spPr bwMode="auto">
          <a:xfrm>
            <a:off x="2177780" y="2834992"/>
            <a:ext cx="634133" cy="404156"/>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800" i="0" u="none" strike="noStrike" baseline="0" dirty="0">
                <a:latin typeface="+mn-ea"/>
              </a:rPr>
              <a:t>電話回線</a:t>
            </a:r>
            <a:endParaRPr lang="en-US" altLang="ja-JP" sz="800" i="0" u="none" strike="noStrike" baseline="0" dirty="0">
              <a:latin typeface="+mn-ea"/>
            </a:endParaRPr>
          </a:p>
          <a:p>
            <a:pPr algn="ctr" rtl="0">
              <a:defRPr sz="1000"/>
            </a:pPr>
            <a:r>
              <a:rPr lang="ja-JP" altLang="en-US" sz="800" dirty="0">
                <a:latin typeface="+mn-ea"/>
              </a:rPr>
              <a:t>（</a:t>
            </a:r>
            <a:r>
              <a:rPr lang="en-US" altLang="ja-JP" sz="800" dirty="0">
                <a:latin typeface="+mn-ea"/>
              </a:rPr>
              <a:t>FS</a:t>
            </a:r>
            <a:r>
              <a:rPr lang="ja-JP" altLang="en-US" sz="800" dirty="0">
                <a:latin typeface="+mn-ea"/>
              </a:rPr>
              <a:t>）</a:t>
            </a:r>
            <a:endParaRPr lang="ja-JP" altLang="en-US" sz="800" i="0" u="none" strike="noStrike" baseline="0" dirty="0">
              <a:latin typeface="+mn-ea"/>
            </a:endParaRPr>
          </a:p>
        </p:txBody>
      </p:sp>
      <p:cxnSp>
        <p:nvCxnSpPr>
          <p:cNvPr id="46" name="直線コネクタ 45">
            <a:extLst>
              <a:ext uri="{FF2B5EF4-FFF2-40B4-BE49-F238E27FC236}">
                <a16:creationId xmlns:a16="http://schemas.microsoft.com/office/drawing/2014/main" id="{CCFE63CC-C609-0DF4-9980-C6483F798575}"/>
              </a:ext>
            </a:extLst>
          </p:cNvPr>
          <p:cNvCxnSpPr>
            <a:cxnSpLocks/>
            <a:stCxn id="45" idx="1"/>
            <a:endCxn id="20" idx="3"/>
          </p:cNvCxnSpPr>
          <p:nvPr/>
        </p:nvCxnSpPr>
        <p:spPr bwMode="auto">
          <a:xfrm flipH="1" flipV="1">
            <a:off x="2034179" y="3035728"/>
            <a:ext cx="143601" cy="1342"/>
          </a:xfrm>
          <a:prstGeom prst="line">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7" name="Picture 13" descr="20">
            <a:extLst>
              <a:ext uri="{FF2B5EF4-FFF2-40B4-BE49-F238E27FC236}">
                <a16:creationId xmlns:a16="http://schemas.microsoft.com/office/drawing/2014/main" id="{080019B7-BB35-88AB-66E6-1FB05B655114}"/>
              </a:ext>
            </a:extLst>
          </p:cNvPr>
          <p:cNvPicPr>
            <a:picLocks noChangeAspect="1" noChangeArrowheads="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178915" y="4154563"/>
            <a:ext cx="647965" cy="496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 Box 117">
            <a:extLst>
              <a:ext uri="{FF2B5EF4-FFF2-40B4-BE49-F238E27FC236}">
                <a16:creationId xmlns:a16="http://schemas.microsoft.com/office/drawing/2014/main" id="{CE3BFD73-9764-405E-615B-D826951F98DA}"/>
              </a:ext>
            </a:extLst>
          </p:cNvPr>
          <p:cNvSpPr txBox="1">
            <a:spLocks noChangeAspect="1" noChangeArrowheads="1"/>
          </p:cNvSpPr>
          <p:nvPr/>
        </p:nvSpPr>
        <p:spPr bwMode="auto">
          <a:xfrm>
            <a:off x="2212727" y="4205067"/>
            <a:ext cx="634133" cy="404156"/>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800" i="0" u="none" strike="noStrike" baseline="0" dirty="0">
                <a:latin typeface="+mn-ea"/>
              </a:rPr>
              <a:t>電話回線</a:t>
            </a:r>
            <a:endParaRPr lang="en-US" altLang="ja-JP" sz="800" i="0" u="none" strike="noStrike" baseline="0" dirty="0">
              <a:latin typeface="+mn-ea"/>
            </a:endParaRPr>
          </a:p>
          <a:p>
            <a:pPr algn="ctr" rtl="0">
              <a:defRPr sz="1000"/>
            </a:pPr>
            <a:r>
              <a:rPr lang="ja-JP" altLang="en-US" sz="800" dirty="0">
                <a:latin typeface="+mn-ea"/>
              </a:rPr>
              <a:t>（</a:t>
            </a:r>
            <a:r>
              <a:rPr lang="en-US" altLang="ja-JP" sz="800" dirty="0">
                <a:latin typeface="+mn-ea"/>
              </a:rPr>
              <a:t>FS</a:t>
            </a:r>
            <a:r>
              <a:rPr lang="ja-JP" altLang="en-US" sz="800" dirty="0">
                <a:latin typeface="+mn-ea"/>
              </a:rPr>
              <a:t>災対）</a:t>
            </a:r>
            <a:endParaRPr lang="ja-JP" altLang="en-US" sz="800" i="0" u="none" strike="noStrike" baseline="0" dirty="0">
              <a:latin typeface="+mn-ea"/>
            </a:endParaRPr>
          </a:p>
        </p:txBody>
      </p:sp>
      <p:cxnSp>
        <p:nvCxnSpPr>
          <p:cNvPr id="49" name="直線コネクタ 48">
            <a:extLst>
              <a:ext uri="{FF2B5EF4-FFF2-40B4-BE49-F238E27FC236}">
                <a16:creationId xmlns:a16="http://schemas.microsoft.com/office/drawing/2014/main" id="{9C356BDE-6464-728A-8107-4E855296DC6B}"/>
              </a:ext>
            </a:extLst>
          </p:cNvPr>
          <p:cNvCxnSpPr>
            <a:cxnSpLocks/>
            <a:stCxn id="48" idx="1"/>
            <a:endCxn id="30" idx="3"/>
          </p:cNvCxnSpPr>
          <p:nvPr/>
        </p:nvCxnSpPr>
        <p:spPr bwMode="auto">
          <a:xfrm flipH="1">
            <a:off x="2034179" y="4407145"/>
            <a:ext cx="178548" cy="2861"/>
          </a:xfrm>
          <a:prstGeom prst="line">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0" name="Picture 13" descr="20">
            <a:extLst>
              <a:ext uri="{FF2B5EF4-FFF2-40B4-BE49-F238E27FC236}">
                <a16:creationId xmlns:a16="http://schemas.microsoft.com/office/drawing/2014/main" id="{25277B64-E50A-57FC-43F9-4B5FCC09F4B7}"/>
              </a:ext>
            </a:extLst>
          </p:cNvPr>
          <p:cNvPicPr>
            <a:picLocks noChangeAspect="1" noChangeArrowheads="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02798" y="2962942"/>
            <a:ext cx="647966" cy="49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Text Box 117">
            <a:extLst>
              <a:ext uri="{FF2B5EF4-FFF2-40B4-BE49-F238E27FC236}">
                <a16:creationId xmlns:a16="http://schemas.microsoft.com/office/drawing/2014/main" id="{E5384C9F-4469-2F42-F205-4A9CF3199E69}"/>
              </a:ext>
            </a:extLst>
          </p:cNvPr>
          <p:cNvSpPr txBox="1">
            <a:spLocks noChangeAspect="1" noChangeArrowheads="1"/>
          </p:cNvSpPr>
          <p:nvPr/>
        </p:nvSpPr>
        <p:spPr bwMode="auto">
          <a:xfrm>
            <a:off x="4285592" y="3014597"/>
            <a:ext cx="619142" cy="394602"/>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800" i="0" u="none" strike="noStrike" baseline="0" dirty="0">
                <a:latin typeface="+mn-ea"/>
              </a:rPr>
              <a:t>電話回線</a:t>
            </a:r>
            <a:endParaRPr lang="en-US" altLang="ja-JP" sz="800" i="0" u="none" strike="noStrike" baseline="0" dirty="0">
              <a:latin typeface="+mn-ea"/>
            </a:endParaRPr>
          </a:p>
          <a:p>
            <a:pPr algn="ctr" rtl="0">
              <a:defRPr sz="1000"/>
            </a:pPr>
            <a:r>
              <a:rPr lang="ja-JP" altLang="en-US" sz="800" dirty="0">
                <a:latin typeface="+mn-ea"/>
              </a:rPr>
              <a:t>（</a:t>
            </a:r>
            <a:r>
              <a:rPr lang="en-US" altLang="ja-JP" sz="800" dirty="0">
                <a:latin typeface="+mn-ea"/>
              </a:rPr>
              <a:t>CC/FS</a:t>
            </a:r>
            <a:r>
              <a:rPr lang="ja-JP" altLang="en-US" sz="800" dirty="0">
                <a:latin typeface="+mn-ea"/>
              </a:rPr>
              <a:t>）</a:t>
            </a:r>
            <a:endParaRPr lang="ja-JP" altLang="en-US" sz="800" i="0" u="none" strike="noStrike" baseline="0" dirty="0">
              <a:latin typeface="+mn-ea"/>
            </a:endParaRPr>
          </a:p>
        </p:txBody>
      </p:sp>
      <p:cxnSp>
        <p:nvCxnSpPr>
          <p:cNvPr id="52" name="直線コネクタ 51">
            <a:extLst>
              <a:ext uri="{FF2B5EF4-FFF2-40B4-BE49-F238E27FC236}">
                <a16:creationId xmlns:a16="http://schemas.microsoft.com/office/drawing/2014/main" id="{F6C05194-5CD4-8E52-9270-8C3A7620BF76}"/>
              </a:ext>
            </a:extLst>
          </p:cNvPr>
          <p:cNvCxnSpPr>
            <a:cxnSpLocks/>
            <a:stCxn id="24" idx="3"/>
            <a:endCxn id="51" idx="1"/>
          </p:cNvCxnSpPr>
          <p:nvPr/>
        </p:nvCxnSpPr>
        <p:spPr bwMode="auto">
          <a:xfrm flipV="1">
            <a:off x="3945880" y="3211898"/>
            <a:ext cx="339712" cy="2729"/>
          </a:xfrm>
          <a:prstGeom prst="line">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3" name="Picture 13" descr="20">
            <a:extLst>
              <a:ext uri="{FF2B5EF4-FFF2-40B4-BE49-F238E27FC236}">
                <a16:creationId xmlns:a16="http://schemas.microsoft.com/office/drawing/2014/main" id="{2C01504D-B99E-592C-7855-A808E3A6A04C}"/>
              </a:ext>
            </a:extLst>
          </p:cNvPr>
          <p:cNvPicPr>
            <a:picLocks noChangeAspect="1" noChangeArrowheads="1"/>
          </p:cNvPicPr>
          <p:nvPr/>
        </p:nvPicPr>
        <p:blipFill>
          <a:blip r:embed="rId9"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01203" y="3939833"/>
            <a:ext cx="647966" cy="49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 Box 117">
            <a:extLst>
              <a:ext uri="{FF2B5EF4-FFF2-40B4-BE49-F238E27FC236}">
                <a16:creationId xmlns:a16="http://schemas.microsoft.com/office/drawing/2014/main" id="{38033054-756B-83CA-4969-0E3711336046}"/>
              </a:ext>
            </a:extLst>
          </p:cNvPr>
          <p:cNvSpPr txBox="1">
            <a:spLocks noChangeAspect="1" noChangeArrowheads="1"/>
          </p:cNvSpPr>
          <p:nvPr/>
        </p:nvSpPr>
        <p:spPr bwMode="auto">
          <a:xfrm>
            <a:off x="4283997" y="3991488"/>
            <a:ext cx="619142" cy="394602"/>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800" i="0" u="none" strike="noStrike" baseline="0" dirty="0">
                <a:latin typeface="+mn-ea"/>
              </a:rPr>
              <a:t>電話回線</a:t>
            </a:r>
            <a:endParaRPr lang="en-US" altLang="ja-JP" sz="800" i="0" u="none" strike="noStrike" baseline="0" dirty="0">
              <a:latin typeface="+mn-ea"/>
            </a:endParaRPr>
          </a:p>
          <a:p>
            <a:pPr algn="ctr" rtl="0">
              <a:defRPr sz="1000"/>
            </a:pPr>
            <a:r>
              <a:rPr lang="ja-JP" altLang="en-US" sz="800" dirty="0">
                <a:latin typeface="+mn-ea"/>
              </a:rPr>
              <a:t>（</a:t>
            </a:r>
            <a:r>
              <a:rPr lang="en-US" altLang="ja-JP" sz="800" dirty="0">
                <a:latin typeface="+mn-ea"/>
              </a:rPr>
              <a:t>CC/FS</a:t>
            </a:r>
            <a:r>
              <a:rPr lang="ja-JP" altLang="en-US" sz="800" dirty="0">
                <a:latin typeface="+mn-ea"/>
              </a:rPr>
              <a:t>災対）</a:t>
            </a:r>
            <a:endParaRPr lang="ja-JP" altLang="en-US" sz="800" i="0" u="none" strike="noStrike" baseline="0" dirty="0">
              <a:latin typeface="+mn-ea"/>
            </a:endParaRPr>
          </a:p>
        </p:txBody>
      </p:sp>
      <p:cxnSp>
        <p:nvCxnSpPr>
          <p:cNvPr id="55" name="直線コネクタ 54">
            <a:extLst>
              <a:ext uri="{FF2B5EF4-FFF2-40B4-BE49-F238E27FC236}">
                <a16:creationId xmlns:a16="http://schemas.microsoft.com/office/drawing/2014/main" id="{85FCB947-5930-7AE7-BB7C-F3FC29F69A1B}"/>
              </a:ext>
            </a:extLst>
          </p:cNvPr>
          <p:cNvCxnSpPr>
            <a:cxnSpLocks/>
            <a:stCxn id="29" idx="3"/>
            <a:endCxn id="54" idx="1"/>
          </p:cNvCxnSpPr>
          <p:nvPr/>
        </p:nvCxnSpPr>
        <p:spPr bwMode="auto">
          <a:xfrm>
            <a:off x="3945880" y="4185242"/>
            <a:ext cx="338117" cy="3547"/>
          </a:xfrm>
          <a:prstGeom prst="line">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矢印: 右 55">
            <a:extLst>
              <a:ext uri="{FF2B5EF4-FFF2-40B4-BE49-F238E27FC236}">
                <a16:creationId xmlns:a16="http://schemas.microsoft.com/office/drawing/2014/main" id="{983CE219-04DE-56EB-62B7-ADDD6D8B2063}"/>
              </a:ext>
            </a:extLst>
          </p:cNvPr>
          <p:cNvSpPr/>
          <p:nvPr/>
        </p:nvSpPr>
        <p:spPr bwMode="auto">
          <a:xfrm>
            <a:off x="1273785" y="6176127"/>
            <a:ext cx="1743365" cy="496774"/>
          </a:xfrm>
          <a:prstGeom prst="rightArrow">
            <a:avLst/>
          </a:prstGeom>
          <a:solidFill>
            <a:schemeClr val="tx2"/>
          </a:solidFill>
          <a:ln w="9525" cap="flat" cmpd="sng" algn="ctr">
            <a:solidFill>
              <a:schemeClr val="bg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lang="ja-JP" altLang="en-US" sz="1050" b="1" dirty="0">
                <a:solidFill>
                  <a:schemeClr val="bg1"/>
                </a:solidFill>
                <a:latin typeface="+mn-ea"/>
                <a:ea typeface="+mn-ea"/>
                <a:cs typeface="Meiryo UI" panose="020B0604030504040204" pitchFamily="50" charset="-128"/>
              </a:rPr>
              <a:t>②拠点機器の</a:t>
            </a:r>
            <a:r>
              <a:rPr lang="en-US" altLang="ja-JP" sz="1050" b="1" dirty="0">
                <a:solidFill>
                  <a:schemeClr val="bg1"/>
                </a:solidFill>
                <a:latin typeface="+mn-ea"/>
                <a:ea typeface="+mn-ea"/>
                <a:cs typeface="Meiryo UI" panose="020B0604030504040204" pitchFamily="50" charset="-128"/>
              </a:rPr>
              <a:t>DC</a:t>
            </a:r>
            <a:r>
              <a:rPr lang="ja-JP" altLang="en-US" sz="1050" b="1" dirty="0">
                <a:solidFill>
                  <a:schemeClr val="bg1"/>
                </a:solidFill>
                <a:latin typeface="+mn-ea"/>
                <a:ea typeface="+mn-ea"/>
                <a:cs typeface="Meiryo UI" panose="020B0604030504040204" pitchFamily="50" charset="-128"/>
              </a:rPr>
              <a:t>集約</a:t>
            </a:r>
            <a:endParaRPr kumimoji="1" lang="ja-JP" altLang="en-US" sz="1050" b="1" i="0" u="none" strike="noStrike" cap="none" normalizeH="0" baseline="0" dirty="0">
              <a:ln>
                <a:noFill/>
              </a:ln>
              <a:solidFill>
                <a:schemeClr val="bg1"/>
              </a:solidFill>
              <a:effectLst/>
              <a:latin typeface="+mn-ea"/>
              <a:ea typeface="+mn-ea"/>
              <a:cs typeface="Meiryo UI" panose="020B0604030504040204" pitchFamily="50" charset="-128"/>
            </a:endParaRPr>
          </a:p>
        </p:txBody>
      </p:sp>
      <p:sp>
        <p:nvSpPr>
          <p:cNvPr id="57" name="Rectangle 77">
            <a:extLst>
              <a:ext uri="{FF2B5EF4-FFF2-40B4-BE49-F238E27FC236}">
                <a16:creationId xmlns:a16="http://schemas.microsoft.com/office/drawing/2014/main" id="{1DC40C3C-57E2-98DA-9504-8FE94799DBCA}"/>
              </a:ext>
            </a:extLst>
          </p:cNvPr>
          <p:cNvSpPr/>
          <p:nvPr/>
        </p:nvSpPr>
        <p:spPr>
          <a:xfrm>
            <a:off x="2980725" y="4832293"/>
            <a:ext cx="842602" cy="1230406"/>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6000" tIns="91440" rIns="0"/>
          <a:lstStyle/>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       拠点</a:t>
            </a:r>
            <a:endParaRPr lang="en-US" altLang="ja-JP" sz="900" dirty="0">
              <a:solidFill>
                <a:schemeClr val="tx1"/>
              </a:solidFill>
              <a:latin typeface="Arial" panose="020B0604020202020204" pitchFamily="34" charset="0"/>
              <a:cs typeface="Arial" panose="020B0604020202020204" pitchFamily="34" charset="0"/>
            </a:endParaRPr>
          </a:p>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    （受託）</a:t>
            </a:r>
            <a:endParaRPr lang="en-US" sz="900" dirty="0">
              <a:solidFill>
                <a:schemeClr val="tx1"/>
              </a:solidFill>
              <a:latin typeface="Arial" panose="020B0604020202020204" pitchFamily="34" charset="0"/>
              <a:cs typeface="Arial" panose="020B0604020202020204" pitchFamily="34" charset="0"/>
            </a:endParaRPr>
          </a:p>
        </p:txBody>
      </p:sp>
      <p:pic>
        <p:nvPicPr>
          <p:cNvPr id="58" name="Graphic 99" descr="Office building resource icon for the General Icons category.">
            <a:extLst>
              <a:ext uri="{FF2B5EF4-FFF2-40B4-BE49-F238E27FC236}">
                <a16:creationId xmlns:a16="http://schemas.microsoft.com/office/drawing/2014/main" id="{86348552-2D13-C31D-EF97-6C09889553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80724" y="4835469"/>
            <a:ext cx="238977" cy="215613"/>
          </a:xfrm>
          <a:prstGeom prst="rect">
            <a:avLst/>
          </a:prstGeom>
        </p:spPr>
      </p:pic>
      <p:sp>
        <p:nvSpPr>
          <p:cNvPr id="59" name="正方形/長方形 58">
            <a:extLst>
              <a:ext uri="{FF2B5EF4-FFF2-40B4-BE49-F238E27FC236}">
                <a16:creationId xmlns:a16="http://schemas.microsoft.com/office/drawing/2014/main" id="{939E8046-D99A-5088-F80E-7B7B8BE86E2E}"/>
              </a:ext>
            </a:extLst>
          </p:cNvPr>
          <p:cNvSpPr/>
          <p:nvPr/>
        </p:nvSpPr>
        <p:spPr bwMode="auto">
          <a:xfrm>
            <a:off x="3110121" y="5270912"/>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IP</a:t>
            </a:r>
            <a:r>
              <a:rPr kumimoji="1" lang="ja-JP" altLang="en-US" sz="900" i="0" u="none" strike="noStrike" cap="none" normalizeH="0" baseline="0" dirty="0">
                <a:ln>
                  <a:noFill/>
                </a:ln>
                <a:solidFill>
                  <a:schemeClr val="tx1"/>
                </a:solidFill>
                <a:effectLst/>
                <a:latin typeface="+mn-ea"/>
                <a:cs typeface="Meiryo UI" panose="020B0604030504040204" pitchFamily="50" charset="-128"/>
              </a:rPr>
              <a:t>電話機</a:t>
            </a:r>
            <a:endParaRPr kumimoji="1" lang="en-US" altLang="ja-JP" sz="900" i="0" u="none" strike="noStrike" cap="none" normalizeH="0" baseline="0" dirty="0">
              <a:ln>
                <a:noFill/>
              </a:ln>
              <a:solidFill>
                <a:schemeClr val="tx1"/>
              </a:solidFill>
              <a:effectLst/>
              <a:latin typeface="+mn-ea"/>
              <a:cs typeface="Meiryo UI" panose="020B0604030504040204" pitchFamily="50" charset="-128"/>
            </a:endParaRP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業務アプリ</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60" name="正方形/長方形 59">
            <a:extLst>
              <a:ext uri="{FF2B5EF4-FFF2-40B4-BE49-F238E27FC236}">
                <a16:creationId xmlns:a16="http://schemas.microsoft.com/office/drawing/2014/main" id="{D0CB2884-7766-B9BF-F65C-287D8186808E}"/>
              </a:ext>
            </a:extLst>
          </p:cNvPr>
          <p:cNvSpPr/>
          <p:nvPr/>
        </p:nvSpPr>
        <p:spPr bwMode="auto">
          <a:xfrm>
            <a:off x="3110121" y="5672980"/>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G450</a:t>
            </a:r>
            <a:r>
              <a:rPr kumimoji="1" lang="ja-JP" altLang="en-US" sz="900" i="0" u="none" strike="noStrike" cap="none" normalizeH="0" baseline="0" dirty="0">
                <a:ln>
                  <a:noFill/>
                </a:ln>
                <a:solidFill>
                  <a:schemeClr val="tx1"/>
                </a:solidFill>
                <a:effectLst/>
                <a:latin typeface="+mn-ea"/>
                <a:cs typeface="Meiryo UI" panose="020B0604030504040204" pitchFamily="50" charset="-128"/>
              </a:rPr>
              <a:t>・</a:t>
            </a:r>
            <a:r>
              <a:rPr kumimoji="1" lang="en-US" altLang="ja-JP" sz="900" i="0" u="none" strike="noStrike" cap="none" normalizeH="0" baseline="0" dirty="0">
                <a:ln>
                  <a:noFill/>
                </a:ln>
                <a:solidFill>
                  <a:schemeClr val="tx1"/>
                </a:solidFill>
                <a:effectLst/>
                <a:latin typeface="+mn-ea"/>
                <a:cs typeface="Meiryo UI" panose="020B0604030504040204" pitchFamily="50" charset="-128"/>
              </a:rPr>
              <a:t>AIR</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61" name="Picture 13" descr="20">
            <a:extLst>
              <a:ext uri="{FF2B5EF4-FFF2-40B4-BE49-F238E27FC236}">
                <a16:creationId xmlns:a16="http://schemas.microsoft.com/office/drawing/2014/main" id="{60F5C07E-108F-6FE7-8901-44C36A4CB356}"/>
              </a:ext>
            </a:extLst>
          </p:cNvPr>
          <p:cNvPicPr>
            <a:picLocks noChangeAspect="1" noChangeArrowheads="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17150" y="6135046"/>
            <a:ext cx="795130" cy="609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 name="Text Box 117">
            <a:extLst>
              <a:ext uri="{FF2B5EF4-FFF2-40B4-BE49-F238E27FC236}">
                <a16:creationId xmlns:a16="http://schemas.microsoft.com/office/drawing/2014/main" id="{7AED3D42-BC5B-1883-8FB1-DD7B3742AA76}"/>
              </a:ext>
            </a:extLst>
          </p:cNvPr>
          <p:cNvSpPr txBox="1">
            <a:spLocks noChangeAspect="1" noChangeArrowheads="1"/>
          </p:cNvSpPr>
          <p:nvPr/>
        </p:nvSpPr>
        <p:spPr bwMode="auto">
          <a:xfrm>
            <a:off x="3039150" y="6215247"/>
            <a:ext cx="793558" cy="404156"/>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800" i="0" u="none" strike="noStrike" baseline="0" dirty="0">
                <a:latin typeface="+mn-ea"/>
              </a:rPr>
              <a:t>電話回線</a:t>
            </a:r>
            <a:endParaRPr lang="en-US" altLang="ja-JP" sz="800" i="0" u="none" strike="noStrike" baseline="0" dirty="0">
              <a:latin typeface="+mn-ea"/>
            </a:endParaRPr>
          </a:p>
          <a:p>
            <a:pPr algn="ctr" rtl="0">
              <a:defRPr sz="1000"/>
            </a:pPr>
            <a:r>
              <a:rPr lang="ja-JP" altLang="en-US" sz="800" dirty="0">
                <a:latin typeface="+mn-ea"/>
              </a:rPr>
              <a:t>（受託）</a:t>
            </a:r>
            <a:endParaRPr lang="ja-JP" altLang="en-US" sz="800" i="0" u="none" strike="noStrike" baseline="0" dirty="0">
              <a:latin typeface="+mn-ea"/>
            </a:endParaRPr>
          </a:p>
        </p:txBody>
      </p:sp>
      <p:cxnSp>
        <p:nvCxnSpPr>
          <p:cNvPr id="172" name="直線コネクタ 171">
            <a:extLst>
              <a:ext uri="{FF2B5EF4-FFF2-40B4-BE49-F238E27FC236}">
                <a16:creationId xmlns:a16="http://schemas.microsoft.com/office/drawing/2014/main" id="{4E7D93D6-CD2A-0619-2273-0BE34A663B3A}"/>
              </a:ext>
            </a:extLst>
          </p:cNvPr>
          <p:cNvCxnSpPr>
            <a:cxnSpLocks/>
            <a:stCxn id="171" idx="0"/>
            <a:endCxn id="60" idx="2"/>
          </p:cNvCxnSpPr>
          <p:nvPr/>
        </p:nvCxnSpPr>
        <p:spPr bwMode="auto">
          <a:xfrm flipH="1" flipV="1">
            <a:off x="3432401" y="5968170"/>
            <a:ext cx="3528" cy="247077"/>
          </a:xfrm>
          <a:prstGeom prst="line">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5" name="Rectangle 77">
            <a:extLst>
              <a:ext uri="{FF2B5EF4-FFF2-40B4-BE49-F238E27FC236}">
                <a16:creationId xmlns:a16="http://schemas.microsoft.com/office/drawing/2014/main" id="{A468F575-97D7-E001-C301-F638E643C25F}"/>
              </a:ext>
            </a:extLst>
          </p:cNvPr>
          <p:cNvSpPr/>
          <p:nvPr/>
        </p:nvSpPr>
        <p:spPr>
          <a:xfrm>
            <a:off x="3903466" y="4838598"/>
            <a:ext cx="825252" cy="1230406"/>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6000" tIns="91440" rIns="0"/>
          <a:lstStyle/>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        拠点</a:t>
            </a:r>
            <a:endParaRPr lang="en-US" altLang="ja-JP" sz="900" dirty="0">
              <a:solidFill>
                <a:schemeClr val="tx1"/>
              </a:solidFill>
              <a:latin typeface="Arial" panose="020B0604020202020204" pitchFamily="34" charset="0"/>
              <a:cs typeface="Arial" panose="020B0604020202020204" pitchFamily="34" charset="0"/>
            </a:endParaRPr>
          </a:p>
          <a:p>
            <a:pPr eaLnBrk="1" fontAlgn="auto" hangingPunct="1">
              <a:spcBef>
                <a:spcPts val="0"/>
              </a:spcBef>
              <a:spcAft>
                <a:spcPts val="0"/>
              </a:spcAft>
              <a:defRPr/>
            </a:pPr>
            <a:r>
              <a:rPr lang="ja-JP" altLang="en-US" sz="900" dirty="0">
                <a:solidFill>
                  <a:schemeClr val="tx1"/>
                </a:solidFill>
                <a:latin typeface="Arial" panose="020B0604020202020204" pitchFamily="34" charset="0"/>
                <a:cs typeface="Arial" panose="020B0604020202020204" pitchFamily="34" charset="0"/>
              </a:rPr>
              <a:t>    （</a:t>
            </a:r>
            <a:r>
              <a:rPr lang="en-US" altLang="ja-JP" sz="900" dirty="0">
                <a:solidFill>
                  <a:schemeClr val="tx1"/>
                </a:solidFill>
                <a:latin typeface="Arial" panose="020B0604020202020204" pitchFamily="34" charset="0"/>
                <a:cs typeface="Arial" panose="020B0604020202020204" pitchFamily="34" charset="0"/>
              </a:rPr>
              <a:t>CC/FS</a:t>
            </a:r>
            <a:r>
              <a:rPr lang="ja-JP" altLang="en-US" sz="900" dirty="0">
                <a:solidFill>
                  <a:schemeClr val="tx1"/>
                </a:solidFill>
                <a:latin typeface="Arial" panose="020B0604020202020204" pitchFamily="34" charset="0"/>
                <a:cs typeface="Arial" panose="020B0604020202020204" pitchFamily="34" charset="0"/>
              </a:rPr>
              <a:t>）</a:t>
            </a:r>
            <a:endParaRPr lang="en-US" sz="900" dirty="0">
              <a:solidFill>
                <a:schemeClr val="tx1"/>
              </a:solidFill>
              <a:latin typeface="Arial" panose="020B0604020202020204" pitchFamily="34" charset="0"/>
              <a:cs typeface="Arial" panose="020B0604020202020204" pitchFamily="34" charset="0"/>
            </a:endParaRPr>
          </a:p>
        </p:txBody>
      </p:sp>
      <p:pic>
        <p:nvPicPr>
          <p:cNvPr id="176" name="Graphic 99" descr="Office building resource icon for the General Icons category.">
            <a:extLst>
              <a:ext uri="{FF2B5EF4-FFF2-40B4-BE49-F238E27FC236}">
                <a16:creationId xmlns:a16="http://schemas.microsoft.com/office/drawing/2014/main" id="{B3B6FA73-71AC-F88F-5E08-DF8F930A96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03465" y="4841774"/>
            <a:ext cx="238977" cy="215613"/>
          </a:xfrm>
          <a:prstGeom prst="rect">
            <a:avLst/>
          </a:prstGeom>
        </p:spPr>
      </p:pic>
      <p:sp>
        <p:nvSpPr>
          <p:cNvPr id="177" name="正方形/長方形 176">
            <a:extLst>
              <a:ext uri="{FF2B5EF4-FFF2-40B4-BE49-F238E27FC236}">
                <a16:creationId xmlns:a16="http://schemas.microsoft.com/office/drawing/2014/main" id="{191C3F36-ACB1-5959-B6A7-64BAB4BB068A}"/>
              </a:ext>
            </a:extLst>
          </p:cNvPr>
          <p:cNvSpPr/>
          <p:nvPr/>
        </p:nvSpPr>
        <p:spPr bwMode="auto">
          <a:xfrm>
            <a:off x="3985330" y="5277217"/>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IP</a:t>
            </a:r>
            <a:r>
              <a:rPr kumimoji="1" lang="ja-JP" altLang="en-US" sz="900" i="0" u="none" strike="noStrike" cap="none" normalizeH="0" baseline="0" dirty="0">
                <a:ln>
                  <a:noFill/>
                </a:ln>
                <a:solidFill>
                  <a:schemeClr val="tx1"/>
                </a:solidFill>
                <a:effectLst/>
                <a:latin typeface="+mn-ea"/>
                <a:cs typeface="Meiryo UI" panose="020B0604030504040204" pitchFamily="50" charset="-128"/>
              </a:rPr>
              <a:t>電話機</a:t>
            </a:r>
            <a:endParaRPr kumimoji="1" lang="en-US" altLang="ja-JP" sz="900" i="0" u="none" strike="noStrike" cap="none" normalizeH="0" baseline="0" dirty="0">
              <a:ln>
                <a:noFill/>
              </a:ln>
              <a:solidFill>
                <a:schemeClr val="tx1"/>
              </a:solidFill>
              <a:effectLst/>
              <a:latin typeface="+mn-ea"/>
              <a:cs typeface="Meiryo UI" panose="020B0604030504040204" pitchFamily="50" charset="-128"/>
            </a:endParaRP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業務アプリ</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78" name="四角形: 角を丸くする 177">
            <a:extLst>
              <a:ext uri="{FF2B5EF4-FFF2-40B4-BE49-F238E27FC236}">
                <a16:creationId xmlns:a16="http://schemas.microsoft.com/office/drawing/2014/main" id="{DE2A65F1-EB74-E5C1-1598-C8DFACDD671F}"/>
              </a:ext>
            </a:extLst>
          </p:cNvPr>
          <p:cNvSpPr/>
          <p:nvPr/>
        </p:nvSpPr>
        <p:spPr bwMode="auto">
          <a:xfrm>
            <a:off x="2907163" y="5242122"/>
            <a:ext cx="1923727" cy="363668"/>
          </a:xfrm>
          <a:prstGeom prst="roundRect">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dirty="0">
              <a:ln>
                <a:noFill/>
              </a:ln>
              <a:solidFill>
                <a:schemeClr val="tx1"/>
              </a:solidFill>
              <a:effectLst/>
              <a:latin typeface="+mn-ea"/>
              <a:ea typeface="+mn-ea"/>
              <a:cs typeface="Meiryo UI" panose="020B0604030504040204" pitchFamily="50" charset="-128"/>
            </a:endParaRPr>
          </a:p>
        </p:txBody>
      </p:sp>
      <p:sp>
        <p:nvSpPr>
          <p:cNvPr id="179" name="吹き出し: 角を丸めた四角形 178">
            <a:extLst>
              <a:ext uri="{FF2B5EF4-FFF2-40B4-BE49-F238E27FC236}">
                <a16:creationId xmlns:a16="http://schemas.microsoft.com/office/drawing/2014/main" id="{497E1387-EC0A-18E9-9BFF-9613BC724664}"/>
              </a:ext>
            </a:extLst>
          </p:cNvPr>
          <p:cNvSpPr/>
          <p:nvPr/>
        </p:nvSpPr>
        <p:spPr bwMode="auto">
          <a:xfrm>
            <a:off x="1593180" y="5605790"/>
            <a:ext cx="1271509" cy="459141"/>
          </a:xfrm>
          <a:prstGeom prst="wedgeRoundRectCallout">
            <a:avLst>
              <a:gd name="adj1" fmla="val 62297"/>
              <a:gd name="adj2" fmla="val -49720"/>
              <a:gd name="adj3" fmla="val 16667"/>
            </a:avLst>
          </a:prstGeom>
          <a:solidFill>
            <a:schemeClr val="bg1"/>
          </a:solidFill>
          <a:ln w="2857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45720" rIns="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ja-JP" altLang="en-US" sz="1050" b="1" dirty="0">
                <a:solidFill>
                  <a:schemeClr val="tx2"/>
                </a:solidFill>
                <a:latin typeface="+mn-ea"/>
                <a:ea typeface="+mn-ea"/>
                <a:cs typeface="Meiryo UI" panose="020B0604030504040204" pitchFamily="50" charset="-128"/>
              </a:rPr>
              <a:t>③席数の見直し</a:t>
            </a:r>
            <a:endParaRPr lang="en-US" altLang="ja-JP" sz="1050" b="1" dirty="0">
              <a:solidFill>
                <a:schemeClr val="tx2"/>
              </a:solidFill>
              <a:latin typeface="+mn-ea"/>
              <a:ea typeface="+mn-ea"/>
              <a:cs typeface="Meiryo UI" panose="020B0604030504040204" pitchFamily="50" charset="-128"/>
            </a:endParaRPr>
          </a:p>
          <a:p>
            <a:pPr marL="0" marR="0" indent="0" algn="just" defTabSz="742950" rtl="0" eaLnBrk="1" fontAlgn="base" latinLnBrk="0" hangingPunct="1">
              <a:spcBef>
                <a:spcPct val="0"/>
              </a:spcBef>
              <a:spcAft>
                <a:spcPct val="0"/>
              </a:spcAft>
              <a:buClrTx/>
              <a:buSzTx/>
              <a:buFontTx/>
              <a:buNone/>
              <a:tabLst/>
            </a:pPr>
            <a:r>
              <a:rPr lang="ja-JP" altLang="en-US" sz="1050" b="1" dirty="0">
                <a:solidFill>
                  <a:schemeClr val="tx2"/>
                </a:solidFill>
                <a:latin typeface="+mn-ea"/>
                <a:ea typeface="+mn-ea"/>
                <a:cs typeface="Meiryo UI" panose="020B0604030504040204" pitchFamily="50" charset="-128"/>
              </a:rPr>
              <a:t>（ライセンス削減）</a:t>
            </a:r>
            <a:endParaRPr kumimoji="1" lang="ja-JP" altLang="en-US" sz="1050" b="1" i="0" u="none" strike="noStrike" cap="none" normalizeH="0" baseline="0" dirty="0">
              <a:ln>
                <a:noFill/>
              </a:ln>
              <a:solidFill>
                <a:schemeClr val="tx2"/>
              </a:solidFill>
              <a:effectLst/>
              <a:latin typeface="+mn-ea"/>
              <a:ea typeface="+mn-ea"/>
              <a:cs typeface="Meiryo UI" panose="020B0604030504040204" pitchFamily="50" charset="-128"/>
            </a:endParaRPr>
          </a:p>
        </p:txBody>
      </p:sp>
      <p:sp>
        <p:nvSpPr>
          <p:cNvPr id="180" name="吹き出し: 角を丸めた四角形 179">
            <a:extLst>
              <a:ext uri="{FF2B5EF4-FFF2-40B4-BE49-F238E27FC236}">
                <a16:creationId xmlns:a16="http://schemas.microsoft.com/office/drawing/2014/main" id="{10EC2F61-1B04-6D6F-8DE2-46EBF93B52ED}"/>
              </a:ext>
            </a:extLst>
          </p:cNvPr>
          <p:cNvSpPr/>
          <p:nvPr/>
        </p:nvSpPr>
        <p:spPr bwMode="auto">
          <a:xfrm>
            <a:off x="3746621" y="6435875"/>
            <a:ext cx="1243945" cy="377592"/>
          </a:xfrm>
          <a:prstGeom prst="wedgeRoundRectCallout">
            <a:avLst>
              <a:gd name="adj1" fmla="val -61124"/>
              <a:gd name="adj2" fmla="val -34585"/>
              <a:gd name="adj3" fmla="val 16667"/>
            </a:avLst>
          </a:prstGeom>
          <a:solidFill>
            <a:schemeClr val="bg1"/>
          </a:solidFill>
          <a:ln w="2857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45720" rIns="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ja-JP" altLang="en-US" sz="1050" b="1" dirty="0">
                <a:solidFill>
                  <a:schemeClr val="tx2"/>
                </a:solidFill>
                <a:latin typeface="+mn-ea"/>
                <a:ea typeface="+mn-ea"/>
                <a:cs typeface="Meiryo UI" panose="020B0604030504040204" pitchFamily="50" charset="-128"/>
              </a:rPr>
              <a:t>受託先契約のため</a:t>
            </a:r>
            <a:endParaRPr lang="en-US" altLang="ja-JP" sz="1050" b="1" dirty="0">
              <a:solidFill>
                <a:schemeClr val="tx2"/>
              </a:solidFill>
              <a:latin typeface="+mn-ea"/>
              <a:ea typeface="+mn-ea"/>
              <a:cs typeface="Meiryo UI" panose="020B0604030504040204" pitchFamily="50" charset="-128"/>
            </a:endParaRPr>
          </a:p>
          <a:p>
            <a:pPr marL="0" marR="0" indent="0" algn="just" defTabSz="742950" rtl="0" eaLnBrk="1" fontAlgn="base" latinLnBrk="0" hangingPunct="1">
              <a:spcBef>
                <a:spcPct val="0"/>
              </a:spcBef>
              <a:spcAft>
                <a:spcPct val="0"/>
              </a:spcAft>
              <a:buClrTx/>
              <a:buSzTx/>
              <a:buFontTx/>
              <a:buNone/>
              <a:tabLst/>
            </a:pPr>
            <a:r>
              <a:rPr lang="ja-JP" altLang="en-US" sz="1050" b="1" dirty="0">
                <a:solidFill>
                  <a:schemeClr val="tx2"/>
                </a:solidFill>
                <a:latin typeface="+mn-ea"/>
                <a:ea typeface="+mn-ea"/>
                <a:cs typeface="Meiryo UI" panose="020B0604030504040204" pitchFamily="50" charset="-128"/>
              </a:rPr>
              <a:t>拠点設置を継続</a:t>
            </a:r>
            <a:endParaRPr kumimoji="1" lang="ja-JP" altLang="en-US" sz="1050" b="1" i="0" u="none" strike="noStrike" cap="none" normalizeH="0" baseline="0" dirty="0">
              <a:ln>
                <a:noFill/>
              </a:ln>
              <a:solidFill>
                <a:schemeClr val="tx2"/>
              </a:solidFill>
              <a:effectLst/>
              <a:latin typeface="+mn-ea"/>
              <a:ea typeface="+mn-ea"/>
              <a:cs typeface="Meiryo UI" panose="020B0604030504040204" pitchFamily="50" charset="-128"/>
            </a:endParaRPr>
          </a:p>
        </p:txBody>
      </p:sp>
      <p:sp>
        <p:nvSpPr>
          <p:cNvPr id="181" name="テキスト ボックス 180">
            <a:extLst>
              <a:ext uri="{FF2B5EF4-FFF2-40B4-BE49-F238E27FC236}">
                <a16:creationId xmlns:a16="http://schemas.microsoft.com/office/drawing/2014/main" id="{C7ADFE24-D4F1-6476-CB31-DF4E4A98A067}"/>
              </a:ext>
            </a:extLst>
          </p:cNvPr>
          <p:cNvSpPr txBox="1"/>
          <p:nvPr/>
        </p:nvSpPr>
        <p:spPr>
          <a:xfrm>
            <a:off x="301055" y="2184235"/>
            <a:ext cx="3047849" cy="253916"/>
          </a:xfrm>
          <a:prstGeom prst="rect">
            <a:avLst/>
          </a:prstGeom>
          <a:noFill/>
        </p:spPr>
        <p:txBody>
          <a:bodyPr wrap="square" rtlCol="0">
            <a:spAutoFit/>
          </a:bodyPr>
          <a:lstStyle/>
          <a:p>
            <a:pPr algn="l"/>
            <a:r>
              <a:rPr kumimoji="1" lang="en-US" altLang="ja-JP" sz="1050" dirty="0">
                <a:latin typeface="+mn-ea"/>
                <a:ea typeface="+mn-ea"/>
                <a:cs typeface="Meiryo UI" panose="020B0604030504040204" pitchFamily="50" charset="-128"/>
              </a:rPr>
              <a:t>【SMCC CTI</a:t>
            </a:r>
            <a:r>
              <a:rPr kumimoji="1" lang="ja-JP" altLang="en-US" sz="1050" dirty="0">
                <a:latin typeface="+mn-ea"/>
                <a:ea typeface="+mn-ea"/>
                <a:cs typeface="Meiryo UI" panose="020B0604030504040204" pitchFamily="50" charset="-128"/>
              </a:rPr>
              <a:t>基盤 費用削減対応</a:t>
            </a:r>
            <a:r>
              <a:rPr kumimoji="1" lang="en-US" altLang="ja-JP" sz="1050" dirty="0">
                <a:latin typeface="+mn-ea"/>
                <a:ea typeface="+mn-ea"/>
                <a:cs typeface="Meiryo UI" panose="020B0604030504040204" pitchFamily="50" charset="-128"/>
              </a:rPr>
              <a:t>】</a:t>
            </a:r>
            <a:endParaRPr kumimoji="1" lang="ja-JP" altLang="en-US" sz="1050" dirty="0">
              <a:latin typeface="+mn-ea"/>
              <a:ea typeface="+mn-ea"/>
              <a:cs typeface="Meiryo UI" panose="020B0604030504040204" pitchFamily="50" charset="-128"/>
            </a:endParaRPr>
          </a:p>
        </p:txBody>
      </p:sp>
      <p:grpSp>
        <p:nvGrpSpPr>
          <p:cNvPr id="182" name="グループ化 181">
            <a:extLst>
              <a:ext uri="{FF2B5EF4-FFF2-40B4-BE49-F238E27FC236}">
                <a16:creationId xmlns:a16="http://schemas.microsoft.com/office/drawing/2014/main" id="{667A6B71-DB6B-8C7A-3224-A56A3DD42F86}"/>
              </a:ext>
            </a:extLst>
          </p:cNvPr>
          <p:cNvGrpSpPr/>
          <p:nvPr/>
        </p:nvGrpSpPr>
        <p:grpSpPr>
          <a:xfrm>
            <a:off x="5088677" y="1313670"/>
            <a:ext cx="4642386" cy="237463"/>
            <a:chOff x="997893" y="668547"/>
            <a:chExt cx="4176001" cy="237463"/>
          </a:xfrm>
        </p:grpSpPr>
        <p:sp>
          <p:nvSpPr>
            <p:cNvPr id="183" name="Rectangle 2">
              <a:extLst>
                <a:ext uri="{FF2B5EF4-FFF2-40B4-BE49-F238E27FC236}">
                  <a16:creationId xmlns:a16="http://schemas.microsoft.com/office/drawing/2014/main" id="{549C7BA7-6CBD-9E0D-21DE-08806DD9116C}"/>
                </a:ext>
              </a:extLst>
            </p:cNvPr>
            <p:cNvSpPr txBox="1">
              <a:spLocks noChangeArrowheads="1"/>
            </p:cNvSpPr>
            <p:nvPr/>
          </p:nvSpPr>
          <p:spPr bwMode="auto">
            <a:xfrm>
              <a:off x="997893" y="668547"/>
              <a:ext cx="4140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lstStyle>
              <a:lvl1pPr eaLnBrk="0" hangingPunct="0">
                <a:lnSpc>
                  <a:spcPts val="2100"/>
                </a:lnSpc>
                <a:spcBef>
                  <a:spcPct val="80000"/>
                </a:spcBef>
                <a:buClr>
                  <a:srgbClr val="003C2C"/>
                </a:buClr>
                <a:buFont typeface="Wingdings" pitchFamily="2" charset="2"/>
                <a:buChar char="l"/>
                <a:tabLst>
                  <a:tab pos="6372225" algn="l"/>
                </a:tabLst>
                <a:defRPr kumimoji="1">
                  <a:solidFill>
                    <a:schemeClr val="tx1"/>
                  </a:solidFill>
                  <a:latin typeface="ＭＳ Ｐゴシック" charset="-128"/>
                  <a:ea typeface="ＭＳ Ｐゴシック" charset="-128"/>
                </a:defRPr>
              </a:lvl1pPr>
              <a:lvl2pPr marL="742950" indent="-285750" eaLnBrk="0" hangingPunct="0">
                <a:lnSpc>
                  <a:spcPts val="2100"/>
                </a:lnSpc>
                <a:spcBef>
                  <a:spcPct val="20000"/>
                </a:spcBef>
                <a:buClr>
                  <a:srgbClr val="A8D435"/>
                </a:buClr>
                <a:buSzPct val="90000"/>
                <a:buFont typeface="Wingdings" pitchFamily="2" charset="2"/>
                <a:buChar char="l"/>
                <a:tabLst>
                  <a:tab pos="6372225" algn="l"/>
                </a:tabLst>
                <a:defRPr kumimoji="1" sz="1600">
                  <a:solidFill>
                    <a:schemeClr val="tx1"/>
                  </a:solidFill>
                  <a:latin typeface="ＭＳ Ｐゴシック" charset="-128"/>
                  <a:ea typeface="ＭＳ Ｐゴシック" charset="-128"/>
                </a:defRPr>
              </a:lvl2pPr>
              <a:lvl3pPr marL="1143000" indent="-228600" eaLnBrk="0" hangingPunct="0">
                <a:lnSpc>
                  <a:spcPct val="125000"/>
                </a:lnSpc>
                <a:spcBef>
                  <a:spcPct val="20000"/>
                </a:spcBef>
                <a:buClr>
                  <a:srgbClr val="A2A2A2"/>
                </a:buClr>
                <a:buSzPct val="70000"/>
                <a:buFont typeface="Wingdings" pitchFamily="2" charset="2"/>
                <a:tabLst>
                  <a:tab pos="6372225" algn="l"/>
                </a:tabLst>
                <a:defRPr kumimoji="1" sz="1600">
                  <a:solidFill>
                    <a:schemeClr val="tx1"/>
                  </a:solidFill>
                  <a:latin typeface="ＭＳ Ｐゴシック" charset="-128"/>
                  <a:ea typeface="ＭＳ Ｐゴシック" charset="-128"/>
                </a:defRPr>
              </a:lvl3pPr>
              <a:lvl4pPr marL="1600200" indent="-228600" eaLnBrk="0" fontAlgn="ctr" hangingPunct="0">
                <a:lnSpc>
                  <a:spcPts val="2100"/>
                </a:lnSpc>
                <a:spcBef>
                  <a:spcPct val="20000"/>
                </a:spcBef>
                <a:buClr>
                  <a:srgbClr val="A2A2A2"/>
                </a:buClr>
                <a:buSzPct val="70000"/>
                <a:buFont typeface="Wingdings" pitchFamily="2" charset="2"/>
                <a:buChar char="l"/>
                <a:tabLst>
                  <a:tab pos="6372225" algn="l"/>
                </a:tabLst>
                <a:defRPr kumimoji="1" sz="1400">
                  <a:solidFill>
                    <a:schemeClr val="tx1"/>
                  </a:solidFill>
                  <a:latin typeface="ＭＳ Ｐゴシック" charset="-128"/>
                  <a:ea typeface="ＭＳ Ｐゴシック" charset="-128"/>
                </a:defRPr>
              </a:lvl4pPr>
              <a:lvl5pPr marL="2057400" indent="-228600" eaLnBrk="0" fontAlgn="ctr" hangingPunct="0">
                <a:lnSpc>
                  <a:spcPts val="2100"/>
                </a:lnSpc>
                <a:spcBef>
                  <a:spcPct val="20000"/>
                </a:spcBef>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5pPr>
              <a:lvl6pPr marL="25146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6pPr>
              <a:lvl7pPr marL="29718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7pPr>
              <a:lvl8pPr marL="34290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8pPr>
              <a:lvl9pPr marL="38862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tab pos="6372225" algn="l"/>
                </a:tabLst>
                <a:defRPr/>
              </a:pPr>
              <a:r>
                <a:rPr kumimoji="1" lang="ja-JP" altLang="en-US" sz="1400" b="1" dirty="0">
                  <a:latin typeface="+mn-ea"/>
                  <a:ea typeface="+mn-ea"/>
                </a:rPr>
                <a:t>全体構成の変更点</a:t>
              </a:r>
              <a:endParaRPr kumimoji="1" lang="en-US" altLang="ja-JP" sz="1400" b="1" i="0" u="none" strike="noStrike" kern="1200" cap="none" spc="0" normalizeH="0" baseline="0" noProof="0" dirty="0">
                <a:ln>
                  <a:noFill/>
                </a:ln>
                <a:effectLst/>
                <a:uLnTx/>
                <a:uFillTx/>
                <a:latin typeface="Meiryo UI" pitchFamily="50" charset="-128"/>
                <a:ea typeface="Meiryo UI" pitchFamily="50" charset="-128"/>
                <a:cs typeface="Meiryo UI" pitchFamily="50" charset="-128"/>
              </a:endParaRPr>
            </a:p>
          </p:txBody>
        </p:sp>
        <p:cxnSp>
          <p:nvCxnSpPr>
            <p:cNvPr id="184" name="直線コネクタ 183">
              <a:extLst>
                <a:ext uri="{FF2B5EF4-FFF2-40B4-BE49-F238E27FC236}">
                  <a16:creationId xmlns:a16="http://schemas.microsoft.com/office/drawing/2014/main" id="{500363F3-6BB7-8958-16A4-203E163E8F97}"/>
                </a:ext>
              </a:extLst>
            </p:cNvPr>
            <p:cNvCxnSpPr>
              <a:cxnSpLocks/>
            </p:cNvCxnSpPr>
            <p:nvPr/>
          </p:nvCxnSpPr>
          <p:spPr bwMode="auto">
            <a:xfrm>
              <a:off x="997894" y="906010"/>
              <a:ext cx="4176000" cy="0"/>
            </a:xfrm>
            <a:prstGeom prst="line">
              <a:avLst/>
            </a:prstGeom>
            <a:noFill/>
            <a:ln w="19050" cap="flat" cmpd="sng" algn="ctr">
              <a:solidFill>
                <a:srgbClr val="0072CE"/>
              </a:solidFill>
              <a:prstDash val="solid"/>
              <a:headEnd type="none" w="med" len="med"/>
              <a:tailEnd type="none" w="med" len="med"/>
            </a:ln>
            <a:effectLst/>
          </p:spPr>
        </p:cxnSp>
      </p:grpSp>
      <p:sp>
        <p:nvSpPr>
          <p:cNvPr id="185" name="正方形/長方形 184">
            <a:extLst>
              <a:ext uri="{FF2B5EF4-FFF2-40B4-BE49-F238E27FC236}">
                <a16:creationId xmlns:a16="http://schemas.microsoft.com/office/drawing/2014/main" id="{4639F5DF-571A-2540-0562-4AC793BD71F2}"/>
              </a:ext>
            </a:extLst>
          </p:cNvPr>
          <p:cNvSpPr/>
          <p:nvPr/>
        </p:nvSpPr>
        <p:spPr bwMode="auto">
          <a:xfrm>
            <a:off x="5094320" y="1588442"/>
            <a:ext cx="4676661" cy="737446"/>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82563" indent="-182563" defTabSz="742950" eaLnBrk="1" hangingPunct="1">
              <a:buFont typeface="Wingdings" panose="05000000000000000000" pitchFamily="2" charset="2"/>
              <a:buChar char="ü"/>
              <a:defRPr/>
            </a:pPr>
            <a:r>
              <a:rPr kumimoji="1" lang="ja-JP" altLang="en-US" sz="1200" dirty="0">
                <a:latin typeface="+mn-ea"/>
                <a:ea typeface="+mn-ea"/>
              </a:rPr>
              <a:t>全体構成の変更点として、①仮想基盤の変更（</a:t>
            </a:r>
            <a:r>
              <a:rPr kumimoji="1" lang="en-US" altLang="ja-JP" sz="1200" dirty="0">
                <a:latin typeface="+mn-ea"/>
                <a:ea typeface="+mn-ea"/>
              </a:rPr>
              <a:t>Hyper-V</a:t>
            </a:r>
            <a:r>
              <a:rPr kumimoji="1" lang="ja-JP" altLang="en-US" sz="1200" dirty="0">
                <a:latin typeface="+mn-ea"/>
                <a:ea typeface="+mn-ea"/>
              </a:rPr>
              <a:t>基盤への移行）、②</a:t>
            </a:r>
            <a:r>
              <a:rPr kumimoji="1" lang="en-US" altLang="ja-JP" sz="1200" dirty="0">
                <a:latin typeface="+mn-ea"/>
                <a:ea typeface="+mn-ea"/>
              </a:rPr>
              <a:t>CTI</a:t>
            </a:r>
            <a:r>
              <a:rPr kumimoji="1" lang="ja-JP" altLang="en-US" sz="1200" dirty="0">
                <a:latin typeface="+mn-ea"/>
                <a:ea typeface="+mn-ea"/>
              </a:rPr>
              <a:t>アプリ製品の販売終了（</a:t>
            </a:r>
            <a:r>
              <a:rPr kumimoji="1" lang="en-US" altLang="ja-JP" sz="1200" dirty="0">
                <a:latin typeface="+mn-ea"/>
                <a:ea typeface="+mn-ea"/>
              </a:rPr>
              <a:t>Genesys T-Server</a:t>
            </a:r>
            <a:r>
              <a:rPr kumimoji="1" lang="ja-JP" altLang="en-US" sz="1200" dirty="0">
                <a:latin typeface="+mn-ea"/>
                <a:ea typeface="+mn-ea"/>
              </a:rPr>
              <a:t>）、③アウトバウンド製品販売終了（</a:t>
            </a:r>
            <a:r>
              <a:rPr kumimoji="1" lang="en-US" altLang="ja-JP" sz="1200" dirty="0">
                <a:latin typeface="+mn-ea"/>
                <a:ea typeface="+mn-ea"/>
              </a:rPr>
              <a:t>Genesys OCS</a:t>
            </a:r>
            <a:r>
              <a:rPr kumimoji="1" lang="ja-JP" altLang="en-US" sz="1200" dirty="0">
                <a:latin typeface="+mn-ea"/>
                <a:ea typeface="+mn-ea"/>
              </a:rPr>
              <a:t>）の対応を実施。</a:t>
            </a:r>
            <a:endParaRPr lang="en-US" altLang="ja-JP" sz="1200" dirty="0">
              <a:latin typeface="+mn-ea"/>
              <a:ea typeface="+mn-ea"/>
            </a:endParaRPr>
          </a:p>
        </p:txBody>
      </p:sp>
      <p:sp>
        <p:nvSpPr>
          <p:cNvPr id="186" name="正方形/長方形 185">
            <a:extLst>
              <a:ext uri="{FF2B5EF4-FFF2-40B4-BE49-F238E27FC236}">
                <a16:creationId xmlns:a16="http://schemas.microsoft.com/office/drawing/2014/main" id="{F4FE5A26-8EE1-229C-B269-3158BE8B9107}"/>
              </a:ext>
            </a:extLst>
          </p:cNvPr>
          <p:cNvSpPr/>
          <p:nvPr/>
        </p:nvSpPr>
        <p:spPr bwMode="auto">
          <a:xfrm>
            <a:off x="7558239" y="2490478"/>
            <a:ext cx="2172824" cy="4144039"/>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800" i="0" u="none" strike="noStrike" cap="none" normalizeH="0" baseline="0">
                <a:ln>
                  <a:noFill/>
                </a:ln>
                <a:effectLst/>
                <a:latin typeface="+mn-ea"/>
                <a:ea typeface="+mn-ea"/>
                <a:cs typeface="Meiryo UI" panose="020B0604030504040204" pitchFamily="50" charset="-128"/>
              </a:rPr>
              <a:t>仮想基盤（</a:t>
            </a:r>
            <a:r>
              <a:rPr kumimoji="1" lang="en-US" altLang="ja-JP" sz="800" i="0" u="none" strike="noStrike" cap="none" normalizeH="0" baseline="0">
                <a:ln>
                  <a:noFill/>
                </a:ln>
                <a:effectLst/>
                <a:latin typeface="+mn-ea"/>
                <a:ea typeface="+mn-ea"/>
                <a:cs typeface="Meiryo UI" panose="020B0604030504040204" pitchFamily="50" charset="-128"/>
              </a:rPr>
              <a:t>Hype-V</a:t>
            </a:r>
            <a:r>
              <a:rPr kumimoji="1" lang="ja-JP" altLang="en-US" sz="800" i="0" u="none" strike="noStrike" cap="none" normalizeH="0" baseline="0">
                <a:ln>
                  <a:noFill/>
                </a:ln>
                <a:effectLst/>
                <a:latin typeface="+mn-ea"/>
                <a:ea typeface="+mn-ea"/>
                <a:cs typeface="Meiryo UI" panose="020B0604030504040204" pitchFamily="50" charset="-128"/>
              </a:rPr>
              <a:t>基盤）</a:t>
            </a:r>
          </a:p>
        </p:txBody>
      </p:sp>
      <p:sp>
        <p:nvSpPr>
          <p:cNvPr id="187" name="正方形/長方形 186">
            <a:extLst>
              <a:ext uri="{FF2B5EF4-FFF2-40B4-BE49-F238E27FC236}">
                <a16:creationId xmlns:a16="http://schemas.microsoft.com/office/drawing/2014/main" id="{4B23C446-E089-EB5E-2478-CE4F21F74EFD}"/>
              </a:ext>
            </a:extLst>
          </p:cNvPr>
          <p:cNvSpPr/>
          <p:nvPr/>
        </p:nvSpPr>
        <p:spPr bwMode="auto">
          <a:xfrm>
            <a:off x="7709776" y="6225194"/>
            <a:ext cx="1881369" cy="279400"/>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36000" rIns="36000" bIns="36000" numCol="1" rtlCol="0" anchor="b"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400" i="0" u="none" strike="noStrike" cap="none" normalizeH="0" baseline="0">
              <a:ln>
                <a:noFill/>
              </a:ln>
              <a:effectLst/>
              <a:latin typeface="+mn-ea"/>
              <a:ea typeface="+mn-ea"/>
              <a:cs typeface="Meiryo UI" panose="020B0604030504040204" pitchFamily="50" charset="-128"/>
            </a:endParaRPr>
          </a:p>
        </p:txBody>
      </p:sp>
      <p:sp>
        <p:nvSpPr>
          <p:cNvPr id="188" name="テキスト ボックス 187">
            <a:extLst>
              <a:ext uri="{FF2B5EF4-FFF2-40B4-BE49-F238E27FC236}">
                <a16:creationId xmlns:a16="http://schemas.microsoft.com/office/drawing/2014/main" id="{E9C1DA2F-A94B-C164-0DA1-8B46463950A6}"/>
              </a:ext>
            </a:extLst>
          </p:cNvPr>
          <p:cNvSpPr txBox="1"/>
          <p:nvPr/>
        </p:nvSpPr>
        <p:spPr>
          <a:xfrm>
            <a:off x="8142947" y="6269349"/>
            <a:ext cx="846454" cy="230832"/>
          </a:xfrm>
          <a:prstGeom prst="rect">
            <a:avLst/>
          </a:prstGeom>
          <a:noFill/>
        </p:spPr>
        <p:txBody>
          <a:bodyPr wrap="square" rtlCol="0">
            <a:spAutoFit/>
          </a:bodyPr>
          <a:lstStyle/>
          <a:p>
            <a:pPr algn="ctr"/>
            <a:r>
              <a:rPr kumimoji="1" lang="ja-JP" altLang="en-US" sz="900" dirty="0">
                <a:latin typeface="+mn-ea"/>
                <a:ea typeface="+mn-ea"/>
                <a:cs typeface="Meiryo UI" panose="020B0604030504040204" pitchFamily="50" charset="-128"/>
              </a:rPr>
              <a:t>仮想基盤</a:t>
            </a:r>
          </a:p>
        </p:txBody>
      </p:sp>
      <p:pic>
        <p:nvPicPr>
          <p:cNvPr id="189" name="図 188">
            <a:extLst>
              <a:ext uri="{FF2B5EF4-FFF2-40B4-BE49-F238E27FC236}">
                <a16:creationId xmlns:a16="http://schemas.microsoft.com/office/drawing/2014/main" id="{737651DC-F0D2-BCFC-5960-D7D698B97267}"/>
              </a:ext>
            </a:extLst>
          </p:cNvPr>
          <p:cNvPicPr>
            <a:picLocks noChangeAspect="1"/>
          </p:cNvPicPr>
          <p:nvPr/>
        </p:nvPicPr>
        <p:blipFill>
          <a:blip r:embed="rId10"/>
          <a:stretch>
            <a:fillRect/>
          </a:stretch>
        </p:blipFill>
        <p:spPr>
          <a:xfrm>
            <a:off x="8929885" y="6309088"/>
            <a:ext cx="535447" cy="151353"/>
          </a:xfrm>
          <a:prstGeom prst="rect">
            <a:avLst/>
          </a:prstGeom>
          <a:ln>
            <a:noFill/>
          </a:ln>
        </p:spPr>
      </p:pic>
      <p:sp>
        <p:nvSpPr>
          <p:cNvPr id="190" name="正方形/長方形 189">
            <a:extLst>
              <a:ext uri="{FF2B5EF4-FFF2-40B4-BE49-F238E27FC236}">
                <a16:creationId xmlns:a16="http://schemas.microsoft.com/office/drawing/2014/main" id="{2774DE9D-FE17-8090-44D6-AD4D39FCE125}"/>
              </a:ext>
            </a:extLst>
          </p:cNvPr>
          <p:cNvSpPr/>
          <p:nvPr/>
        </p:nvSpPr>
        <p:spPr bwMode="auto">
          <a:xfrm>
            <a:off x="5141298" y="2491220"/>
            <a:ext cx="2172824" cy="4144039"/>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800" i="0" u="none" strike="noStrike" cap="none" normalizeH="0" baseline="0" dirty="0">
                <a:ln>
                  <a:noFill/>
                </a:ln>
                <a:effectLst/>
                <a:latin typeface="+mn-ea"/>
                <a:ea typeface="+mn-ea"/>
                <a:cs typeface="Meiryo UI" panose="020B0604030504040204" pitchFamily="50" charset="-128"/>
              </a:rPr>
              <a:t>インテ共（第三・第四世代）</a:t>
            </a:r>
          </a:p>
          <a:p>
            <a:pPr marL="0" marR="0" indent="0" algn="ctr" defTabSz="742950" rtl="0" eaLnBrk="1" fontAlgn="base" latinLnBrk="0" hangingPunct="1">
              <a:spcBef>
                <a:spcPct val="0"/>
              </a:spcBef>
              <a:spcAft>
                <a:spcPct val="0"/>
              </a:spcAft>
              <a:buClrTx/>
              <a:buSzTx/>
              <a:buFontTx/>
              <a:buNone/>
              <a:tabLst/>
            </a:pPr>
            <a:r>
              <a:rPr kumimoji="1" lang="ja-JP" altLang="en-US" sz="800" i="0" u="none" strike="noStrike" cap="none" normalizeH="0" baseline="0" dirty="0">
                <a:ln>
                  <a:noFill/>
                </a:ln>
                <a:effectLst/>
                <a:latin typeface="+mn-ea"/>
                <a:ea typeface="+mn-ea"/>
                <a:cs typeface="Meiryo UI" panose="020B0604030504040204" pitchFamily="50" charset="-128"/>
              </a:rPr>
              <a:t>スタンダードカスタム</a:t>
            </a:r>
          </a:p>
        </p:txBody>
      </p:sp>
      <p:sp>
        <p:nvSpPr>
          <p:cNvPr id="191" name="正方形/長方形 190">
            <a:extLst>
              <a:ext uri="{FF2B5EF4-FFF2-40B4-BE49-F238E27FC236}">
                <a16:creationId xmlns:a16="http://schemas.microsoft.com/office/drawing/2014/main" id="{2415D50E-688A-F13F-BBAA-77F0247E1825}"/>
              </a:ext>
            </a:extLst>
          </p:cNvPr>
          <p:cNvSpPr/>
          <p:nvPr/>
        </p:nvSpPr>
        <p:spPr bwMode="auto">
          <a:xfrm>
            <a:off x="5303242" y="6225936"/>
            <a:ext cx="1881369" cy="279400"/>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36000" rIns="36000" bIns="36000" numCol="1" rtlCol="0" anchor="b"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400" i="0" u="none" strike="noStrike" cap="none" normalizeH="0" baseline="0">
              <a:ln>
                <a:noFill/>
              </a:ln>
              <a:effectLst/>
              <a:latin typeface="+mn-ea"/>
              <a:ea typeface="+mn-ea"/>
              <a:cs typeface="Meiryo UI" panose="020B0604030504040204" pitchFamily="50" charset="-128"/>
            </a:endParaRPr>
          </a:p>
        </p:txBody>
      </p:sp>
      <p:sp>
        <p:nvSpPr>
          <p:cNvPr id="192" name="テキスト ボックス 191">
            <a:extLst>
              <a:ext uri="{FF2B5EF4-FFF2-40B4-BE49-F238E27FC236}">
                <a16:creationId xmlns:a16="http://schemas.microsoft.com/office/drawing/2014/main" id="{EA94933E-5CDB-F6CE-0178-2C7A882FAC4C}"/>
              </a:ext>
            </a:extLst>
          </p:cNvPr>
          <p:cNvSpPr txBox="1"/>
          <p:nvPr/>
        </p:nvSpPr>
        <p:spPr>
          <a:xfrm>
            <a:off x="5277218" y="6256171"/>
            <a:ext cx="846454" cy="230832"/>
          </a:xfrm>
          <a:prstGeom prst="rect">
            <a:avLst/>
          </a:prstGeom>
          <a:noFill/>
        </p:spPr>
        <p:txBody>
          <a:bodyPr wrap="square" rtlCol="0">
            <a:spAutoFit/>
          </a:bodyPr>
          <a:lstStyle/>
          <a:p>
            <a:pPr algn="ctr"/>
            <a:r>
              <a:rPr kumimoji="1" lang="ja-JP" altLang="en-US" sz="900" dirty="0">
                <a:latin typeface="+mn-ea"/>
                <a:ea typeface="+mn-ea"/>
                <a:cs typeface="Meiryo UI" panose="020B0604030504040204" pitchFamily="50" charset="-128"/>
              </a:rPr>
              <a:t>仮想基盤</a:t>
            </a:r>
          </a:p>
        </p:txBody>
      </p:sp>
      <p:pic>
        <p:nvPicPr>
          <p:cNvPr id="193" name="Picture 2" descr="NVIDIA &amp; VMware 新たなパートナーシップ、新たなデータ センター - NVIDIA">
            <a:extLst>
              <a:ext uri="{FF2B5EF4-FFF2-40B4-BE49-F238E27FC236}">
                <a16:creationId xmlns:a16="http://schemas.microsoft.com/office/drawing/2014/main" id="{C9F9F455-92CF-A33F-5C3C-E5A1F3EF0EDE}"/>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109585" y="6288033"/>
            <a:ext cx="551546" cy="183780"/>
          </a:xfrm>
          <a:prstGeom prst="rect">
            <a:avLst/>
          </a:prstGeom>
          <a:noFill/>
          <a:extLst>
            <a:ext uri="{909E8E84-426E-40DD-AFC4-6F175D3DCCD1}">
              <a14:hiddenFill xmlns:a14="http://schemas.microsoft.com/office/drawing/2010/main">
                <a:solidFill>
                  <a:srgbClr val="FFFFFF"/>
                </a:solidFill>
              </a14:hiddenFill>
            </a:ext>
          </a:extLst>
        </p:spPr>
      </p:pic>
      <p:sp>
        <p:nvSpPr>
          <p:cNvPr id="194" name="矢印: 右 193">
            <a:extLst>
              <a:ext uri="{FF2B5EF4-FFF2-40B4-BE49-F238E27FC236}">
                <a16:creationId xmlns:a16="http://schemas.microsoft.com/office/drawing/2014/main" id="{2AF838AD-4C84-A3BF-5B91-A26C698566EC}"/>
              </a:ext>
            </a:extLst>
          </p:cNvPr>
          <p:cNvSpPr/>
          <p:nvPr/>
        </p:nvSpPr>
        <p:spPr bwMode="auto">
          <a:xfrm>
            <a:off x="6886572" y="6112601"/>
            <a:ext cx="1343157" cy="496774"/>
          </a:xfrm>
          <a:prstGeom prst="rightArrow">
            <a:avLst/>
          </a:prstGeom>
          <a:solidFill>
            <a:schemeClr val="tx2"/>
          </a:solidFill>
          <a:ln w="9525" cap="flat" cmpd="sng" algn="ctr">
            <a:solidFill>
              <a:schemeClr val="bg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050" b="1" i="0" u="none" strike="noStrike" cap="none" normalizeH="0" baseline="0" dirty="0">
                <a:ln>
                  <a:noFill/>
                </a:ln>
                <a:solidFill>
                  <a:schemeClr val="bg1"/>
                </a:solidFill>
                <a:effectLst/>
                <a:latin typeface="+mn-ea"/>
                <a:ea typeface="+mn-ea"/>
                <a:cs typeface="Meiryo UI" panose="020B0604030504040204" pitchFamily="50" charset="-128"/>
              </a:rPr>
              <a:t>①仮想基盤の変更</a:t>
            </a:r>
          </a:p>
        </p:txBody>
      </p:sp>
      <p:sp>
        <p:nvSpPr>
          <p:cNvPr id="195" name="正方形/長方形 194">
            <a:extLst>
              <a:ext uri="{FF2B5EF4-FFF2-40B4-BE49-F238E27FC236}">
                <a16:creationId xmlns:a16="http://schemas.microsoft.com/office/drawing/2014/main" id="{607E6B28-B7AA-89F3-65C4-6968E598493D}"/>
              </a:ext>
            </a:extLst>
          </p:cNvPr>
          <p:cNvSpPr/>
          <p:nvPr/>
        </p:nvSpPr>
        <p:spPr bwMode="auto">
          <a:xfrm>
            <a:off x="5310688" y="5646748"/>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kumimoji="1" lang="en-US" altLang="ja-JP" sz="1000" i="0" u="none" strike="noStrike" cap="none" normalizeH="0" baseline="0" dirty="0">
                <a:ln>
                  <a:noFill/>
                </a:ln>
                <a:effectLst/>
                <a:latin typeface="+mn-ea"/>
                <a:ea typeface="+mn-ea"/>
                <a:cs typeface="Meiryo UI" panose="020B0604030504040204" pitchFamily="50" charset="-128"/>
              </a:rPr>
              <a:t>PBX</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pic>
        <p:nvPicPr>
          <p:cNvPr id="196" name="図 195">
            <a:extLst>
              <a:ext uri="{FF2B5EF4-FFF2-40B4-BE49-F238E27FC236}">
                <a16:creationId xmlns:a16="http://schemas.microsoft.com/office/drawing/2014/main" id="{40C0596E-85AD-A868-B74F-DA61CFBA1884}"/>
              </a:ext>
            </a:extLst>
          </p:cNvPr>
          <p:cNvPicPr>
            <a:picLocks noChangeAspect="1"/>
          </p:cNvPicPr>
          <p:nvPr/>
        </p:nvPicPr>
        <p:blipFill>
          <a:blip r:embed="rId12"/>
          <a:stretch>
            <a:fillRect/>
          </a:stretch>
        </p:blipFill>
        <p:spPr>
          <a:xfrm>
            <a:off x="5996557" y="5754183"/>
            <a:ext cx="762855" cy="254285"/>
          </a:xfrm>
          <a:prstGeom prst="rect">
            <a:avLst/>
          </a:prstGeom>
        </p:spPr>
      </p:pic>
      <p:sp>
        <p:nvSpPr>
          <p:cNvPr id="197" name="正方形/長方形 196">
            <a:extLst>
              <a:ext uri="{FF2B5EF4-FFF2-40B4-BE49-F238E27FC236}">
                <a16:creationId xmlns:a16="http://schemas.microsoft.com/office/drawing/2014/main" id="{C6E1F312-DC2C-E64C-7635-7EBE4EB0F64F}"/>
              </a:ext>
            </a:extLst>
          </p:cNvPr>
          <p:cNvSpPr/>
          <p:nvPr/>
        </p:nvSpPr>
        <p:spPr bwMode="auto">
          <a:xfrm>
            <a:off x="5310688" y="5092446"/>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lang="en-US" altLang="ja-JP" sz="1000" dirty="0">
                <a:latin typeface="+mn-ea"/>
                <a:ea typeface="+mn-ea"/>
                <a:cs typeface="Meiryo UI" panose="020B0604030504040204" pitchFamily="50" charset="-128"/>
              </a:rPr>
              <a:t>IVR</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pic>
        <p:nvPicPr>
          <p:cNvPr id="198" name="図 197">
            <a:extLst>
              <a:ext uri="{FF2B5EF4-FFF2-40B4-BE49-F238E27FC236}">
                <a16:creationId xmlns:a16="http://schemas.microsoft.com/office/drawing/2014/main" id="{0963E216-AD6E-F94B-4EE0-84E73DCF9D3E}"/>
              </a:ext>
            </a:extLst>
          </p:cNvPr>
          <p:cNvPicPr>
            <a:picLocks noChangeAspect="1"/>
          </p:cNvPicPr>
          <p:nvPr/>
        </p:nvPicPr>
        <p:blipFill>
          <a:blip r:embed="rId12"/>
          <a:stretch>
            <a:fillRect/>
          </a:stretch>
        </p:blipFill>
        <p:spPr>
          <a:xfrm>
            <a:off x="5996557" y="5199881"/>
            <a:ext cx="762855" cy="254285"/>
          </a:xfrm>
          <a:prstGeom prst="rect">
            <a:avLst/>
          </a:prstGeom>
        </p:spPr>
      </p:pic>
      <p:sp>
        <p:nvSpPr>
          <p:cNvPr id="199" name="正方形/長方形 198">
            <a:extLst>
              <a:ext uri="{FF2B5EF4-FFF2-40B4-BE49-F238E27FC236}">
                <a16:creationId xmlns:a16="http://schemas.microsoft.com/office/drawing/2014/main" id="{43C9C6FD-1675-1177-51AF-42B9ADCBD1DE}"/>
              </a:ext>
            </a:extLst>
          </p:cNvPr>
          <p:cNvSpPr/>
          <p:nvPr/>
        </p:nvSpPr>
        <p:spPr bwMode="auto">
          <a:xfrm>
            <a:off x="5310688" y="4544701"/>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lang="en-US" altLang="ja-JP" sz="1000" dirty="0">
                <a:latin typeface="+mn-ea"/>
                <a:ea typeface="+mn-ea"/>
                <a:cs typeface="Meiryo UI" panose="020B0604030504040204" pitchFamily="50" charset="-128"/>
              </a:rPr>
              <a:t>CTI</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sp>
        <p:nvSpPr>
          <p:cNvPr id="200" name="正方形/長方形 199">
            <a:extLst>
              <a:ext uri="{FF2B5EF4-FFF2-40B4-BE49-F238E27FC236}">
                <a16:creationId xmlns:a16="http://schemas.microsoft.com/office/drawing/2014/main" id="{04A51361-3408-68BE-0E31-FB8CBF13BDE8}"/>
              </a:ext>
            </a:extLst>
          </p:cNvPr>
          <p:cNvSpPr/>
          <p:nvPr/>
        </p:nvSpPr>
        <p:spPr bwMode="auto">
          <a:xfrm>
            <a:off x="5303243" y="4001555"/>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lang="en-US" altLang="ja-JP" sz="1000" dirty="0">
                <a:latin typeface="+mn-ea"/>
                <a:ea typeface="+mn-ea"/>
                <a:cs typeface="Meiryo UI" panose="020B0604030504040204" pitchFamily="50" charset="-128"/>
              </a:rPr>
              <a:t>CMS</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pic>
        <p:nvPicPr>
          <p:cNvPr id="201" name="図 200">
            <a:extLst>
              <a:ext uri="{FF2B5EF4-FFF2-40B4-BE49-F238E27FC236}">
                <a16:creationId xmlns:a16="http://schemas.microsoft.com/office/drawing/2014/main" id="{7AAEE402-F8F0-4F97-54FB-A8003DB93FAE}"/>
              </a:ext>
            </a:extLst>
          </p:cNvPr>
          <p:cNvPicPr>
            <a:picLocks noChangeAspect="1"/>
          </p:cNvPicPr>
          <p:nvPr/>
        </p:nvPicPr>
        <p:blipFill>
          <a:blip r:embed="rId12"/>
          <a:stretch>
            <a:fillRect/>
          </a:stretch>
        </p:blipFill>
        <p:spPr>
          <a:xfrm>
            <a:off x="5989112" y="4108990"/>
            <a:ext cx="762855" cy="254285"/>
          </a:xfrm>
          <a:prstGeom prst="rect">
            <a:avLst/>
          </a:prstGeom>
        </p:spPr>
      </p:pic>
      <p:sp>
        <p:nvSpPr>
          <p:cNvPr id="202" name="正方形/長方形 201">
            <a:extLst>
              <a:ext uri="{FF2B5EF4-FFF2-40B4-BE49-F238E27FC236}">
                <a16:creationId xmlns:a16="http://schemas.microsoft.com/office/drawing/2014/main" id="{9E402588-A7C1-8D29-C72C-5F42289BBBE8}"/>
              </a:ext>
            </a:extLst>
          </p:cNvPr>
          <p:cNvSpPr/>
          <p:nvPr/>
        </p:nvSpPr>
        <p:spPr bwMode="auto">
          <a:xfrm>
            <a:off x="5303243" y="3464521"/>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lang="ja-JP" altLang="en-US" sz="1000" dirty="0">
                <a:latin typeface="+mn-ea"/>
                <a:ea typeface="+mn-ea"/>
                <a:cs typeface="Meiryo UI" panose="020B0604030504040204" pitchFamily="50" charset="-128"/>
              </a:rPr>
              <a:t>アウト</a:t>
            </a:r>
            <a:endParaRPr lang="en-US" altLang="ja-JP" sz="1000" dirty="0">
              <a:latin typeface="+mn-ea"/>
              <a:ea typeface="+mn-ea"/>
              <a:cs typeface="Meiryo UI" panose="020B0604030504040204" pitchFamily="50" charset="-128"/>
            </a:endParaRPr>
          </a:p>
          <a:p>
            <a:pPr marL="0" marR="0" indent="0" defTabSz="742950" rtl="0" eaLnBrk="1" fontAlgn="base" latinLnBrk="0" hangingPunct="1">
              <a:spcBef>
                <a:spcPct val="0"/>
              </a:spcBef>
              <a:spcAft>
                <a:spcPct val="0"/>
              </a:spcAft>
              <a:buClrTx/>
              <a:buSzTx/>
              <a:buFontTx/>
              <a:buNone/>
              <a:tabLst/>
            </a:pPr>
            <a:r>
              <a:rPr lang="ja-JP" altLang="en-US" sz="1000" dirty="0">
                <a:latin typeface="+mn-ea"/>
                <a:ea typeface="+mn-ea"/>
                <a:cs typeface="Meiryo UI" panose="020B0604030504040204" pitchFamily="50" charset="-128"/>
              </a:rPr>
              <a:t>バウンド</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sp>
        <p:nvSpPr>
          <p:cNvPr id="203" name="正方形/長方形 202">
            <a:extLst>
              <a:ext uri="{FF2B5EF4-FFF2-40B4-BE49-F238E27FC236}">
                <a16:creationId xmlns:a16="http://schemas.microsoft.com/office/drawing/2014/main" id="{2D6233AC-0CA2-661C-CC75-7D06A5901438}"/>
              </a:ext>
            </a:extLst>
          </p:cNvPr>
          <p:cNvSpPr/>
          <p:nvPr/>
        </p:nvSpPr>
        <p:spPr bwMode="auto">
          <a:xfrm>
            <a:off x="5295922" y="2913823"/>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lang="ja-JP" altLang="en-US" sz="1000" dirty="0">
                <a:latin typeface="+mn-ea"/>
                <a:ea typeface="+mn-ea"/>
                <a:cs typeface="Meiryo UI" panose="020B0604030504040204" pitchFamily="50" charset="-128"/>
              </a:rPr>
              <a:t>通話録音</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pic>
        <p:nvPicPr>
          <p:cNvPr id="204" name="図 203">
            <a:extLst>
              <a:ext uri="{FF2B5EF4-FFF2-40B4-BE49-F238E27FC236}">
                <a16:creationId xmlns:a16="http://schemas.microsoft.com/office/drawing/2014/main" id="{043A8B25-7C38-EDA3-B9BF-84C84321E9ED}"/>
              </a:ext>
            </a:extLst>
          </p:cNvPr>
          <p:cNvPicPr>
            <a:picLocks noChangeAspect="1"/>
          </p:cNvPicPr>
          <p:nvPr/>
        </p:nvPicPr>
        <p:blipFill>
          <a:blip r:embed="rId13"/>
          <a:stretch>
            <a:fillRect/>
          </a:stretch>
        </p:blipFill>
        <p:spPr>
          <a:xfrm>
            <a:off x="6100223" y="3038049"/>
            <a:ext cx="560908" cy="248503"/>
          </a:xfrm>
          <a:prstGeom prst="rect">
            <a:avLst/>
          </a:prstGeom>
        </p:spPr>
      </p:pic>
      <p:sp>
        <p:nvSpPr>
          <p:cNvPr id="205" name="正方形/長方形 204">
            <a:extLst>
              <a:ext uri="{FF2B5EF4-FFF2-40B4-BE49-F238E27FC236}">
                <a16:creationId xmlns:a16="http://schemas.microsoft.com/office/drawing/2014/main" id="{4B5E6B0D-4C93-49F2-E8FF-1E355F8C593A}"/>
              </a:ext>
            </a:extLst>
          </p:cNvPr>
          <p:cNvSpPr/>
          <p:nvPr/>
        </p:nvSpPr>
        <p:spPr bwMode="auto">
          <a:xfrm>
            <a:off x="7708039" y="5646748"/>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kumimoji="1" lang="en-US" altLang="ja-JP" sz="1000" i="0" u="none" strike="noStrike" cap="none" normalizeH="0" baseline="0" dirty="0">
                <a:ln>
                  <a:noFill/>
                </a:ln>
                <a:effectLst/>
                <a:latin typeface="+mn-ea"/>
                <a:ea typeface="+mn-ea"/>
                <a:cs typeface="Meiryo UI" panose="020B0604030504040204" pitchFamily="50" charset="-128"/>
              </a:rPr>
              <a:t>PBX</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pic>
        <p:nvPicPr>
          <p:cNvPr id="206" name="図 205">
            <a:extLst>
              <a:ext uri="{FF2B5EF4-FFF2-40B4-BE49-F238E27FC236}">
                <a16:creationId xmlns:a16="http://schemas.microsoft.com/office/drawing/2014/main" id="{551355D5-0E05-9F2C-A2DD-22664B456AA2}"/>
              </a:ext>
            </a:extLst>
          </p:cNvPr>
          <p:cNvPicPr>
            <a:picLocks noChangeAspect="1"/>
          </p:cNvPicPr>
          <p:nvPr/>
        </p:nvPicPr>
        <p:blipFill>
          <a:blip r:embed="rId12"/>
          <a:stretch>
            <a:fillRect/>
          </a:stretch>
        </p:blipFill>
        <p:spPr>
          <a:xfrm>
            <a:off x="8393908" y="5754183"/>
            <a:ext cx="762855" cy="254285"/>
          </a:xfrm>
          <a:prstGeom prst="rect">
            <a:avLst/>
          </a:prstGeom>
        </p:spPr>
      </p:pic>
      <p:sp>
        <p:nvSpPr>
          <p:cNvPr id="207" name="正方形/長方形 206">
            <a:extLst>
              <a:ext uri="{FF2B5EF4-FFF2-40B4-BE49-F238E27FC236}">
                <a16:creationId xmlns:a16="http://schemas.microsoft.com/office/drawing/2014/main" id="{6E713B59-13D0-A97C-8D42-432B2306FAD2}"/>
              </a:ext>
            </a:extLst>
          </p:cNvPr>
          <p:cNvSpPr/>
          <p:nvPr/>
        </p:nvSpPr>
        <p:spPr bwMode="auto">
          <a:xfrm>
            <a:off x="7708039" y="5092446"/>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lang="en-US" altLang="ja-JP" sz="1000" dirty="0">
                <a:latin typeface="+mn-ea"/>
                <a:ea typeface="+mn-ea"/>
                <a:cs typeface="Meiryo UI" panose="020B0604030504040204" pitchFamily="50" charset="-128"/>
              </a:rPr>
              <a:t>IVR</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pic>
        <p:nvPicPr>
          <p:cNvPr id="208" name="図 207">
            <a:extLst>
              <a:ext uri="{FF2B5EF4-FFF2-40B4-BE49-F238E27FC236}">
                <a16:creationId xmlns:a16="http://schemas.microsoft.com/office/drawing/2014/main" id="{377D3ED1-B6F1-2D1B-28E8-E41A6CCE0AF3}"/>
              </a:ext>
            </a:extLst>
          </p:cNvPr>
          <p:cNvPicPr>
            <a:picLocks noChangeAspect="1"/>
          </p:cNvPicPr>
          <p:nvPr/>
        </p:nvPicPr>
        <p:blipFill>
          <a:blip r:embed="rId12"/>
          <a:stretch>
            <a:fillRect/>
          </a:stretch>
        </p:blipFill>
        <p:spPr>
          <a:xfrm>
            <a:off x="8393908" y="5199881"/>
            <a:ext cx="762855" cy="254285"/>
          </a:xfrm>
          <a:prstGeom prst="rect">
            <a:avLst/>
          </a:prstGeom>
        </p:spPr>
      </p:pic>
      <p:sp>
        <p:nvSpPr>
          <p:cNvPr id="209" name="正方形/長方形 208">
            <a:extLst>
              <a:ext uri="{FF2B5EF4-FFF2-40B4-BE49-F238E27FC236}">
                <a16:creationId xmlns:a16="http://schemas.microsoft.com/office/drawing/2014/main" id="{59E04FA5-9319-D317-7566-9958C28C104B}"/>
              </a:ext>
            </a:extLst>
          </p:cNvPr>
          <p:cNvSpPr/>
          <p:nvPr/>
        </p:nvSpPr>
        <p:spPr bwMode="auto">
          <a:xfrm>
            <a:off x="7708039" y="4544701"/>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lang="en-US" altLang="ja-JP" sz="1000" dirty="0">
                <a:latin typeface="+mn-ea"/>
                <a:ea typeface="+mn-ea"/>
                <a:cs typeface="Meiryo UI" panose="020B0604030504040204" pitchFamily="50" charset="-128"/>
              </a:rPr>
              <a:t>CTI</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pic>
        <p:nvPicPr>
          <p:cNvPr id="210" name="図 209">
            <a:extLst>
              <a:ext uri="{FF2B5EF4-FFF2-40B4-BE49-F238E27FC236}">
                <a16:creationId xmlns:a16="http://schemas.microsoft.com/office/drawing/2014/main" id="{31762AD5-5416-5EB6-D4F9-418774279844}"/>
              </a:ext>
            </a:extLst>
          </p:cNvPr>
          <p:cNvPicPr>
            <a:picLocks noChangeAspect="1"/>
          </p:cNvPicPr>
          <p:nvPr/>
        </p:nvPicPr>
        <p:blipFill>
          <a:blip r:embed="rId12"/>
          <a:stretch>
            <a:fillRect/>
          </a:stretch>
        </p:blipFill>
        <p:spPr>
          <a:xfrm>
            <a:off x="8393908" y="4652136"/>
            <a:ext cx="762855" cy="254285"/>
          </a:xfrm>
          <a:prstGeom prst="rect">
            <a:avLst/>
          </a:prstGeom>
        </p:spPr>
      </p:pic>
      <p:sp>
        <p:nvSpPr>
          <p:cNvPr id="211" name="正方形/長方形 210">
            <a:extLst>
              <a:ext uri="{FF2B5EF4-FFF2-40B4-BE49-F238E27FC236}">
                <a16:creationId xmlns:a16="http://schemas.microsoft.com/office/drawing/2014/main" id="{102C1C0E-E330-9DA6-3986-848ABC8423BC}"/>
              </a:ext>
            </a:extLst>
          </p:cNvPr>
          <p:cNvSpPr/>
          <p:nvPr/>
        </p:nvSpPr>
        <p:spPr bwMode="auto">
          <a:xfrm>
            <a:off x="7700594" y="4001555"/>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lang="en-US" altLang="ja-JP" sz="1000" dirty="0">
                <a:latin typeface="+mn-ea"/>
                <a:ea typeface="+mn-ea"/>
                <a:cs typeface="Meiryo UI" panose="020B0604030504040204" pitchFamily="50" charset="-128"/>
              </a:rPr>
              <a:t>CMS</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pic>
        <p:nvPicPr>
          <p:cNvPr id="212" name="図 211">
            <a:extLst>
              <a:ext uri="{FF2B5EF4-FFF2-40B4-BE49-F238E27FC236}">
                <a16:creationId xmlns:a16="http://schemas.microsoft.com/office/drawing/2014/main" id="{31426874-53E7-6F35-AD5F-4F0C301F769A}"/>
              </a:ext>
            </a:extLst>
          </p:cNvPr>
          <p:cNvPicPr>
            <a:picLocks noChangeAspect="1"/>
          </p:cNvPicPr>
          <p:nvPr/>
        </p:nvPicPr>
        <p:blipFill>
          <a:blip r:embed="rId12"/>
          <a:stretch>
            <a:fillRect/>
          </a:stretch>
        </p:blipFill>
        <p:spPr>
          <a:xfrm>
            <a:off x="8386463" y="4108990"/>
            <a:ext cx="762855" cy="254285"/>
          </a:xfrm>
          <a:prstGeom prst="rect">
            <a:avLst/>
          </a:prstGeom>
        </p:spPr>
      </p:pic>
      <p:sp>
        <p:nvSpPr>
          <p:cNvPr id="213" name="正方形/長方形 212">
            <a:extLst>
              <a:ext uri="{FF2B5EF4-FFF2-40B4-BE49-F238E27FC236}">
                <a16:creationId xmlns:a16="http://schemas.microsoft.com/office/drawing/2014/main" id="{806E7A50-9CC4-78F9-FC90-EFE66C912342}"/>
              </a:ext>
            </a:extLst>
          </p:cNvPr>
          <p:cNvSpPr/>
          <p:nvPr/>
        </p:nvSpPr>
        <p:spPr bwMode="auto">
          <a:xfrm>
            <a:off x="7700594" y="3464521"/>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lang="ja-JP" altLang="en-US" sz="1000" dirty="0">
                <a:latin typeface="+mn-ea"/>
                <a:ea typeface="+mn-ea"/>
                <a:cs typeface="Meiryo UI" panose="020B0604030504040204" pitchFamily="50" charset="-128"/>
              </a:rPr>
              <a:t>アウト</a:t>
            </a:r>
            <a:endParaRPr lang="en-US" altLang="ja-JP" sz="1000" dirty="0">
              <a:latin typeface="+mn-ea"/>
              <a:ea typeface="+mn-ea"/>
              <a:cs typeface="Meiryo UI" panose="020B0604030504040204" pitchFamily="50" charset="-128"/>
            </a:endParaRPr>
          </a:p>
          <a:p>
            <a:pPr marL="0" marR="0" indent="0" defTabSz="742950" rtl="0" eaLnBrk="1" fontAlgn="base" latinLnBrk="0" hangingPunct="1">
              <a:spcBef>
                <a:spcPct val="0"/>
              </a:spcBef>
              <a:spcAft>
                <a:spcPct val="0"/>
              </a:spcAft>
              <a:buClrTx/>
              <a:buSzTx/>
              <a:buFontTx/>
              <a:buNone/>
              <a:tabLst/>
            </a:pPr>
            <a:r>
              <a:rPr lang="ja-JP" altLang="en-US" sz="1000" dirty="0">
                <a:latin typeface="+mn-ea"/>
                <a:ea typeface="+mn-ea"/>
                <a:cs typeface="Meiryo UI" panose="020B0604030504040204" pitchFamily="50" charset="-128"/>
              </a:rPr>
              <a:t>バウンド</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sp>
        <p:nvSpPr>
          <p:cNvPr id="214" name="正方形/長方形 213">
            <a:extLst>
              <a:ext uri="{FF2B5EF4-FFF2-40B4-BE49-F238E27FC236}">
                <a16:creationId xmlns:a16="http://schemas.microsoft.com/office/drawing/2014/main" id="{BE5C6215-4557-95B4-8567-7B121B02863B}"/>
              </a:ext>
            </a:extLst>
          </p:cNvPr>
          <p:cNvSpPr/>
          <p:nvPr/>
        </p:nvSpPr>
        <p:spPr bwMode="auto">
          <a:xfrm>
            <a:off x="7693273" y="2913823"/>
            <a:ext cx="1881368" cy="458011"/>
          </a:xfrm>
          <a:prstGeom prst="rect">
            <a:avLst/>
          </a:prstGeom>
          <a:solidFill>
            <a:schemeClr val="bg1"/>
          </a:solidFill>
          <a:ln w="19050"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8000" tIns="36000" rIns="36000" bIns="36000" numCol="1" rtlCol="0" anchor="t" anchorCtr="0" compatLnSpc="1">
            <a:prstTxWarp prst="textNoShape">
              <a:avLst/>
            </a:prstTxWarp>
          </a:bodyPr>
          <a:lstStyle/>
          <a:p>
            <a:pPr marL="0" marR="0" indent="0" defTabSz="742950" rtl="0" eaLnBrk="1" fontAlgn="base" latinLnBrk="0" hangingPunct="1">
              <a:spcBef>
                <a:spcPct val="0"/>
              </a:spcBef>
              <a:spcAft>
                <a:spcPct val="0"/>
              </a:spcAft>
              <a:buClrTx/>
              <a:buSzTx/>
              <a:buFontTx/>
              <a:buNone/>
              <a:tabLst/>
            </a:pPr>
            <a:r>
              <a:rPr lang="ja-JP" altLang="en-US" sz="1000" dirty="0">
                <a:latin typeface="+mn-ea"/>
                <a:ea typeface="+mn-ea"/>
                <a:cs typeface="Meiryo UI" panose="020B0604030504040204" pitchFamily="50" charset="-128"/>
              </a:rPr>
              <a:t>通話録音</a:t>
            </a:r>
            <a:endParaRPr kumimoji="1" lang="ja-JP" altLang="en-US" sz="1000" i="0" u="none" strike="noStrike" cap="none" normalizeH="0" baseline="0" dirty="0">
              <a:ln>
                <a:noFill/>
              </a:ln>
              <a:effectLst/>
              <a:latin typeface="+mn-ea"/>
              <a:ea typeface="+mn-ea"/>
              <a:cs typeface="Meiryo UI" panose="020B0604030504040204" pitchFamily="50" charset="-128"/>
            </a:endParaRPr>
          </a:p>
        </p:txBody>
      </p:sp>
      <p:pic>
        <p:nvPicPr>
          <p:cNvPr id="215" name="図 214">
            <a:extLst>
              <a:ext uri="{FF2B5EF4-FFF2-40B4-BE49-F238E27FC236}">
                <a16:creationId xmlns:a16="http://schemas.microsoft.com/office/drawing/2014/main" id="{FD6A9CA9-5B35-4DCE-B557-8DFA20765BF2}"/>
              </a:ext>
            </a:extLst>
          </p:cNvPr>
          <p:cNvPicPr>
            <a:picLocks noChangeAspect="1"/>
          </p:cNvPicPr>
          <p:nvPr/>
        </p:nvPicPr>
        <p:blipFill>
          <a:blip r:embed="rId13"/>
          <a:stretch>
            <a:fillRect/>
          </a:stretch>
        </p:blipFill>
        <p:spPr>
          <a:xfrm>
            <a:off x="8497574" y="3038049"/>
            <a:ext cx="560908" cy="248503"/>
          </a:xfrm>
          <a:prstGeom prst="rect">
            <a:avLst/>
          </a:prstGeom>
        </p:spPr>
      </p:pic>
      <p:pic>
        <p:nvPicPr>
          <p:cNvPr id="216" name="Picture 2">
            <a:extLst>
              <a:ext uri="{FF2B5EF4-FFF2-40B4-BE49-F238E27FC236}">
                <a16:creationId xmlns:a16="http://schemas.microsoft.com/office/drawing/2014/main" id="{1136D562-6DC8-A3B5-9B62-DF3460CD137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09787" y="4480902"/>
            <a:ext cx="1466330" cy="622688"/>
          </a:xfrm>
          <a:prstGeom prst="rect">
            <a:avLst/>
          </a:prstGeom>
          <a:noFill/>
          <a:extLst>
            <a:ext uri="{909E8E84-426E-40DD-AFC4-6F175D3DCCD1}">
              <a14:hiddenFill xmlns:a14="http://schemas.microsoft.com/office/drawing/2010/main">
                <a:solidFill>
                  <a:srgbClr val="FFFFFF"/>
                </a:solidFill>
              </a14:hiddenFill>
            </a:ext>
          </a:extLst>
        </p:spPr>
      </p:pic>
      <p:pic>
        <p:nvPicPr>
          <p:cNvPr id="217" name="Picture 2">
            <a:extLst>
              <a:ext uri="{FF2B5EF4-FFF2-40B4-BE49-F238E27FC236}">
                <a16:creationId xmlns:a16="http://schemas.microsoft.com/office/drawing/2014/main" id="{497FEE5C-84FB-427D-0BBA-93AE7801B44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15069" y="3386479"/>
            <a:ext cx="1466330" cy="622688"/>
          </a:xfrm>
          <a:prstGeom prst="rect">
            <a:avLst/>
          </a:prstGeom>
          <a:noFill/>
          <a:extLst>
            <a:ext uri="{909E8E84-426E-40DD-AFC4-6F175D3DCCD1}">
              <a14:hiddenFill xmlns:a14="http://schemas.microsoft.com/office/drawing/2010/main">
                <a:solidFill>
                  <a:srgbClr val="FFFFFF"/>
                </a:solidFill>
              </a14:hiddenFill>
            </a:ext>
          </a:extLst>
        </p:spPr>
      </p:pic>
      <p:sp>
        <p:nvSpPr>
          <p:cNvPr id="218" name="矢印: 右 217">
            <a:extLst>
              <a:ext uri="{FF2B5EF4-FFF2-40B4-BE49-F238E27FC236}">
                <a16:creationId xmlns:a16="http://schemas.microsoft.com/office/drawing/2014/main" id="{218B1B42-656C-F842-D058-31D72742FE02}"/>
              </a:ext>
            </a:extLst>
          </p:cNvPr>
          <p:cNvSpPr/>
          <p:nvPr/>
        </p:nvSpPr>
        <p:spPr bwMode="auto">
          <a:xfrm>
            <a:off x="6919492" y="4536048"/>
            <a:ext cx="1343157" cy="496774"/>
          </a:xfrm>
          <a:prstGeom prst="rightArrow">
            <a:avLst/>
          </a:prstGeom>
          <a:solidFill>
            <a:schemeClr val="tx2"/>
          </a:solidFill>
          <a:ln w="9525" cap="flat" cmpd="sng" algn="ctr">
            <a:solidFill>
              <a:schemeClr val="bg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050" b="1" i="0" u="none" strike="noStrike" cap="none" normalizeH="0" baseline="0" dirty="0">
                <a:ln>
                  <a:noFill/>
                </a:ln>
                <a:solidFill>
                  <a:schemeClr val="bg1"/>
                </a:solidFill>
                <a:effectLst/>
                <a:latin typeface="+mn-ea"/>
                <a:ea typeface="+mn-ea"/>
                <a:cs typeface="Meiryo UI" panose="020B0604030504040204" pitchFamily="50" charset="-128"/>
              </a:rPr>
              <a:t>②製品販売終了</a:t>
            </a:r>
          </a:p>
        </p:txBody>
      </p:sp>
      <p:sp>
        <p:nvSpPr>
          <p:cNvPr id="219" name="正方形/長方形 218">
            <a:extLst>
              <a:ext uri="{FF2B5EF4-FFF2-40B4-BE49-F238E27FC236}">
                <a16:creationId xmlns:a16="http://schemas.microsoft.com/office/drawing/2014/main" id="{2DD16EDF-0EBE-9D2D-09B2-81F5316F693F}"/>
              </a:ext>
            </a:extLst>
          </p:cNvPr>
          <p:cNvSpPr/>
          <p:nvPr/>
        </p:nvSpPr>
        <p:spPr bwMode="auto">
          <a:xfrm>
            <a:off x="8262649" y="3507270"/>
            <a:ext cx="1108738" cy="367568"/>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defTabSz="742950" eaLnBrk="1" hangingPunct="1">
              <a:defRPr/>
            </a:pPr>
            <a:r>
              <a:rPr lang="ja-JP" altLang="en-US" sz="1200" dirty="0">
                <a:latin typeface="+mn-ea"/>
                <a:ea typeface="+mn-ea"/>
              </a:rPr>
              <a:t>選定中</a:t>
            </a:r>
            <a:endParaRPr lang="en-US" altLang="ja-JP" sz="1200" dirty="0">
              <a:latin typeface="+mn-ea"/>
              <a:ea typeface="+mn-ea"/>
            </a:endParaRPr>
          </a:p>
        </p:txBody>
      </p:sp>
      <p:sp>
        <p:nvSpPr>
          <p:cNvPr id="220" name="矢印: 右 219">
            <a:extLst>
              <a:ext uri="{FF2B5EF4-FFF2-40B4-BE49-F238E27FC236}">
                <a16:creationId xmlns:a16="http://schemas.microsoft.com/office/drawing/2014/main" id="{F4573FC1-AF54-DA77-797C-3C1DD20473EC}"/>
              </a:ext>
            </a:extLst>
          </p:cNvPr>
          <p:cNvSpPr/>
          <p:nvPr/>
        </p:nvSpPr>
        <p:spPr bwMode="auto">
          <a:xfrm>
            <a:off x="6919491" y="3449436"/>
            <a:ext cx="1343157" cy="496774"/>
          </a:xfrm>
          <a:prstGeom prst="rightArrow">
            <a:avLst/>
          </a:prstGeom>
          <a:solidFill>
            <a:schemeClr val="tx2"/>
          </a:solidFill>
          <a:ln w="9525" cap="flat" cmpd="sng" algn="ctr">
            <a:solidFill>
              <a:schemeClr val="bg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lang="ja-JP" altLang="en-US" sz="1050" b="1" dirty="0">
                <a:solidFill>
                  <a:schemeClr val="bg1"/>
                </a:solidFill>
                <a:latin typeface="+mn-ea"/>
                <a:ea typeface="+mn-ea"/>
                <a:cs typeface="Meiryo UI" panose="020B0604030504040204" pitchFamily="50" charset="-128"/>
              </a:rPr>
              <a:t>③</a:t>
            </a:r>
            <a:r>
              <a:rPr kumimoji="1" lang="ja-JP" altLang="en-US" sz="1050" b="1" i="0" u="none" strike="noStrike" cap="none" normalizeH="0" baseline="0" dirty="0">
                <a:ln>
                  <a:noFill/>
                </a:ln>
                <a:solidFill>
                  <a:schemeClr val="bg1"/>
                </a:solidFill>
                <a:effectLst/>
                <a:latin typeface="+mn-ea"/>
                <a:ea typeface="+mn-ea"/>
                <a:cs typeface="Meiryo UI" panose="020B0604030504040204" pitchFamily="50" charset="-128"/>
              </a:rPr>
              <a:t>製品販売終了</a:t>
            </a:r>
          </a:p>
        </p:txBody>
      </p:sp>
    </p:spTree>
    <p:extLst>
      <p:ext uri="{BB962C8B-B14F-4D97-AF65-F5344CB8AC3E}">
        <p14:creationId xmlns:p14="http://schemas.microsoft.com/office/powerpoint/2010/main" val="1579675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06A41125-697D-BBEE-4389-00F24A55B012}"/>
              </a:ext>
            </a:extLst>
          </p:cNvPr>
          <p:cNvSpPr>
            <a:spLocks noGrp="1"/>
          </p:cNvSpPr>
          <p:nvPr>
            <p:ph type="body" sz="quarter" idx="12"/>
          </p:nvPr>
        </p:nvSpPr>
        <p:spPr/>
        <p:txBody>
          <a:bodyPr/>
          <a:lstStyle/>
          <a:p>
            <a:r>
              <a:rPr lang="en-US" altLang="ja-JP" dirty="0"/>
              <a:t>CTI</a:t>
            </a:r>
            <a:r>
              <a:rPr lang="ja-JP" altLang="en-US" dirty="0"/>
              <a:t>基盤統合（</a:t>
            </a:r>
            <a:r>
              <a:rPr lang="en-US" altLang="ja-JP" dirty="0"/>
              <a:t>ACD1,2</a:t>
            </a:r>
            <a:r>
              <a:rPr lang="ja-JP" altLang="en-US" dirty="0"/>
              <a:t>等）による更改費用削減の検討を行う。</a:t>
            </a:r>
            <a:endParaRPr lang="en-US" altLang="ja-JP" dirty="0"/>
          </a:p>
          <a:p>
            <a:r>
              <a:rPr lang="ja-JP" altLang="en-US" dirty="0"/>
              <a:t>案１の構成における懸念事項については以下の２点が上げられる。</a:t>
            </a:r>
          </a:p>
          <a:p>
            <a:pPr marL="0" indent="0">
              <a:buNone/>
            </a:pPr>
            <a:r>
              <a:rPr lang="ja-JP" altLang="en-US" dirty="0"/>
              <a:t>①コスト削減効果が高い反面、災対切替時に全システムにて一斉に切替が発生（</a:t>
            </a:r>
            <a:r>
              <a:rPr lang="en-US" altLang="ja-JP" dirty="0"/>
              <a:t>SMCC</a:t>
            </a:r>
            <a:r>
              <a:rPr lang="ja-JP" altLang="en-US" dirty="0"/>
              <a:t>障害に引きずられて受託先についても影響が発生）し業務影響が大きいことから、業務運用上の考慮が必要。</a:t>
            </a:r>
            <a:endParaRPr lang="en-US" altLang="ja-JP" dirty="0"/>
          </a:p>
          <a:p>
            <a:pPr marL="0" indent="0">
              <a:buNone/>
            </a:pPr>
            <a:r>
              <a:rPr lang="ja-JP" altLang="en-US" dirty="0"/>
              <a:t>②現行の</a:t>
            </a:r>
            <a:r>
              <a:rPr lang="en-US" altLang="ja-JP" dirty="0" err="1"/>
              <a:t>AgentID</a:t>
            </a:r>
            <a:r>
              <a:rPr lang="ja-JP" altLang="en-US" dirty="0"/>
              <a:t>数の上限値を超過するため、</a:t>
            </a:r>
            <a:r>
              <a:rPr lang="en-US" altLang="ja-JP" dirty="0" err="1"/>
              <a:t>AgentID</a:t>
            </a:r>
            <a:r>
              <a:rPr lang="ja-JP" altLang="en-US" dirty="0"/>
              <a:t>の整理が必要。</a:t>
            </a:r>
          </a:p>
        </p:txBody>
      </p:sp>
      <p:sp>
        <p:nvSpPr>
          <p:cNvPr id="6" name="タイトル 5">
            <a:extLst>
              <a:ext uri="{FF2B5EF4-FFF2-40B4-BE49-F238E27FC236}">
                <a16:creationId xmlns:a16="http://schemas.microsoft.com/office/drawing/2014/main" id="{9A956497-1446-C34E-1726-F3FBFF4521A8}"/>
              </a:ext>
            </a:extLst>
          </p:cNvPr>
          <p:cNvSpPr>
            <a:spLocks noGrp="1"/>
          </p:cNvSpPr>
          <p:nvPr>
            <p:ph type="title"/>
          </p:nvPr>
        </p:nvSpPr>
        <p:spPr/>
        <p:txBody>
          <a:bodyPr/>
          <a:lstStyle/>
          <a:p>
            <a:r>
              <a:rPr lang="en-US" altLang="ja-JP" dirty="0"/>
              <a:t>【</a:t>
            </a:r>
            <a:r>
              <a:rPr lang="ja-JP" altLang="en-US" dirty="0"/>
              <a:t>参考①</a:t>
            </a:r>
            <a:r>
              <a:rPr lang="en-US" altLang="ja-JP" dirty="0"/>
              <a:t>】CTI</a:t>
            </a:r>
            <a:r>
              <a:rPr lang="ja-JP" altLang="en-US" dirty="0"/>
              <a:t>基盤統合</a:t>
            </a:r>
          </a:p>
        </p:txBody>
      </p:sp>
      <p:graphicFrame>
        <p:nvGraphicFramePr>
          <p:cNvPr id="8" name="表 7">
            <a:extLst>
              <a:ext uri="{FF2B5EF4-FFF2-40B4-BE49-F238E27FC236}">
                <a16:creationId xmlns:a16="http://schemas.microsoft.com/office/drawing/2014/main" id="{D718B7DC-899B-AC4E-934B-8351EB7D6B12}"/>
              </a:ext>
            </a:extLst>
          </p:cNvPr>
          <p:cNvGraphicFramePr>
            <a:graphicFrameLocks noGrp="1"/>
          </p:cNvGraphicFramePr>
          <p:nvPr/>
        </p:nvGraphicFramePr>
        <p:xfrm>
          <a:off x="135837" y="2026580"/>
          <a:ext cx="9629019" cy="4440375"/>
        </p:xfrm>
        <a:graphic>
          <a:graphicData uri="http://schemas.openxmlformats.org/drawingml/2006/table">
            <a:tbl>
              <a:tblPr firstRow="1" bandRow="1">
                <a:tableStyleId>{5C22544A-7EE6-4342-B048-85BDC9FD1C3A}</a:tableStyleId>
              </a:tblPr>
              <a:tblGrid>
                <a:gridCol w="522807">
                  <a:extLst>
                    <a:ext uri="{9D8B030D-6E8A-4147-A177-3AD203B41FA5}">
                      <a16:colId xmlns:a16="http://schemas.microsoft.com/office/drawing/2014/main" val="116094207"/>
                    </a:ext>
                  </a:extLst>
                </a:gridCol>
                <a:gridCol w="551663">
                  <a:extLst>
                    <a:ext uri="{9D8B030D-6E8A-4147-A177-3AD203B41FA5}">
                      <a16:colId xmlns:a16="http://schemas.microsoft.com/office/drawing/2014/main" val="3322080614"/>
                    </a:ext>
                  </a:extLst>
                </a:gridCol>
                <a:gridCol w="3235451">
                  <a:extLst>
                    <a:ext uri="{9D8B030D-6E8A-4147-A177-3AD203B41FA5}">
                      <a16:colId xmlns:a16="http://schemas.microsoft.com/office/drawing/2014/main" val="640390301"/>
                    </a:ext>
                  </a:extLst>
                </a:gridCol>
                <a:gridCol w="505276">
                  <a:extLst>
                    <a:ext uri="{9D8B030D-6E8A-4147-A177-3AD203B41FA5}">
                      <a16:colId xmlns:a16="http://schemas.microsoft.com/office/drawing/2014/main" val="1621574184"/>
                    </a:ext>
                  </a:extLst>
                </a:gridCol>
                <a:gridCol w="2088086">
                  <a:extLst>
                    <a:ext uri="{9D8B030D-6E8A-4147-A177-3AD203B41FA5}">
                      <a16:colId xmlns:a16="http://schemas.microsoft.com/office/drawing/2014/main" val="3707754320"/>
                    </a:ext>
                  </a:extLst>
                </a:gridCol>
                <a:gridCol w="473746">
                  <a:extLst>
                    <a:ext uri="{9D8B030D-6E8A-4147-A177-3AD203B41FA5}">
                      <a16:colId xmlns:a16="http://schemas.microsoft.com/office/drawing/2014/main" val="3915138592"/>
                    </a:ext>
                  </a:extLst>
                </a:gridCol>
                <a:gridCol w="2251990">
                  <a:extLst>
                    <a:ext uri="{9D8B030D-6E8A-4147-A177-3AD203B41FA5}">
                      <a16:colId xmlns:a16="http://schemas.microsoft.com/office/drawing/2014/main" val="2187409085"/>
                    </a:ext>
                  </a:extLst>
                </a:gridCol>
              </a:tblGrid>
              <a:tr h="153998">
                <a:tc>
                  <a:txBody>
                    <a:bodyPr/>
                    <a:lstStyle/>
                    <a:p>
                      <a:pPr algn="ct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gridSpan="2">
                  <a:txBody>
                    <a:bodyPr/>
                    <a:lstStyle/>
                    <a:p>
                      <a:pPr algn="ctr"/>
                      <a:r>
                        <a:rPr kumimoji="1" lang="ja-JP" altLang="en-US" sz="11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現行構成</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tc gridSpan="2">
                  <a:txBody>
                    <a:bodyPr/>
                    <a:lstStyle/>
                    <a:p>
                      <a:pPr algn="ctr"/>
                      <a:r>
                        <a:rPr kumimoji="1" lang="ja-JP" altLang="en-US" sz="11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案１</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tc gridSpan="2">
                  <a:txBody>
                    <a:bodyPr/>
                    <a:lstStyle/>
                    <a:p>
                      <a:pPr algn="ctr"/>
                      <a:r>
                        <a:rPr kumimoji="1" lang="ja-JP" altLang="en-US" sz="11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案２</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extLst>
                  <a:ext uri="{0D108BD9-81ED-4DB2-BD59-A6C34878D82A}">
                    <a16:rowId xmlns:a16="http://schemas.microsoft.com/office/drawing/2014/main" val="175094704"/>
                  </a:ext>
                </a:extLst>
              </a:tr>
              <a:tr h="1292235">
                <a:tc>
                  <a:txBody>
                    <a:bodyPr/>
                    <a:lstStyle/>
                    <a:p>
                      <a:pPr algn="l"/>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構成</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algn="r"/>
                      <a:endPar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r"/>
                      <a:endPar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2395498616"/>
                  </a:ext>
                </a:extLst>
              </a:tr>
              <a:tr h="342900">
                <a:tc>
                  <a:txBody>
                    <a:bodyPr/>
                    <a:lstStyle/>
                    <a:p>
                      <a:pPr algn="l"/>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運用</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品質</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BSR</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継続利用</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CC/</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旧</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FS</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それぞれに電話機が必要</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BSR</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不要</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CC/</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旧</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FS</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で電話機を統一</a:t>
                      </a:r>
                    </a:p>
                  </a:txBody>
                  <a:tcPr marL="90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BSR</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不要</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CC/</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旧</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FS</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それぞれに電話機が必要</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9366505"/>
                  </a:ext>
                </a:extLst>
              </a:tr>
              <a:tr h="342900">
                <a:tc>
                  <a:txBody>
                    <a:bodyPr/>
                    <a:lstStyle/>
                    <a:p>
                      <a:pPr algn="l"/>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災対</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構成</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・災対切替時の影響範囲が限定的</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（４システムに分解）</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・災対切替時は全システムに影響</a:t>
                      </a:r>
                    </a:p>
                  </a:txBody>
                  <a:tcPr marL="90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・災対切替時の影響範囲が限定的</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（２システムに分解）</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377112"/>
                  </a:ext>
                </a:extLst>
              </a:tr>
              <a:tr h="354720">
                <a:tc>
                  <a:txBody>
                    <a:bodyPr/>
                    <a:lstStyle/>
                    <a:p>
                      <a:pPr algn="l"/>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構築</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コスト</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en-US" altLang="ja-JP"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・システム数が多く構築費用が増加</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（４システム構築）</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・シンプルな構成で構築費用が低減</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（１システム構築）</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・案１よりは高額</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（２システム構築）</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7518408"/>
                  </a:ext>
                </a:extLst>
              </a:tr>
              <a:tr h="275100">
                <a:tc>
                  <a:txBody>
                    <a:bodyPr/>
                    <a:lstStyle/>
                    <a:p>
                      <a:pPr algn="l"/>
                      <a:r>
                        <a:rPr kumimoji="1" lang="ja-JP" altLang="en-US" sz="1050" b="1">
                          <a:latin typeface="Meiryo UI" panose="020B0604030504040204" pitchFamily="50" charset="-128"/>
                          <a:ea typeface="Meiryo UI" panose="020B0604030504040204" pitchFamily="50" charset="-128"/>
                          <a:cs typeface="Meiryo UI" panose="020B0604030504040204" pitchFamily="50" charset="-128"/>
                        </a:rPr>
                        <a:t>改修</a:t>
                      </a:r>
                      <a:endParaRPr kumimoji="1" lang="en-US" altLang="ja-JP" sz="1050" b="1">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a:latin typeface="Meiryo UI" panose="020B0604030504040204" pitchFamily="50" charset="-128"/>
                          <a:ea typeface="Meiryo UI" panose="020B0604030504040204" pitchFamily="50" charset="-128"/>
                          <a:cs typeface="Meiryo UI" panose="020B0604030504040204" pitchFamily="50" charset="-128"/>
                        </a:rPr>
                        <a:t>コスト</a:t>
                      </a:r>
                      <a:endParaRPr kumimoji="1" lang="ja-JP" altLang="en-US" sz="105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・内線番号、</a:t>
                      </a:r>
                      <a:r>
                        <a:rPr kumimoji="1" lang="en-US" altLang="ja-JP" sz="105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などの番号体系の変更不要</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・コールフロー改修不要</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・内線番号、</a:t>
                      </a:r>
                      <a:r>
                        <a:rPr kumimoji="1" lang="en-US" altLang="ja-JP" sz="105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などの番号体系の変更要</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・コールフロー改修要</a:t>
                      </a:r>
                    </a:p>
                  </a:txBody>
                  <a:tcPr marL="90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・内線番号、</a:t>
                      </a:r>
                      <a:r>
                        <a:rPr kumimoji="1" lang="en-US" altLang="ja-JP" sz="105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などの番号体系の変更要</a:t>
                      </a: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・コールフロー改修要</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3872542"/>
                  </a:ext>
                </a:extLst>
              </a:tr>
              <a:tr h="294540">
                <a:tc>
                  <a:txBody>
                    <a:bodyPr/>
                    <a:lstStyle/>
                    <a:p>
                      <a:pPr algn="l"/>
                      <a:r>
                        <a:rPr kumimoji="1" lang="ja-JP" altLang="en-US" sz="1000" b="1">
                          <a:latin typeface="Meiryo UI" panose="020B0604030504040204" pitchFamily="50" charset="-128"/>
                          <a:ea typeface="Meiryo UI" panose="020B0604030504040204" pitchFamily="50" charset="-128"/>
                          <a:cs typeface="Meiryo UI" panose="020B0604030504040204" pitchFamily="50" charset="-128"/>
                        </a:rPr>
                        <a:t>移行</a:t>
                      </a:r>
                      <a:endParaRPr kumimoji="1" lang="en-US" altLang="ja-JP" sz="1000" b="1">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a:latin typeface="Meiryo UI" panose="020B0604030504040204" pitchFamily="50" charset="-128"/>
                          <a:ea typeface="Meiryo UI" panose="020B0604030504040204" pitchFamily="50" charset="-128"/>
                          <a:cs typeface="Meiryo UI" panose="020B0604030504040204" pitchFamily="50" charset="-128"/>
                        </a:rPr>
                        <a:t>コスト</a:t>
                      </a:r>
                      <a:endParaRPr kumimoji="1" lang="en-US" altLang="ja-JP" sz="100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en-US" altLang="ja-JP"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BSR</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継続利用のため過渡期対応が必要</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BSR</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無のため過渡期対応が不要</a:t>
                      </a:r>
                    </a:p>
                  </a:txBody>
                  <a:tcPr marL="90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BSR</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無のため過渡期対応が不要</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5174656"/>
                  </a:ext>
                </a:extLst>
              </a:tr>
              <a:tr h="294540">
                <a:tc>
                  <a:txBody>
                    <a:bodyPr/>
                    <a:lstStyle/>
                    <a:p>
                      <a:pPr algn="l"/>
                      <a:r>
                        <a:rPr kumimoji="1" lang="ja-JP" altLang="en-US" sz="1000" b="1" dirty="0">
                          <a:latin typeface="Meiryo UI" panose="020B0604030504040204" pitchFamily="50" charset="-128"/>
                          <a:ea typeface="Meiryo UI" panose="020B0604030504040204" pitchFamily="50" charset="-128"/>
                          <a:cs typeface="Meiryo UI" panose="020B0604030504040204" pitchFamily="50" charset="-128"/>
                        </a:rPr>
                        <a:t>コスト</a:t>
                      </a:r>
                      <a:endParaRPr kumimoji="1" lang="en-US" altLang="ja-JP" sz="100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en-US" altLang="ja-JP"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HW/MW</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購入：</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2,795.1M/5</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HW/MW</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構築：</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2,531.0/5</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HW/MW</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購入：</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2,535.8M/5</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HW/MW</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構築：</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2,119.9M/</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規模試算未提示</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5829938"/>
                  </a:ext>
                </a:extLst>
              </a:tr>
              <a:tr h="199680">
                <a:tc>
                  <a:txBody>
                    <a:bodyPr/>
                    <a:lstStyle/>
                    <a:p>
                      <a:pPr algn="l"/>
                      <a:r>
                        <a:rPr kumimoji="1" lang="ja-JP" altLang="en-US" sz="1000" b="1">
                          <a:latin typeface="Meiryo UI" panose="020B0604030504040204" pitchFamily="50" charset="-128"/>
                          <a:ea typeface="Meiryo UI" panose="020B0604030504040204" pitchFamily="50" charset="-128"/>
                          <a:cs typeface="Meiryo UI" panose="020B0604030504040204" pitchFamily="50" charset="-128"/>
                        </a:rPr>
                        <a:t>ｼｽﾃﾑ</a:t>
                      </a:r>
                      <a:endParaRPr kumimoji="1" lang="en-US" altLang="ja-JP" sz="1000" b="1">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a:latin typeface="Meiryo UI" panose="020B0604030504040204" pitchFamily="50" charset="-128"/>
                          <a:ea typeface="Meiryo UI" panose="020B0604030504040204" pitchFamily="50" charset="-128"/>
                          <a:cs typeface="Meiryo UI" panose="020B0604030504040204" pitchFamily="50" charset="-128"/>
                        </a:rPr>
                        <a:t>制限値</a:t>
                      </a:r>
                      <a:endParaRPr kumimoji="1" lang="en-US" altLang="ja-JP" sz="100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問題なし</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err="1">
                          <a:solidFill>
                            <a:srgbClr val="FF0000"/>
                          </a:solidFill>
                          <a:latin typeface="Meiryo UI" panose="020B0604030504040204" pitchFamily="50" charset="-128"/>
                          <a:ea typeface="Meiryo UI" panose="020B0604030504040204" pitchFamily="50" charset="-128"/>
                          <a:cs typeface="Meiryo UI" panose="020B0604030504040204" pitchFamily="50" charset="-128"/>
                        </a:rPr>
                        <a:t>AgentID</a:t>
                      </a:r>
                      <a:r>
                        <a:rPr kumimoji="1" lang="ja-JP" altLang="en-US" sz="105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数の削減が必要</a:t>
                      </a:r>
                    </a:p>
                  </a:txBody>
                  <a:tcPr marL="90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949321"/>
                  </a:ext>
                </a:extLst>
              </a:tr>
            </a:tbl>
          </a:graphicData>
        </a:graphic>
      </p:graphicFrame>
      <p:sp>
        <p:nvSpPr>
          <p:cNvPr id="9" name="正方形/長方形 8">
            <a:extLst>
              <a:ext uri="{FF2B5EF4-FFF2-40B4-BE49-F238E27FC236}">
                <a16:creationId xmlns:a16="http://schemas.microsoft.com/office/drawing/2014/main" id="{936D5C74-9A45-2510-B194-4685858939E9}"/>
              </a:ext>
            </a:extLst>
          </p:cNvPr>
          <p:cNvSpPr/>
          <p:nvPr/>
        </p:nvSpPr>
        <p:spPr bwMode="auto">
          <a:xfrm>
            <a:off x="1005521" y="2672032"/>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ACD1</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0" name="正方形/長方形 9">
            <a:extLst>
              <a:ext uri="{FF2B5EF4-FFF2-40B4-BE49-F238E27FC236}">
                <a16:creationId xmlns:a16="http://schemas.microsoft.com/office/drawing/2014/main" id="{B059C39C-7226-8877-D928-D1F9788E96D2}"/>
              </a:ext>
            </a:extLst>
          </p:cNvPr>
          <p:cNvSpPr/>
          <p:nvPr/>
        </p:nvSpPr>
        <p:spPr bwMode="auto">
          <a:xfrm>
            <a:off x="1005521" y="3083303"/>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a:ln>
                  <a:noFill/>
                </a:ln>
                <a:solidFill>
                  <a:schemeClr val="tx1"/>
                </a:solidFill>
                <a:effectLst/>
                <a:latin typeface="+mn-ea"/>
                <a:cs typeface="Meiryo UI" panose="020B0604030504040204" pitchFamily="50" charset="-128"/>
              </a:rPr>
              <a:t>PBX</a:t>
            </a:r>
          </a:p>
          <a:p>
            <a:pPr marL="0" marR="0" indent="0" algn="ctr" defTabSz="742950" rtl="0" eaLnBrk="1" fontAlgn="base" latinLnBrk="0" hangingPunct="1">
              <a:spcBef>
                <a:spcPct val="0"/>
              </a:spcBef>
              <a:spcAft>
                <a:spcPct val="0"/>
              </a:spcAft>
              <a:buClrTx/>
              <a:buSzTx/>
              <a:buFontTx/>
              <a:buNone/>
              <a:tabLst/>
            </a:pPr>
            <a:r>
              <a:rPr lang="ja-JP" altLang="en-US" sz="900">
                <a:latin typeface="+mn-ea"/>
                <a:cs typeface="Meiryo UI" panose="020B0604030504040204" pitchFamily="50" charset="-128"/>
              </a:rPr>
              <a:t>（</a:t>
            </a:r>
            <a:r>
              <a:rPr lang="en-US" altLang="ja-JP" sz="900">
                <a:latin typeface="+mn-ea"/>
                <a:cs typeface="Meiryo UI" panose="020B0604030504040204" pitchFamily="50" charset="-128"/>
              </a:rPr>
              <a:t>ACD2</a:t>
            </a:r>
            <a:r>
              <a:rPr lang="ja-JP" altLang="en-US" sz="900">
                <a:latin typeface="+mn-ea"/>
                <a:cs typeface="Meiryo UI" panose="020B0604030504040204" pitchFamily="50" charset="-128"/>
              </a:rPr>
              <a:t>災対）</a:t>
            </a:r>
            <a:endParaRPr kumimoji="1" lang="ja-JP" altLang="en-US" sz="900" i="0" u="none" strike="noStrike" cap="none" normalizeH="0" baseline="0">
              <a:ln>
                <a:noFill/>
              </a:ln>
              <a:solidFill>
                <a:schemeClr val="tx1"/>
              </a:solidFill>
              <a:effectLst/>
              <a:latin typeface="+mn-ea"/>
              <a:cs typeface="Meiryo UI" panose="020B0604030504040204" pitchFamily="50" charset="-128"/>
            </a:endParaRPr>
          </a:p>
        </p:txBody>
      </p:sp>
      <p:pic>
        <p:nvPicPr>
          <p:cNvPr id="11" name="Graphic 78" descr="Corporate data center group icon. ">
            <a:extLst>
              <a:ext uri="{FF2B5EF4-FFF2-40B4-BE49-F238E27FC236}">
                <a16:creationId xmlns:a16="http://schemas.microsoft.com/office/drawing/2014/main" id="{5ED903CE-DF89-D669-CC2E-1A8C6E687D0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595760" y="2374280"/>
            <a:ext cx="296619" cy="277548"/>
          </a:xfrm>
          <a:prstGeom prst="rect">
            <a:avLst/>
          </a:prstGeom>
        </p:spPr>
      </p:pic>
      <p:pic>
        <p:nvPicPr>
          <p:cNvPr id="12" name="Graphic 78" descr="Corporate data center group icon. ">
            <a:extLst>
              <a:ext uri="{FF2B5EF4-FFF2-40B4-BE49-F238E27FC236}">
                <a16:creationId xmlns:a16="http://schemas.microsoft.com/office/drawing/2014/main" id="{588E9DC5-64E0-DBB5-0B1A-F6A24D5D67DC}"/>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10826" y="2378504"/>
            <a:ext cx="296619" cy="277548"/>
          </a:xfrm>
          <a:prstGeom prst="rect">
            <a:avLst/>
          </a:prstGeom>
        </p:spPr>
      </p:pic>
      <p:sp>
        <p:nvSpPr>
          <p:cNvPr id="13" name="Rectangle 77">
            <a:extLst>
              <a:ext uri="{FF2B5EF4-FFF2-40B4-BE49-F238E27FC236}">
                <a16:creationId xmlns:a16="http://schemas.microsoft.com/office/drawing/2014/main" id="{99A8E4FC-310E-502A-3356-2B8964EFC20F}"/>
              </a:ext>
            </a:extLst>
          </p:cNvPr>
          <p:cNvSpPr/>
          <p:nvPr/>
        </p:nvSpPr>
        <p:spPr>
          <a:xfrm>
            <a:off x="2603084" y="2374280"/>
            <a:ext cx="1754397" cy="1097664"/>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a:solidFill>
                  <a:schemeClr val="tx1"/>
                </a:solidFill>
                <a:latin typeface="Arial" panose="020B0604020202020204" pitchFamily="34" charset="0"/>
                <a:cs typeface="Arial" panose="020B0604020202020204" pitchFamily="34" charset="0"/>
              </a:rPr>
              <a:t>大和</a:t>
            </a:r>
            <a:r>
              <a:rPr lang="en-US" altLang="ja-JP" sz="1200">
                <a:solidFill>
                  <a:schemeClr val="tx1"/>
                </a:solidFill>
                <a:latin typeface="Arial" panose="020B0604020202020204" pitchFamily="34" charset="0"/>
                <a:cs typeface="Arial" panose="020B0604020202020204" pitchFamily="34" charset="0"/>
              </a:rPr>
              <a:t>DC</a:t>
            </a:r>
            <a:endParaRPr lang="en-US" sz="1200">
              <a:solidFill>
                <a:schemeClr val="tx1"/>
              </a:solidFill>
              <a:latin typeface="Arial" panose="020B0604020202020204" pitchFamily="34" charset="0"/>
              <a:cs typeface="Arial" panose="020B0604020202020204" pitchFamily="34" charset="0"/>
            </a:endParaRPr>
          </a:p>
        </p:txBody>
      </p:sp>
      <p:sp>
        <p:nvSpPr>
          <p:cNvPr id="14" name="Rectangle 77">
            <a:extLst>
              <a:ext uri="{FF2B5EF4-FFF2-40B4-BE49-F238E27FC236}">
                <a16:creationId xmlns:a16="http://schemas.microsoft.com/office/drawing/2014/main" id="{9009A918-EE1B-B00E-BE06-D49FB5923647}"/>
              </a:ext>
            </a:extLst>
          </p:cNvPr>
          <p:cNvSpPr/>
          <p:nvPr/>
        </p:nvSpPr>
        <p:spPr>
          <a:xfrm>
            <a:off x="718150" y="2376169"/>
            <a:ext cx="1754397" cy="1097664"/>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鰻谷</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5" name="正方形/長方形 14">
            <a:extLst>
              <a:ext uri="{FF2B5EF4-FFF2-40B4-BE49-F238E27FC236}">
                <a16:creationId xmlns:a16="http://schemas.microsoft.com/office/drawing/2014/main" id="{59FC3433-450E-7857-5A27-3C20E806608A}"/>
              </a:ext>
            </a:extLst>
          </p:cNvPr>
          <p:cNvSpPr/>
          <p:nvPr/>
        </p:nvSpPr>
        <p:spPr bwMode="auto">
          <a:xfrm>
            <a:off x="1741441" y="2672032"/>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FS</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6" name="正方形/長方形 15">
            <a:extLst>
              <a:ext uri="{FF2B5EF4-FFF2-40B4-BE49-F238E27FC236}">
                <a16:creationId xmlns:a16="http://schemas.microsoft.com/office/drawing/2014/main" id="{B63C543A-14FB-3FD0-AB26-63AA102236BF}"/>
              </a:ext>
            </a:extLst>
          </p:cNvPr>
          <p:cNvSpPr/>
          <p:nvPr/>
        </p:nvSpPr>
        <p:spPr bwMode="auto">
          <a:xfrm>
            <a:off x="2883131" y="268872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ACD2</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7" name="正方形/長方形 16">
            <a:extLst>
              <a:ext uri="{FF2B5EF4-FFF2-40B4-BE49-F238E27FC236}">
                <a16:creationId xmlns:a16="http://schemas.microsoft.com/office/drawing/2014/main" id="{B0773514-310E-9F30-EB47-65D1002D6295}"/>
              </a:ext>
            </a:extLst>
          </p:cNvPr>
          <p:cNvSpPr/>
          <p:nvPr/>
        </p:nvSpPr>
        <p:spPr bwMode="auto">
          <a:xfrm>
            <a:off x="3619051" y="268872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（受託先）</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8" name="正方形/長方形 17">
            <a:extLst>
              <a:ext uri="{FF2B5EF4-FFF2-40B4-BE49-F238E27FC236}">
                <a16:creationId xmlns:a16="http://schemas.microsoft.com/office/drawing/2014/main" id="{90291EFA-924F-91B9-846D-62585F2DA8D3}"/>
              </a:ext>
            </a:extLst>
          </p:cNvPr>
          <p:cNvSpPr/>
          <p:nvPr/>
        </p:nvSpPr>
        <p:spPr bwMode="auto">
          <a:xfrm>
            <a:off x="2883131" y="3108986"/>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ACD1</a:t>
            </a:r>
            <a:r>
              <a:rPr lang="ja-JP" altLang="en-US" sz="900" dirty="0">
                <a:latin typeface="+mn-ea"/>
                <a:cs typeface="Meiryo UI" panose="020B0604030504040204" pitchFamily="50" charset="-128"/>
              </a:rPr>
              <a:t>災対）</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9" name="正方形/長方形 18">
            <a:extLst>
              <a:ext uri="{FF2B5EF4-FFF2-40B4-BE49-F238E27FC236}">
                <a16:creationId xmlns:a16="http://schemas.microsoft.com/office/drawing/2014/main" id="{DB5E4B36-7A1D-B0BA-9BFB-370BBE101048}"/>
              </a:ext>
            </a:extLst>
          </p:cNvPr>
          <p:cNvSpPr/>
          <p:nvPr/>
        </p:nvSpPr>
        <p:spPr bwMode="auto">
          <a:xfrm>
            <a:off x="4809850" y="2701533"/>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p:txBody>
      </p:sp>
      <p:pic>
        <p:nvPicPr>
          <p:cNvPr id="20" name="Graphic 78" descr="Corporate data center group icon. ">
            <a:extLst>
              <a:ext uri="{FF2B5EF4-FFF2-40B4-BE49-F238E27FC236}">
                <a16:creationId xmlns:a16="http://schemas.microsoft.com/office/drawing/2014/main" id="{7641EBF0-4883-56B1-EAFA-F66961DF0E00}"/>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728150" y="2376169"/>
            <a:ext cx="296619" cy="277548"/>
          </a:xfrm>
          <a:prstGeom prst="rect">
            <a:avLst/>
          </a:prstGeom>
        </p:spPr>
      </p:pic>
      <p:pic>
        <p:nvPicPr>
          <p:cNvPr id="21" name="Graphic 78" descr="Corporate data center group icon. ">
            <a:extLst>
              <a:ext uri="{FF2B5EF4-FFF2-40B4-BE49-F238E27FC236}">
                <a16:creationId xmlns:a16="http://schemas.microsoft.com/office/drawing/2014/main" id="{9DC3EA64-67AE-231E-B2B7-941698B42DFE}"/>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519633" y="2376169"/>
            <a:ext cx="296619" cy="277548"/>
          </a:xfrm>
          <a:prstGeom prst="rect">
            <a:avLst/>
          </a:prstGeom>
        </p:spPr>
      </p:pic>
      <p:sp>
        <p:nvSpPr>
          <p:cNvPr id="22" name="Rectangle 77">
            <a:extLst>
              <a:ext uri="{FF2B5EF4-FFF2-40B4-BE49-F238E27FC236}">
                <a16:creationId xmlns:a16="http://schemas.microsoft.com/office/drawing/2014/main" id="{1BAEEB32-EBE9-3663-D09B-37F4A3FAC110}"/>
              </a:ext>
            </a:extLst>
          </p:cNvPr>
          <p:cNvSpPr/>
          <p:nvPr/>
        </p:nvSpPr>
        <p:spPr>
          <a:xfrm>
            <a:off x="5746352" y="2376169"/>
            <a:ext cx="1131723" cy="1097664"/>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a:solidFill>
                  <a:schemeClr val="tx1"/>
                </a:solidFill>
                <a:latin typeface="Arial" panose="020B0604020202020204" pitchFamily="34" charset="0"/>
                <a:cs typeface="Arial" panose="020B0604020202020204" pitchFamily="34" charset="0"/>
              </a:rPr>
              <a:t>大和</a:t>
            </a:r>
            <a:r>
              <a:rPr lang="en-US" altLang="ja-JP" sz="1200">
                <a:solidFill>
                  <a:schemeClr val="tx1"/>
                </a:solidFill>
                <a:latin typeface="Arial" panose="020B0604020202020204" pitchFamily="34" charset="0"/>
                <a:cs typeface="Arial" panose="020B0604020202020204" pitchFamily="34" charset="0"/>
              </a:rPr>
              <a:t>DC</a:t>
            </a:r>
            <a:endParaRPr lang="en-US" sz="1200">
              <a:solidFill>
                <a:schemeClr val="tx1"/>
              </a:solidFill>
              <a:latin typeface="Arial" panose="020B0604020202020204" pitchFamily="34" charset="0"/>
              <a:cs typeface="Arial" panose="020B0604020202020204" pitchFamily="34" charset="0"/>
            </a:endParaRPr>
          </a:p>
        </p:txBody>
      </p:sp>
      <p:sp>
        <p:nvSpPr>
          <p:cNvPr id="23" name="Rectangle 77">
            <a:extLst>
              <a:ext uri="{FF2B5EF4-FFF2-40B4-BE49-F238E27FC236}">
                <a16:creationId xmlns:a16="http://schemas.microsoft.com/office/drawing/2014/main" id="{C801C1BB-8970-98D2-EAFC-E04FB064225A}"/>
              </a:ext>
            </a:extLst>
          </p:cNvPr>
          <p:cNvSpPr/>
          <p:nvPr/>
        </p:nvSpPr>
        <p:spPr>
          <a:xfrm>
            <a:off x="4526958" y="2376170"/>
            <a:ext cx="1126772" cy="1097664"/>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鰻谷</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24" name="正方形/長方形 23">
            <a:extLst>
              <a:ext uri="{FF2B5EF4-FFF2-40B4-BE49-F238E27FC236}">
                <a16:creationId xmlns:a16="http://schemas.microsoft.com/office/drawing/2014/main" id="{54D82A6D-EA14-9AF2-6CCD-EBBADA4300C4}"/>
              </a:ext>
            </a:extLst>
          </p:cNvPr>
          <p:cNvSpPr/>
          <p:nvPr/>
        </p:nvSpPr>
        <p:spPr bwMode="auto">
          <a:xfrm>
            <a:off x="6026404" y="2690617"/>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（災対）</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31" name="正方形/長方形 30">
            <a:extLst>
              <a:ext uri="{FF2B5EF4-FFF2-40B4-BE49-F238E27FC236}">
                <a16:creationId xmlns:a16="http://schemas.microsoft.com/office/drawing/2014/main" id="{28010E65-00EE-169F-A43C-2E10BF07E470}"/>
              </a:ext>
            </a:extLst>
          </p:cNvPr>
          <p:cNvSpPr/>
          <p:nvPr/>
        </p:nvSpPr>
        <p:spPr bwMode="auto">
          <a:xfrm>
            <a:off x="3619051" y="3108986"/>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FS</a:t>
            </a:r>
            <a:r>
              <a:rPr lang="ja-JP" altLang="en-US" sz="900" dirty="0">
                <a:latin typeface="+mn-ea"/>
                <a:cs typeface="Meiryo UI" panose="020B0604030504040204" pitchFamily="50" charset="-128"/>
              </a:rPr>
              <a:t>災対）</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42" name="正方形/長方形 41">
            <a:extLst>
              <a:ext uri="{FF2B5EF4-FFF2-40B4-BE49-F238E27FC236}">
                <a16:creationId xmlns:a16="http://schemas.microsoft.com/office/drawing/2014/main" id="{1BC7AF92-B4E1-10E3-A538-13D9BEFFAEB7}"/>
              </a:ext>
            </a:extLst>
          </p:cNvPr>
          <p:cNvSpPr/>
          <p:nvPr/>
        </p:nvSpPr>
        <p:spPr bwMode="auto">
          <a:xfrm>
            <a:off x="7489612" y="2701533"/>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en-US" altLang="ja-JP" sz="800" dirty="0">
                <a:latin typeface="+mn-ea"/>
                <a:cs typeface="Meiryo UI" panose="020B0604030504040204" pitchFamily="50" charset="-128"/>
              </a:rPr>
              <a:t>(ACD1,2</a:t>
            </a:r>
            <a:r>
              <a:rPr lang="ja-JP" altLang="en-US" sz="800" dirty="0">
                <a:latin typeface="+mn-ea"/>
                <a:cs typeface="Meiryo UI" panose="020B0604030504040204" pitchFamily="50" charset="-128"/>
              </a:rPr>
              <a:t>）</a:t>
            </a:r>
            <a:endParaRPr lang="en-US" altLang="ja-JP" sz="800" dirty="0">
              <a:latin typeface="+mn-ea"/>
              <a:cs typeface="Meiryo UI" panose="020B0604030504040204" pitchFamily="50" charset="-128"/>
            </a:endParaRPr>
          </a:p>
        </p:txBody>
      </p:sp>
      <p:pic>
        <p:nvPicPr>
          <p:cNvPr id="43" name="Graphic 78" descr="Corporate data center group icon. ">
            <a:extLst>
              <a:ext uri="{FF2B5EF4-FFF2-40B4-BE49-F238E27FC236}">
                <a16:creationId xmlns:a16="http://schemas.microsoft.com/office/drawing/2014/main" id="{35CB7CF8-35C3-3AF3-EB6D-005FB72518A0}"/>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489791" y="2367355"/>
            <a:ext cx="296619" cy="277548"/>
          </a:xfrm>
          <a:prstGeom prst="rect">
            <a:avLst/>
          </a:prstGeom>
        </p:spPr>
      </p:pic>
      <p:pic>
        <p:nvPicPr>
          <p:cNvPr id="44" name="Graphic 78" descr="Corporate data center group icon. ">
            <a:extLst>
              <a:ext uri="{FF2B5EF4-FFF2-40B4-BE49-F238E27FC236}">
                <a16:creationId xmlns:a16="http://schemas.microsoft.com/office/drawing/2014/main" id="{918F9FF4-0195-0999-3734-E21DFC6DFB64}"/>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192993" y="2408005"/>
            <a:ext cx="296619" cy="277548"/>
          </a:xfrm>
          <a:prstGeom prst="rect">
            <a:avLst/>
          </a:prstGeom>
        </p:spPr>
      </p:pic>
      <p:sp>
        <p:nvSpPr>
          <p:cNvPr id="45" name="Rectangle 77">
            <a:extLst>
              <a:ext uri="{FF2B5EF4-FFF2-40B4-BE49-F238E27FC236}">
                <a16:creationId xmlns:a16="http://schemas.microsoft.com/office/drawing/2014/main" id="{D987DB13-9F68-EED2-F801-96E3248CE45A}"/>
              </a:ext>
            </a:extLst>
          </p:cNvPr>
          <p:cNvSpPr/>
          <p:nvPr/>
        </p:nvSpPr>
        <p:spPr>
          <a:xfrm>
            <a:off x="8479947" y="2374280"/>
            <a:ext cx="1206470" cy="1097664"/>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a:solidFill>
                  <a:schemeClr val="tx1"/>
                </a:solidFill>
                <a:latin typeface="Arial" panose="020B0604020202020204" pitchFamily="34" charset="0"/>
                <a:cs typeface="Arial" panose="020B0604020202020204" pitchFamily="34" charset="0"/>
              </a:rPr>
              <a:t>大和</a:t>
            </a:r>
            <a:r>
              <a:rPr lang="en-US" altLang="ja-JP" sz="1200">
                <a:solidFill>
                  <a:schemeClr val="tx1"/>
                </a:solidFill>
                <a:latin typeface="Arial" panose="020B0604020202020204" pitchFamily="34" charset="0"/>
                <a:cs typeface="Arial" panose="020B0604020202020204" pitchFamily="34" charset="0"/>
              </a:rPr>
              <a:t>DC</a:t>
            </a:r>
            <a:endParaRPr lang="en-US" sz="1200">
              <a:solidFill>
                <a:schemeClr val="tx1"/>
              </a:solidFill>
              <a:latin typeface="Arial" panose="020B0604020202020204" pitchFamily="34" charset="0"/>
              <a:cs typeface="Arial" panose="020B0604020202020204" pitchFamily="34" charset="0"/>
            </a:endParaRPr>
          </a:p>
        </p:txBody>
      </p:sp>
      <p:sp>
        <p:nvSpPr>
          <p:cNvPr id="46" name="Rectangle 77">
            <a:extLst>
              <a:ext uri="{FF2B5EF4-FFF2-40B4-BE49-F238E27FC236}">
                <a16:creationId xmlns:a16="http://schemas.microsoft.com/office/drawing/2014/main" id="{5F386FBA-08D4-D0C7-F8D0-4AF342F0A101}"/>
              </a:ext>
            </a:extLst>
          </p:cNvPr>
          <p:cNvSpPr/>
          <p:nvPr/>
        </p:nvSpPr>
        <p:spPr>
          <a:xfrm>
            <a:off x="7205596" y="2374663"/>
            <a:ext cx="1201192" cy="109728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鰻谷</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47" name="正方形/長方形 46">
            <a:extLst>
              <a:ext uri="{FF2B5EF4-FFF2-40B4-BE49-F238E27FC236}">
                <a16:creationId xmlns:a16="http://schemas.microsoft.com/office/drawing/2014/main" id="{19B1EDB4-B41E-F1EB-F215-AE94807A902E}"/>
              </a:ext>
            </a:extLst>
          </p:cNvPr>
          <p:cNvSpPr/>
          <p:nvPr/>
        </p:nvSpPr>
        <p:spPr bwMode="auto">
          <a:xfrm>
            <a:off x="8769242" y="3109326"/>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a:t>
            </a:r>
          </a:p>
          <a:p>
            <a:pPr marL="0" marR="0" indent="0" algn="ctr" defTabSz="742950" rtl="0" eaLnBrk="1" fontAlgn="base" latinLnBrk="0" hangingPunct="1">
              <a:spcBef>
                <a:spcPct val="0"/>
              </a:spcBef>
              <a:spcAft>
                <a:spcPct val="0"/>
              </a:spcAft>
              <a:buClrTx/>
              <a:buSzTx/>
              <a:buFontTx/>
              <a:buNone/>
              <a:tabLst/>
            </a:pPr>
            <a:r>
              <a:rPr lang="ja-JP" altLang="en-US" sz="700" dirty="0">
                <a:latin typeface="+mn-ea"/>
                <a:cs typeface="Meiryo UI" panose="020B0604030504040204" pitchFamily="50" charset="-128"/>
              </a:rPr>
              <a:t>（</a:t>
            </a:r>
            <a:r>
              <a:rPr lang="en-US" altLang="ja-JP" sz="700" dirty="0">
                <a:latin typeface="+mn-ea"/>
                <a:cs typeface="Meiryo UI" panose="020B0604030504040204" pitchFamily="50" charset="-128"/>
              </a:rPr>
              <a:t>ACD1,2</a:t>
            </a:r>
            <a:r>
              <a:rPr lang="ja-JP" altLang="en-US" sz="700" dirty="0">
                <a:latin typeface="+mn-ea"/>
                <a:cs typeface="Meiryo UI" panose="020B0604030504040204" pitchFamily="50" charset="-128"/>
              </a:rPr>
              <a:t>災対）</a:t>
            </a:r>
            <a:endParaRPr kumimoji="1" lang="ja-JP" altLang="en-US" sz="700" i="0" u="none" strike="noStrike" cap="none" normalizeH="0" baseline="0" dirty="0">
              <a:ln>
                <a:noFill/>
              </a:ln>
              <a:solidFill>
                <a:schemeClr val="tx1"/>
              </a:solidFill>
              <a:effectLst/>
              <a:latin typeface="+mn-ea"/>
              <a:cs typeface="Meiryo UI" panose="020B0604030504040204" pitchFamily="50" charset="-128"/>
            </a:endParaRPr>
          </a:p>
        </p:txBody>
      </p:sp>
      <p:sp>
        <p:nvSpPr>
          <p:cNvPr id="48" name="正方形/長方形 47">
            <a:extLst>
              <a:ext uri="{FF2B5EF4-FFF2-40B4-BE49-F238E27FC236}">
                <a16:creationId xmlns:a16="http://schemas.microsoft.com/office/drawing/2014/main" id="{21FC2E35-9972-8211-E719-43EB3D355E16}"/>
              </a:ext>
            </a:extLst>
          </p:cNvPr>
          <p:cNvSpPr/>
          <p:nvPr/>
        </p:nvSpPr>
        <p:spPr bwMode="auto">
          <a:xfrm>
            <a:off x="7489612" y="3112804"/>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a:t>
            </a:r>
          </a:p>
          <a:p>
            <a:pPr marL="0" marR="0" indent="0" algn="ctr" defTabSz="742950" rtl="0" eaLnBrk="1" fontAlgn="base" latinLnBrk="0" hangingPunct="1">
              <a:spcBef>
                <a:spcPct val="0"/>
              </a:spcBef>
              <a:spcAft>
                <a:spcPct val="0"/>
              </a:spcAft>
              <a:buClrTx/>
              <a:buSzTx/>
              <a:buFontTx/>
              <a:buNone/>
              <a:tabLst/>
            </a:pPr>
            <a:r>
              <a:rPr lang="ja-JP" altLang="en-US" sz="700" dirty="0">
                <a:latin typeface="+mn-ea"/>
                <a:cs typeface="Meiryo UI" panose="020B0604030504040204" pitchFamily="50" charset="-128"/>
              </a:rPr>
              <a:t>（</a:t>
            </a:r>
            <a:r>
              <a:rPr lang="en-US" altLang="ja-JP" sz="700" dirty="0">
                <a:latin typeface="+mn-ea"/>
                <a:cs typeface="Meiryo UI" panose="020B0604030504040204" pitchFamily="50" charset="-128"/>
              </a:rPr>
              <a:t>FS/</a:t>
            </a:r>
            <a:r>
              <a:rPr lang="ja-JP" altLang="en-US" sz="700" dirty="0">
                <a:latin typeface="+mn-ea"/>
                <a:cs typeface="Meiryo UI" panose="020B0604030504040204" pitchFamily="50" charset="-128"/>
              </a:rPr>
              <a:t>受託災対）</a:t>
            </a:r>
            <a:endParaRPr kumimoji="1" lang="ja-JP" altLang="en-US" sz="700" i="0" u="none" strike="noStrike" cap="none" normalizeH="0" baseline="0" dirty="0">
              <a:ln>
                <a:noFill/>
              </a:ln>
              <a:solidFill>
                <a:schemeClr val="tx1"/>
              </a:solidFill>
              <a:effectLst/>
              <a:latin typeface="+mn-ea"/>
              <a:cs typeface="Meiryo UI" panose="020B0604030504040204" pitchFamily="50" charset="-128"/>
            </a:endParaRPr>
          </a:p>
        </p:txBody>
      </p:sp>
      <p:sp>
        <p:nvSpPr>
          <p:cNvPr id="49" name="正方形/長方形 48">
            <a:extLst>
              <a:ext uri="{FF2B5EF4-FFF2-40B4-BE49-F238E27FC236}">
                <a16:creationId xmlns:a16="http://schemas.microsoft.com/office/drawing/2014/main" id="{DA93E8E8-5A6C-8D23-0FD5-CF0A9F48F350}"/>
              </a:ext>
            </a:extLst>
          </p:cNvPr>
          <p:cNvSpPr/>
          <p:nvPr/>
        </p:nvSpPr>
        <p:spPr bwMode="auto">
          <a:xfrm>
            <a:off x="8769242" y="2683680"/>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en-US" altLang="ja-JP" sz="800" dirty="0">
                <a:latin typeface="+mn-ea"/>
                <a:cs typeface="Meiryo UI" panose="020B0604030504040204" pitchFamily="50" charset="-128"/>
              </a:rPr>
              <a:t>(FS/</a:t>
            </a:r>
            <a:r>
              <a:rPr lang="ja-JP" altLang="en-US" sz="800" dirty="0">
                <a:latin typeface="+mn-ea"/>
                <a:cs typeface="Meiryo UI" panose="020B0604030504040204" pitchFamily="50" charset="-128"/>
              </a:rPr>
              <a:t>受託</a:t>
            </a:r>
            <a:r>
              <a:rPr lang="en-US" altLang="ja-JP" sz="800" dirty="0">
                <a:latin typeface="+mn-ea"/>
                <a:cs typeface="Meiryo UI" panose="020B0604030504040204" pitchFamily="50" charset="-128"/>
              </a:rPr>
              <a:t>)</a:t>
            </a:r>
          </a:p>
        </p:txBody>
      </p:sp>
    </p:spTree>
    <p:extLst>
      <p:ext uri="{BB962C8B-B14F-4D97-AF65-F5344CB8AC3E}">
        <p14:creationId xmlns:p14="http://schemas.microsoft.com/office/powerpoint/2010/main" val="185628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BEF99AF-2EAD-0A62-2133-4A486A05689A}"/>
              </a:ext>
            </a:extLst>
          </p:cNvPr>
          <p:cNvSpPr>
            <a:spLocks noGrp="1"/>
          </p:cNvSpPr>
          <p:nvPr>
            <p:ph type="body" sz="quarter" idx="12"/>
          </p:nvPr>
        </p:nvSpPr>
        <p:spPr/>
        <p:txBody>
          <a:bodyPr/>
          <a:lstStyle/>
          <a:p>
            <a:r>
              <a:rPr lang="en-US" altLang="ja-JP" dirty="0"/>
              <a:t>SMCC</a:t>
            </a:r>
            <a:r>
              <a:rPr lang="ja-JP" altLang="en-US" dirty="0"/>
              <a:t>（</a:t>
            </a:r>
            <a:r>
              <a:rPr lang="en-US" altLang="ja-JP" dirty="0"/>
              <a:t>ACD1,2</a:t>
            </a:r>
            <a:r>
              <a:rPr lang="ja-JP" altLang="en-US" dirty="0"/>
              <a:t>）の電話回線については</a:t>
            </a:r>
            <a:r>
              <a:rPr lang="en-US" altLang="ja-JP" dirty="0"/>
              <a:t>DC</a:t>
            </a:r>
            <a:r>
              <a:rPr lang="ja-JP" altLang="en-US" dirty="0"/>
              <a:t>に敷設する電話回線に集約を行う。</a:t>
            </a:r>
            <a:endParaRPr lang="en-US" altLang="ja-JP" dirty="0"/>
          </a:p>
          <a:p>
            <a:r>
              <a:rPr lang="ja-JP" altLang="en-US" dirty="0"/>
              <a:t>受託先の電話回線については受託先が契約している回線のため、拠点設置を継続する。</a:t>
            </a:r>
            <a:endParaRPr lang="en-US" altLang="ja-JP" dirty="0"/>
          </a:p>
          <a:p>
            <a:r>
              <a:rPr lang="ja-JP" altLang="en-US" dirty="0"/>
              <a:t>事前に次期用の設備（電話機・</a:t>
            </a:r>
            <a:r>
              <a:rPr lang="en-US" altLang="ja-JP" dirty="0"/>
              <a:t>CTI</a:t>
            </a:r>
            <a:r>
              <a:rPr lang="ja-JP" altLang="en-US" dirty="0"/>
              <a:t>アプリ）を配備することで当日移行の切替作業を削減し、移行ショット数の削減を検討。</a:t>
            </a:r>
            <a:endParaRPr lang="en-US" altLang="ja-JP" dirty="0"/>
          </a:p>
        </p:txBody>
      </p:sp>
      <p:sp>
        <p:nvSpPr>
          <p:cNvPr id="6" name="タイトル 5">
            <a:extLst>
              <a:ext uri="{FF2B5EF4-FFF2-40B4-BE49-F238E27FC236}">
                <a16:creationId xmlns:a16="http://schemas.microsoft.com/office/drawing/2014/main" id="{9A956497-1446-C34E-1726-F3FBFF4521A8}"/>
              </a:ext>
            </a:extLst>
          </p:cNvPr>
          <p:cNvSpPr>
            <a:spLocks noGrp="1"/>
          </p:cNvSpPr>
          <p:nvPr>
            <p:ph type="title"/>
          </p:nvPr>
        </p:nvSpPr>
        <p:spPr/>
        <p:txBody>
          <a:bodyPr/>
          <a:lstStyle/>
          <a:p>
            <a:r>
              <a:rPr lang="en-US" altLang="ja-JP" dirty="0"/>
              <a:t>【</a:t>
            </a:r>
            <a:r>
              <a:rPr lang="ja-JP" altLang="en-US" dirty="0"/>
              <a:t>参考②</a:t>
            </a:r>
            <a:r>
              <a:rPr lang="en-US" altLang="ja-JP" dirty="0"/>
              <a:t>】</a:t>
            </a:r>
            <a:r>
              <a:rPr lang="ja-JP" altLang="en-US" dirty="0"/>
              <a:t>拠点設置機器の</a:t>
            </a:r>
            <a:r>
              <a:rPr lang="en-US" altLang="ja-JP" dirty="0"/>
              <a:t>DC</a:t>
            </a:r>
            <a:r>
              <a:rPr lang="ja-JP" altLang="en-US" dirty="0"/>
              <a:t>（大和・鰻谷）集約</a:t>
            </a:r>
          </a:p>
        </p:txBody>
      </p:sp>
      <p:sp>
        <p:nvSpPr>
          <p:cNvPr id="7" name="Rectangle 77">
            <a:extLst>
              <a:ext uri="{FF2B5EF4-FFF2-40B4-BE49-F238E27FC236}">
                <a16:creationId xmlns:a16="http://schemas.microsoft.com/office/drawing/2014/main" id="{065D7254-5E29-2895-3B63-FEC13F6B366E}"/>
              </a:ext>
            </a:extLst>
          </p:cNvPr>
          <p:cNvSpPr/>
          <p:nvPr/>
        </p:nvSpPr>
        <p:spPr>
          <a:xfrm>
            <a:off x="5028436" y="1612534"/>
            <a:ext cx="3246884" cy="1608632"/>
          </a:xfrm>
          <a:prstGeom prst="rect">
            <a:avLst/>
          </a:prstGeom>
          <a:noFill/>
          <a:ln w="15875" cap="flat" cmpd="sng" algn="ctr">
            <a:solidFill>
              <a:srgbClr val="7D8998"/>
            </a:solidFill>
            <a:prstDash val="solid"/>
          </a:ln>
          <a:effectLst/>
        </p:spPr>
        <p:txBody>
          <a:bodyPr lIns="502920" tIns="91440"/>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rPr>
              <a:t>拠点（</a:t>
            </a:r>
            <a:r>
              <a:rPr kumimoji="0" lang="en-US" altLang="ja-JP"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rPr>
              <a:t>SMCC</a:t>
            </a:r>
            <a:r>
              <a:rPr kumimoji="0" lang="ja-JP" altLang="en-US"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rPr>
              <a:t>）</a:t>
            </a:r>
            <a:endParaRPr kumimoji="0" lang="en-US"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endParaRPr>
          </a:p>
        </p:txBody>
      </p:sp>
      <p:pic>
        <p:nvPicPr>
          <p:cNvPr id="25" name="Graphic 99" descr="Office building resource icon for the General Icons category.">
            <a:extLst>
              <a:ext uri="{FF2B5EF4-FFF2-40B4-BE49-F238E27FC236}">
                <a16:creationId xmlns:a16="http://schemas.microsoft.com/office/drawing/2014/main" id="{098CE44B-8F1C-DB06-BAB8-41A5E5E9B2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28436" y="1615711"/>
            <a:ext cx="313550" cy="282895"/>
          </a:xfrm>
          <a:prstGeom prst="rect">
            <a:avLst/>
          </a:prstGeom>
        </p:spPr>
      </p:pic>
      <p:sp>
        <p:nvSpPr>
          <p:cNvPr id="26" name="正方形/長方形 25">
            <a:extLst>
              <a:ext uri="{FF2B5EF4-FFF2-40B4-BE49-F238E27FC236}">
                <a16:creationId xmlns:a16="http://schemas.microsoft.com/office/drawing/2014/main" id="{BC710FC2-AF3A-7968-2986-06E3F8B18282}"/>
              </a:ext>
            </a:extLst>
          </p:cNvPr>
          <p:cNvSpPr/>
          <p:nvPr/>
        </p:nvSpPr>
        <p:spPr bwMode="auto">
          <a:xfrm>
            <a:off x="5923929" y="2022949"/>
            <a:ext cx="644560"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err="1">
                <a:ln>
                  <a:noFill/>
                </a:ln>
                <a:solidFill>
                  <a:srgbClr val="292929"/>
                </a:solidFill>
                <a:effectLst/>
                <a:uLnTx/>
                <a:uFillTx/>
                <a:latin typeface="Meiryo UI"/>
                <a:ea typeface="Meiryo UI"/>
                <a:cs typeface="Meiryo UI" panose="020B0604030504040204" pitchFamily="50" charset="-128"/>
              </a:rPr>
              <a:t>CuSIS</a:t>
            </a:r>
            <a:endPar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COMPASS</a:t>
            </a:r>
            <a:endPar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27" name="正方形/長方形 26">
            <a:extLst>
              <a:ext uri="{FF2B5EF4-FFF2-40B4-BE49-F238E27FC236}">
                <a16:creationId xmlns:a16="http://schemas.microsoft.com/office/drawing/2014/main" id="{AA447E58-F0F6-A1B9-413C-2C871675284F}"/>
              </a:ext>
            </a:extLst>
          </p:cNvPr>
          <p:cNvSpPr/>
          <p:nvPr/>
        </p:nvSpPr>
        <p:spPr bwMode="auto">
          <a:xfrm>
            <a:off x="5207976" y="2022949"/>
            <a:ext cx="644560"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延滞管理</a:t>
            </a:r>
          </a:p>
        </p:txBody>
      </p:sp>
      <p:sp>
        <p:nvSpPr>
          <p:cNvPr id="28" name="正方形/長方形 27">
            <a:extLst>
              <a:ext uri="{FF2B5EF4-FFF2-40B4-BE49-F238E27FC236}">
                <a16:creationId xmlns:a16="http://schemas.microsoft.com/office/drawing/2014/main" id="{E610778E-2684-78B3-0D46-C7A0D574A197}"/>
              </a:ext>
            </a:extLst>
          </p:cNvPr>
          <p:cNvSpPr/>
          <p:nvPr/>
        </p:nvSpPr>
        <p:spPr bwMode="auto">
          <a:xfrm>
            <a:off x="7362047" y="2016447"/>
            <a:ext cx="644560"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G450/AIR</a:t>
            </a: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t>
            </a: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ACD1,2</a:t>
            </a: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t>
            </a:r>
          </a:p>
        </p:txBody>
      </p:sp>
      <p:sp>
        <p:nvSpPr>
          <p:cNvPr id="29" name="正方形/長方形 28">
            <a:extLst>
              <a:ext uri="{FF2B5EF4-FFF2-40B4-BE49-F238E27FC236}">
                <a16:creationId xmlns:a16="http://schemas.microsoft.com/office/drawing/2014/main" id="{37D95A50-0789-47D3-8235-3756B38A3DF3}"/>
              </a:ext>
            </a:extLst>
          </p:cNvPr>
          <p:cNvSpPr/>
          <p:nvPr/>
        </p:nvSpPr>
        <p:spPr bwMode="auto">
          <a:xfrm>
            <a:off x="6648119" y="2016447"/>
            <a:ext cx="644560"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292929"/>
                </a:solidFill>
                <a:effectLst/>
                <a:uLnTx/>
                <a:uFillTx/>
                <a:latin typeface="Meiryo UI"/>
                <a:ea typeface="Meiryo UI"/>
                <a:cs typeface="Meiryo UI" panose="020B0604030504040204" pitchFamily="50" charset="-128"/>
              </a:rPr>
              <a:t>IP</a:t>
            </a:r>
            <a:r>
              <a:rPr kumimoji="0" lang="ja-JP" altLang="en-US" sz="900" b="0" i="0" u="none" strike="noStrike" kern="0" cap="none" spc="0" normalizeH="0" baseline="0" noProof="0">
                <a:ln>
                  <a:noFill/>
                </a:ln>
                <a:solidFill>
                  <a:srgbClr val="292929"/>
                </a:solidFill>
                <a:effectLst/>
                <a:uLnTx/>
                <a:uFillTx/>
                <a:latin typeface="Meiryo UI"/>
                <a:ea typeface="Meiryo UI"/>
                <a:cs typeface="Meiryo UI" panose="020B0604030504040204" pitchFamily="50" charset="-128"/>
              </a:rPr>
              <a:t>電話機</a:t>
            </a:r>
          </a:p>
        </p:txBody>
      </p:sp>
      <p:pic>
        <p:nvPicPr>
          <p:cNvPr id="30" name="Graphic 78" descr="Corporate data center group icon. ">
            <a:extLst>
              <a:ext uri="{FF2B5EF4-FFF2-40B4-BE49-F238E27FC236}">
                <a16:creationId xmlns:a16="http://schemas.microsoft.com/office/drawing/2014/main" id="{34030630-2121-8D3F-6FAD-D1BA727B18B6}"/>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109810" y="4222371"/>
            <a:ext cx="296619" cy="277548"/>
          </a:xfrm>
          <a:prstGeom prst="rect">
            <a:avLst/>
          </a:prstGeom>
        </p:spPr>
      </p:pic>
      <p:pic>
        <p:nvPicPr>
          <p:cNvPr id="32" name="Graphic 78" descr="Corporate data center group icon. ">
            <a:extLst>
              <a:ext uri="{FF2B5EF4-FFF2-40B4-BE49-F238E27FC236}">
                <a16:creationId xmlns:a16="http://schemas.microsoft.com/office/drawing/2014/main" id="{EBB1B48B-78BC-23A8-1A87-A64F63CDB0E8}"/>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109810" y="1614871"/>
            <a:ext cx="296619" cy="277548"/>
          </a:xfrm>
          <a:prstGeom prst="rect">
            <a:avLst/>
          </a:prstGeom>
        </p:spPr>
      </p:pic>
      <p:sp>
        <p:nvSpPr>
          <p:cNvPr id="33" name="Rectangle 77">
            <a:extLst>
              <a:ext uri="{FF2B5EF4-FFF2-40B4-BE49-F238E27FC236}">
                <a16:creationId xmlns:a16="http://schemas.microsoft.com/office/drawing/2014/main" id="{EF0E2799-CEF3-8DBC-C2A6-125DC8E333DE}"/>
              </a:ext>
            </a:extLst>
          </p:cNvPr>
          <p:cNvSpPr/>
          <p:nvPr/>
        </p:nvSpPr>
        <p:spPr>
          <a:xfrm>
            <a:off x="2099943" y="4219725"/>
            <a:ext cx="2214883" cy="2456946"/>
          </a:xfrm>
          <a:prstGeom prst="rect">
            <a:avLst/>
          </a:prstGeom>
          <a:noFill/>
          <a:ln w="15875" cap="flat" cmpd="sng" algn="ctr">
            <a:solidFill>
              <a:srgbClr val="7D8998"/>
            </a:solidFill>
            <a:prstDash val="solid"/>
          </a:ln>
          <a:effectLst/>
        </p:spPr>
        <p:txBody>
          <a:bodyPr lIns="396000" tIns="72000"/>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292929"/>
                </a:solidFill>
                <a:effectLst/>
                <a:uLnTx/>
                <a:uFillTx/>
                <a:latin typeface="Meiryo UI"/>
                <a:ea typeface="Meiryo UI"/>
                <a:cs typeface="Arial" panose="020B0604020202020204" pitchFamily="34" charset="0"/>
              </a:rPr>
              <a:t>大和</a:t>
            </a:r>
            <a:r>
              <a:rPr kumimoji="0" lang="en-US" altLang="ja-JP" sz="1200" b="0" i="0" u="none" strike="noStrike" kern="0" cap="none" spc="0" normalizeH="0" baseline="0" noProof="0">
                <a:ln>
                  <a:noFill/>
                </a:ln>
                <a:solidFill>
                  <a:srgbClr val="292929"/>
                </a:solidFill>
                <a:effectLst/>
                <a:uLnTx/>
                <a:uFillTx/>
                <a:latin typeface="Meiryo UI"/>
                <a:ea typeface="Meiryo UI"/>
                <a:cs typeface="Arial" panose="020B0604020202020204" pitchFamily="34" charset="0"/>
              </a:rPr>
              <a:t>DC</a:t>
            </a:r>
            <a:endParaRPr kumimoji="0" lang="en-US" sz="1200" b="0" i="0" u="none" strike="noStrike" kern="0" cap="none" spc="0" normalizeH="0" baseline="0" noProof="0">
              <a:ln>
                <a:noFill/>
              </a:ln>
              <a:solidFill>
                <a:srgbClr val="292929"/>
              </a:solidFill>
              <a:effectLst/>
              <a:uLnTx/>
              <a:uFillTx/>
              <a:latin typeface="Meiryo UI"/>
              <a:ea typeface="Meiryo UI"/>
              <a:cs typeface="Arial" panose="020B0604020202020204" pitchFamily="34" charset="0"/>
            </a:endParaRPr>
          </a:p>
        </p:txBody>
      </p:sp>
      <p:sp>
        <p:nvSpPr>
          <p:cNvPr id="34" name="Rectangle 77">
            <a:extLst>
              <a:ext uri="{FF2B5EF4-FFF2-40B4-BE49-F238E27FC236}">
                <a16:creationId xmlns:a16="http://schemas.microsoft.com/office/drawing/2014/main" id="{75353DBB-F617-6204-3D80-DC13918F9A6B}"/>
              </a:ext>
            </a:extLst>
          </p:cNvPr>
          <p:cNvSpPr/>
          <p:nvPr/>
        </p:nvSpPr>
        <p:spPr>
          <a:xfrm>
            <a:off x="2109810" y="1612534"/>
            <a:ext cx="2205016" cy="2456945"/>
          </a:xfrm>
          <a:prstGeom prst="rect">
            <a:avLst/>
          </a:prstGeom>
          <a:noFill/>
          <a:ln w="15875" cap="flat" cmpd="sng" algn="ctr">
            <a:solidFill>
              <a:srgbClr val="7D8998"/>
            </a:solidFill>
            <a:prstDash val="solid"/>
          </a:ln>
          <a:effectLst/>
        </p:spPr>
        <p:txBody>
          <a:bodyPr lIns="396000" tIns="72000"/>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rPr>
              <a:t>鰻谷</a:t>
            </a:r>
            <a:r>
              <a:rPr kumimoji="0" lang="en-US" altLang="ja-JP"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rPr>
              <a:t>DC</a:t>
            </a:r>
            <a:endParaRPr kumimoji="0" lang="en-US"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endParaRPr>
          </a:p>
        </p:txBody>
      </p:sp>
      <p:sp>
        <p:nvSpPr>
          <p:cNvPr id="35" name="正方形/長方形 34">
            <a:extLst>
              <a:ext uri="{FF2B5EF4-FFF2-40B4-BE49-F238E27FC236}">
                <a16:creationId xmlns:a16="http://schemas.microsoft.com/office/drawing/2014/main" id="{881100BE-E3E4-CC4E-101A-79D2B2DE584F}"/>
              </a:ext>
            </a:extLst>
          </p:cNvPr>
          <p:cNvSpPr/>
          <p:nvPr/>
        </p:nvSpPr>
        <p:spPr bwMode="auto">
          <a:xfrm>
            <a:off x="2314592" y="2089514"/>
            <a:ext cx="644560"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G450/AIR</a:t>
            </a: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（旧</a:t>
            </a: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FS</a:t>
            </a: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t>
            </a:r>
          </a:p>
        </p:txBody>
      </p:sp>
      <p:sp>
        <p:nvSpPr>
          <p:cNvPr id="36" name="正方形/長方形 35">
            <a:extLst>
              <a:ext uri="{FF2B5EF4-FFF2-40B4-BE49-F238E27FC236}">
                <a16:creationId xmlns:a16="http://schemas.microsoft.com/office/drawing/2014/main" id="{2A911250-2417-21E5-F669-C8E0E2681851}"/>
              </a:ext>
            </a:extLst>
          </p:cNvPr>
          <p:cNvSpPr/>
          <p:nvPr/>
        </p:nvSpPr>
        <p:spPr bwMode="auto">
          <a:xfrm>
            <a:off x="3163934" y="2089514"/>
            <a:ext cx="872875" cy="729404"/>
          </a:xfrm>
          <a:prstGeom prst="rect">
            <a:avLst/>
          </a:prstGeom>
          <a:solidFill>
            <a:srgbClr val="6666FF">
              <a:lumMod val="40000"/>
              <a:lumOff val="60000"/>
            </a:srgbClr>
          </a:solidFill>
          <a:ln w="9525" cap="flat" cmpd="sng" algn="ctr">
            <a:solidFill>
              <a:srgbClr val="6666FF">
                <a:lumMod val="40000"/>
                <a:lumOff val="60000"/>
              </a:srgbClr>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現行</a:t>
            </a: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CTI</a:t>
            </a: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基盤</a:t>
            </a:r>
            <a:endPar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t>
            </a: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ACD1</a:t>
            </a: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t>
            </a:r>
            <a:endPar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（旧</a:t>
            </a: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FS</a:t>
            </a: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t>
            </a:r>
            <a:endPar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t>
            </a: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ACD2</a:t>
            </a: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災対）</a:t>
            </a:r>
          </a:p>
        </p:txBody>
      </p:sp>
      <p:sp>
        <p:nvSpPr>
          <p:cNvPr id="37" name="正方形/長方形 36">
            <a:extLst>
              <a:ext uri="{FF2B5EF4-FFF2-40B4-BE49-F238E27FC236}">
                <a16:creationId xmlns:a16="http://schemas.microsoft.com/office/drawing/2014/main" id="{BC5BADB5-BA35-C2C6-0E9F-5C47E2D3AB74}"/>
              </a:ext>
            </a:extLst>
          </p:cNvPr>
          <p:cNvSpPr/>
          <p:nvPr/>
        </p:nvSpPr>
        <p:spPr bwMode="auto">
          <a:xfrm>
            <a:off x="3163935" y="4697014"/>
            <a:ext cx="872875" cy="763479"/>
          </a:xfrm>
          <a:prstGeom prst="rect">
            <a:avLst/>
          </a:prstGeom>
          <a:solidFill>
            <a:srgbClr val="6666FF">
              <a:lumMod val="40000"/>
              <a:lumOff val="60000"/>
            </a:srgbClr>
          </a:solidFill>
          <a:ln w="9525" cap="flat" cmpd="sng" algn="ctr">
            <a:solidFill>
              <a:srgbClr val="6666FF">
                <a:lumMod val="40000"/>
                <a:lumOff val="60000"/>
              </a:srgbClr>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現行</a:t>
            </a: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CTI</a:t>
            </a: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基盤</a:t>
            </a:r>
            <a:endPar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t>
            </a: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ACD2</a:t>
            </a: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t>
            </a:r>
            <a:endPar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（受託先）</a:t>
            </a:r>
            <a:endPar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t>
            </a: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ACD1</a:t>
            </a: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災対）</a:t>
            </a:r>
            <a:endPar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（旧</a:t>
            </a: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FS</a:t>
            </a: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災対）</a:t>
            </a:r>
          </a:p>
        </p:txBody>
      </p:sp>
      <p:pic>
        <p:nvPicPr>
          <p:cNvPr id="38" name="Picture 13" descr="20">
            <a:extLst>
              <a:ext uri="{FF2B5EF4-FFF2-40B4-BE49-F238E27FC236}">
                <a16:creationId xmlns:a16="http://schemas.microsoft.com/office/drawing/2014/main" id="{305871E7-D0E1-9FA8-0596-FB5693285360}"/>
              </a:ext>
            </a:extLst>
          </p:cNvPr>
          <p:cNvPicPr>
            <a:picLocks noChangeAspect="1" noChangeArrowheads="1"/>
          </p:cNvPicPr>
          <p:nvPr/>
        </p:nvPicPr>
        <p:blipFill>
          <a:blip r:embed="rId6" cstate="print">
            <a:duotone>
              <a:srgbClr val="80808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035874" y="1923614"/>
            <a:ext cx="795130" cy="609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Text Box 117">
            <a:extLst>
              <a:ext uri="{FF2B5EF4-FFF2-40B4-BE49-F238E27FC236}">
                <a16:creationId xmlns:a16="http://schemas.microsoft.com/office/drawing/2014/main" id="{D9692B3F-062E-136A-070A-FAA50C044498}"/>
              </a:ext>
            </a:extLst>
          </p:cNvPr>
          <p:cNvSpPr txBox="1">
            <a:spLocks noChangeAspect="1" noChangeArrowheads="1"/>
          </p:cNvSpPr>
          <p:nvPr/>
        </p:nvSpPr>
        <p:spPr bwMode="auto">
          <a:xfrm>
            <a:off x="1037446" y="1929368"/>
            <a:ext cx="793558" cy="609600"/>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292929"/>
                </a:solidFill>
                <a:effectLst/>
                <a:uLnTx/>
                <a:uFillTx/>
                <a:latin typeface="Meiryo UI"/>
                <a:ea typeface="Meiryo UI"/>
                <a:cs typeface="+mn-cs"/>
              </a:rPr>
              <a:t>電話回線</a:t>
            </a:r>
            <a:endParaRPr kumimoji="0" lang="en-US" altLang="ja-JP" sz="800" b="0" i="0" u="none" strike="noStrike" kern="0" cap="none" spc="0" normalizeH="0" baseline="0" noProof="0" dirty="0">
              <a:ln>
                <a:noFill/>
              </a:ln>
              <a:solidFill>
                <a:srgbClr val="292929"/>
              </a:solidFill>
              <a:effectLst/>
              <a:uLnTx/>
              <a:uFillTx/>
              <a:latin typeface="Meiryo UI"/>
              <a:ea typeface="Meiryo UI"/>
              <a:cs typeface="+mn-cs"/>
            </a:endParaRPr>
          </a:p>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292929"/>
                </a:solidFill>
                <a:effectLst/>
                <a:uLnTx/>
                <a:uFillTx/>
                <a:latin typeface="Meiryo UI"/>
                <a:ea typeface="Meiryo UI"/>
                <a:cs typeface="+mn-cs"/>
              </a:rPr>
              <a:t>（旧</a:t>
            </a:r>
            <a:r>
              <a:rPr kumimoji="0" lang="en-US" altLang="ja-JP" sz="800" b="0" i="0" u="none" strike="noStrike" kern="0" cap="none" spc="0" normalizeH="0" baseline="0" noProof="0" dirty="0">
                <a:ln>
                  <a:noFill/>
                </a:ln>
                <a:solidFill>
                  <a:srgbClr val="292929"/>
                </a:solidFill>
                <a:effectLst/>
                <a:uLnTx/>
                <a:uFillTx/>
                <a:latin typeface="Meiryo UI"/>
                <a:ea typeface="Meiryo UI"/>
                <a:cs typeface="+mn-cs"/>
              </a:rPr>
              <a:t>FS</a:t>
            </a:r>
            <a:r>
              <a:rPr kumimoji="0" lang="ja-JP" altLang="en-US" sz="800" b="0" i="0" u="none" strike="noStrike" kern="0" cap="none" spc="0" normalizeH="0" baseline="0" noProof="0" dirty="0">
                <a:ln>
                  <a:noFill/>
                </a:ln>
                <a:solidFill>
                  <a:srgbClr val="292929"/>
                </a:solidFill>
                <a:effectLst/>
                <a:uLnTx/>
                <a:uFillTx/>
                <a:latin typeface="Meiryo UI"/>
                <a:ea typeface="Meiryo UI"/>
                <a:cs typeface="+mn-cs"/>
              </a:rPr>
              <a:t>）</a:t>
            </a:r>
          </a:p>
        </p:txBody>
      </p:sp>
      <p:cxnSp>
        <p:nvCxnSpPr>
          <p:cNvPr id="40" name="直線コネクタ 39">
            <a:extLst>
              <a:ext uri="{FF2B5EF4-FFF2-40B4-BE49-F238E27FC236}">
                <a16:creationId xmlns:a16="http://schemas.microsoft.com/office/drawing/2014/main" id="{FD39C57F-8B7A-BED7-9C61-B38DBD12A271}"/>
              </a:ext>
            </a:extLst>
          </p:cNvPr>
          <p:cNvCxnSpPr>
            <a:stCxn id="39" idx="3"/>
            <a:endCxn id="35" idx="1"/>
          </p:cNvCxnSpPr>
          <p:nvPr/>
        </p:nvCxnSpPr>
        <p:spPr bwMode="auto">
          <a:xfrm>
            <a:off x="1831004" y="2234168"/>
            <a:ext cx="483588" cy="2941"/>
          </a:xfrm>
          <a:prstGeom prst="line">
            <a:avLst/>
          </a:prstGeom>
          <a:solidFill>
            <a:srgbClr val="FFFFFF"/>
          </a:solidFill>
          <a:ln w="19050"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正方形/長方形 40">
            <a:extLst>
              <a:ext uri="{FF2B5EF4-FFF2-40B4-BE49-F238E27FC236}">
                <a16:creationId xmlns:a16="http://schemas.microsoft.com/office/drawing/2014/main" id="{C32E9673-1E27-76DF-59E2-2C6D063C308E}"/>
              </a:ext>
            </a:extLst>
          </p:cNvPr>
          <p:cNvSpPr/>
          <p:nvPr/>
        </p:nvSpPr>
        <p:spPr bwMode="auto">
          <a:xfrm>
            <a:off x="2314592" y="4731089"/>
            <a:ext cx="644560"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G450</a:t>
            </a: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（旧</a:t>
            </a: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FS</a:t>
            </a: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災対）</a:t>
            </a:r>
          </a:p>
        </p:txBody>
      </p:sp>
      <p:pic>
        <p:nvPicPr>
          <p:cNvPr id="50" name="Picture 13" descr="20">
            <a:extLst>
              <a:ext uri="{FF2B5EF4-FFF2-40B4-BE49-F238E27FC236}">
                <a16:creationId xmlns:a16="http://schemas.microsoft.com/office/drawing/2014/main" id="{AD9C56F2-09E9-3645-ECEE-F2A3A93789A6}"/>
              </a:ext>
            </a:extLst>
          </p:cNvPr>
          <p:cNvPicPr>
            <a:picLocks noChangeAspect="1" noChangeArrowheads="1"/>
          </p:cNvPicPr>
          <p:nvPr/>
        </p:nvPicPr>
        <p:blipFill>
          <a:blip r:embed="rId6" cstate="print">
            <a:duotone>
              <a:srgbClr val="80808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035874" y="4565189"/>
            <a:ext cx="795130" cy="609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Text Box 117">
            <a:extLst>
              <a:ext uri="{FF2B5EF4-FFF2-40B4-BE49-F238E27FC236}">
                <a16:creationId xmlns:a16="http://schemas.microsoft.com/office/drawing/2014/main" id="{79E96EA4-E066-5106-318B-596ABA5F3948}"/>
              </a:ext>
            </a:extLst>
          </p:cNvPr>
          <p:cNvSpPr txBox="1">
            <a:spLocks noChangeAspect="1" noChangeArrowheads="1"/>
          </p:cNvSpPr>
          <p:nvPr/>
        </p:nvSpPr>
        <p:spPr bwMode="auto">
          <a:xfrm>
            <a:off x="1037446" y="4570943"/>
            <a:ext cx="793558" cy="609600"/>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292929"/>
                </a:solidFill>
                <a:effectLst/>
                <a:uLnTx/>
                <a:uFillTx/>
                <a:latin typeface="Meiryo UI"/>
                <a:ea typeface="Meiryo UI"/>
                <a:cs typeface="+mn-cs"/>
              </a:rPr>
              <a:t>電話回線</a:t>
            </a:r>
            <a:endParaRPr kumimoji="0" lang="en-US" altLang="ja-JP" sz="800" b="0" i="0" u="none" strike="noStrike" kern="0" cap="none" spc="0" normalizeH="0" baseline="0" noProof="0" dirty="0">
              <a:ln>
                <a:noFill/>
              </a:ln>
              <a:solidFill>
                <a:srgbClr val="292929"/>
              </a:solidFill>
              <a:effectLst/>
              <a:uLnTx/>
              <a:uFillTx/>
              <a:latin typeface="Meiryo UI"/>
              <a:ea typeface="Meiryo UI"/>
              <a:cs typeface="+mn-cs"/>
            </a:endParaRPr>
          </a:p>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292929"/>
                </a:solidFill>
                <a:effectLst/>
                <a:uLnTx/>
                <a:uFillTx/>
                <a:latin typeface="Meiryo UI"/>
                <a:ea typeface="Meiryo UI"/>
                <a:cs typeface="+mn-cs"/>
              </a:rPr>
              <a:t>（旧</a:t>
            </a:r>
            <a:r>
              <a:rPr kumimoji="0" lang="en-US" altLang="ja-JP" sz="800" b="0" i="0" u="none" strike="noStrike" kern="0" cap="none" spc="0" normalizeH="0" baseline="0" noProof="0" dirty="0">
                <a:ln>
                  <a:noFill/>
                </a:ln>
                <a:solidFill>
                  <a:srgbClr val="292929"/>
                </a:solidFill>
                <a:effectLst/>
                <a:uLnTx/>
                <a:uFillTx/>
                <a:latin typeface="Meiryo UI"/>
                <a:ea typeface="Meiryo UI"/>
                <a:cs typeface="+mn-cs"/>
              </a:rPr>
              <a:t>FS</a:t>
            </a:r>
            <a:r>
              <a:rPr kumimoji="0" lang="ja-JP" altLang="en-US" sz="800" b="0" i="0" u="none" strike="noStrike" kern="0" cap="none" spc="0" normalizeH="0" baseline="0" noProof="0" dirty="0">
                <a:ln>
                  <a:noFill/>
                </a:ln>
                <a:solidFill>
                  <a:srgbClr val="292929"/>
                </a:solidFill>
                <a:effectLst/>
                <a:uLnTx/>
                <a:uFillTx/>
                <a:latin typeface="Meiryo UI"/>
                <a:ea typeface="Meiryo UI"/>
                <a:cs typeface="+mn-cs"/>
              </a:rPr>
              <a:t>災対）</a:t>
            </a:r>
          </a:p>
        </p:txBody>
      </p:sp>
      <p:cxnSp>
        <p:nvCxnSpPr>
          <p:cNvPr id="52" name="直線コネクタ 51">
            <a:extLst>
              <a:ext uri="{FF2B5EF4-FFF2-40B4-BE49-F238E27FC236}">
                <a16:creationId xmlns:a16="http://schemas.microsoft.com/office/drawing/2014/main" id="{B2BE08DF-B3EA-65C5-3739-92B324930E0F}"/>
              </a:ext>
            </a:extLst>
          </p:cNvPr>
          <p:cNvCxnSpPr>
            <a:stCxn id="51" idx="3"/>
            <a:endCxn id="41" idx="1"/>
          </p:cNvCxnSpPr>
          <p:nvPr/>
        </p:nvCxnSpPr>
        <p:spPr bwMode="auto">
          <a:xfrm>
            <a:off x="1831004" y="4875743"/>
            <a:ext cx="483588" cy="2941"/>
          </a:xfrm>
          <a:prstGeom prst="line">
            <a:avLst/>
          </a:prstGeom>
          <a:solidFill>
            <a:srgbClr val="FFFFFF"/>
          </a:solidFill>
          <a:ln w="19050"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3" name="Picture 13" descr="20">
            <a:extLst>
              <a:ext uri="{FF2B5EF4-FFF2-40B4-BE49-F238E27FC236}">
                <a16:creationId xmlns:a16="http://schemas.microsoft.com/office/drawing/2014/main" id="{9234313A-670A-EF2D-DE87-A484ABAAD774}"/>
              </a:ext>
            </a:extLst>
          </p:cNvPr>
          <p:cNvPicPr>
            <a:picLocks noChangeAspect="1" noChangeArrowheads="1"/>
          </p:cNvPicPr>
          <p:nvPr/>
        </p:nvPicPr>
        <p:blipFill>
          <a:blip r:embed="rId6" cstate="print">
            <a:duotone>
              <a:srgbClr val="80808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8430423" y="1853488"/>
            <a:ext cx="795130" cy="609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 Box 117">
            <a:extLst>
              <a:ext uri="{FF2B5EF4-FFF2-40B4-BE49-F238E27FC236}">
                <a16:creationId xmlns:a16="http://schemas.microsoft.com/office/drawing/2014/main" id="{374C37DF-5F1B-4FF3-3129-20D30BA100C9}"/>
              </a:ext>
            </a:extLst>
          </p:cNvPr>
          <p:cNvSpPr txBox="1">
            <a:spLocks noChangeAspect="1" noChangeArrowheads="1"/>
          </p:cNvSpPr>
          <p:nvPr/>
        </p:nvSpPr>
        <p:spPr bwMode="auto">
          <a:xfrm>
            <a:off x="8431995" y="1859242"/>
            <a:ext cx="793558" cy="609600"/>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292929"/>
                </a:solidFill>
                <a:effectLst/>
                <a:uLnTx/>
                <a:uFillTx/>
                <a:latin typeface="Meiryo UI"/>
                <a:ea typeface="Meiryo UI"/>
                <a:cs typeface="+mn-cs"/>
              </a:rPr>
              <a:t>電話回線</a:t>
            </a:r>
            <a:endParaRPr kumimoji="0" lang="en-US" altLang="ja-JP" sz="800" b="0" i="0" u="none" strike="noStrike" kern="0" cap="none" spc="0" normalizeH="0" baseline="0" noProof="0" dirty="0">
              <a:ln>
                <a:noFill/>
              </a:ln>
              <a:solidFill>
                <a:srgbClr val="292929"/>
              </a:solidFill>
              <a:effectLst/>
              <a:uLnTx/>
              <a:uFillTx/>
              <a:latin typeface="Meiryo UI"/>
              <a:ea typeface="Meiryo UI"/>
              <a:cs typeface="+mn-cs"/>
            </a:endParaRPr>
          </a:p>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292929"/>
                </a:solidFill>
                <a:effectLst/>
                <a:uLnTx/>
                <a:uFillTx/>
                <a:latin typeface="Meiryo UI"/>
                <a:ea typeface="Meiryo UI"/>
                <a:cs typeface="+mn-cs"/>
              </a:rPr>
              <a:t>（</a:t>
            </a:r>
            <a:r>
              <a:rPr kumimoji="0" lang="en-US" altLang="ja-JP" sz="800" b="0" i="0" u="none" strike="noStrike" kern="0" cap="none" spc="0" normalizeH="0" baseline="0" noProof="0" dirty="0">
                <a:ln>
                  <a:noFill/>
                </a:ln>
                <a:solidFill>
                  <a:srgbClr val="292929"/>
                </a:solidFill>
                <a:effectLst/>
                <a:uLnTx/>
                <a:uFillTx/>
                <a:latin typeface="Meiryo UI"/>
                <a:ea typeface="Meiryo UI"/>
                <a:cs typeface="+mn-cs"/>
              </a:rPr>
              <a:t>ACD1,2</a:t>
            </a:r>
            <a:r>
              <a:rPr kumimoji="0" lang="ja-JP" altLang="en-US" sz="800" b="0" i="0" u="none" strike="noStrike" kern="0" cap="none" spc="0" normalizeH="0" baseline="0" noProof="0" dirty="0">
                <a:ln>
                  <a:noFill/>
                </a:ln>
                <a:solidFill>
                  <a:srgbClr val="292929"/>
                </a:solidFill>
                <a:effectLst/>
                <a:uLnTx/>
                <a:uFillTx/>
                <a:latin typeface="Meiryo UI"/>
                <a:ea typeface="Meiryo UI"/>
                <a:cs typeface="+mn-cs"/>
              </a:rPr>
              <a:t>）</a:t>
            </a:r>
          </a:p>
        </p:txBody>
      </p:sp>
      <p:cxnSp>
        <p:nvCxnSpPr>
          <p:cNvPr id="55" name="直線コネクタ 54">
            <a:extLst>
              <a:ext uri="{FF2B5EF4-FFF2-40B4-BE49-F238E27FC236}">
                <a16:creationId xmlns:a16="http://schemas.microsoft.com/office/drawing/2014/main" id="{2208273A-E856-8DE4-C7D3-FEFFDF2C5137}"/>
              </a:ext>
            </a:extLst>
          </p:cNvPr>
          <p:cNvCxnSpPr>
            <a:stCxn id="54" idx="1"/>
            <a:endCxn id="28" idx="3"/>
          </p:cNvCxnSpPr>
          <p:nvPr/>
        </p:nvCxnSpPr>
        <p:spPr bwMode="auto">
          <a:xfrm flipH="1">
            <a:off x="8006607" y="2164042"/>
            <a:ext cx="425388" cy="0"/>
          </a:xfrm>
          <a:prstGeom prst="line">
            <a:avLst/>
          </a:prstGeom>
          <a:solidFill>
            <a:srgbClr val="FFFFFF"/>
          </a:solidFill>
          <a:ln w="19050"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Rectangle 77">
            <a:extLst>
              <a:ext uri="{FF2B5EF4-FFF2-40B4-BE49-F238E27FC236}">
                <a16:creationId xmlns:a16="http://schemas.microsoft.com/office/drawing/2014/main" id="{76DFAF92-1E96-86AD-E37A-50712B5CADF8}"/>
              </a:ext>
            </a:extLst>
          </p:cNvPr>
          <p:cNvSpPr/>
          <p:nvPr/>
        </p:nvSpPr>
        <p:spPr>
          <a:xfrm>
            <a:off x="5028436" y="3340438"/>
            <a:ext cx="3246884" cy="1608632"/>
          </a:xfrm>
          <a:prstGeom prst="rect">
            <a:avLst/>
          </a:prstGeom>
          <a:noFill/>
          <a:ln w="15875" cap="flat" cmpd="sng" algn="ctr">
            <a:solidFill>
              <a:srgbClr val="7D8998"/>
            </a:solidFill>
            <a:prstDash val="solid"/>
          </a:ln>
          <a:effectLst/>
        </p:spPr>
        <p:txBody>
          <a:bodyPr lIns="502920" tIns="91440"/>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rPr>
              <a:t>拠点（受託先）</a:t>
            </a:r>
            <a:endParaRPr kumimoji="0" lang="en-US"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endParaRPr>
          </a:p>
        </p:txBody>
      </p:sp>
      <p:pic>
        <p:nvPicPr>
          <p:cNvPr id="57" name="Graphic 99" descr="Office building resource icon for the General Icons category.">
            <a:extLst>
              <a:ext uri="{FF2B5EF4-FFF2-40B4-BE49-F238E27FC236}">
                <a16:creationId xmlns:a16="http://schemas.microsoft.com/office/drawing/2014/main" id="{B1A9E7D5-7FCF-0634-D73C-2FBBE5D10A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28436" y="3343615"/>
            <a:ext cx="313550" cy="282895"/>
          </a:xfrm>
          <a:prstGeom prst="rect">
            <a:avLst/>
          </a:prstGeom>
        </p:spPr>
      </p:pic>
      <p:sp>
        <p:nvSpPr>
          <p:cNvPr id="58" name="正方形/長方形 57">
            <a:extLst>
              <a:ext uri="{FF2B5EF4-FFF2-40B4-BE49-F238E27FC236}">
                <a16:creationId xmlns:a16="http://schemas.microsoft.com/office/drawing/2014/main" id="{850922C6-1257-B146-3289-E0C27CD18E29}"/>
              </a:ext>
            </a:extLst>
          </p:cNvPr>
          <p:cNvSpPr/>
          <p:nvPr/>
        </p:nvSpPr>
        <p:spPr bwMode="auto">
          <a:xfrm>
            <a:off x="5930112" y="3742134"/>
            <a:ext cx="644560"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err="1">
                <a:ln>
                  <a:noFill/>
                </a:ln>
                <a:solidFill>
                  <a:srgbClr val="292929"/>
                </a:solidFill>
                <a:effectLst/>
                <a:uLnTx/>
                <a:uFillTx/>
                <a:latin typeface="Meiryo UI"/>
                <a:ea typeface="Meiryo UI"/>
                <a:cs typeface="Meiryo UI" panose="020B0604030504040204" pitchFamily="50" charset="-128"/>
              </a:rPr>
              <a:t>CuSIS</a:t>
            </a:r>
            <a:endPar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59" name="正方形/長方形 58">
            <a:extLst>
              <a:ext uri="{FF2B5EF4-FFF2-40B4-BE49-F238E27FC236}">
                <a16:creationId xmlns:a16="http://schemas.microsoft.com/office/drawing/2014/main" id="{F91D6FFC-83BC-EF13-C49B-F79C91AADAC2}"/>
              </a:ext>
            </a:extLst>
          </p:cNvPr>
          <p:cNvSpPr/>
          <p:nvPr/>
        </p:nvSpPr>
        <p:spPr bwMode="auto">
          <a:xfrm>
            <a:off x="7362047" y="3736897"/>
            <a:ext cx="644560"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G450/AIR</a:t>
            </a: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（受託先）</a:t>
            </a:r>
          </a:p>
        </p:txBody>
      </p:sp>
      <p:sp>
        <p:nvSpPr>
          <p:cNvPr id="60" name="正方形/長方形 59">
            <a:extLst>
              <a:ext uri="{FF2B5EF4-FFF2-40B4-BE49-F238E27FC236}">
                <a16:creationId xmlns:a16="http://schemas.microsoft.com/office/drawing/2014/main" id="{C92BDBDD-7CB7-2015-C058-DA9B2C9D5AB0}"/>
              </a:ext>
            </a:extLst>
          </p:cNvPr>
          <p:cNvSpPr/>
          <p:nvPr/>
        </p:nvSpPr>
        <p:spPr bwMode="auto">
          <a:xfrm>
            <a:off x="6648119" y="3736897"/>
            <a:ext cx="644560"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292929"/>
                </a:solidFill>
                <a:effectLst/>
                <a:uLnTx/>
                <a:uFillTx/>
                <a:latin typeface="Meiryo UI"/>
                <a:ea typeface="Meiryo UI"/>
                <a:cs typeface="Meiryo UI" panose="020B0604030504040204" pitchFamily="50" charset="-128"/>
              </a:rPr>
              <a:t>IP</a:t>
            </a:r>
            <a:r>
              <a:rPr kumimoji="0" lang="ja-JP" altLang="en-US" sz="900" b="0" i="0" u="none" strike="noStrike" kern="0" cap="none" spc="0" normalizeH="0" baseline="0" noProof="0">
                <a:ln>
                  <a:noFill/>
                </a:ln>
                <a:solidFill>
                  <a:srgbClr val="292929"/>
                </a:solidFill>
                <a:effectLst/>
                <a:uLnTx/>
                <a:uFillTx/>
                <a:latin typeface="Meiryo UI"/>
                <a:ea typeface="Meiryo UI"/>
                <a:cs typeface="Meiryo UI" panose="020B0604030504040204" pitchFamily="50" charset="-128"/>
              </a:rPr>
              <a:t>電話機</a:t>
            </a:r>
          </a:p>
        </p:txBody>
      </p:sp>
      <p:pic>
        <p:nvPicPr>
          <p:cNvPr id="61" name="Picture 13" descr="20">
            <a:extLst>
              <a:ext uri="{FF2B5EF4-FFF2-40B4-BE49-F238E27FC236}">
                <a16:creationId xmlns:a16="http://schemas.microsoft.com/office/drawing/2014/main" id="{F8598476-52BD-73F9-C02B-218AA092B85A}"/>
              </a:ext>
            </a:extLst>
          </p:cNvPr>
          <p:cNvPicPr>
            <a:picLocks noChangeAspect="1" noChangeArrowheads="1"/>
          </p:cNvPicPr>
          <p:nvPr/>
        </p:nvPicPr>
        <p:blipFill>
          <a:blip r:embed="rId6" cstate="print">
            <a:duotone>
              <a:srgbClr val="80808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8498812" y="3579692"/>
            <a:ext cx="795130" cy="609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Text Box 117">
            <a:extLst>
              <a:ext uri="{FF2B5EF4-FFF2-40B4-BE49-F238E27FC236}">
                <a16:creationId xmlns:a16="http://schemas.microsoft.com/office/drawing/2014/main" id="{D51F10CC-34D4-6DC0-B339-FEB635078CF4}"/>
              </a:ext>
            </a:extLst>
          </p:cNvPr>
          <p:cNvSpPr txBox="1">
            <a:spLocks noChangeAspect="1" noChangeArrowheads="1"/>
          </p:cNvSpPr>
          <p:nvPr/>
        </p:nvSpPr>
        <p:spPr bwMode="auto">
          <a:xfrm>
            <a:off x="8500384" y="3585446"/>
            <a:ext cx="793558" cy="609600"/>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292929"/>
                </a:solidFill>
                <a:effectLst/>
                <a:uLnTx/>
                <a:uFillTx/>
                <a:latin typeface="Meiryo UI"/>
                <a:ea typeface="Meiryo UI"/>
                <a:cs typeface="+mn-cs"/>
              </a:rPr>
              <a:t>電話回線</a:t>
            </a:r>
            <a:endParaRPr kumimoji="0" lang="en-US" altLang="ja-JP" sz="800" b="0" i="0" u="none" strike="noStrike" kern="0" cap="none" spc="0" normalizeH="0" baseline="0" noProof="0" dirty="0">
              <a:ln>
                <a:noFill/>
              </a:ln>
              <a:solidFill>
                <a:srgbClr val="292929"/>
              </a:solidFill>
              <a:effectLst/>
              <a:uLnTx/>
              <a:uFillTx/>
              <a:latin typeface="Meiryo UI"/>
              <a:ea typeface="Meiryo UI"/>
              <a:cs typeface="+mn-cs"/>
            </a:endParaRPr>
          </a:p>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292929"/>
                </a:solidFill>
                <a:effectLst/>
                <a:uLnTx/>
                <a:uFillTx/>
                <a:latin typeface="Meiryo UI"/>
                <a:ea typeface="Meiryo UI"/>
                <a:cs typeface="+mn-cs"/>
              </a:rPr>
              <a:t>（受託先）</a:t>
            </a:r>
          </a:p>
        </p:txBody>
      </p:sp>
      <p:cxnSp>
        <p:nvCxnSpPr>
          <p:cNvPr id="63" name="直線コネクタ 62">
            <a:extLst>
              <a:ext uri="{FF2B5EF4-FFF2-40B4-BE49-F238E27FC236}">
                <a16:creationId xmlns:a16="http://schemas.microsoft.com/office/drawing/2014/main" id="{B91FC1D5-D5FE-6F5C-9F52-7EAE5ACE6648}"/>
              </a:ext>
            </a:extLst>
          </p:cNvPr>
          <p:cNvCxnSpPr>
            <a:stCxn id="62" idx="1"/>
            <a:endCxn id="59" idx="3"/>
          </p:cNvCxnSpPr>
          <p:nvPr/>
        </p:nvCxnSpPr>
        <p:spPr bwMode="auto">
          <a:xfrm flipH="1" flipV="1">
            <a:off x="8006607" y="3884492"/>
            <a:ext cx="493777" cy="5754"/>
          </a:xfrm>
          <a:prstGeom prst="line">
            <a:avLst/>
          </a:prstGeom>
          <a:solidFill>
            <a:srgbClr val="FFFFFF"/>
          </a:solidFill>
          <a:ln w="19050"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Rectangle 77">
            <a:extLst>
              <a:ext uri="{FF2B5EF4-FFF2-40B4-BE49-F238E27FC236}">
                <a16:creationId xmlns:a16="http://schemas.microsoft.com/office/drawing/2014/main" id="{C90EFC9C-3321-DC00-0B4B-93898BE5F96D}"/>
              </a:ext>
            </a:extLst>
          </p:cNvPr>
          <p:cNvSpPr/>
          <p:nvPr/>
        </p:nvSpPr>
        <p:spPr>
          <a:xfrm>
            <a:off x="5024677" y="5066075"/>
            <a:ext cx="3246884" cy="1608632"/>
          </a:xfrm>
          <a:prstGeom prst="rect">
            <a:avLst/>
          </a:prstGeom>
          <a:noFill/>
          <a:ln w="15875" cap="flat" cmpd="sng" algn="ctr">
            <a:solidFill>
              <a:srgbClr val="7D8998"/>
            </a:solidFill>
            <a:prstDash val="solid"/>
          </a:ln>
          <a:effectLst/>
        </p:spPr>
        <p:txBody>
          <a:bodyPr lIns="502920" tIns="91440"/>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rPr>
              <a:t>拠点（旧</a:t>
            </a:r>
            <a:r>
              <a:rPr kumimoji="0" lang="en-US" altLang="ja-JP"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rPr>
              <a:t>FS</a:t>
            </a:r>
            <a:r>
              <a:rPr kumimoji="0" lang="ja-JP" altLang="en-US"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rPr>
              <a:t>）</a:t>
            </a:r>
            <a:endParaRPr kumimoji="0" lang="en-US" sz="1200" b="0" i="0" u="none" strike="noStrike" kern="0" cap="none" spc="0" normalizeH="0" baseline="0" noProof="0" dirty="0">
              <a:ln>
                <a:noFill/>
              </a:ln>
              <a:solidFill>
                <a:srgbClr val="292929"/>
              </a:solidFill>
              <a:effectLst/>
              <a:uLnTx/>
              <a:uFillTx/>
              <a:latin typeface="Meiryo UI"/>
              <a:ea typeface="Meiryo UI"/>
              <a:cs typeface="Arial" panose="020B0604020202020204" pitchFamily="34" charset="0"/>
            </a:endParaRPr>
          </a:p>
        </p:txBody>
      </p:sp>
      <p:pic>
        <p:nvPicPr>
          <p:cNvPr id="65" name="Graphic 99" descr="Office building resource icon for the General Icons category.">
            <a:extLst>
              <a:ext uri="{FF2B5EF4-FFF2-40B4-BE49-F238E27FC236}">
                <a16:creationId xmlns:a16="http://schemas.microsoft.com/office/drawing/2014/main" id="{D2903636-1476-48F3-EBFE-CD2CBD1D8E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24677" y="5069252"/>
            <a:ext cx="313550" cy="282895"/>
          </a:xfrm>
          <a:prstGeom prst="rect">
            <a:avLst/>
          </a:prstGeom>
        </p:spPr>
      </p:pic>
      <p:sp>
        <p:nvSpPr>
          <p:cNvPr id="66" name="正方形/長方形 65">
            <a:extLst>
              <a:ext uri="{FF2B5EF4-FFF2-40B4-BE49-F238E27FC236}">
                <a16:creationId xmlns:a16="http://schemas.microsoft.com/office/drawing/2014/main" id="{6D3C2D13-AD2D-D0DC-2C8D-AD03A615F7AE}"/>
              </a:ext>
            </a:extLst>
          </p:cNvPr>
          <p:cNvSpPr/>
          <p:nvPr/>
        </p:nvSpPr>
        <p:spPr bwMode="auto">
          <a:xfrm>
            <a:off x="6916536" y="5428751"/>
            <a:ext cx="514681"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Every</a:t>
            </a:r>
            <a:endPar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67" name="正方形/長方形 66">
            <a:extLst>
              <a:ext uri="{FF2B5EF4-FFF2-40B4-BE49-F238E27FC236}">
                <a16:creationId xmlns:a16="http://schemas.microsoft.com/office/drawing/2014/main" id="{791D5C4D-6FC4-9C69-73D4-9FCED9612770}"/>
              </a:ext>
            </a:extLst>
          </p:cNvPr>
          <p:cNvSpPr/>
          <p:nvPr/>
        </p:nvSpPr>
        <p:spPr bwMode="auto">
          <a:xfrm>
            <a:off x="7507125" y="5426328"/>
            <a:ext cx="514681"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292929"/>
                </a:solidFill>
                <a:effectLst/>
                <a:uLnTx/>
                <a:uFillTx/>
                <a:latin typeface="Meiryo UI"/>
                <a:ea typeface="Meiryo UI"/>
                <a:cs typeface="Meiryo UI" panose="020B0604030504040204" pitchFamily="50" charset="-128"/>
              </a:rPr>
              <a:t>IP</a:t>
            </a:r>
            <a:r>
              <a:rPr kumimoji="0" lang="ja-JP" altLang="en-US" sz="900" b="0" i="0" u="none" strike="noStrike" kern="0" cap="none" spc="0" normalizeH="0" baseline="0" noProof="0">
                <a:ln>
                  <a:noFill/>
                </a:ln>
                <a:solidFill>
                  <a:srgbClr val="292929"/>
                </a:solidFill>
                <a:effectLst/>
                <a:uLnTx/>
                <a:uFillTx/>
                <a:latin typeface="Meiryo UI"/>
                <a:ea typeface="Meiryo UI"/>
                <a:cs typeface="Meiryo UI" panose="020B0604030504040204" pitchFamily="50" charset="-128"/>
              </a:rPr>
              <a:t>電話機</a:t>
            </a:r>
          </a:p>
        </p:txBody>
      </p:sp>
      <p:sp>
        <p:nvSpPr>
          <p:cNvPr id="68" name="正方形/長方形 67">
            <a:extLst>
              <a:ext uri="{FF2B5EF4-FFF2-40B4-BE49-F238E27FC236}">
                <a16:creationId xmlns:a16="http://schemas.microsoft.com/office/drawing/2014/main" id="{FD4E7F5B-D275-94D6-ACD6-4A0A03019507}"/>
              </a:ext>
            </a:extLst>
          </p:cNvPr>
          <p:cNvSpPr/>
          <p:nvPr/>
        </p:nvSpPr>
        <p:spPr bwMode="auto">
          <a:xfrm>
            <a:off x="6338026" y="5433617"/>
            <a:ext cx="514681"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IBIS</a:t>
            </a:r>
            <a:endPar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69" name="正方形/長方形 68">
            <a:extLst>
              <a:ext uri="{FF2B5EF4-FFF2-40B4-BE49-F238E27FC236}">
                <a16:creationId xmlns:a16="http://schemas.microsoft.com/office/drawing/2014/main" id="{1ABEB9C7-C34B-2233-1DA5-4E92F70D533C}"/>
              </a:ext>
            </a:extLst>
          </p:cNvPr>
          <p:cNvSpPr/>
          <p:nvPr/>
        </p:nvSpPr>
        <p:spPr bwMode="auto">
          <a:xfrm>
            <a:off x="5747509" y="5438648"/>
            <a:ext cx="514681"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ACE</a:t>
            </a:r>
            <a:endPar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70" name="正方形/長方形 69">
            <a:extLst>
              <a:ext uri="{FF2B5EF4-FFF2-40B4-BE49-F238E27FC236}">
                <a16:creationId xmlns:a16="http://schemas.microsoft.com/office/drawing/2014/main" id="{72643C94-A1A3-0058-BFA7-B6715BAC5688}"/>
              </a:ext>
            </a:extLst>
          </p:cNvPr>
          <p:cNvSpPr/>
          <p:nvPr/>
        </p:nvSpPr>
        <p:spPr bwMode="auto">
          <a:xfrm>
            <a:off x="2317900" y="5753544"/>
            <a:ext cx="644560"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G450</a:t>
            </a: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（旧</a:t>
            </a: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FS</a:t>
            </a: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災対）</a:t>
            </a:r>
          </a:p>
        </p:txBody>
      </p:sp>
      <p:pic>
        <p:nvPicPr>
          <p:cNvPr id="71" name="Picture 13" descr="20">
            <a:extLst>
              <a:ext uri="{FF2B5EF4-FFF2-40B4-BE49-F238E27FC236}">
                <a16:creationId xmlns:a16="http://schemas.microsoft.com/office/drawing/2014/main" id="{028878DE-2408-E5F5-41BE-AA4407ED3965}"/>
              </a:ext>
            </a:extLst>
          </p:cNvPr>
          <p:cNvPicPr>
            <a:picLocks noChangeAspect="1" noChangeArrowheads="1"/>
          </p:cNvPicPr>
          <p:nvPr/>
        </p:nvPicPr>
        <p:blipFill>
          <a:blip r:embed="rId6" cstate="print">
            <a:duotone>
              <a:srgbClr val="80808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039182" y="5587644"/>
            <a:ext cx="795130" cy="60960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72" name="Text Box 117">
            <a:extLst>
              <a:ext uri="{FF2B5EF4-FFF2-40B4-BE49-F238E27FC236}">
                <a16:creationId xmlns:a16="http://schemas.microsoft.com/office/drawing/2014/main" id="{1A875114-3A88-3FBA-5AA4-FD600F9316B8}"/>
              </a:ext>
            </a:extLst>
          </p:cNvPr>
          <p:cNvSpPr txBox="1">
            <a:spLocks noChangeAspect="1" noChangeArrowheads="1"/>
          </p:cNvSpPr>
          <p:nvPr/>
        </p:nvSpPr>
        <p:spPr bwMode="auto">
          <a:xfrm>
            <a:off x="1040754" y="5593398"/>
            <a:ext cx="793558" cy="609600"/>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電話回線</a:t>
            </a:r>
            <a:endParaRPr kumimoji="0" lang="en-US" altLang="ja-JP" sz="800" b="0" i="0" u="none" strike="noStrike" kern="0" cap="none" spc="0" normalizeH="0" baseline="0" noProof="0" dirty="0">
              <a:ln>
                <a:noFill/>
              </a:ln>
              <a:solidFill>
                <a:srgbClr val="FF0000"/>
              </a:solidFill>
              <a:effectLst/>
              <a:uLnTx/>
              <a:uFillTx/>
              <a:latin typeface="Meiryo UI"/>
              <a:ea typeface="Meiryo UI"/>
              <a:cs typeface="+mn-cs"/>
            </a:endParaRPr>
          </a:p>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（旧</a:t>
            </a:r>
            <a:r>
              <a:rPr kumimoji="0" lang="en-US" altLang="ja-JP" sz="800" b="0" i="0" u="none" strike="noStrike" kern="0" cap="none" spc="0" normalizeH="0" baseline="0" noProof="0" dirty="0">
                <a:ln>
                  <a:noFill/>
                </a:ln>
                <a:solidFill>
                  <a:srgbClr val="FF0000"/>
                </a:solidFill>
                <a:effectLst/>
                <a:uLnTx/>
                <a:uFillTx/>
                <a:latin typeface="Meiryo UI"/>
                <a:ea typeface="Meiryo UI"/>
                <a:cs typeface="+mn-cs"/>
              </a:rPr>
              <a:t>FS</a:t>
            </a: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災対）</a:t>
            </a:r>
          </a:p>
        </p:txBody>
      </p:sp>
      <p:cxnSp>
        <p:nvCxnSpPr>
          <p:cNvPr id="73" name="直線コネクタ 72">
            <a:extLst>
              <a:ext uri="{FF2B5EF4-FFF2-40B4-BE49-F238E27FC236}">
                <a16:creationId xmlns:a16="http://schemas.microsoft.com/office/drawing/2014/main" id="{55070D0D-7D79-8104-5654-E60D2D70B28C}"/>
              </a:ext>
            </a:extLst>
          </p:cNvPr>
          <p:cNvCxnSpPr>
            <a:stCxn id="72" idx="3"/>
            <a:endCxn id="70" idx="1"/>
          </p:cNvCxnSpPr>
          <p:nvPr/>
        </p:nvCxnSpPr>
        <p:spPr bwMode="auto">
          <a:xfrm>
            <a:off x="1834312" y="5898198"/>
            <a:ext cx="483588" cy="2941"/>
          </a:xfrm>
          <a:prstGeom prst="line">
            <a:avLst/>
          </a:prstGeom>
          <a:solidFill>
            <a:srgbClr val="FFFFFF"/>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正方形/長方形 73">
            <a:extLst>
              <a:ext uri="{FF2B5EF4-FFF2-40B4-BE49-F238E27FC236}">
                <a16:creationId xmlns:a16="http://schemas.microsoft.com/office/drawing/2014/main" id="{DD809B69-4C62-E861-8DD1-0AA570C542C5}"/>
              </a:ext>
            </a:extLst>
          </p:cNvPr>
          <p:cNvSpPr/>
          <p:nvPr/>
        </p:nvSpPr>
        <p:spPr bwMode="auto">
          <a:xfrm>
            <a:off x="2301556" y="3109028"/>
            <a:ext cx="644560"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G450/AIR</a:t>
            </a: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（旧</a:t>
            </a: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FS </a:t>
            </a: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a:t>
            </a:r>
          </a:p>
        </p:txBody>
      </p:sp>
      <p:pic>
        <p:nvPicPr>
          <p:cNvPr id="75" name="Picture 13" descr="20">
            <a:extLst>
              <a:ext uri="{FF2B5EF4-FFF2-40B4-BE49-F238E27FC236}">
                <a16:creationId xmlns:a16="http://schemas.microsoft.com/office/drawing/2014/main" id="{0983547B-FD2D-92DC-0845-0E2952D11EBC}"/>
              </a:ext>
            </a:extLst>
          </p:cNvPr>
          <p:cNvPicPr>
            <a:picLocks noChangeAspect="1" noChangeArrowheads="1"/>
          </p:cNvPicPr>
          <p:nvPr/>
        </p:nvPicPr>
        <p:blipFill>
          <a:blip r:embed="rId6" cstate="print">
            <a:duotone>
              <a:srgbClr val="80808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022838" y="2943128"/>
            <a:ext cx="795130" cy="60960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76" name="Text Box 117">
            <a:extLst>
              <a:ext uri="{FF2B5EF4-FFF2-40B4-BE49-F238E27FC236}">
                <a16:creationId xmlns:a16="http://schemas.microsoft.com/office/drawing/2014/main" id="{BA4CE983-6073-253C-E363-B1EEC9689E99}"/>
              </a:ext>
            </a:extLst>
          </p:cNvPr>
          <p:cNvSpPr txBox="1">
            <a:spLocks noChangeAspect="1" noChangeArrowheads="1"/>
          </p:cNvSpPr>
          <p:nvPr/>
        </p:nvSpPr>
        <p:spPr bwMode="auto">
          <a:xfrm>
            <a:off x="1024410" y="2948882"/>
            <a:ext cx="793558" cy="609600"/>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電話回線</a:t>
            </a:r>
            <a:endParaRPr kumimoji="0" lang="en-US" altLang="ja-JP" sz="800" b="0" i="0" u="none" strike="noStrike" kern="0" cap="none" spc="0" normalizeH="0" baseline="0" noProof="0" dirty="0">
              <a:ln>
                <a:noFill/>
              </a:ln>
              <a:solidFill>
                <a:srgbClr val="FF0000"/>
              </a:solidFill>
              <a:effectLst/>
              <a:uLnTx/>
              <a:uFillTx/>
              <a:latin typeface="Meiryo UI"/>
              <a:ea typeface="Meiryo UI"/>
              <a:cs typeface="+mn-cs"/>
            </a:endParaRPr>
          </a:p>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（旧</a:t>
            </a:r>
            <a:r>
              <a:rPr kumimoji="0" lang="en-US" altLang="ja-JP" sz="800" b="0" i="0" u="none" strike="noStrike" kern="0" cap="none" spc="0" normalizeH="0" baseline="0" noProof="0" dirty="0">
                <a:ln>
                  <a:noFill/>
                </a:ln>
                <a:solidFill>
                  <a:srgbClr val="FF0000"/>
                </a:solidFill>
                <a:effectLst/>
                <a:uLnTx/>
                <a:uFillTx/>
                <a:latin typeface="Meiryo UI"/>
                <a:ea typeface="Meiryo UI"/>
                <a:cs typeface="+mn-cs"/>
              </a:rPr>
              <a:t>FS</a:t>
            </a: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a:t>
            </a:r>
          </a:p>
        </p:txBody>
      </p:sp>
      <p:cxnSp>
        <p:nvCxnSpPr>
          <p:cNvPr id="77" name="直線コネクタ 76">
            <a:extLst>
              <a:ext uri="{FF2B5EF4-FFF2-40B4-BE49-F238E27FC236}">
                <a16:creationId xmlns:a16="http://schemas.microsoft.com/office/drawing/2014/main" id="{ED381BCF-4164-E581-589A-54C73F841952}"/>
              </a:ext>
            </a:extLst>
          </p:cNvPr>
          <p:cNvCxnSpPr>
            <a:stCxn id="76" idx="3"/>
            <a:endCxn id="74" idx="1"/>
          </p:cNvCxnSpPr>
          <p:nvPr/>
        </p:nvCxnSpPr>
        <p:spPr bwMode="auto">
          <a:xfrm>
            <a:off x="1817968" y="3253682"/>
            <a:ext cx="483588" cy="2941"/>
          </a:xfrm>
          <a:prstGeom prst="line">
            <a:avLst/>
          </a:prstGeom>
          <a:solidFill>
            <a:srgbClr val="FFFFFF"/>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吹き出し: 角を丸めた四角形 77">
            <a:extLst>
              <a:ext uri="{FF2B5EF4-FFF2-40B4-BE49-F238E27FC236}">
                <a16:creationId xmlns:a16="http://schemas.microsoft.com/office/drawing/2014/main" id="{B2FA4D1B-2565-617D-07E1-51BA0508662A}"/>
              </a:ext>
            </a:extLst>
          </p:cNvPr>
          <p:cNvSpPr/>
          <p:nvPr/>
        </p:nvSpPr>
        <p:spPr bwMode="auto">
          <a:xfrm>
            <a:off x="8158279" y="4896416"/>
            <a:ext cx="1637228" cy="601518"/>
          </a:xfrm>
          <a:prstGeom prst="wedgeRoundRectCallout">
            <a:avLst>
              <a:gd name="adj1" fmla="val -63385"/>
              <a:gd name="adj2" fmla="val -42998"/>
              <a:gd name="adj3" fmla="val 16667"/>
            </a:avLst>
          </a:prstGeom>
          <a:solidFill>
            <a:srgbClr val="FFFF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r>
              <a:rPr kumimoji="0" lang="en-US" altLang="ja-JP" sz="1100" b="1" i="0" u="sng" strike="noStrike" kern="0" cap="none" spc="0" normalizeH="0" baseline="0" noProof="0" dirty="0">
                <a:ln>
                  <a:noFill/>
                </a:ln>
                <a:solidFill>
                  <a:srgbClr val="FF0000"/>
                </a:solidFill>
                <a:effectLst/>
                <a:uLnTx/>
                <a:uFillTx/>
                <a:latin typeface="Meiryo UI"/>
                <a:ea typeface="Meiryo UI"/>
              </a:rPr>
              <a:t>【</a:t>
            </a:r>
            <a:r>
              <a:rPr kumimoji="0" lang="ja-JP" altLang="en-US" sz="1100" b="1" i="0" u="sng" strike="noStrike" kern="0" cap="none" spc="0" normalizeH="0" baseline="0" noProof="0" dirty="0">
                <a:ln>
                  <a:noFill/>
                </a:ln>
                <a:solidFill>
                  <a:srgbClr val="FF0000"/>
                </a:solidFill>
                <a:effectLst/>
                <a:uLnTx/>
                <a:uFillTx/>
                <a:latin typeface="Meiryo UI"/>
                <a:ea typeface="Meiryo UI"/>
              </a:rPr>
              <a:t>受託先</a:t>
            </a:r>
            <a:r>
              <a:rPr kumimoji="0" lang="en-US" altLang="ja-JP" sz="1100" b="1" i="0" u="sng" strike="noStrike" kern="0" cap="none" spc="0" normalizeH="0" baseline="0" noProof="0" dirty="0">
                <a:ln>
                  <a:noFill/>
                </a:ln>
                <a:solidFill>
                  <a:srgbClr val="FF0000"/>
                </a:solidFill>
                <a:effectLst/>
                <a:uLnTx/>
                <a:uFillTx/>
                <a:latin typeface="Meiryo UI"/>
                <a:ea typeface="Meiryo UI"/>
              </a:rPr>
              <a:t>】</a:t>
            </a:r>
          </a:p>
          <a:p>
            <a:pPr marL="0" marR="0" lvl="0" indent="0" algn="just" defTabSz="742950" eaLnBrk="1" fontAlgn="auto" latinLnBrk="0" hangingPunct="1">
              <a:lnSpc>
                <a:spcPct val="100000"/>
              </a:lnSpc>
              <a:spcBef>
                <a:spcPts val="0"/>
              </a:spcBef>
              <a:spcAft>
                <a:spcPts val="0"/>
              </a:spcAft>
              <a:buClrTx/>
              <a:buSzTx/>
              <a:buFontTx/>
              <a:buNone/>
              <a:tabLst/>
              <a:defRPr/>
            </a:pPr>
            <a:r>
              <a:rPr kumimoji="0" lang="ja-JP" altLang="en-US" sz="1100" b="1" u="sng" kern="0" dirty="0">
                <a:solidFill>
                  <a:srgbClr val="FF0000"/>
                </a:solidFill>
                <a:latin typeface="Meiryo UI"/>
                <a:ea typeface="Meiryo UI"/>
              </a:rPr>
              <a:t>受託先</a:t>
            </a:r>
            <a:r>
              <a:rPr kumimoji="0" lang="ja-JP" altLang="en-US" sz="1100" b="1" i="0" u="sng" strike="noStrike" kern="0" cap="none" spc="0" normalizeH="0" baseline="0" noProof="0" dirty="0">
                <a:ln>
                  <a:noFill/>
                </a:ln>
                <a:solidFill>
                  <a:srgbClr val="FF0000"/>
                </a:solidFill>
                <a:effectLst/>
                <a:uLnTx/>
                <a:uFillTx/>
                <a:latin typeface="Meiryo UI"/>
                <a:ea typeface="Meiryo UI"/>
              </a:rPr>
              <a:t>契約回線のため</a:t>
            </a:r>
            <a:endParaRPr kumimoji="0" lang="en-US" altLang="ja-JP" sz="1100" b="1" i="0" u="sng" strike="noStrike" kern="0" cap="none" spc="0" normalizeH="0" baseline="0" noProof="0" dirty="0">
              <a:ln>
                <a:noFill/>
              </a:ln>
              <a:solidFill>
                <a:srgbClr val="FF0000"/>
              </a:solidFill>
              <a:effectLst/>
              <a:uLnTx/>
              <a:uFillTx/>
              <a:latin typeface="Meiryo UI"/>
              <a:ea typeface="Meiryo UI"/>
            </a:endParaRPr>
          </a:p>
          <a:p>
            <a:pPr marL="0" marR="0" lvl="0" indent="0" algn="just" defTabSz="742950" eaLnBrk="1" fontAlgn="auto" latinLnBrk="0" hangingPunct="1">
              <a:lnSpc>
                <a:spcPct val="100000"/>
              </a:lnSpc>
              <a:spcBef>
                <a:spcPts val="0"/>
              </a:spcBef>
              <a:spcAft>
                <a:spcPts val="0"/>
              </a:spcAft>
              <a:buClrTx/>
              <a:buSzTx/>
              <a:buFontTx/>
              <a:buNone/>
              <a:tabLst/>
              <a:defRPr/>
            </a:pPr>
            <a:r>
              <a:rPr kumimoji="0" lang="ja-JP" altLang="en-US" sz="1100" b="1" i="0" u="sng" strike="noStrike" kern="0" cap="none" spc="0" normalizeH="0" baseline="0" noProof="0" dirty="0">
                <a:ln>
                  <a:noFill/>
                </a:ln>
                <a:solidFill>
                  <a:srgbClr val="FF0000"/>
                </a:solidFill>
                <a:effectLst/>
                <a:uLnTx/>
                <a:uFillTx/>
                <a:latin typeface="Meiryo UI"/>
                <a:ea typeface="Meiryo UI"/>
              </a:rPr>
              <a:t>拠点設置を継続</a:t>
            </a:r>
          </a:p>
        </p:txBody>
      </p:sp>
      <p:sp>
        <p:nvSpPr>
          <p:cNvPr id="79" name="正方形/長方形 78">
            <a:extLst>
              <a:ext uri="{FF2B5EF4-FFF2-40B4-BE49-F238E27FC236}">
                <a16:creationId xmlns:a16="http://schemas.microsoft.com/office/drawing/2014/main" id="{C73381D5-729F-E79A-5565-A2F4530E7442}"/>
              </a:ext>
            </a:extLst>
          </p:cNvPr>
          <p:cNvSpPr/>
          <p:nvPr/>
        </p:nvSpPr>
        <p:spPr bwMode="auto">
          <a:xfrm>
            <a:off x="3162143" y="3109028"/>
            <a:ext cx="872875" cy="729404"/>
          </a:xfrm>
          <a:prstGeom prst="rect">
            <a:avLst/>
          </a:prstGeom>
          <a:solidFill>
            <a:srgbClr val="6666FF">
              <a:lumMod val="40000"/>
              <a:lumOff val="60000"/>
            </a:srgbClr>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次期</a:t>
            </a: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CTI</a:t>
            </a: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基盤</a:t>
            </a:r>
            <a:endPar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構成は前頁参照</a:t>
            </a:r>
            <a:endPar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endParaRPr>
          </a:p>
        </p:txBody>
      </p:sp>
      <p:sp>
        <p:nvSpPr>
          <p:cNvPr id="80" name="正方形/長方形 79">
            <a:extLst>
              <a:ext uri="{FF2B5EF4-FFF2-40B4-BE49-F238E27FC236}">
                <a16:creationId xmlns:a16="http://schemas.microsoft.com/office/drawing/2014/main" id="{D725577E-742D-1F2C-0798-F6E16800B9A6}"/>
              </a:ext>
            </a:extLst>
          </p:cNvPr>
          <p:cNvSpPr/>
          <p:nvPr/>
        </p:nvSpPr>
        <p:spPr bwMode="auto">
          <a:xfrm>
            <a:off x="3162143" y="5753544"/>
            <a:ext cx="872875" cy="729404"/>
          </a:xfrm>
          <a:prstGeom prst="rect">
            <a:avLst/>
          </a:prstGeom>
          <a:solidFill>
            <a:srgbClr val="6666FF">
              <a:lumMod val="40000"/>
              <a:lumOff val="60000"/>
            </a:srgbClr>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次期</a:t>
            </a: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CTI</a:t>
            </a: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基盤</a:t>
            </a:r>
            <a:endPar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構成は前頁参照</a:t>
            </a:r>
            <a:endPar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endParaRPr>
          </a:p>
        </p:txBody>
      </p:sp>
      <p:sp>
        <p:nvSpPr>
          <p:cNvPr id="82" name="正方形/長方形 81">
            <a:extLst>
              <a:ext uri="{FF2B5EF4-FFF2-40B4-BE49-F238E27FC236}">
                <a16:creationId xmlns:a16="http://schemas.microsoft.com/office/drawing/2014/main" id="{9A6666ED-1051-EF7F-3D76-7670642A5C87}"/>
              </a:ext>
            </a:extLst>
          </p:cNvPr>
          <p:cNvSpPr/>
          <p:nvPr/>
        </p:nvSpPr>
        <p:spPr bwMode="auto">
          <a:xfrm>
            <a:off x="5923929" y="2767253"/>
            <a:ext cx="644560"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err="1">
                <a:ln>
                  <a:noFill/>
                </a:ln>
                <a:solidFill>
                  <a:srgbClr val="FF0000"/>
                </a:solidFill>
                <a:effectLst/>
                <a:uLnTx/>
                <a:uFillTx/>
                <a:latin typeface="Meiryo UI"/>
                <a:ea typeface="Meiryo UI"/>
                <a:cs typeface="Meiryo UI" panose="020B0604030504040204" pitchFamily="50" charset="-128"/>
              </a:rPr>
              <a:t>CuSIS</a:t>
            </a:r>
            <a:endPar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COMPASS</a:t>
            </a:r>
            <a:endPar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endParaRPr>
          </a:p>
        </p:txBody>
      </p:sp>
      <p:sp>
        <p:nvSpPr>
          <p:cNvPr id="83" name="正方形/長方形 82">
            <a:extLst>
              <a:ext uri="{FF2B5EF4-FFF2-40B4-BE49-F238E27FC236}">
                <a16:creationId xmlns:a16="http://schemas.microsoft.com/office/drawing/2014/main" id="{0EDF9137-3656-A105-C4E8-1A6E017D1F14}"/>
              </a:ext>
            </a:extLst>
          </p:cNvPr>
          <p:cNvSpPr/>
          <p:nvPr/>
        </p:nvSpPr>
        <p:spPr bwMode="auto">
          <a:xfrm>
            <a:off x="5207976" y="2767253"/>
            <a:ext cx="644560"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延滞管理</a:t>
            </a:r>
          </a:p>
        </p:txBody>
      </p:sp>
      <p:sp>
        <p:nvSpPr>
          <p:cNvPr id="84" name="正方形/長方形 83">
            <a:extLst>
              <a:ext uri="{FF2B5EF4-FFF2-40B4-BE49-F238E27FC236}">
                <a16:creationId xmlns:a16="http://schemas.microsoft.com/office/drawing/2014/main" id="{FE050C2E-67B9-0D33-AAC8-27E9869CF2F8}"/>
              </a:ext>
            </a:extLst>
          </p:cNvPr>
          <p:cNvSpPr/>
          <p:nvPr/>
        </p:nvSpPr>
        <p:spPr bwMode="auto">
          <a:xfrm>
            <a:off x="6648119" y="2760751"/>
            <a:ext cx="644560"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FF0000"/>
                </a:solidFill>
                <a:effectLst/>
                <a:uLnTx/>
                <a:uFillTx/>
                <a:latin typeface="Meiryo UI"/>
                <a:ea typeface="Meiryo UI"/>
                <a:cs typeface="Meiryo UI" panose="020B0604030504040204" pitchFamily="50" charset="-128"/>
              </a:rPr>
              <a:t>IP</a:t>
            </a:r>
            <a:r>
              <a:rPr kumimoji="0" lang="ja-JP" altLang="en-US" sz="900" b="0" i="0" u="none" strike="noStrike" kern="0" cap="none" spc="0" normalizeH="0" baseline="0" noProof="0">
                <a:ln>
                  <a:noFill/>
                </a:ln>
                <a:solidFill>
                  <a:srgbClr val="FF0000"/>
                </a:solidFill>
                <a:effectLst/>
                <a:uLnTx/>
                <a:uFillTx/>
                <a:latin typeface="Meiryo UI"/>
                <a:ea typeface="Meiryo UI"/>
                <a:cs typeface="Meiryo UI" panose="020B0604030504040204" pitchFamily="50" charset="-128"/>
              </a:rPr>
              <a:t>電話機</a:t>
            </a:r>
          </a:p>
        </p:txBody>
      </p:sp>
      <p:sp>
        <p:nvSpPr>
          <p:cNvPr id="85" name="正方形/長方形 84">
            <a:extLst>
              <a:ext uri="{FF2B5EF4-FFF2-40B4-BE49-F238E27FC236}">
                <a16:creationId xmlns:a16="http://schemas.microsoft.com/office/drawing/2014/main" id="{38A681EA-DD14-519A-D402-0F3BD7AAE68E}"/>
              </a:ext>
            </a:extLst>
          </p:cNvPr>
          <p:cNvSpPr/>
          <p:nvPr/>
        </p:nvSpPr>
        <p:spPr bwMode="auto">
          <a:xfrm>
            <a:off x="5923929" y="4492890"/>
            <a:ext cx="644560"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err="1">
                <a:ln>
                  <a:noFill/>
                </a:ln>
                <a:solidFill>
                  <a:srgbClr val="FF0000"/>
                </a:solidFill>
                <a:effectLst/>
                <a:uLnTx/>
                <a:uFillTx/>
                <a:latin typeface="Meiryo UI"/>
                <a:ea typeface="Meiryo UI"/>
                <a:cs typeface="Meiryo UI" panose="020B0604030504040204" pitchFamily="50" charset="-128"/>
              </a:rPr>
              <a:t>CuSIS</a:t>
            </a:r>
            <a:endPar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endParaRPr>
          </a:p>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COMPASS</a:t>
            </a:r>
            <a:endPar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endParaRPr>
          </a:p>
        </p:txBody>
      </p:sp>
      <p:sp>
        <p:nvSpPr>
          <p:cNvPr id="86" name="正方形/長方形 85">
            <a:extLst>
              <a:ext uri="{FF2B5EF4-FFF2-40B4-BE49-F238E27FC236}">
                <a16:creationId xmlns:a16="http://schemas.microsoft.com/office/drawing/2014/main" id="{5FEE147B-AC9C-129C-147A-8FA70C6F2528}"/>
              </a:ext>
            </a:extLst>
          </p:cNvPr>
          <p:cNvSpPr/>
          <p:nvPr/>
        </p:nvSpPr>
        <p:spPr bwMode="auto">
          <a:xfrm>
            <a:off x="6648119" y="4486388"/>
            <a:ext cx="644560"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FF0000"/>
                </a:solidFill>
                <a:effectLst/>
                <a:uLnTx/>
                <a:uFillTx/>
                <a:latin typeface="Meiryo UI"/>
                <a:ea typeface="Meiryo UI"/>
                <a:cs typeface="Meiryo UI" panose="020B0604030504040204" pitchFamily="50" charset="-128"/>
              </a:rPr>
              <a:t>IP</a:t>
            </a:r>
            <a:r>
              <a:rPr kumimoji="0" lang="ja-JP" altLang="en-US" sz="900" b="0" i="0" u="none" strike="noStrike" kern="0" cap="none" spc="0" normalizeH="0" baseline="0" noProof="0">
                <a:ln>
                  <a:noFill/>
                </a:ln>
                <a:solidFill>
                  <a:srgbClr val="FF0000"/>
                </a:solidFill>
                <a:effectLst/>
                <a:uLnTx/>
                <a:uFillTx/>
                <a:latin typeface="Meiryo UI"/>
                <a:ea typeface="Meiryo UI"/>
                <a:cs typeface="Meiryo UI" panose="020B0604030504040204" pitchFamily="50" charset="-128"/>
              </a:rPr>
              <a:t>電話機</a:t>
            </a:r>
          </a:p>
        </p:txBody>
      </p:sp>
      <p:sp>
        <p:nvSpPr>
          <p:cNvPr id="87" name="正方形/長方形 86">
            <a:extLst>
              <a:ext uri="{FF2B5EF4-FFF2-40B4-BE49-F238E27FC236}">
                <a16:creationId xmlns:a16="http://schemas.microsoft.com/office/drawing/2014/main" id="{B469A29E-104D-8CFB-7CF6-AEFD579ADF6F}"/>
              </a:ext>
            </a:extLst>
          </p:cNvPr>
          <p:cNvSpPr/>
          <p:nvPr/>
        </p:nvSpPr>
        <p:spPr bwMode="auto">
          <a:xfrm>
            <a:off x="7377246" y="4490921"/>
            <a:ext cx="644560"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G450/AIR</a:t>
            </a: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（受託先）</a:t>
            </a:r>
          </a:p>
        </p:txBody>
      </p:sp>
      <p:pic>
        <p:nvPicPr>
          <p:cNvPr id="88" name="Picture 13" descr="20">
            <a:extLst>
              <a:ext uri="{FF2B5EF4-FFF2-40B4-BE49-F238E27FC236}">
                <a16:creationId xmlns:a16="http://schemas.microsoft.com/office/drawing/2014/main" id="{C775E95E-0571-D821-7749-45E3EE7A9C88}"/>
              </a:ext>
            </a:extLst>
          </p:cNvPr>
          <p:cNvPicPr>
            <a:picLocks noChangeAspect="1" noChangeArrowheads="1"/>
          </p:cNvPicPr>
          <p:nvPr/>
        </p:nvPicPr>
        <p:blipFill>
          <a:blip r:embed="rId6" cstate="print">
            <a:duotone>
              <a:srgbClr val="80808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8514011" y="4333716"/>
            <a:ext cx="795130" cy="609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Text Box 117">
            <a:extLst>
              <a:ext uri="{FF2B5EF4-FFF2-40B4-BE49-F238E27FC236}">
                <a16:creationId xmlns:a16="http://schemas.microsoft.com/office/drawing/2014/main" id="{B0C08DF8-CDFE-BD80-4F45-3B3DA59035DE}"/>
              </a:ext>
            </a:extLst>
          </p:cNvPr>
          <p:cNvSpPr txBox="1">
            <a:spLocks noChangeAspect="1" noChangeArrowheads="1"/>
          </p:cNvSpPr>
          <p:nvPr/>
        </p:nvSpPr>
        <p:spPr bwMode="auto">
          <a:xfrm>
            <a:off x="8515583" y="4339470"/>
            <a:ext cx="793558" cy="609600"/>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電話回線</a:t>
            </a:r>
            <a:endParaRPr kumimoji="0" lang="en-US" altLang="ja-JP" sz="800" b="0" i="0" u="none" strike="noStrike" kern="0" cap="none" spc="0" normalizeH="0" baseline="0" noProof="0" dirty="0">
              <a:ln>
                <a:noFill/>
              </a:ln>
              <a:solidFill>
                <a:srgbClr val="FF0000"/>
              </a:solidFill>
              <a:effectLst/>
              <a:uLnTx/>
              <a:uFillTx/>
              <a:latin typeface="Meiryo UI"/>
              <a:ea typeface="Meiryo UI"/>
              <a:cs typeface="+mn-cs"/>
            </a:endParaRPr>
          </a:p>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（受託先）</a:t>
            </a:r>
          </a:p>
        </p:txBody>
      </p:sp>
      <p:cxnSp>
        <p:nvCxnSpPr>
          <p:cNvPr id="90" name="直線コネクタ 89">
            <a:extLst>
              <a:ext uri="{FF2B5EF4-FFF2-40B4-BE49-F238E27FC236}">
                <a16:creationId xmlns:a16="http://schemas.microsoft.com/office/drawing/2014/main" id="{FD5A4347-5F7C-7D9C-699A-2BB9EDD06209}"/>
              </a:ext>
            </a:extLst>
          </p:cNvPr>
          <p:cNvCxnSpPr>
            <a:stCxn id="89" idx="1"/>
            <a:endCxn id="87" idx="3"/>
          </p:cNvCxnSpPr>
          <p:nvPr/>
        </p:nvCxnSpPr>
        <p:spPr bwMode="auto">
          <a:xfrm flipH="1" flipV="1">
            <a:off x="8021806" y="4638516"/>
            <a:ext cx="493777" cy="5754"/>
          </a:xfrm>
          <a:prstGeom prst="line">
            <a:avLst/>
          </a:prstGeom>
          <a:solidFill>
            <a:srgbClr val="FFFFFF"/>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正方形/長方形 90">
            <a:extLst>
              <a:ext uri="{FF2B5EF4-FFF2-40B4-BE49-F238E27FC236}">
                <a16:creationId xmlns:a16="http://schemas.microsoft.com/office/drawing/2014/main" id="{E517A3C4-FE00-2F44-DEC5-2F334EDD5D84}"/>
              </a:ext>
            </a:extLst>
          </p:cNvPr>
          <p:cNvSpPr/>
          <p:nvPr/>
        </p:nvSpPr>
        <p:spPr bwMode="auto">
          <a:xfrm>
            <a:off x="5160246" y="5435628"/>
            <a:ext cx="514681" cy="295190"/>
          </a:xfrm>
          <a:prstGeom prst="rect">
            <a:avLst/>
          </a:prstGeom>
          <a:solidFill>
            <a:srgbClr val="FFFFFF"/>
          </a:solidFill>
          <a:ln w="9525" cap="flat" cmpd="sng" algn="ctr">
            <a:solidFill>
              <a:srgbClr val="29292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rPr>
              <a:t>延滞管理</a:t>
            </a:r>
          </a:p>
        </p:txBody>
      </p:sp>
      <p:sp>
        <p:nvSpPr>
          <p:cNvPr id="92" name="矢印: 下 91">
            <a:extLst>
              <a:ext uri="{FF2B5EF4-FFF2-40B4-BE49-F238E27FC236}">
                <a16:creationId xmlns:a16="http://schemas.microsoft.com/office/drawing/2014/main" id="{3C889FFB-2EC1-7D3E-44F4-7007D72ECD5A}"/>
              </a:ext>
            </a:extLst>
          </p:cNvPr>
          <p:cNvSpPr/>
          <p:nvPr/>
        </p:nvSpPr>
        <p:spPr bwMode="auto">
          <a:xfrm>
            <a:off x="3421088" y="2760751"/>
            <a:ext cx="354983" cy="460415"/>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93" name="矢印: 下 92">
            <a:extLst>
              <a:ext uri="{FF2B5EF4-FFF2-40B4-BE49-F238E27FC236}">
                <a16:creationId xmlns:a16="http://schemas.microsoft.com/office/drawing/2014/main" id="{2D4F1657-B024-D00F-7B90-A055B560A4E9}"/>
              </a:ext>
            </a:extLst>
          </p:cNvPr>
          <p:cNvSpPr/>
          <p:nvPr/>
        </p:nvSpPr>
        <p:spPr bwMode="auto">
          <a:xfrm>
            <a:off x="3380100" y="5426328"/>
            <a:ext cx="354983" cy="460415"/>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94" name="正方形/長方形 93">
            <a:extLst>
              <a:ext uri="{FF2B5EF4-FFF2-40B4-BE49-F238E27FC236}">
                <a16:creationId xmlns:a16="http://schemas.microsoft.com/office/drawing/2014/main" id="{65B29F6D-C6B3-A600-F06A-CF8280F4FADF}"/>
              </a:ext>
            </a:extLst>
          </p:cNvPr>
          <p:cNvSpPr/>
          <p:nvPr/>
        </p:nvSpPr>
        <p:spPr bwMode="auto">
          <a:xfrm>
            <a:off x="2312542" y="3550535"/>
            <a:ext cx="644560"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G450/AIR</a:t>
            </a: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a:t>
            </a: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 ACD1,2</a:t>
            </a: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a:t>
            </a:r>
          </a:p>
        </p:txBody>
      </p:sp>
      <p:pic>
        <p:nvPicPr>
          <p:cNvPr id="95" name="Picture 13" descr="20">
            <a:extLst>
              <a:ext uri="{FF2B5EF4-FFF2-40B4-BE49-F238E27FC236}">
                <a16:creationId xmlns:a16="http://schemas.microsoft.com/office/drawing/2014/main" id="{6CB71D4C-8077-C3DC-E3C4-2684204F2007}"/>
              </a:ext>
            </a:extLst>
          </p:cNvPr>
          <p:cNvPicPr>
            <a:picLocks noChangeAspect="1" noChangeArrowheads="1"/>
          </p:cNvPicPr>
          <p:nvPr/>
        </p:nvPicPr>
        <p:blipFill>
          <a:blip r:embed="rId6" cstate="print">
            <a:duotone>
              <a:srgbClr val="80808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033824" y="3384635"/>
            <a:ext cx="795130" cy="60960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96" name="Text Box 117">
            <a:extLst>
              <a:ext uri="{FF2B5EF4-FFF2-40B4-BE49-F238E27FC236}">
                <a16:creationId xmlns:a16="http://schemas.microsoft.com/office/drawing/2014/main" id="{8BA527B0-BD7D-3FE2-E21C-4F094D08D291}"/>
              </a:ext>
            </a:extLst>
          </p:cNvPr>
          <p:cNvSpPr txBox="1">
            <a:spLocks noChangeAspect="1" noChangeArrowheads="1"/>
          </p:cNvSpPr>
          <p:nvPr/>
        </p:nvSpPr>
        <p:spPr bwMode="auto">
          <a:xfrm>
            <a:off x="1035396" y="3390389"/>
            <a:ext cx="793558" cy="609600"/>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電話回線</a:t>
            </a:r>
            <a:endParaRPr kumimoji="0" lang="en-US" altLang="ja-JP" sz="800" b="0" i="0" u="none" strike="noStrike" kern="0" cap="none" spc="0" normalizeH="0" baseline="0" noProof="0" dirty="0">
              <a:ln>
                <a:noFill/>
              </a:ln>
              <a:solidFill>
                <a:srgbClr val="FF0000"/>
              </a:solidFill>
              <a:effectLst/>
              <a:uLnTx/>
              <a:uFillTx/>
              <a:latin typeface="Meiryo UI"/>
              <a:ea typeface="Meiryo UI"/>
              <a:cs typeface="+mn-cs"/>
            </a:endParaRPr>
          </a:p>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a:t>
            </a:r>
            <a:r>
              <a:rPr kumimoji="0" lang="en-US" altLang="ja-JP" sz="800" b="0" i="0" u="none" strike="noStrike" kern="0" cap="none" spc="0" normalizeH="0" baseline="0" noProof="0" dirty="0">
                <a:ln>
                  <a:noFill/>
                </a:ln>
                <a:solidFill>
                  <a:srgbClr val="FF0000"/>
                </a:solidFill>
                <a:effectLst/>
                <a:uLnTx/>
                <a:uFillTx/>
                <a:latin typeface="Meiryo UI"/>
                <a:ea typeface="Meiryo UI"/>
                <a:cs typeface="+mn-cs"/>
              </a:rPr>
              <a:t>ACD1,2</a:t>
            </a: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a:t>
            </a:r>
          </a:p>
        </p:txBody>
      </p:sp>
      <p:cxnSp>
        <p:nvCxnSpPr>
          <p:cNvPr id="97" name="直線コネクタ 96">
            <a:extLst>
              <a:ext uri="{FF2B5EF4-FFF2-40B4-BE49-F238E27FC236}">
                <a16:creationId xmlns:a16="http://schemas.microsoft.com/office/drawing/2014/main" id="{BDEBA5FF-A6A1-1167-EC9E-A914E2CDD58C}"/>
              </a:ext>
            </a:extLst>
          </p:cNvPr>
          <p:cNvCxnSpPr>
            <a:stCxn id="96" idx="3"/>
            <a:endCxn id="94" idx="1"/>
          </p:cNvCxnSpPr>
          <p:nvPr/>
        </p:nvCxnSpPr>
        <p:spPr bwMode="auto">
          <a:xfrm>
            <a:off x="1828954" y="3695189"/>
            <a:ext cx="483588" cy="2941"/>
          </a:xfrm>
          <a:prstGeom prst="line">
            <a:avLst/>
          </a:prstGeom>
          <a:solidFill>
            <a:srgbClr val="FFFFFF"/>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正方形/長方形 97">
            <a:extLst>
              <a:ext uri="{FF2B5EF4-FFF2-40B4-BE49-F238E27FC236}">
                <a16:creationId xmlns:a16="http://schemas.microsoft.com/office/drawing/2014/main" id="{95C7806A-D7C1-21F5-C922-5DABEC697FD6}"/>
              </a:ext>
            </a:extLst>
          </p:cNvPr>
          <p:cNvSpPr/>
          <p:nvPr/>
        </p:nvSpPr>
        <p:spPr bwMode="auto">
          <a:xfrm>
            <a:off x="2332122" y="6186727"/>
            <a:ext cx="644560"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G450/AIR</a:t>
            </a:r>
          </a:p>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a:t>
            </a:r>
            <a:r>
              <a:rPr kumimoji="0" lang="en-US" altLang="ja-JP" sz="8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 ACD1,2</a:t>
            </a:r>
            <a:r>
              <a:rPr kumimoji="0" lang="ja-JP" altLang="en-US" sz="8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災対）</a:t>
            </a:r>
          </a:p>
        </p:txBody>
      </p:sp>
      <p:pic>
        <p:nvPicPr>
          <p:cNvPr id="99" name="Picture 13" descr="20">
            <a:extLst>
              <a:ext uri="{FF2B5EF4-FFF2-40B4-BE49-F238E27FC236}">
                <a16:creationId xmlns:a16="http://schemas.microsoft.com/office/drawing/2014/main" id="{D760E3C6-D82F-DC56-08D8-C1B1EEFB3DCA}"/>
              </a:ext>
            </a:extLst>
          </p:cNvPr>
          <p:cNvPicPr>
            <a:picLocks noChangeAspect="1" noChangeArrowheads="1"/>
          </p:cNvPicPr>
          <p:nvPr/>
        </p:nvPicPr>
        <p:blipFill>
          <a:blip r:embed="rId6" cstate="print">
            <a:duotone>
              <a:srgbClr val="80808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053404" y="6020827"/>
            <a:ext cx="795130" cy="60960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100" name="Text Box 117">
            <a:extLst>
              <a:ext uri="{FF2B5EF4-FFF2-40B4-BE49-F238E27FC236}">
                <a16:creationId xmlns:a16="http://schemas.microsoft.com/office/drawing/2014/main" id="{80FD5CE2-CFA1-0D63-C9FB-9DE2F9C1DB5C}"/>
              </a:ext>
            </a:extLst>
          </p:cNvPr>
          <p:cNvSpPr txBox="1">
            <a:spLocks noChangeAspect="1" noChangeArrowheads="1"/>
          </p:cNvSpPr>
          <p:nvPr/>
        </p:nvSpPr>
        <p:spPr bwMode="auto">
          <a:xfrm>
            <a:off x="1054976" y="6026581"/>
            <a:ext cx="793558" cy="609600"/>
          </a:xfrm>
          <a:prstGeom prst="rect">
            <a:avLst/>
          </a:prstGeom>
          <a:noFill/>
          <a:ln>
            <a:noFill/>
          </a:ln>
        </p:spPr>
        <p:txBody>
          <a:bodyPr wrap="none" lIns="54000" tIns="10800" rIns="54000" bIns="1080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電話回線</a:t>
            </a:r>
            <a:endParaRPr kumimoji="0" lang="en-US" altLang="ja-JP" sz="800" b="0" i="0" u="none" strike="noStrike" kern="0" cap="none" spc="0" normalizeH="0" baseline="0" noProof="0" dirty="0">
              <a:ln>
                <a:noFill/>
              </a:ln>
              <a:solidFill>
                <a:srgbClr val="FF0000"/>
              </a:solidFill>
              <a:effectLst/>
              <a:uLnTx/>
              <a:uFillTx/>
              <a:latin typeface="Meiryo UI"/>
              <a:ea typeface="Meiryo UI"/>
              <a:cs typeface="+mn-cs"/>
            </a:endParaRPr>
          </a:p>
          <a:p>
            <a:pPr marL="0" marR="0" lvl="0" indent="0" algn="ctr" defTabSz="914400" eaLnBrk="0" fontAlgn="auto" latinLnBrk="0" hangingPunct="0">
              <a:lnSpc>
                <a:spcPct val="100000"/>
              </a:lnSpc>
              <a:spcBef>
                <a:spcPts val="0"/>
              </a:spcBef>
              <a:spcAft>
                <a:spcPts val="0"/>
              </a:spcAft>
              <a:buClrTx/>
              <a:buSzTx/>
              <a:buFontTx/>
              <a:buNone/>
              <a:tabLst/>
              <a:defRPr sz="1000"/>
            </a:pP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a:t>
            </a:r>
            <a:r>
              <a:rPr kumimoji="0" lang="en-US" altLang="ja-JP" sz="800" b="0" i="0" u="none" strike="noStrike" kern="0" cap="none" spc="0" normalizeH="0" baseline="0" noProof="0" dirty="0">
                <a:ln>
                  <a:noFill/>
                </a:ln>
                <a:solidFill>
                  <a:srgbClr val="FF0000"/>
                </a:solidFill>
                <a:effectLst/>
                <a:uLnTx/>
                <a:uFillTx/>
                <a:latin typeface="Meiryo UI"/>
                <a:ea typeface="Meiryo UI"/>
                <a:cs typeface="+mn-cs"/>
              </a:rPr>
              <a:t>ACD1,2</a:t>
            </a:r>
            <a:r>
              <a:rPr kumimoji="0" lang="ja-JP" altLang="en-US" sz="800" b="0" i="0" u="none" strike="noStrike" kern="0" cap="none" spc="0" normalizeH="0" baseline="0" noProof="0" dirty="0">
                <a:ln>
                  <a:noFill/>
                </a:ln>
                <a:solidFill>
                  <a:srgbClr val="FF0000"/>
                </a:solidFill>
                <a:effectLst/>
                <a:uLnTx/>
                <a:uFillTx/>
                <a:latin typeface="Meiryo UI"/>
                <a:ea typeface="Meiryo UI"/>
                <a:cs typeface="+mn-cs"/>
              </a:rPr>
              <a:t>災対）</a:t>
            </a:r>
          </a:p>
        </p:txBody>
      </p:sp>
      <p:cxnSp>
        <p:nvCxnSpPr>
          <p:cNvPr id="101" name="直線コネクタ 100">
            <a:extLst>
              <a:ext uri="{FF2B5EF4-FFF2-40B4-BE49-F238E27FC236}">
                <a16:creationId xmlns:a16="http://schemas.microsoft.com/office/drawing/2014/main" id="{78FA6D2A-788C-1617-0923-E899453FBF0F}"/>
              </a:ext>
            </a:extLst>
          </p:cNvPr>
          <p:cNvCxnSpPr>
            <a:stCxn id="100" idx="3"/>
            <a:endCxn id="98" idx="1"/>
          </p:cNvCxnSpPr>
          <p:nvPr/>
        </p:nvCxnSpPr>
        <p:spPr bwMode="auto">
          <a:xfrm>
            <a:off x="1848534" y="6331381"/>
            <a:ext cx="483588" cy="2941"/>
          </a:xfrm>
          <a:prstGeom prst="line">
            <a:avLst/>
          </a:prstGeom>
          <a:solidFill>
            <a:srgbClr val="FFFFFF"/>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正方形/長方形 101">
            <a:extLst>
              <a:ext uri="{FF2B5EF4-FFF2-40B4-BE49-F238E27FC236}">
                <a16:creationId xmlns:a16="http://schemas.microsoft.com/office/drawing/2014/main" id="{B1098E7A-20E2-6BBD-C8F8-093003294336}"/>
              </a:ext>
            </a:extLst>
          </p:cNvPr>
          <p:cNvSpPr/>
          <p:nvPr/>
        </p:nvSpPr>
        <p:spPr bwMode="auto">
          <a:xfrm>
            <a:off x="6916536" y="6178433"/>
            <a:ext cx="514681"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Every</a:t>
            </a:r>
            <a:endPar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endParaRPr>
          </a:p>
        </p:txBody>
      </p:sp>
      <p:sp>
        <p:nvSpPr>
          <p:cNvPr id="103" name="正方形/長方形 102">
            <a:extLst>
              <a:ext uri="{FF2B5EF4-FFF2-40B4-BE49-F238E27FC236}">
                <a16:creationId xmlns:a16="http://schemas.microsoft.com/office/drawing/2014/main" id="{604A66B9-179A-C256-504D-6A3F575F351C}"/>
              </a:ext>
            </a:extLst>
          </p:cNvPr>
          <p:cNvSpPr/>
          <p:nvPr/>
        </p:nvSpPr>
        <p:spPr bwMode="auto">
          <a:xfrm>
            <a:off x="7507125" y="6176010"/>
            <a:ext cx="514681"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FF0000"/>
                </a:solidFill>
                <a:effectLst/>
                <a:uLnTx/>
                <a:uFillTx/>
                <a:latin typeface="Meiryo UI"/>
                <a:ea typeface="Meiryo UI"/>
                <a:cs typeface="Meiryo UI" panose="020B0604030504040204" pitchFamily="50" charset="-128"/>
              </a:rPr>
              <a:t>IP</a:t>
            </a:r>
            <a:r>
              <a:rPr kumimoji="0" lang="ja-JP" altLang="en-US" sz="900" b="0" i="0" u="none" strike="noStrike" kern="0" cap="none" spc="0" normalizeH="0" baseline="0" noProof="0">
                <a:ln>
                  <a:noFill/>
                </a:ln>
                <a:solidFill>
                  <a:srgbClr val="FF0000"/>
                </a:solidFill>
                <a:effectLst/>
                <a:uLnTx/>
                <a:uFillTx/>
                <a:latin typeface="Meiryo UI"/>
                <a:ea typeface="Meiryo UI"/>
                <a:cs typeface="Meiryo UI" panose="020B0604030504040204" pitchFamily="50" charset="-128"/>
              </a:rPr>
              <a:t>電話機</a:t>
            </a:r>
          </a:p>
        </p:txBody>
      </p:sp>
      <p:sp>
        <p:nvSpPr>
          <p:cNvPr id="104" name="正方形/長方形 103">
            <a:extLst>
              <a:ext uri="{FF2B5EF4-FFF2-40B4-BE49-F238E27FC236}">
                <a16:creationId xmlns:a16="http://schemas.microsoft.com/office/drawing/2014/main" id="{F8AAA645-8340-2FBB-1D9C-60CFFB80C225}"/>
              </a:ext>
            </a:extLst>
          </p:cNvPr>
          <p:cNvSpPr/>
          <p:nvPr/>
        </p:nvSpPr>
        <p:spPr bwMode="auto">
          <a:xfrm>
            <a:off x="6338026" y="6183299"/>
            <a:ext cx="514681"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IBIS</a:t>
            </a:r>
            <a:endPar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endParaRPr>
          </a:p>
        </p:txBody>
      </p:sp>
      <p:sp>
        <p:nvSpPr>
          <p:cNvPr id="105" name="正方形/長方形 104">
            <a:extLst>
              <a:ext uri="{FF2B5EF4-FFF2-40B4-BE49-F238E27FC236}">
                <a16:creationId xmlns:a16="http://schemas.microsoft.com/office/drawing/2014/main" id="{6688FAF0-7B80-13B9-4692-52711D06A293}"/>
              </a:ext>
            </a:extLst>
          </p:cNvPr>
          <p:cNvSpPr/>
          <p:nvPr/>
        </p:nvSpPr>
        <p:spPr bwMode="auto">
          <a:xfrm>
            <a:off x="5747509" y="6188330"/>
            <a:ext cx="514681"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ACE</a:t>
            </a:r>
            <a:endPar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endParaRPr>
          </a:p>
        </p:txBody>
      </p:sp>
      <p:sp>
        <p:nvSpPr>
          <p:cNvPr id="106" name="正方形/長方形 105">
            <a:extLst>
              <a:ext uri="{FF2B5EF4-FFF2-40B4-BE49-F238E27FC236}">
                <a16:creationId xmlns:a16="http://schemas.microsoft.com/office/drawing/2014/main" id="{CAEE1203-4167-1C5A-B907-3ED07073436F}"/>
              </a:ext>
            </a:extLst>
          </p:cNvPr>
          <p:cNvSpPr/>
          <p:nvPr/>
        </p:nvSpPr>
        <p:spPr bwMode="auto">
          <a:xfrm>
            <a:off x="5160246" y="6185310"/>
            <a:ext cx="514681" cy="295190"/>
          </a:xfrm>
          <a:prstGeom prst="rect">
            <a:avLst/>
          </a:prstGeom>
          <a:solidFill>
            <a:srgbClr val="FFFFFF"/>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0000"/>
                </a:solidFill>
                <a:effectLst/>
                <a:uLnTx/>
                <a:uFillTx/>
                <a:latin typeface="Meiryo UI"/>
                <a:ea typeface="Meiryo UI"/>
                <a:cs typeface="Meiryo UI" panose="020B0604030504040204" pitchFamily="50" charset="-128"/>
              </a:rPr>
              <a:t>延滞管理</a:t>
            </a:r>
          </a:p>
        </p:txBody>
      </p:sp>
      <p:sp>
        <p:nvSpPr>
          <p:cNvPr id="107" name="吹き出し: 角を丸めた四角形 106">
            <a:extLst>
              <a:ext uri="{FF2B5EF4-FFF2-40B4-BE49-F238E27FC236}">
                <a16:creationId xmlns:a16="http://schemas.microsoft.com/office/drawing/2014/main" id="{282D0827-3D59-AE0A-5F4F-BE5E2CAE1C9C}"/>
              </a:ext>
            </a:extLst>
          </p:cNvPr>
          <p:cNvSpPr/>
          <p:nvPr/>
        </p:nvSpPr>
        <p:spPr bwMode="auto">
          <a:xfrm>
            <a:off x="7421471" y="2584993"/>
            <a:ext cx="2395337" cy="807717"/>
          </a:xfrm>
          <a:prstGeom prst="wedgeRoundRectCallout">
            <a:avLst>
              <a:gd name="adj1" fmla="val -59006"/>
              <a:gd name="adj2" fmla="val -40833"/>
              <a:gd name="adj3" fmla="val 16667"/>
            </a:avLst>
          </a:prstGeom>
          <a:solidFill>
            <a:srgbClr val="FFFF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r>
              <a:rPr kumimoji="0" lang="ja-JP" altLang="en-US" sz="1100" b="1" i="0" u="sng" strike="noStrike" kern="0" cap="none" spc="0" normalizeH="0" baseline="0" noProof="0" dirty="0">
                <a:ln>
                  <a:noFill/>
                </a:ln>
                <a:solidFill>
                  <a:srgbClr val="FF0000"/>
                </a:solidFill>
                <a:effectLst/>
                <a:uLnTx/>
                <a:uFillTx/>
                <a:latin typeface="Meiryo UI"/>
                <a:ea typeface="Meiryo UI"/>
              </a:rPr>
              <a:t>電話機・</a:t>
            </a:r>
            <a:r>
              <a:rPr kumimoji="0" lang="en-US" altLang="ja-JP" sz="1100" b="1" i="0" u="sng" strike="noStrike" kern="0" cap="none" spc="0" normalizeH="0" baseline="0" noProof="0" dirty="0">
                <a:ln>
                  <a:noFill/>
                </a:ln>
                <a:solidFill>
                  <a:srgbClr val="FF0000"/>
                </a:solidFill>
                <a:effectLst/>
                <a:uLnTx/>
                <a:uFillTx/>
                <a:latin typeface="Meiryo UI"/>
                <a:ea typeface="Meiryo UI"/>
              </a:rPr>
              <a:t>CTI</a:t>
            </a:r>
            <a:r>
              <a:rPr kumimoji="0" lang="ja-JP" altLang="en-US" sz="1100" b="1" i="0" u="sng" strike="noStrike" kern="0" cap="none" spc="0" normalizeH="0" baseline="0" noProof="0" dirty="0">
                <a:ln>
                  <a:noFill/>
                </a:ln>
                <a:solidFill>
                  <a:srgbClr val="FF0000"/>
                </a:solidFill>
                <a:effectLst/>
                <a:uLnTx/>
                <a:uFillTx/>
                <a:latin typeface="Meiryo UI"/>
                <a:ea typeface="Meiryo UI"/>
              </a:rPr>
              <a:t>アプリを事前に配備し、</a:t>
            </a:r>
            <a:endParaRPr kumimoji="0" lang="en-US" altLang="ja-JP" sz="1100" b="1" i="0" u="sng" strike="noStrike" kern="0" cap="none" spc="0" normalizeH="0" baseline="0" noProof="0" dirty="0">
              <a:ln>
                <a:noFill/>
              </a:ln>
              <a:solidFill>
                <a:srgbClr val="FF0000"/>
              </a:solidFill>
              <a:effectLst/>
              <a:uLnTx/>
              <a:uFillTx/>
              <a:latin typeface="Meiryo UI"/>
              <a:ea typeface="Meiryo UI"/>
            </a:endParaRPr>
          </a:p>
          <a:p>
            <a:pPr marL="0" marR="0" lvl="0" indent="0" algn="just" defTabSz="742950" eaLnBrk="1" fontAlgn="auto" latinLnBrk="0" hangingPunct="1">
              <a:lnSpc>
                <a:spcPct val="100000"/>
              </a:lnSpc>
              <a:spcBef>
                <a:spcPts val="0"/>
              </a:spcBef>
              <a:spcAft>
                <a:spcPts val="0"/>
              </a:spcAft>
              <a:buClrTx/>
              <a:buSzTx/>
              <a:buFontTx/>
              <a:buNone/>
              <a:tabLst/>
              <a:defRPr/>
            </a:pPr>
            <a:r>
              <a:rPr kumimoji="0" lang="ja-JP" altLang="en-US" sz="1100" b="1" i="0" u="sng" strike="noStrike" kern="0" cap="none" spc="0" normalizeH="0" baseline="0" noProof="0" dirty="0">
                <a:ln>
                  <a:noFill/>
                </a:ln>
                <a:solidFill>
                  <a:srgbClr val="FF0000"/>
                </a:solidFill>
                <a:effectLst/>
                <a:uLnTx/>
                <a:uFillTx/>
                <a:latin typeface="Meiryo UI"/>
                <a:ea typeface="Meiryo UI"/>
              </a:rPr>
              <a:t>移行当日は回線切替のみとすることで</a:t>
            </a:r>
            <a:endParaRPr kumimoji="0" lang="en-US" altLang="ja-JP" sz="1100" b="1" i="0" u="sng" strike="noStrike" kern="0" cap="none" spc="0" normalizeH="0" baseline="0" noProof="0" dirty="0">
              <a:ln>
                <a:noFill/>
              </a:ln>
              <a:solidFill>
                <a:srgbClr val="FF0000"/>
              </a:solidFill>
              <a:effectLst/>
              <a:uLnTx/>
              <a:uFillTx/>
              <a:latin typeface="Meiryo UI"/>
              <a:ea typeface="Meiryo UI"/>
            </a:endParaRPr>
          </a:p>
          <a:p>
            <a:pPr marL="0" marR="0" lvl="0" indent="0" algn="just" defTabSz="742950" eaLnBrk="1" fontAlgn="auto" latinLnBrk="0" hangingPunct="1">
              <a:lnSpc>
                <a:spcPct val="100000"/>
              </a:lnSpc>
              <a:spcBef>
                <a:spcPts val="0"/>
              </a:spcBef>
              <a:spcAft>
                <a:spcPts val="0"/>
              </a:spcAft>
              <a:buClrTx/>
              <a:buSzTx/>
              <a:buFontTx/>
              <a:buNone/>
              <a:tabLst/>
              <a:defRPr/>
            </a:pPr>
            <a:r>
              <a:rPr kumimoji="0" lang="ja-JP" altLang="en-US" sz="1100" b="1" i="0" u="sng" strike="noStrike" kern="0" cap="none" spc="0" normalizeH="0" baseline="0" noProof="0" dirty="0">
                <a:ln>
                  <a:noFill/>
                </a:ln>
                <a:solidFill>
                  <a:srgbClr val="FF0000"/>
                </a:solidFill>
                <a:effectLst/>
                <a:uLnTx/>
                <a:uFillTx/>
                <a:latin typeface="Meiryo UI"/>
                <a:ea typeface="Meiryo UI"/>
              </a:rPr>
              <a:t>移行ショット数の削減を図る。</a:t>
            </a:r>
            <a:endParaRPr kumimoji="0" lang="en-US" altLang="ja-JP" sz="1100" b="1" i="0" u="sng" strike="noStrike" kern="0" cap="none" spc="0" normalizeH="0" baseline="0" noProof="0" dirty="0">
              <a:ln>
                <a:noFill/>
              </a:ln>
              <a:solidFill>
                <a:srgbClr val="FF0000"/>
              </a:solidFill>
              <a:effectLst/>
              <a:uLnTx/>
              <a:uFillTx/>
              <a:latin typeface="Meiryo UI"/>
              <a:ea typeface="Meiryo UI"/>
            </a:endParaRPr>
          </a:p>
          <a:p>
            <a:pPr marL="0" marR="0" lvl="0" indent="0" algn="just" defTabSz="742950" eaLnBrk="1" fontAlgn="auto" latinLnBrk="0" hangingPunct="1">
              <a:lnSpc>
                <a:spcPct val="100000"/>
              </a:lnSpc>
              <a:spcBef>
                <a:spcPts val="0"/>
              </a:spcBef>
              <a:spcAft>
                <a:spcPts val="0"/>
              </a:spcAft>
              <a:buClrTx/>
              <a:buSzTx/>
              <a:buFontTx/>
              <a:buNone/>
              <a:tabLst/>
              <a:defRPr/>
            </a:pPr>
            <a:r>
              <a:rPr kumimoji="0" lang="en-US" altLang="ja-JP" sz="1100" b="1" i="0" u="sng" strike="noStrike" kern="0" cap="none" spc="0" normalizeH="0" baseline="0" noProof="0" dirty="0">
                <a:ln>
                  <a:noFill/>
                </a:ln>
                <a:solidFill>
                  <a:srgbClr val="FF0000"/>
                </a:solidFill>
                <a:effectLst/>
                <a:uLnTx/>
                <a:uFillTx/>
                <a:latin typeface="Meiryo UI"/>
                <a:ea typeface="Meiryo UI"/>
              </a:rPr>
              <a:t>※</a:t>
            </a:r>
            <a:r>
              <a:rPr kumimoji="0" lang="ja-JP" altLang="en-US" sz="1100" b="1" i="0" u="sng" strike="noStrike" kern="0" cap="none" spc="0" normalizeH="0" baseline="0" noProof="0" dirty="0">
                <a:ln>
                  <a:noFill/>
                </a:ln>
                <a:solidFill>
                  <a:srgbClr val="FF0000"/>
                </a:solidFill>
                <a:effectLst/>
                <a:uLnTx/>
                <a:uFillTx/>
                <a:latin typeface="Meiryo UI"/>
                <a:ea typeface="Meiryo UI"/>
              </a:rPr>
              <a:t>詳細は次ページ参照</a:t>
            </a:r>
          </a:p>
        </p:txBody>
      </p:sp>
      <p:sp>
        <p:nvSpPr>
          <p:cNvPr id="108" name="矢印: 下 107">
            <a:extLst>
              <a:ext uri="{FF2B5EF4-FFF2-40B4-BE49-F238E27FC236}">
                <a16:creationId xmlns:a16="http://schemas.microsoft.com/office/drawing/2014/main" id="{D00509A4-87ED-5B78-CB35-8C66D2B72FAC}"/>
              </a:ext>
            </a:extLst>
          </p:cNvPr>
          <p:cNvSpPr/>
          <p:nvPr/>
        </p:nvSpPr>
        <p:spPr bwMode="auto">
          <a:xfrm>
            <a:off x="5378172" y="2392502"/>
            <a:ext cx="304168" cy="295190"/>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109" name="矢印: 下 108">
            <a:extLst>
              <a:ext uri="{FF2B5EF4-FFF2-40B4-BE49-F238E27FC236}">
                <a16:creationId xmlns:a16="http://schemas.microsoft.com/office/drawing/2014/main" id="{13A6FB2E-3AC9-B027-474B-A778FCC7D4B5}"/>
              </a:ext>
            </a:extLst>
          </p:cNvPr>
          <p:cNvSpPr/>
          <p:nvPr/>
        </p:nvSpPr>
        <p:spPr bwMode="auto">
          <a:xfrm>
            <a:off x="6110106" y="4120683"/>
            <a:ext cx="304168" cy="295190"/>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110" name="矢印: 下 109">
            <a:extLst>
              <a:ext uri="{FF2B5EF4-FFF2-40B4-BE49-F238E27FC236}">
                <a16:creationId xmlns:a16="http://schemas.microsoft.com/office/drawing/2014/main" id="{DB74A88A-BB9A-3C38-FDD7-280BC97DAB05}"/>
              </a:ext>
            </a:extLst>
          </p:cNvPr>
          <p:cNvSpPr/>
          <p:nvPr/>
        </p:nvSpPr>
        <p:spPr bwMode="auto">
          <a:xfrm>
            <a:off x="6443282" y="5823056"/>
            <a:ext cx="304168" cy="295190"/>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112" name="矢印: 下 111">
            <a:extLst>
              <a:ext uri="{FF2B5EF4-FFF2-40B4-BE49-F238E27FC236}">
                <a16:creationId xmlns:a16="http://schemas.microsoft.com/office/drawing/2014/main" id="{97457742-746D-C3EE-4684-62250E65A33F}"/>
              </a:ext>
            </a:extLst>
          </p:cNvPr>
          <p:cNvSpPr/>
          <p:nvPr/>
        </p:nvSpPr>
        <p:spPr bwMode="auto">
          <a:xfrm>
            <a:off x="6091782" y="2398327"/>
            <a:ext cx="304168" cy="295190"/>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113" name="矢印: 下 112">
            <a:extLst>
              <a:ext uri="{FF2B5EF4-FFF2-40B4-BE49-F238E27FC236}">
                <a16:creationId xmlns:a16="http://schemas.microsoft.com/office/drawing/2014/main" id="{5D24A159-4437-2558-3D33-8A5F614F07D9}"/>
              </a:ext>
            </a:extLst>
          </p:cNvPr>
          <p:cNvSpPr/>
          <p:nvPr/>
        </p:nvSpPr>
        <p:spPr bwMode="auto">
          <a:xfrm>
            <a:off x="6805392" y="2398327"/>
            <a:ext cx="304168" cy="295190"/>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114" name="矢印: 下 113">
            <a:extLst>
              <a:ext uri="{FF2B5EF4-FFF2-40B4-BE49-F238E27FC236}">
                <a16:creationId xmlns:a16="http://schemas.microsoft.com/office/drawing/2014/main" id="{967AB987-6A80-9964-277B-EA0132F63F90}"/>
              </a:ext>
            </a:extLst>
          </p:cNvPr>
          <p:cNvSpPr/>
          <p:nvPr/>
        </p:nvSpPr>
        <p:spPr bwMode="auto">
          <a:xfrm>
            <a:off x="6818315" y="4118800"/>
            <a:ext cx="304168" cy="295190"/>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115" name="矢印: 下 114">
            <a:extLst>
              <a:ext uri="{FF2B5EF4-FFF2-40B4-BE49-F238E27FC236}">
                <a16:creationId xmlns:a16="http://schemas.microsoft.com/office/drawing/2014/main" id="{859ABD7E-852D-3958-43CA-317A2D48BBE8}"/>
              </a:ext>
            </a:extLst>
          </p:cNvPr>
          <p:cNvSpPr/>
          <p:nvPr/>
        </p:nvSpPr>
        <p:spPr bwMode="auto">
          <a:xfrm>
            <a:off x="7537290" y="4118800"/>
            <a:ext cx="304168" cy="295190"/>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116" name="矢印: 下 115">
            <a:extLst>
              <a:ext uri="{FF2B5EF4-FFF2-40B4-BE49-F238E27FC236}">
                <a16:creationId xmlns:a16="http://schemas.microsoft.com/office/drawing/2014/main" id="{EA822FB7-42B9-87BB-6880-2766CB41659A}"/>
              </a:ext>
            </a:extLst>
          </p:cNvPr>
          <p:cNvSpPr/>
          <p:nvPr/>
        </p:nvSpPr>
        <p:spPr bwMode="auto">
          <a:xfrm>
            <a:off x="7021792" y="5823056"/>
            <a:ext cx="304168" cy="295190"/>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117" name="矢印: 下 116">
            <a:extLst>
              <a:ext uri="{FF2B5EF4-FFF2-40B4-BE49-F238E27FC236}">
                <a16:creationId xmlns:a16="http://schemas.microsoft.com/office/drawing/2014/main" id="{96CF1BC2-72FE-130B-842A-20D2A0C90A1B}"/>
              </a:ext>
            </a:extLst>
          </p:cNvPr>
          <p:cNvSpPr/>
          <p:nvPr/>
        </p:nvSpPr>
        <p:spPr bwMode="auto">
          <a:xfrm>
            <a:off x="7612381" y="5814822"/>
            <a:ext cx="304168" cy="295190"/>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118" name="矢印: 下 117">
            <a:extLst>
              <a:ext uri="{FF2B5EF4-FFF2-40B4-BE49-F238E27FC236}">
                <a16:creationId xmlns:a16="http://schemas.microsoft.com/office/drawing/2014/main" id="{E7352867-C716-9EC7-77FB-49C21D95020F}"/>
              </a:ext>
            </a:extLst>
          </p:cNvPr>
          <p:cNvSpPr/>
          <p:nvPr/>
        </p:nvSpPr>
        <p:spPr bwMode="auto">
          <a:xfrm>
            <a:off x="5853425" y="5823056"/>
            <a:ext cx="304168" cy="295190"/>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119" name="矢印: 下 118">
            <a:extLst>
              <a:ext uri="{FF2B5EF4-FFF2-40B4-BE49-F238E27FC236}">
                <a16:creationId xmlns:a16="http://schemas.microsoft.com/office/drawing/2014/main" id="{FCEBDE56-3072-9615-B4EB-AF77E1397BC9}"/>
              </a:ext>
            </a:extLst>
          </p:cNvPr>
          <p:cNvSpPr/>
          <p:nvPr/>
        </p:nvSpPr>
        <p:spPr bwMode="auto">
          <a:xfrm>
            <a:off x="5282961" y="5822906"/>
            <a:ext cx="304168" cy="295190"/>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dirty="0">
              <a:ln>
                <a:noFill/>
              </a:ln>
              <a:solidFill>
                <a:srgbClr val="292929"/>
              </a:solidFill>
              <a:effectLst/>
              <a:uLnTx/>
              <a:uFillTx/>
              <a:latin typeface="Meiryo UI"/>
              <a:ea typeface="Meiryo UI"/>
              <a:cs typeface="Meiryo UI" panose="020B0604030504040204" pitchFamily="50" charset="-128"/>
            </a:endParaRPr>
          </a:p>
        </p:txBody>
      </p:sp>
      <p:sp>
        <p:nvSpPr>
          <p:cNvPr id="81" name="吹き出し: 角を丸めた四角形 80">
            <a:extLst>
              <a:ext uri="{FF2B5EF4-FFF2-40B4-BE49-F238E27FC236}">
                <a16:creationId xmlns:a16="http://schemas.microsoft.com/office/drawing/2014/main" id="{036876E6-D171-2113-78D7-7158FD1286DF}"/>
              </a:ext>
            </a:extLst>
          </p:cNvPr>
          <p:cNvSpPr/>
          <p:nvPr/>
        </p:nvSpPr>
        <p:spPr bwMode="auto">
          <a:xfrm>
            <a:off x="323312" y="3817818"/>
            <a:ext cx="1637228" cy="539212"/>
          </a:xfrm>
          <a:prstGeom prst="wedgeRoundRectCallout">
            <a:avLst>
              <a:gd name="adj1" fmla="val 67347"/>
              <a:gd name="adj2" fmla="val -42342"/>
              <a:gd name="adj3" fmla="val 16667"/>
            </a:avLst>
          </a:prstGeom>
          <a:solidFill>
            <a:srgbClr val="FFFF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just" defTabSz="742950" eaLnBrk="1" fontAlgn="auto" latinLnBrk="0" hangingPunct="1">
              <a:lnSpc>
                <a:spcPct val="100000"/>
              </a:lnSpc>
              <a:spcBef>
                <a:spcPts val="0"/>
              </a:spcBef>
              <a:spcAft>
                <a:spcPts val="0"/>
              </a:spcAft>
              <a:buClrTx/>
              <a:buSzTx/>
              <a:buFontTx/>
              <a:buNone/>
              <a:tabLst/>
              <a:defRPr/>
            </a:pPr>
            <a:r>
              <a:rPr kumimoji="0" lang="en-US" altLang="ja-JP" sz="1100" b="1" i="0" u="sng" strike="noStrike" kern="0" cap="none" spc="0" normalizeH="0" baseline="0" noProof="0" dirty="0">
                <a:ln>
                  <a:noFill/>
                </a:ln>
                <a:solidFill>
                  <a:srgbClr val="FF0000"/>
                </a:solidFill>
                <a:effectLst/>
                <a:uLnTx/>
                <a:uFillTx/>
                <a:latin typeface="Meiryo UI"/>
                <a:ea typeface="Meiryo UI"/>
              </a:rPr>
              <a:t>【SMCC】</a:t>
            </a:r>
          </a:p>
          <a:p>
            <a:pPr marL="0" marR="0" lvl="0" indent="0" algn="just" defTabSz="742950" eaLnBrk="1" fontAlgn="auto" latinLnBrk="0" hangingPunct="1">
              <a:lnSpc>
                <a:spcPct val="100000"/>
              </a:lnSpc>
              <a:spcBef>
                <a:spcPts val="0"/>
              </a:spcBef>
              <a:spcAft>
                <a:spcPts val="0"/>
              </a:spcAft>
              <a:buClrTx/>
              <a:buSzTx/>
              <a:buFontTx/>
              <a:buNone/>
              <a:tabLst/>
              <a:defRPr/>
            </a:pPr>
            <a:r>
              <a:rPr kumimoji="0" lang="ja-JP" altLang="en-US" sz="1100" i="0" strike="noStrike" kern="0" cap="none" spc="0" normalizeH="0" baseline="0" noProof="0" dirty="0">
                <a:ln>
                  <a:noFill/>
                </a:ln>
                <a:solidFill>
                  <a:srgbClr val="FF0000"/>
                </a:solidFill>
                <a:effectLst/>
                <a:uLnTx/>
                <a:uFillTx/>
                <a:latin typeface="Meiryo UI"/>
                <a:ea typeface="Meiryo UI"/>
              </a:rPr>
              <a:t>　</a:t>
            </a:r>
            <a:r>
              <a:rPr kumimoji="0" lang="ja-JP" altLang="en-US" sz="1100" b="1" i="0" u="sng" strike="noStrike" kern="0" cap="none" spc="0" normalizeH="0" baseline="0" noProof="0" dirty="0">
                <a:ln>
                  <a:noFill/>
                </a:ln>
                <a:solidFill>
                  <a:srgbClr val="FF0000"/>
                </a:solidFill>
                <a:effectLst/>
                <a:uLnTx/>
                <a:uFillTx/>
                <a:latin typeface="Meiryo UI"/>
                <a:ea typeface="Meiryo UI"/>
              </a:rPr>
              <a:t>電話回線を</a:t>
            </a:r>
            <a:r>
              <a:rPr kumimoji="0" lang="en-US" altLang="ja-JP" sz="1100" b="1" i="0" u="sng" strike="noStrike" kern="0" cap="none" spc="0" normalizeH="0" baseline="0" noProof="0" dirty="0">
                <a:ln>
                  <a:noFill/>
                </a:ln>
                <a:solidFill>
                  <a:srgbClr val="FF0000"/>
                </a:solidFill>
                <a:effectLst/>
                <a:uLnTx/>
                <a:uFillTx/>
                <a:latin typeface="Meiryo UI"/>
                <a:ea typeface="Meiryo UI"/>
              </a:rPr>
              <a:t>DC</a:t>
            </a:r>
            <a:r>
              <a:rPr kumimoji="0" lang="ja-JP" altLang="en-US" sz="1100" b="1" i="0" u="sng" strike="noStrike" kern="0" cap="none" spc="0" normalizeH="0" baseline="0" noProof="0" dirty="0">
                <a:ln>
                  <a:noFill/>
                </a:ln>
                <a:solidFill>
                  <a:srgbClr val="FF0000"/>
                </a:solidFill>
                <a:effectLst/>
                <a:uLnTx/>
                <a:uFillTx/>
                <a:latin typeface="Meiryo UI"/>
                <a:ea typeface="Meiryo UI"/>
              </a:rPr>
              <a:t>に集約</a:t>
            </a:r>
          </a:p>
        </p:txBody>
      </p:sp>
    </p:spTree>
    <p:extLst>
      <p:ext uri="{BB962C8B-B14F-4D97-AF65-F5344CB8AC3E}">
        <p14:creationId xmlns:p14="http://schemas.microsoft.com/office/powerpoint/2010/main" val="1328850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BEF99AF-2EAD-0A62-2133-4A486A05689A}"/>
              </a:ext>
            </a:extLst>
          </p:cNvPr>
          <p:cNvSpPr>
            <a:spLocks noGrp="1"/>
          </p:cNvSpPr>
          <p:nvPr>
            <p:ph type="body" sz="quarter" idx="12"/>
          </p:nvPr>
        </p:nvSpPr>
        <p:spPr/>
        <p:txBody>
          <a:bodyPr/>
          <a:lstStyle/>
          <a:p>
            <a:r>
              <a:rPr lang="ja-JP" altLang="en-US" dirty="0"/>
              <a:t>事前に次期用の設備（電話機・</a:t>
            </a:r>
            <a:r>
              <a:rPr lang="en-US" altLang="ja-JP" dirty="0"/>
              <a:t>CTI</a:t>
            </a:r>
            <a:r>
              <a:rPr lang="ja-JP" altLang="en-US" dirty="0"/>
              <a:t>アプリ）を配備することで当日移行の切替作業を削減し、移行ショット数の削減を検討。</a:t>
            </a:r>
            <a:endParaRPr lang="en-US" altLang="ja-JP" dirty="0"/>
          </a:p>
          <a:p>
            <a:r>
              <a:rPr lang="ja-JP" altLang="en-US" sz="1400" dirty="0">
                <a:latin typeface="+mn-ea"/>
                <a:ea typeface="+mn-ea"/>
              </a:rPr>
              <a:t>案１（</a:t>
            </a:r>
            <a:r>
              <a:rPr lang="en-US" altLang="ja-JP" sz="1400" dirty="0">
                <a:latin typeface="+mn-ea"/>
                <a:ea typeface="+mn-ea"/>
              </a:rPr>
              <a:t>ACD</a:t>
            </a:r>
            <a:r>
              <a:rPr lang="ja-JP" altLang="en-US" sz="1400" dirty="0">
                <a:latin typeface="+mn-ea"/>
                <a:ea typeface="+mn-ea"/>
              </a:rPr>
              <a:t>単位）、案２（業務単位）に移行方式については現行・次期間の過渡期対応が不要となる。</a:t>
            </a:r>
            <a:endParaRPr lang="en-US" altLang="ja-JP" sz="1400" dirty="0">
              <a:latin typeface="+mn-ea"/>
              <a:ea typeface="+mn-ea"/>
            </a:endParaRPr>
          </a:p>
          <a:p>
            <a:pPr marL="0" indent="0">
              <a:buNone/>
            </a:pPr>
            <a:endParaRPr lang="en-US" altLang="ja-JP" dirty="0"/>
          </a:p>
        </p:txBody>
      </p:sp>
      <p:sp>
        <p:nvSpPr>
          <p:cNvPr id="4" name="テキスト プレースホルダー 3">
            <a:extLst>
              <a:ext uri="{FF2B5EF4-FFF2-40B4-BE49-F238E27FC236}">
                <a16:creationId xmlns:a16="http://schemas.microsoft.com/office/drawing/2014/main" id="{F6536C54-0312-ECFE-C2CF-8FD2446308D9}"/>
              </a:ext>
            </a:extLst>
          </p:cNvPr>
          <p:cNvSpPr>
            <a:spLocks noGrp="1"/>
          </p:cNvSpPr>
          <p:nvPr>
            <p:ph type="body" sz="quarter" idx="17"/>
          </p:nvPr>
        </p:nvSpPr>
        <p:spPr/>
        <p:txBody>
          <a:bodyPr/>
          <a:lstStyle/>
          <a:p>
            <a:endParaRPr lang="ja-JP" altLang="en-US"/>
          </a:p>
        </p:txBody>
      </p:sp>
      <p:sp>
        <p:nvSpPr>
          <p:cNvPr id="5" name="テキスト プレースホルダー 4">
            <a:extLst>
              <a:ext uri="{FF2B5EF4-FFF2-40B4-BE49-F238E27FC236}">
                <a16:creationId xmlns:a16="http://schemas.microsoft.com/office/drawing/2014/main" id="{BC8A28FE-E44F-03C5-891A-D2A362E0D94D}"/>
              </a:ext>
            </a:extLst>
          </p:cNvPr>
          <p:cNvSpPr>
            <a:spLocks noGrp="1"/>
          </p:cNvSpPr>
          <p:nvPr>
            <p:ph type="body" sz="quarter" idx="18"/>
          </p:nvPr>
        </p:nvSpPr>
        <p:spPr/>
        <p:txBody>
          <a:bodyPr/>
          <a:lstStyle/>
          <a:p>
            <a:endParaRPr lang="ja-JP" altLang="en-US"/>
          </a:p>
        </p:txBody>
      </p:sp>
      <p:sp>
        <p:nvSpPr>
          <p:cNvPr id="6" name="タイトル 5">
            <a:extLst>
              <a:ext uri="{FF2B5EF4-FFF2-40B4-BE49-F238E27FC236}">
                <a16:creationId xmlns:a16="http://schemas.microsoft.com/office/drawing/2014/main" id="{9A956497-1446-C34E-1726-F3FBFF4521A8}"/>
              </a:ext>
            </a:extLst>
          </p:cNvPr>
          <p:cNvSpPr>
            <a:spLocks noGrp="1"/>
          </p:cNvSpPr>
          <p:nvPr>
            <p:ph type="title"/>
          </p:nvPr>
        </p:nvSpPr>
        <p:spPr/>
        <p:txBody>
          <a:bodyPr/>
          <a:lstStyle/>
          <a:p>
            <a:r>
              <a:rPr lang="en-US" altLang="ja-JP" dirty="0"/>
              <a:t>【</a:t>
            </a:r>
            <a:r>
              <a:rPr lang="ja-JP" altLang="en-US" dirty="0"/>
              <a:t>参考②</a:t>
            </a:r>
            <a:r>
              <a:rPr lang="en-US" altLang="ja-JP" dirty="0"/>
              <a:t>】</a:t>
            </a:r>
            <a:r>
              <a:rPr lang="ja-JP" altLang="en-US" dirty="0"/>
              <a:t>移行ショット数の削減</a:t>
            </a:r>
          </a:p>
        </p:txBody>
      </p:sp>
      <p:graphicFrame>
        <p:nvGraphicFramePr>
          <p:cNvPr id="2" name="表 1">
            <a:extLst>
              <a:ext uri="{FF2B5EF4-FFF2-40B4-BE49-F238E27FC236}">
                <a16:creationId xmlns:a16="http://schemas.microsoft.com/office/drawing/2014/main" id="{AB1F0094-0289-B5D8-A3C8-BB155566F248}"/>
              </a:ext>
            </a:extLst>
          </p:cNvPr>
          <p:cNvGraphicFramePr>
            <a:graphicFrameLocks noGrp="1"/>
          </p:cNvGraphicFramePr>
          <p:nvPr/>
        </p:nvGraphicFramePr>
        <p:xfrm>
          <a:off x="111982" y="1323392"/>
          <a:ext cx="9629019" cy="4994708"/>
        </p:xfrm>
        <a:graphic>
          <a:graphicData uri="http://schemas.openxmlformats.org/drawingml/2006/table">
            <a:tbl>
              <a:tblPr firstRow="1" bandRow="1">
                <a:tableStyleId>{5C22544A-7EE6-4342-B048-85BDC9FD1C3A}</a:tableStyleId>
              </a:tblPr>
              <a:tblGrid>
                <a:gridCol w="522807">
                  <a:extLst>
                    <a:ext uri="{9D8B030D-6E8A-4147-A177-3AD203B41FA5}">
                      <a16:colId xmlns:a16="http://schemas.microsoft.com/office/drawing/2014/main" val="116094207"/>
                    </a:ext>
                  </a:extLst>
                </a:gridCol>
                <a:gridCol w="551663">
                  <a:extLst>
                    <a:ext uri="{9D8B030D-6E8A-4147-A177-3AD203B41FA5}">
                      <a16:colId xmlns:a16="http://schemas.microsoft.com/office/drawing/2014/main" val="3322080614"/>
                    </a:ext>
                  </a:extLst>
                </a:gridCol>
                <a:gridCol w="2615928">
                  <a:extLst>
                    <a:ext uri="{9D8B030D-6E8A-4147-A177-3AD203B41FA5}">
                      <a16:colId xmlns:a16="http://schemas.microsoft.com/office/drawing/2014/main" val="640390301"/>
                    </a:ext>
                  </a:extLst>
                </a:gridCol>
                <a:gridCol w="495300">
                  <a:extLst>
                    <a:ext uri="{9D8B030D-6E8A-4147-A177-3AD203B41FA5}">
                      <a16:colId xmlns:a16="http://schemas.microsoft.com/office/drawing/2014/main" val="1621574184"/>
                    </a:ext>
                  </a:extLst>
                </a:gridCol>
                <a:gridCol w="2407920">
                  <a:extLst>
                    <a:ext uri="{9D8B030D-6E8A-4147-A177-3AD203B41FA5}">
                      <a16:colId xmlns:a16="http://schemas.microsoft.com/office/drawing/2014/main" val="3707754320"/>
                    </a:ext>
                  </a:extLst>
                </a:gridCol>
                <a:gridCol w="594360">
                  <a:extLst>
                    <a:ext uri="{9D8B030D-6E8A-4147-A177-3AD203B41FA5}">
                      <a16:colId xmlns:a16="http://schemas.microsoft.com/office/drawing/2014/main" val="3915138592"/>
                    </a:ext>
                  </a:extLst>
                </a:gridCol>
                <a:gridCol w="2441041">
                  <a:extLst>
                    <a:ext uri="{9D8B030D-6E8A-4147-A177-3AD203B41FA5}">
                      <a16:colId xmlns:a16="http://schemas.microsoft.com/office/drawing/2014/main" val="2187409085"/>
                    </a:ext>
                  </a:extLst>
                </a:gridCol>
              </a:tblGrid>
              <a:tr h="170565">
                <a:tc>
                  <a:txBody>
                    <a:bodyPr/>
                    <a:lstStyle/>
                    <a:p>
                      <a:pPr algn="ct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gridSpan="2">
                  <a:txBody>
                    <a:bodyPr/>
                    <a:lstStyle/>
                    <a:p>
                      <a:pPr algn="ctr"/>
                      <a:r>
                        <a:rPr kumimoji="1" lang="ja-JP" altLang="en-US" sz="11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前回更改時</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tc gridSpan="2">
                  <a:txBody>
                    <a:bodyPr/>
                    <a:lstStyle/>
                    <a:p>
                      <a:pPr algn="ctr"/>
                      <a:r>
                        <a:rPr kumimoji="1" lang="ja-JP" altLang="en-US" sz="11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案１</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tc gridSpan="2">
                  <a:txBody>
                    <a:bodyPr/>
                    <a:lstStyle/>
                    <a:p>
                      <a:pPr algn="ctr"/>
                      <a:r>
                        <a:rPr kumimoji="1" lang="ja-JP" altLang="en-US" sz="11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案２</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extLst>
                  <a:ext uri="{0D108BD9-81ED-4DB2-BD59-A6C34878D82A}">
                    <a16:rowId xmlns:a16="http://schemas.microsoft.com/office/drawing/2014/main" val="175094704"/>
                  </a:ext>
                </a:extLst>
              </a:tr>
              <a:tr h="2424128">
                <a:tc>
                  <a:txBody>
                    <a:bodyPr/>
                    <a:lstStyle/>
                    <a:p>
                      <a:pPr algn="l"/>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構成</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algn="r"/>
                      <a:endPar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r"/>
                      <a:endPar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2395498616"/>
                  </a:ext>
                </a:extLst>
              </a:tr>
              <a:tr h="342900">
                <a:tc>
                  <a:txBody>
                    <a:bodyPr/>
                    <a:lstStyle/>
                    <a:p>
                      <a:pPr algn="l"/>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運用</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品質</a:t>
                      </a:r>
                      <a:endParaRPr kumimoji="1" lang="en-US" altLang="ja-JP" sz="105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・分散して移行を行うため移行リスクは最小</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・当日移行作業は電話番号切替のみにすることでリスク低減可</a:t>
                      </a:r>
                    </a:p>
                  </a:txBody>
                  <a:tcPr marL="9000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・当日移行作業は電話番号切替のみにすることでリスク低減可</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9366505"/>
                  </a:ext>
                </a:extLst>
              </a:tr>
              <a:tr h="294540">
                <a:tc>
                  <a:txBody>
                    <a:bodyPr/>
                    <a:lstStyle/>
                    <a:p>
                      <a:pPr algn="l"/>
                      <a:r>
                        <a:rPr kumimoji="1" lang="ja-JP" altLang="en-US" sz="1000" b="1" dirty="0">
                          <a:latin typeface="Meiryo UI" panose="020B0604030504040204" pitchFamily="50" charset="-128"/>
                          <a:ea typeface="Meiryo UI" panose="020B0604030504040204" pitchFamily="50" charset="-128"/>
                          <a:cs typeface="Meiryo UI" panose="020B0604030504040204" pitchFamily="50" charset="-128"/>
                        </a:rPr>
                        <a:t>移行</a:t>
                      </a:r>
                      <a:endParaRPr kumimoji="1" lang="en-US" altLang="ja-JP" sz="1000" b="1" dirty="0">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dirty="0">
                          <a:latin typeface="Meiryo UI" panose="020B0604030504040204" pitchFamily="50" charset="-128"/>
                          <a:ea typeface="Meiryo UI" panose="020B0604030504040204" pitchFamily="50" charset="-128"/>
                          <a:cs typeface="Meiryo UI" panose="020B0604030504040204" pitchFamily="50" charset="-128"/>
                        </a:rPr>
                        <a:t>コスト</a:t>
                      </a:r>
                      <a:endParaRPr kumimoji="1" lang="en-US" altLang="ja-JP" sz="100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en-US" altLang="ja-JP"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・拠点かつ業務単位で移行ショット（</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15</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ショット）を分割するため、移行ショット数が増加し、コストが増加</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移行コスト</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】262.8M</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ACD</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単位で移行ショット数（</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ショット）を最小限に抑えるため、コストが最小</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・移行ショット数単位に対象電話機の台数が多くなるが、転用により購入台数を削減可</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移行コスト</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】221.2M</a:t>
                      </a:r>
                    </a:p>
                    <a:p>
                      <a:pPr algn="l"/>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・業務単位で移行ショット数（</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ショット）を抑えるため、コストは案１より高い</a:t>
                      </a: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・移行ショット数単位に対象電話機の台数が多くなるが、転用により購入台数を削減可</a:t>
                      </a:r>
                    </a:p>
                    <a:p>
                      <a:pPr algn="l"/>
                      <a:endPar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移行コスト</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】239.2M</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5829938"/>
                  </a:ext>
                </a:extLst>
              </a:tr>
              <a:tr h="199680">
                <a:tc>
                  <a:txBody>
                    <a:bodyPr/>
                    <a:lstStyle/>
                    <a:p>
                      <a:pPr algn="l"/>
                      <a:r>
                        <a:rPr kumimoji="1" lang="ja-JP" altLang="en-US" sz="1000" b="1" dirty="0">
                          <a:latin typeface="Meiryo UI" panose="020B0604030504040204" pitchFamily="50" charset="-128"/>
                          <a:ea typeface="Meiryo UI" panose="020B0604030504040204" pitchFamily="50" charset="-128"/>
                          <a:cs typeface="Meiryo UI" panose="020B0604030504040204" pitchFamily="50" charset="-128"/>
                        </a:rPr>
                        <a:t>業務</a:t>
                      </a:r>
                      <a:endParaRPr kumimoji="1" lang="en-US" altLang="ja-JP" sz="1000" b="1" dirty="0">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dirty="0">
                          <a:latin typeface="Meiryo UI" panose="020B0604030504040204" pitchFamily="50" charset="-128"/>
                          <a:ea typeface="Meiryo UI" panose="020B0604030504040204" pitchFamily="50" charset="-128"/>
                          <a:cs typeface="Meiryo UI" panose="020B0604030504040204" pitchFamily="50" charset="-128"/>
                        </a:rPr>
                        <a:t>制約</a:t>
                      </a:r>
                      <a:endParaRPr kumimoji="1" lang="en-US" altLang="ja-JP" sz="100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en-US" altLang="ja-JP"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・移行過渡期の状態が長く続くため、業務制約期間が長くなる</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・現行</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次期の連携により移行コストが増加</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・移行過渡期のユーザ制約が発生するが移行期間が短いため問題なし</a:t>
                      </a:r>
                    </a:p>
                  </a:txBody>
                  <a:tcPr marL="9000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・移行過渡期のユーザ制約が発生</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949321"/>
                  </a:ext>
                </a:extLst>
              </a:tr>
            </a:tbl>
          </a:graphicData>
        </a:graphic>
      </p:graphicFrame>
      <p:sp>
        <p:nvSpPr>
          <p:cNvPr id="125" name="正方形/長方形 124">
            <a:extLst>
              <a:ext uri="{FF2B5EF4-FFF2-40B4-BE49-F238E27FC236}">
                <a16:creationId xmlns:a16="http://schemas.microsoft.com/office/drawing/2014/main" id="{DD162C26-94C3-C814-6E89-3D3583304D81}"/>
              </a:ext>
            </a:extLst>
          </p:cNvPr>
          <p:cNvSpPr/>
          <p:nvPr/>
        </p:nvSpPr>
        <p:spPr bwMode="auto">
          <a:xfrm>
            <a:off x="1156927" y="2033202"/>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ACD1</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27" name="Graphic 78" descr="Corporate data center group icon. ">
            <a:extLst>
              <a:ext uri="{FF2B5EF4-FFF2-40B4-BE49-F238E27FC236}">
                <a16:creationId xmlns:a16="http://schemas.microsoft.com/office/drawing/2014/main" id="{52B2305E-9C3C-5B5E-BF68-C34A7ACA063A}"/>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62232" y="1739674"/>
            <a:ext cx="296619" cy="277548"/>
          </a:xfrm>
          <a:prstGeom prst="rect">
            <a:avLst/>
          </a:prstGeom>
        </p:spPr>
      </p:pic>
      <p:sp>
        <p:nvSpPr>
          <p:cNvPr id="128" name="Rectangle 77">
            <a:extLst>
              <a:ext uri="{FF2B5EF4-FFF2-40B4-BE49-F238E27FC236}">
                <a16:creationId xmlns:a16="http://schemas.microsoft.com/office/drawing/2014/main" id="{A9ADE816-7E0A-ADDD-EE80-666BAC97F8EC}"/>
              </a:ext>
            </a:extLst>
          </p:cNvPr>
          <p:cNvSpPr/>
          <p:nvPr/>
        </p:nvSpPr>
        <p:spPr>
          <a:xfrm>
            <a:off x="869557" y="1737339"/>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鰻谷</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29" name="正方形/長方形 128">
            <a:extLst>
              <a:ext uri="{FF2B5EF4-FFF2-40B4-BE49-F238E27FC236}">
                <a16:creationId xmlns:a16="http://schemas.microsoft.com/office/drawing/2014/main" id="{03C62779-1BC9-96F1-5779-0E63D48DBEC3}"/>
              </a:ext>
            </a:extLst>
          </p:cNvPr>
          <p:cNvSpPr/>
          <p:nvPr/>
        </p:nvSpPr>
        <p:spPr bwMode="auto">
          <a:xfrm>
            <a:off x="1156927" y="240835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FS</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33" name="正方形/長方形 132">
            <a:extLst>
              <a:ext uri="{FF2B5EF4-FFF2-40B4-BE49-F238E27FC236}">
                <a16:creationId xmlns:a16="http://schemas.microsoft.com/office/drawing/2014/main" id="{C4556534-098F-D5B1-DAC7-97F9EAFD23D2}"/>
              </a:ext>
            </a:extLst>
          </p:cNvPr>
          <p:cNvSpPr/>
          <p:nvPr/>
        </p:nvSpPr>
        <p:spPr bwMode="auto">
          <a:xfrm>
            <a:off x="1156927" y="316472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ACD2</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34" name="Graphic 78" descr="Corporate data center group icon. ">
            <a:extLst>
              <a:ext uri="{FF2B5EF4-FFF2-40B4-BE49-F238E27FC236}">
                <a16:creationId xmlns:a16="http://schemas.microsoft.com/office/drawing/2014/main" id="{607B8CF2-3E81-DE88-55FF-275736C7A1D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62232" y="2871200"/>
            <a:ext cx="296619" cy="277548"/>
          </a:xfrm>
          <a:prstGeom prst="rect">
            <a:avLst/>
          </a:prstGeom>
        </p:spPr>
      </p:pic>
      <p:sp>
        <p:nvSpPr>
          <p:cNvPr id="135" name="Rectangle 77">
            <a:extLst>
              <a:ext uri="{FF2B5EF4-FFF2-40B4-BE49-F238E27FC236}">
                <a16:creationId xmlns:a16="http://schemas.microsoft.com/office/drawing/2014/main" id="{A666FFB2-FD90-3BB1-2AB0-E66F23D39B4A}"/>
              </a:ext>
            </a:extLst>
          </p:cNvPr>
          <p:cNvSpPr/>
          <p:nvPr/>
        </p:nvSpPr>
        <p:spPr>
          <a:xfrm>
            <a:off x="869557" y="2868865"/>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大和</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36" name="正方形/長方形 135">
            <a:extLst>
              <a:ext uri="{FF2B5EF4-FFF2-40B4-BE49-F238E27FC236}">
                <a16:creationId xmlns:a16="http://schemas.microsoft.com/office/drawing/2014/main" id="{5A2E1E08-7B35-51EB-E847-E2D6EB1FBF57}"/>
              </a:ext>
            </a:extLst>
          </p:cNvPr>
          <p:cNvSpPr/>
          <p:nvPr/>
        </p:nvSpPr>
        <p:spPr bwMode="auto">
          <a:xfrm>
            <a:off x="1156927" y="3539884"/>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（受託先）</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37" name="正方形/長方形 136">
            <a:extLst>
              <a:ext uri="{FF2B5EF4-FFF2-40B4-BE49-F238E27FC236}">
                <a16:creationId xmlns:a16="http://schemas.microsoft.com/office/drawing/2014/main" id="{08BBFF9E-0462-A1E1-6AFB-329C37A5BB0C}"/>
              </a:ext>
            </a:extLst>
          </p:cNvPr>
          <p:cNvSpPr/>
          <p:nvPr/>
        </p:nvSpPr>
        <p:spPr bwMode="auto">
          <a:xfrm>
            <a:off x="2753307" y="2033202"/>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ACD1</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38" name="Graphic 78" descr="Corporate data center group icon. ">
            <a:extLst>
              <a:ext uri="{FF2B5EF4-FFF2-40B4-BE49-F238E27FC236}">
                <a16:creationId xmlns:a16="http://schemas.microsoft.com/office/drawing/2014/main" id="{3C84B134-440A-098C-D305-0AE4B0D4D4A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468571" y="1739674"/>
            <a:ext cx="199999" cy="277548"/>
          </a:xfrm>
          <a:prstGeom prst="rect">
            <a:avLst/>
          </a:prstGeom>
        </p:spPr>
      </p:pic>
      <p:sp>
        <p:nvSpPr>
          <p:cNvPr id="139" name="Rectangle 77">
            <a:extLst>
              <a:ext uri="{FF2B5EF4-FFF2-40B4-BE49-F238E27FC236}">
                <a16:creationId xmlns:a16="http://schemas.microsoft.com/office/drawing/2014/main" id="{4D8ED158-97F8-F95F-21EF-C90E4533B76F}"/>
              </a:ext>
            </a:extLst>
          </p:cNvPr>
          <p:cNvSpPr/>
          <p:nvPr/>
        </p:nvSpPr>
        <p:spPr>
          <a:xfrm>
            <a:off x="2465937" y="1737339"/>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鰻谷</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40" name="正方形/長方形 139">
            <a:extLst>
              <a:ext uri="{FF2B5EF4-FFF2-40B4-BE49-F238E27FC236}">
                <a16:creationId xmlns:a16="http://schemas.microsoft.com/office/drawing/2014/main" id="{410BEF1E-0E9E-3E47-A373-DDA2536EFEBA}"/>
              </a:ext>
            </a:extLst>
          </p:cNvPr>
          <p:cNvSpPr/>
          <p:nvPr/>
        </p:nvSpPr>
        <p:spPr bwMode="auto">
          <a:xfrm>
            <a:off x="2753307" y="240835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FS</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41" name="正方形/長方形 140">
            <a:extLst>
              <a:ext uri="{FF2B5EF4-FFF2-40B4-BE49-F238E27FC236}">
                <a16:creationId xmlns:a16="http://schemas.microsoft.com/office/drawing/2014/main" id="{4FB43FF1-75E1-DB8D-B2DD-2DDD5BDE8839}"/>
              </a:ext>
            </a:extLst>
          </p:cNvPr>
          <p:cNvSpPr/>
          <p:nvPr/>
        </p:nvSpPr>
        <p:spPr bwMode="auto">
          <a:xfrm>
            <a:off x="2753307" y="316472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ACD2</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42" name="Graphic 78" descr="Corporate data center group icon. ">
            <a:extLst>
              <a:ext uri="{FF2B5EF4-FFF2-40B4-BE49-F238E27FC236}">
                <a16:creationId xmlns:a16="http://schemas.microsoft.com/office/drawing/2014/main" id="{2ABE9998-7F3D-6E35-8721-CD6D3969F59A}"/>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473958" y="2871200"/>
            <a:ext cx="296619" cy="277548"/>
          </a:xfrm>
          <a:prstGeom prst="rect">
            <a:avLst/>
          </a:prstGeom>
        </p:spPr>
      </p:pic>
      <p:sp>
        <p:nvSpPr>
          <p:cNvPr id="143" name="Rectangle 77">
            <a:extLst>
              <a:ext uri="{FF2B5EF4-FFF2-40B4-BE49-F238E27FC236}">
                <a16:creationId xmlns:a16="http://schemas.microsoft.com/office/drawing/2014/main" id="{D8DCE7AA-0B27-23CD-282F-56F174CCFF61}"/>
              </a:ext>
            </a:extLst>
          </p:cNvPr>
          <p:cNvSpPr/>
          <p:nvPr/>
        </p:nvSpPr>
        <p:spPr>
          <a:xfrm>
            <a:off x="2465937" y="2868865"/>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大和</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44" name="正方形/長方形 143">
            <a:extLst>
              <a:ext uri="{FF2B5EF4-FFF2-40B4-BE49-F238E27FC236}">
                <a16:creationId xmlns:a16="http://schemas.microsoft.com/office/drawing/2014/main" id="{A626FB70-3A17-D7F6-F964-E3B96B11CC37}"/>
              </a:ext>
            </a:extLst>
          </p:cNvPr>
          <p:cNvSpPr/>
          <p:nvPr/>
        </p:nvSpPr>
        <p:spPr bwMode="auto">
          <a:xfrm>
            <a:off x="2753307" y="3539884"/>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（受託先）</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45" name="矢印: 下 144">
            <a:extLst>
              <a:ext uri="{FF2B5EF4-FFF2-40B4-BE49-F238E27FC236}">
                <a16:creationId xmlns:a16="http://schemas.microsoft.com/office/drawing/2014/main" id="{C150E8B5-73B5-98B9-FA97-C5CE88F0656F}"/>
              </a:ext>
            </a:extLst>
          </p:cNvPr>
          <p:cNvSpPr/>
          <p:nvPr/>
        </p:nvSpPr>
        <p:spPr bwMode="auto">
          <a:xfrm rot="16200000">
            <a:off x="2125834" y="1762354"/>
            <a:ext cx="354983" cy="836881"/>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全</a:t>
            </a:r>
            <a:r>
              <a:rPr kumimoji="0" lang="en-US" altLang="ja-JP" sz="800" b="1" kern="0" dirty="0">
                <a:solidFill>
                  <a:schemeClr val="bg1"/>
                </a:solidFill>
                <a:latin typeface="Meiryo UI"/>
                <a:ea typeface="Meiryo UI"/>
                <a:cs typeface="Meiryo UI" panose="020B0604030504040204" pitchFamily="50" charset="-128"/>
              </a:rPr>
              <a:t>3</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
        <p:nvSpPr>
          <p:cNvPr id="146" name="矢印: 下 145">
            <a:extLst>
              <a:ext uri="{FF2B5EF4-FFF2-40B4-BE49-F238E27FC236}">
                <a16:creationId xmlns:a16="http://schemas.microsoft.com/office/drawing/2014/main" id="{F7B897EE-A218-B412-6CDD-545ECA6DF9F6}"/>
              </a:ext>
            </a:extLst>
          </p:cNvPr>
          <p:cNvSpPr/>
          <p:nvPr/>
        </p:nvSpPr>
        <p:spPr bwMode="auto">
          <a:xfrm rot="16200000">
            <a:off x="2125834" y="2145647"/>
            <a:ext cx="354983" cy="836881"/>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algn="ctr" defTabSz="742950" fontAlgn="auto">
              <a:spcBef>
                <a:spcPts val="0"/>
              </a:spcBef>
              <a:spcAft>
                <a:spcPts val="0"/>
              </a:spcAft>
            </a:pP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全</a:t>
            </a:r>
            <a:r>
              <a:rPr kumimoji="0" lang="en-US" altLang="ja-JP" sz="800" b="1" kern="0" dirty="0">
                <a:solidFill>
                  <a:schemeClr val="bg1"/>
                </a:solidFill>
                <a:latin typeface="Meiryo UI"/>
                <a:ea typeface="Meiryo UI"/>
                <a:cs typeface="Meiryo UI" panose="020B0604030504040204" pitchFamily="50" charset="-128"/>
              </a:rPr>
              <a:t>5</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
        <p:nvSpPr>
          <p:cNvPr id="147" name="矢印: 下 146">
            <a:extLst>
              <a:ext uri="{FF2B5EF4-FFF2-40B4-BE49-F238E27FC236}">
                <a16:creationId xmlns:a16="http://schemas.microsoft.com/office/drawing/2014/main" id="{B73B2EB6-3175-39F6-744E-6225DC0DD0F3}"/>
              </a:ext>
            </a:extLst>
          </p:cNvPr>
          <p:cNvSpPr/>
          <p:nvPr/>
        </p:nvSpPr>
        <p:spPr bwMode="auto">
          <a:xfrm rot="16200000">
            <a:off x="2125834" y="2892263"/>
            <a:ext cx="354983" cy="836881"/>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algn="ctr" defTabSz="742950" fontAlgn="auto">
              <a:spcBef>
                <a:spcPts val="0"/>
              </a:spcBef>
              <a:spcAft>
                <a:spcPts val="0"/>
              </a:spcAft>
            </a:pP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全</a:t>
            </a:r>
            <a:r>
              <a:rPr kumimoji="0" lang="en-US" altLang="ja-JP"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2</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
        <p:nvSpPr>
          <p:cNvPr id="148" name="矢印: 下 147">
            <a:extLst>
              <a:ext uri="{FF2B5EF4-FFF2-40B4-BE49-F238E27FC236}">
                <a16:creationId xmlns:a16="http://schemas.microsoft.com/office/drawing/2014/main" id="{9A5BC63D-5AB9-8043-4FAF-E41B812B9AB1}"/>
              </a:ext>
            </a:extLst>
          </p:cNvPr>
          <p:cNvSpPr/>
          <p:nvPr/>
        </p:nvSpPr>
        <p:spPr bwMode="auto">
          <a:xfrm rot="16200000">
            <a:off x="2125834" y="3283324"/>
            <a:ext cx="354983" cy="836881"/>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algn="ctr" defTabSz="742950" fontAlgn="auto">
              <a:spcBef>
                <a:spcPts val="0"/>
              </a:spcBef>
              <a:spcAft>
                <a:spcPts val="0"/>
              </a:spcAft>
            </a:pP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全</a:t>
            </a:r>
            <a:r>
              <a:rPr kumimoji="0" lang="en-US" altLang="ja-JP"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5</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
        <p:nvSpPr>
          <p:cNvPr id="149" name="正方形/長方形 148">
            <a:extLst>
              <a:ext uri="{FF2B5EF4-FFF2-40B4-BE49-F238E27FC236}">
                <a16:creationId xmlns:a16="http://schemas.microsoft.com/office/drawing/2014/main" id="{BC8E0917-FF94-1679-BF29-8EE7E5C7E541}"/>
              </a:ext>
            </a:extLst>
          </p:cNvPr>
          <p:cNvSpPr/>
          <p:nvPr/>
        </p:nvSpPr>
        <p:spPr bwMode="auto">
          <a:xfrm>
            <a:off x="4198917" y="2033202"/>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ACD1</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50" name="Graphic 78" descr="Corporate data center group icon. ">
            <a:extLst>
              <a:ext uri="{FF2B5EF4-FFF2-40B4-BE49-F238E27FC236}">
                <a16:creationId xmlns:a16="http://schemas.microsoft.com/office/drawing/2014/main" id="{43007BFE-C02F-810B-2F16-7EDB22F6722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904222" y="1739674"/>
            <a:ext cx="296619" cy="277548"/>
          </a:xfrm>
          <a:prstGeom prst="rect">
            <a:avLst/>
          </a:prstGeom>
        </p:spPr>
      </p:pic>
      <p:sp>
        <p:nvSpPr>
          <p:cNvPr id="151" name="Rectangle 77">
            <a:extLst>
              <a:ext uri="{FF2B5EF4-FFF2-40B4-BE49-F238E27FC236}">
                <a16:creationId xmlns:a16="http://schemas.microsoft.com/office/drawing/2014/main" id="{0FBBDE8C-9DFB-E604-43D1-0B6DFB7C7169}"/>
              </a:ext>
            </a:extLst>
          </p:cNvPr>
          <p:cNvSpPr/>
          <p:nvPr/>
        </p:nvSpPr>
        <p:spPr>
          <a:xfrm>
            <a:off x="3911547" y="1737339"/>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鰻谷</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52" name="正方形/長方形 151">
            <a:extLst>
              <a:ext uri="{FF2B5EF4-FFF2-40B4-BE49-F238E27FC236}">
                <a16:creationId xmlns:a16="http://schemas.microsoft.com/office/drawing/2014/main" id="{D6E52C48-5796-2E02-EF3D-A40E15FF8984}"/>
              </a:ext>
            </a:extLst>
          </p:cNvPr>
          <p:cNvSpPr/>
          <p:nvPr/>
        </p:nvSpPr>
        <p:spPr bwMode="auto">
          <a:xfrm>
            <a:off x="4198917" y="240835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FS</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53" name="正方形/長方形 152">
            <a:extLst>
              <a:ext uri="{FF2B5EF4-FFF2-40B4-BE49-F238E27FC236}">
                <a16:creationId xmlns:a16="http://schemas.microsoft.com/office/drawing/2014/main" id="{49D1E76D-9A19-85E6-889E-D38BDCA67FB4}"/>
              </a:ext>
            </a:extLst>
          </p:cNvPr>
          <p:cNvSpPr/>
          <p:nvPr/>
        </p:nvSpPr>
        <p:spPr bwMode="auto">
          <a:xfrm>
            <a:off x="4198917" y="316472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ACD2</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54" name="Graphic 78" descr="Corporate data center group icon. ">
            <a:extLst>
              <a:ext uri="{FF2B5EF4-FFF2-40B4-BE49-F238E27FC236}">
                <a16:creationId xmlns:a16="http://schemas.microsoft.com/office/drawing/2014/main" id="{DE5F2DD0-1689-BBE1-14FA-8F3CF41C7180}"/>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904222" y="2871200"/>
            <a:ext cx="296619" cy="277548"/>
          </a:xfrm>
          <a:prstGeom prst="rect">
            <a:avLst/>
          </a:prstGeom>
        </p:spPr>
      </p:pic>
      <p:sp>
        <p:nvSpPr>
          <p:cNvPr id="155" name="Rectangle 77">
            <a:extLst>
              <a:ext uri="{FF2B5EF4-FFF2-40B4-BE49-F238E27FC236}">
                <a16:creationId xmlns:a16="http://schemas.microsoft.com/office/drawing/2014/main" id="{B76515B0-E486-4CF9-3787-16D5C99FA269}"/>
              </a:ext>
            </a:extLst>
          </p:cNvPr>
          <p:cNvSpPr/>
          <p:nvPr/>
        </p:nvSpPr>
        <p:spPr>
          <a:xfrm>
            <a:off x="3911547" y="2868865"/>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大和</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56" name="正方形/長方形 155">
            <a:extLst>
              <a:ext uri="{FF2B5EF4-FFF2-40B4-BE49-F238E27FC236}">
                <a16:creationId xmlns:a16="http://schemas.microsoft.com/office/drawing/2014/main" id="{1F6ED5CC-772C-C6CE-ECC7-10EB7391A6C2}"/>
              </a:ext>
            </a:extLst>
          </p:cNvPr>
          <p:cNvSpPr/>
          <p:nvPr/>
        </p:nvSpPr>
        <p:spPr bwMode="auto">
          <a:xfrm>
            <a:off x="4198917" y="3539884"/>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（受託先）</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57" name="正方形/長方形 156">
            <a:extLst>
              <a:ext uri="{FF2B5EF4-FFF2-40B4-BE49-F238E27FC236}">
                <a16:creationId xmlns:a16="http://schemas.microsoft.com/office/drawing/2014/main" id="{E800AA57-99D4-1B75-530D-E023CA3FBE1B}"/>
              </a:ext>
            </a:extLst>
          </p:cNvPr>
          <p:cNvSpPr/>
          <p:nvPr/>
        </p:nvSpPr>
        <p:spPr bwMode="auto">
          <a:xfrm>
            <a:off x="5664371" y="2033202"/>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ACD1</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58" name="Graphic 78" descr="Corporate data center group icon. ">
            <a:extLst>
              <a:ext uri="{FF2B5EF4-FFF2-40B4-BE49-F238E27FC236}">
                <a16:creationId xmlns:a16="http://schemas.microsoft.com/office/drawing/2014/main" id="{3C932FAC-AD7F-2873-F721-804DACFEF51A}"/>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369676" y="1739674"/>
            <a:ext cx="296619" cy="277548"/>
          </a:xfrm>
          <a:prstGeom prst="rect">
            <a:avLst/>
          </a:prstGeom>
        </p:spPr>
      </p:pic>
      <p:sp>
        <p:nvSpPr>
          <p:cNvPr id="159" name="Rectangle 77">
            <a:extLst>
              <a:ext uri="{FF2B5EF4-FFF2-40B4-BE49-F238E27FC236}">
                <a16:creationId xmlns:a16="http://schemas.microsoft.com/office/drawing/2014/main" id="{18F10083-A096-122D-6E9D-87186333C9FF}"/>
              </a:ext>
            </a:extLst>
          </p:cNvPr>
          <p:cNvSpPr/>
          <p:nvPr/>
        </p:nvSpPr>
        <p:spPr>
          <a:xfrm>
            <a:off x="5377001" y="1737339"/>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鰻谷</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60" name="正方形/長方形 159">
            <a:extLst>
              <a:ext uri="{FF2B5EF4-FFF2-40B4-BE49-F238E27FC236}">
                <a16:creationId xmlns:a16="http://schemas.microsoft.com/office/drawing/2014/main" id="{9A6DC939-52A5-6749-9679-B16AEBAB1888}"/>
              </a:ext>
            </a:extLst>
          </p:cNvPr>
          <p:cNvSpPr/>
          <p:nvPr/>
        </p:nvSpPr>
        <p:spPr bwMode="auto">
          <a:xfrm>
            <a:off x="5664371" y="240835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FS</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61" name="正方形/長方形 160">
            <a:extLst>
              <a:ext uri="{FF2B5EF4-FFF2-40B4-BE49-F238E27FC236}">
                <a16:creationId xmlns:a16="http://schemas.microsoft.com/office/drawing/2014/main" id="{41DE363F-7121-8AEC-428E-06DCCC6FC7CB}"/>
              </a:ext>
            </a:extLst>
          </p:cNvPr>
          <p:cNvSpPr/>
          <p:nvPr/>
        </p:nvSpPr>
        <p:spPr bwMode="auto">
          <a:xfrm>
            <a:off x="5664371" y="316472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ACD2</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62" name="Graphic 78" descr="Corporate data center group icon. ">
            <a:extLst>
              <a:ext uri="{FF2B5EF4-FFF2-40B4-BE49-F238E27FC236}">
                <a16:creationId xmlns:a16="http://schemas.microsoft.com/office/drawing/2014/main" id="{369FE5A3-3E34-6965-EFC6-BA5D2DB29C2C}"/>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369676" y="2871200"/>
            <a:ext cx="296619" cy="277548"/>
          </a:xfrm>
          <a:prstGeom prst="rect">
            <a:avLst/>
          </a:prstGeom>
        </p:spPr>
      </p:pic>
      <p:sp>
        <p:nvSpPr>
          <p:cNvPr id="163" name="Rectangle 77">
            <a:extLst>
              <a:ext uri="{FF2B5EF4-FFF2-40B4-BE49-F238E27FC236}">
                <a16:creationId xmlns:a16="http://schemas.microsoft.com/office/drawing/2014/main" id="{BB3841A1-66BB-FA1F-ECA0-6C5A29379FBB}"/>
              </a:ext>
            </a:extLst>
          </p:cNvPr>
          <p:cNvSpPr/>
          <p:nvPr/>
        </p:nvSpPr>
        <p:spPr>
          <a:xfrm>
            <a:off x="5377001" y="2868865"/>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大和</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64" name="正方形/長方形 163">
            <a:extLst>
              <a:ext uri="{FF2B5EF4-FFF2-40B4-BE49-F238E27FC236}">
                <a16:creationId xmlns:a16="http://schemas.microsoft.com/office/drawing/2014/main" id="{D3FE25A1-FA72-B943-2672-8B4200935426}"/>
              </a:ext>
            </a:extLst>
          </p:cNvPr>
          <p:cNvSpPr/>
          <p:nvPr/>
        </p:nvSpPr>
        <p:spPr bwMode="auto">
          <a:xfrm>
            <a:off x="5664371" y="3539884"/>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（受託先）</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65" name="矢印: 下 164">
            <a:extLst>
              <a:ext uri="{FF2B5EF4-FFF2-40B4-BE49-F238E27FC236}">
                <a16:creationId xmlns:a16="http://schemas.microsoft.com/office/drawing/2014/main" id="{9FE52CA2-50A8-9568-20B2-66A3930D2557}"/>
              </a:ext>
            </a:extLst>
          </p:cNvPr>
          <p:cNvSpPr/>
          <p:nvPr/>
        </p:nvSpPr>
        <p:spPr bwMode="auto">
          <a:xfrm rot="16200000">
            <a:off x="5122756" y="1807422"/>
            <a:ext cx="354983" cy="746745"/>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1</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
        <p:nvSpPr>
          <p:cNvPr id="166" name="矢印: 下 165">
            <a:extLst>
              <a:ext uri="{FF2B5EF4-FFF2-40B4-BE49-F238E27FC236}">
                <a16:creationId xmlns:a16="http://schemas.microsoft.com/office/drawing/2014/main" id="{EC90234B-8A57-5FDE-089E-1781FEA6EDCB}"/>
              </a:ext>
            </a:extLst>
          </p:cNvPr>
          <p:cNvSpPr/>
          <p:nvPr/>
        </p:nvSpPr>
        <p:spPr bwMode="auto">
          <a:xfrm rot="16200000">
            <a:off x="5122756" y="2190715"/>
            <a:ext cx="354983" cy="746745"/>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algn="ctr" defTabSz="742950" fontAlgn="auto">
              <a:spcBef>
                <a:spcPts val="0"/>
              </a:spcBef>
              <a:spcAft>
                <a:spcPts val="0"/>
              </a:spcAft>
            </a:pPr>
            <a:r>
              <a:rPr kumimoji="0" lang="en-US" altLang="ja-JP" sz="800" b="1" kern="0" dirty="0">
                <a:solidFill>
                  <a:schemeClr val="bg1"/>
                </a:solidFill>
                <a:latin typeface="Meiryo UI"/>
                <a:ea typeface="Meiryo UI"/>
                <a:cs typeface="Meiryo UI" panose="020B0604030504040204" pitchFamily="50" charset="-128"/>
              </a:rPr>
              <a:t>1</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
        <p:nvSpPr>
          <p:cNvPr id="167" name="矢印: 下 166">
            <a:extLst>
              <a:ext uri="{FF2B5EF4-FFF2-40B4-BE49-F238E27FC236}">
                <a16:creationId xmlns:a16="http://schemas.microsoft.com/office/drawing/2014/main" id="{439EBAF4-CD83-1020-3419-451B782BF238}"/>
              </a:ext>
            </a:extLst>
          </p:cNvPr>
          <p:cNvSpPr/>
          <p:nvPr/>
        </p:nvSpPr>
        <p:spPr bwMode="auto">
          <a:xfrm rot="16200000">
            <a:off x="5122756" y="2937331"/>
            <a:ext cx="354983" cy="746745"/>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algn="ctr" defTabSz="742950" fontAlgn="auto">
              <a:spcBef>
                <a:spcPts val="0"/>
              </a:spcBef>
              <a:spcAft>
                <a:spcPts val="0"/>
              </a:spcAft>
            </a:pPr>
            <a:r>
              <a:rPr kumimoji="0" lang="en-US" altLang="ja-JP" sz="800" b="1" kern="0" dirty="0">
                <a:solidFill>
                  <a:schemeClr val="bg1"/>
                </a:solidFill>
                <a:latin typeface="Meiryo UI"/>
                <a:ea typeface="Meiryo UI"/>
                <a:cs typeface="Meiryo UI" panose="020B0604030504040204" pitchFamily="50" charset="-128"/>
              </a:rPr>
              <a:t>1</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
        <p:nvSpPr>
          <p:cNvPr id="168" name="矢印: 下 167">
            <a:extLst>
              <a:ext uri="{FF2B5EF4-FFF2-40B4-BE49-F238E27FC236}">
                <a16:creationId xmlns:a16="http://schemas.microsoft.com/office/drawing/2014/main" id="{545CA2F7-D877-2363-1798-0E48248727B0}"/>
              </a:ext>
            </a:extLst>
          </p:cNvPr>
          <p:cNvSpPr/>
          <p:nvPr/>
        </p:nvSpPr>
        <p:spPr bwMode="auto">
          <a:xfrm rot="16200000">
            <a:off x="5122756" y="3328392"/>
            <a:ext cx="354983" cy="746745"/>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algn="ctr" defTabSz="742950" fontAlgn="auto">
              <a:spcBef>
                <a:spcPts val="0"/>
              </a:spcBef>
              <a:spcAft>
                <a:spcPts val="0"/>
              </a:spcAft>
            </a:pPr>
            <a:r>
              <a:rPr kumimoji="0" lang="en-US" altLang="ja-JP" sz="800" b="1" kern="0" dirty="0">
                <a:solidFill>
                  <a:schemeClr val="bg1"/>
                </a:solidFill>
                <a:latin typeface="Meiryo UI"/>
                <a:ea typeface="Meiryo UI"/>
                <a:cs typeface="Meiryo UI" panose="020B0604030504040204" pitchFamily="50" charset="-128"/>
              </a:rPr>
              <a:t>1</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
        <p:nvSpPr>
          <p:cNvPr id="169" name="正方形/長方形 168">
            <a:extLst>
              <a:ext uri="{FF2B5EF4-FFF2-40B4-BE49-F238E27FC236}">
                <a16:creationId xmlns:a16="http://schemas.microsoft.com/office/drawing/2014/main" id="{E16DFBFD-4B6A-ADD1-D82B-CED34889753D}"/>
              </a:ext>
            </a:extLst>
          </p:cNvPr>
          <p:cNvSpPr/>
          <p:nvPr/>
        </p:nvSpPr>
        <p:spPr bwMode="auto">
          <a:xfrm>
            <a:off x="7153057" y="2033202"/>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ACD1</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70" name="Graphic 78" descr="Corporate data center group icon. ">
            <a:extLst>
              <a:ext uri="{FF2B5EF4-FFF2-40B4-BE49-F238E27FC236}">
                <a16:creationId xmlns:a16="http://schemas.microsoft.com/office/drawing/2014/main" id="{9557A06A-B21A-95E4-753D-503981043F7C}"/>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858362" y="1739674"/>
            <a:ext cx="296619" cy="277548"/>
          </a:xfrm>
          <a:prstGeom prst="rect">
            <a:avLst/>
          </a:prstGeom>
        </p:spPr>
      </p:pic>
      <p:sp>
        <p:nvSpPr>
          <p:cNvPr id="171" name="Rectangle 77">
            <a:extLst>
              <a:ext uri="{FF2B5EF4-FFF2-40B4-BE49-F238E27FC236}">
                <a16:creationId xmlns:a16="http://schemas.microsoft.com/office/drawing/2014/main" id="{9C5F0128-0749-22A5-0BA1-2E801EC805A1}"/>
              </a:ext>
            </a:extLst>
          </p:cNvPr>
          <p:cNvSpPr/>
          <p:nvPr/>
        </p:nvSpPr>
        <p:spPr>
          <a:xfrm>
            <a:off x="6865687" y="1737339"/>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鰻谷</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72" name="正方形/長方形 171">
            <a:extLst>
              <a:ext uri="{FF2B5EF4-FFF2-40B4-BE49-F238E27FC236}">
                <a16:creationId xmlns:a16="http://schemas.microsoft.com/office/drawing/2014/main" id="{F9C415B6-6E7F-6176-4B3F-D607082E66EE}"/>
              </a:ext>
            </a:extLst>
          </p:cNvPr>
          <p:cNvSpPr/>
          <p:nvPr/>
        </p:nvSpPr>
        <p:spPr bwMode="auto">
          <a:xfrm>
            <a:off x="7153057" y="240835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FS</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73" name="正方形/長方形 172">
            <a:extLst>
              <a:ext uri="{FF2B5EF4-FFF2-40B4-BE49-F238E27FC236}">
                <a16:creationId xmlns:a16="http://schemas.microsoft.com/office/drawing/2014/main" id="{C359A651-DE2F-C267-D603-04CE7B95D633}"/>
              </a:ext>
            </a:extLst>
          </p:cNvPr>
          <p:cNvSpPr/>
          <p:nvPr/>
        </p:nvSpPr>
        <p:spPr bwMode="auto">
          <a:xfrm>
            <a:off x="7153057" y="316472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ACD2</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74" name="Graphic 78" descr="Corporate data center group icon. ">
            <a:extLst>
              <a:ext uri="{FF2B5EF4-FFF2-40B4-BE49-F238E27FC236}">
                <a16:creationId xmlns:a16="http://schemas.microsoft.com/office/drawing/2014/main" id="{CA8CC8A1-305A-2665-2957-BAA9B635E54A}"/>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858362" y="2871200"/>
            <a:ext cx="296619" cy="277548"/>
          </a:xfrm>
          <a:prstGeom prst="rect">
            <a:avLst/>
          </a:prstGeom>
        </p:spPr>
      </p:pic>
      <p:sp>
        <p:nvSpPr>
          <p:cNvPr id="175" name="Rectangle 77">
            <a:extLst>
              <a:ext uri="{FF2B5EF4-FFF2-40B4-BE49-F238E27FC236}">
                <a16:creationId xmlns:a16="http://schemas.microsoft.com/office/drawing/2014/main" id="{490EA02D-FCEE-7DD4-7D14-717E035C5207}"/>
              </a:ext>
            </a:extLst>
          </p:cNvPr>
          <p:cNvSpPr/>
          <p:nvPr/>
        </p:nvSpPr>
        <p:spPr>
          <a:xfrm>
            <a:off x="6865687" y="2868865"/>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大和</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76" name="正方形/長方形 175">
            <a:extLst>
              <a:ext uri="{FF2B5EF4-FFF2-40B4-BE49-F238E27FC236}">
                <a16:creationId xmlns:a16="http://schemas.microsoft.com/office/drawing/2014/main" id="{6533716A-0154-9DA1-E25B-F0C1B64699F7}"/>
              </a:ext>
            </a:extLst>
          </p:cNvPr>
          <p:cNvSpPr/>
          <p:nvPr/>
        </p:nvSpPr>
        <p:spPr bwMode="auto">
          <a:xfrm>
            <a:off x="7153057" y="3539884"/>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（受託先）</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77" name="正方形/長方形 176">
            <a:extLst>
              <a:ext uri="{FF2B5EF4-FFF2-40B4-BE49-F238E27FC236}">
                <a16:creationId xmlns:a16="http://schemas.microsoft.com/office/drawing/2014/main" id="{C8ED53CD-AC59-1684-4F92-30228E36F0FC}"/>
              </a:ext>
            </a:extLst>
          </p:cNvPr>
          <p:cNvSpPr/>
          <p:nvPr/>
        </p:nvSpPr>
        <p:spPr bwMode="auto">
          <a:xfrm>
            <a:off x="8618511" y="2033202"/>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ACD1</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78" name="Graphic 78" descr="Corporate data center group icon. ">
            <a:extLst>
              <a:ext uri="{FF2B5EF4-FFF2-40B4-BE49-F238E27FC236}">
                <a16:creationId xmlns:a16="http://schemas.microsoft.com/office/drawing/2014/main" id="{775E427E-4725-3195-1E66-A98E3A011615}"/>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323816" y="1739674"/>
            <a:ext cx="296619" cy="277548"/>
          </a:xfrm>
          <a:prstGeom prst="rect">
            <a:avLst/>
          </a:prstGeom>
        </p:spPr>
      </p:pic>
      <p:sp>
        <p:nvSpPr>
          <p:cNvPr id="179" name="Rectangle 77">
            <a:extLst>
              <a:ext uri="{FF2B5EF4-FFF2-40B4-BE49-F238E27FC236}">
                <a16:creationId xmlns:a16="http://schemas.microsoft.com/office/drawing/2014/main" id="{6D3806F4-54B2-CCD1-D3E4-D97B5B269671}"/>
              </a:ext>
            </a:extLst>
          </p:cNvPr>
          <p:cNvSpPr/>
          <p:nvPr/>
        </p:nvSpPr>
        <p:spPr>
          <a:xfrm>
            <a:off x="8331141" y="1737339"/>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鰻谷</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80" name="正方形/長方形 179">
            <a:extLst>
              <a:ext uri="{FF2B5EF4-FFF2-40B4-BE49-F238E27FC236}">
                <a16:creationId xmlns:a16="http://schemas.microsoft.com/office/drawing/2014/main" id="{900DA5FD-320B-DEC0-6BD3-353925C57985}"/>
              </a:ext>
            </a:extLst>
          </p:cNvPr>
          <p:cNvSpPr/>
          <p:nvPr/>
        </p:nvSpPr>
        <p:spPr bwMode="auto">
          <a:xfrm>
            <a:off x="8618511" y="240835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FS</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81" name="正方形/長方形 180">
            <a:extLst>
              <a:ext uri="{FF2B5EF4-FFF2-40B4-BE49-F238E27FC236}">
                <a16:creationId xmlns:a16="http://schemas.microsoft.com/office/drawing/2014/main" id="{6C6CFF46-27FE-6F2E-8911-5C4B35AC16DE}"/>
              </a:ext>
            </a:extLst>
          </p:cNvPr>
          <p:cNvSpPr/>
          <p:nvPr/>
        </p:nvSpPr>
        <p:spPr bwMode="auto">
          <a:xfrm>
            <a:off x="8618511" y="3164728"/>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a:t>
            </a:r>
            <a:r>
              <a:rPr lang="en-US" altLang="ja-JP" sz="900" dirty="0">
                <a:latin typeface="+mn-ea"/>
                <a:cs typeface="Meiryo UI" panose="020B0604030504040204" pitchFamily="50" charset="-128"/>
              </a:rPr>
              <a:t>ACD2</a:t>
            </a:r>
            <a:r>
              <a:rPr lang="ja-JP" altLang="en-US" sz="900" dirty="0">
                <a:latin typeface="+mn-ea"/>
                <a:cs typeface="Meiryo UI" panose="020B0604030504040204" pitchFamily="50" charset="-128"/>
              </a:rPr>
              <a:t>）</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pic>
        <p:nvPicPr>
          <p:cNvPr id="182" name="Graphic 78" descr="Corporate data center group icon. ">
            <a:extLst>
              <a:ext uri="{FF2B5EF4-FFF2-40B4-BE49-F238E27FC236}">
                <a16:creationId xmlns:a16="http://schemas.microsoft.com/office/drawing/2014/main" id="{1C133486-9686-C601-511C-36C00DAD7F9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323816" y="2871200"/>
            <a:ext cx="296619" cy="277548"/>
          </a:xfrm>
          <a:prstGeom prst="rect">
            <a:avLst/>
          </a:prstGeom>
        </p:spPr>
      </p:pic>
      <p:sp>
        <p:nvSpPr>
          <p:cNvPr id="183" name="Rectangle 77">
            <a:extLst>
              <a:ext uri="{FF2B5EF4-FFF2-40B4-BE49-F238E27FC236}">
                <a16:creationId xmlns:a16="http://schemas.microsoft.com/office/drawing/2014/main" id="{436DE48A-E505-1EEF-CF14-8AC5F230240D}"/>
              </a:ext>
            </a:extLst>
          </p:cNvPr>
          <p:cNvSpPr/>
          <p:nvPr/>
        </p:nvSpPr>
        <p:spPr>
          <a:xfrm>
            <a:off x="8331141" y="2868865"/>
            <a:ext cx="1241184" cy="1046471"/>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396000" tIns="72000"/>
          <a:lstStyle/>
          <a:p>
            <a:pPr eaLnBrk="1" fontAlgn="auto" hangingPunct="1">
              <a:spcBef>
                <a:spcPts val="0"/>
              </a:spcBef>
              <a:spcAft>
                <a:spcPts val="0"/>
              </a:spcAft>
              <a:defRPr/>
            </a:pPr>
            <a:r>
              <a:rPr lang="ja-JP" altLang="en-US" sz="1200" dirty="0">
                <a:solidFill>
                  <a:schemeClr val="tx1"/>
                </a:solidFill>
                <a:latin typeface="Arial" panose="020B0604020202020204" pitchFamily="34" charset="0"/>
                <a:cs typeface="Arial" panose="020B0604020202020204" pitchFamily="34" charset="0"/>
              </a:rPr>
              <a:t>大和</a:t>
            </a:r>
            <a:r>
              <a:rPr lang="en-US" altLang="ja-JP" sz="1200" dirty="0">
                <a:solidFill>
                  <a:schemeClr val="tx1"/>
                </a:solidFill>
                <a:latin typeface="Arial" panose="020B0604020202020204" pitchFamily="34" charset="0"/>
                <a:cs typeface="Arial" panose="020B0604020202020204" pitchFamily="34" charset="0"/>
              </a:rPr>
              <a:t>DC</a:t>
            </a:r>
            <a:endParaRPr lang="en-US" sz="1200" dirty="0">
              <a:solidFill>
                <a:schemeClr val="tx1"/>
              </a:solidFill>
              <a:latin typeface="Arial" panose="020B0604020202020204" pitchFamily="34" charset="0"/>
              <a:cs typeface="Arial" panose="020B0604020202020204" pitchFamily="34" charset="0"/>
            </a:endParaRPr>
          </a:p>
        </p:txBody>
      </p:sp>
      <p:sp>
        <p:nvSpPr>
          <p:cNvPr id="184" name="正方形/長方形 183">
            <a:extLst>
              <a:ext uri="{FF2B5EF4-FFF2-40B4-BE49-F238E27FC236}">
                <a16:creationId xmlns:a16="http://schemas.microsoft.com/office/drawing/2014/main" id="{B46CE976-4E1D-4C7B-132E-ED94DA6A7032}"/>
              </a:ext>
            </a:extLst>
          </p:cNvPr>
          <p:cNvSpPr/>
          <p:nvPr/>
        </p:nvSpPr>
        <p:spPr bwMode="auto">
          <a:xfrm>
            <a:off x="8618511" y="3539884"/>
            <a:ext cx="644560" cy="295190"/>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900" i="0" u="none" strike="noStrike" cap="none" normalizeH="0" baseline="0" dirty="0">
                <a:ln>
                  <a:noFill/>
                </a:ln>
                <a:solidFill>
                  <a:schemeClr val="tx1"/>
                </a:solidFill>
                <a:effectLst/>
                <a:latin typeface="+mn-ea"/>
                <a:cs typeface="Meiryo UI" panose="020B0604030504040204" pitchFamily="50" charset="-128"/>
              </a:rPr>
              <a:t>PBX/CTI</a:t>
            </a:r>
          </a:p>
          <a:p>
            <a:pPr marL="0" marR="0" indent="0" algn="ctr" defTabSz="742950" rtl="0" eaLnBrk="1" fontAlgn="base" latinLnBrk="0" hangingPunct="1">
              <a:spcBef>
                <a:spcPct val="0"/>
              </a:spcBef>
              <a:spcAft>
                <a:spcPct val="0"/>
              </a:spcAft>
              <a:buClrTx/>
              <a:buSzTx/>
              <a:buFontTx/>
              <a:buNone/>
              <a:tabLst/>
            </a:pPr>
            <a:r>
              <a:rPr lang="ja-JP" altLang="en-US" sz="900" dirty="0">
                <a:latin typeface="+mn-ea"/>
                <a:cs typeface="Meiryo UI" panose="020B0604030504040204" pitchFamily="50" charset="-128"/>
              </a:rPr>
              <a:t>（受託先）</a:t>
            </a:r>
            <a:endParaRPr kumimoji="1" lang="ja-JP" altLang="en-US" sz="900" i="0" u="none" strike="noStrike" cap="none" normalizeH="0" baseline="0" dirty="0">
              <a:ln>
                <a:noFill/>
              </a:ln>
              <a:solidFill>
                <a:schemeClr val="tx1"/>
              </a:solidFill>
              <a:effectLst/>
              <a:latin typeface="+mn-ea"/>
              <a:cs typeface="Meiryo UI" panose="020B0604030504040204" pitchFamily="50" charset="-128"/>
            </a:endParaRPr>
          </a:p>
        </p:txBody>
      </p:sp>
      <p:sp>
        <p:nvSpPr>
          <p:cNvPr id="185" name="矢印: 下 184">
            <a:extLst>
              <a:ext uri="{FF2B5EF4-FFF2-40B4-BE49-F238E27FC236}">
                <a16:creationId xmlns:a16="http://schemas.microsoft.com/office/drawing/2014/main" id="{0210FCAD-089E-6A71-3CD2-93858E542708}"/>
              </a:ext>
            </a:extLst>
          </p:cNvPr>
          <p:cNvSpPr/>
          <p:nvPr/>
        </p:nvSpPr>
        <p:spPr bwMode="auto">
          <a:xfrm rot="16200000">
            <a:off x="8076896" y="1807422"/>
            <a:ext cx="354983" cy="746745"/>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marL="0" marR="0" lvl="0" indent="0" algn="ctr" defTabSz="742950" eaLnBrk="1" fontAlgn="auto" latinLnBrk="0" hangingPunct="1">
              <a:lnSpc>
                <a:spcPct val="100000"/>
              </a:lnSpc>
              <a:spcBef>
                <a:spcPts val="0"/>
              </a:spcBef>
              <a:spcAft>
                <a:spcPts val="0"/>
              </a:spcAft>
              <a:buClrTx/>
              <a:buSzTx/>
              <a:buFontTx/>
              <a:buNone/>
              <a:tabLst/>
              <a:defRPr/>
            </a:pPr>
            <a:r>
              <a:rPr kumimoji="0" lang="en-US" altLang="ja-JP"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2</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
        <p:nvSpPr>
          <p:cNvPr id="186" name="矢印: 下 185">
            <a:extLst>
              <a:ext uri="{FF2B5EF4-FFF2-40B4-BE49-F238E27FC236}">
                <a16:creationId xmlns:a16="http://schemas.microsoft.com/office/drawing/2014/main" id="{C672A613-1318-16E6-E7B3-A83B06064FDF}"/>
              </a:ext>
            </a:extLst>
          </p:cNvPr>
          <p:cNvSpPr/>
          <p:nvPr/>
        </p:nvSpPr>
        <p:spPr bwMode="auto">
          <a:xfrm rot="16200000">
            <a:off x="8076896" y="2190715"/>
            <a:ext cx="354983" cy="746745"/>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algn="ctr" defTabSz="742950" fontAlgn="auto">
              <a:spcBef>
                <a:spcPts val="0"/>
              </a:spcBef>
              <a:spcAft>
                <a:spcPts val="0"/>
              </a:spcAft>
            </a:pPr>
            <a:r>
              <a:rPr kumimoji="0" lang="en-US" altLang="ja-JP"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2</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
        <p:nvSpPr>
          <p:cNvPr id="187" name="矢印: 下 186">
            <a:extLst>
              <a:ext uri="{FF2B5EF4-FFF2-40B4-BE49-F238E27FC236}">
                <a16:creationId xmlns:a16="http://schemas.microsoft.com/office/drawing/2014/main" id="{0712B290-4617-C6EE-D413-AB4835BEF276}"/>
              </a:ext>
            </a:extLst>
          </p:cNvPr>
          <p:cNvSpPr/>
          <p:nvPr/>
        </p:nvSpPr>
        <p:spPr bwMode="auto">
          <a:xfrm rot="16200000">
            <a:off x="8076896" y="2937331"/>
            <a:ext cx="354983" cy="746745"/>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algn="ctr" defTabSz="742950" fontAlgn="auto">
              <a:spcBef>
                <a:spcPts val="0"/>
              </a:spcBef>
              <a:spcAft>
                <a:spcPts val="0"/>
              </a:spcAft>
            </a:pPr>
            <a:r>
              <a:rPr kumimoji="0" lang="en-US" altLang="ja-JP"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2</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
        <p:nvSpPr>
          <p:cNvPr id="188" name="矢印: 下 187">
            <a:extLst>
              <a:ext uri="{FF2B5EF4-FFF2-40B4-BE49-F238E27FC236}">
                <a16:creationId xmlns:a16="http://schemas.microsoft.com/office/drawing/2014/main" id="{DD927955-3DA3-CE3B-ED91-9FC0CCF9A783}"/>
              </a:ext>
            </a:extLst>
          </p:cNvPr>
          <p:cNvSpPr/>
          <p:nvPr/>
        </p:nvSpPr>
        <p:spPr bwMode="auto">
          <a:xfrm rot="16200000">
            <a:off x="8076896" y="3328392"/>
            <a:ext cx="354983" cy="746745"/>
          </a:xfrm>
          <a:prstGeom prst="downArrow">
            <a:avLst/>
          </a:prstGeom>
          <a:solidFill>
            <a:srgbClr val="004874"/>
          </a:solidFill>
          <a:ln w="9525" cap="flat" cmpd="sng" algn="ctr">
            <a:solidFill>
              <a:srgbClr val="004874"/>
            </a:solidFill>
            <a:prstDash val="solid"/>
            <a:round/>
            <a:headEnd type="none" w="med" len="med"/>
            <a:tailEnd type="none" w="med" len="med"/>
          </a:ln>
          <a:effectLst/>
        </p:spPr>
        <p:txBody>
          <a:bodyPr vert="eaVert" wrap="none" lIns="91440" tIns="45720" rIns="91440" bIns="45720" numCol="1" rtlCol="0" anchor="ctr" anchorCtr="0" compatLnSpc="1">
            <a:prstTxWarp prst="textNoShape">
              <a:avLst/>
            </a:prstTxWarp>
          </a:bodyPr>
          <a:lstStyle/>
          <a:p>
            <a:pPr algn="ctr" defTabSz="742950" fontAlgn="auto">
              <a:spcBef>
                <a:spcPts val="0"/>
              </a:spcBef>
              <a:spcAft>
                <a:spcPts val="0"/>
              </a:spcAft>
            </a:pPr>
            <a:r>
              <a:rPr kumimoji="0" lang="en-US" altLang="ja-JP" sz="800" b="1" kern="0" dirty="0">
                <a:solidFill>
                  <a:schemeClr val="bg1"/>
                </a:solidFill>
                <a:latin typeface="Meiryo UI"/>
                <a:ea typeface="Meiryo UI"/>
                <a:cs typeface="Meiryo UI" panose="020B0604030504040204" pitchFamily="50" charset="-128"/>
              </a:rPr>
              <a:t>1</a:t>
            </a:r>
            <a:r>
              <a:rPr kumimoji="0" lang="ja-JP" altLang="en-US" sz="800" b="1" i="0" u="none" strike="noStrike" kern="0" cap="none" spc="0" normalizeH="0" baseline="0" noProof="0" dirty="0">
                <a:ln>
                  <a:noFill/>
                </a:ln>
                <a:solidFill>
                  <a:schemeClr val="bg1"/>
                </a:solidFill>
                <a:effectLst/>
                <a:uLnTx/>
                <a:uFillTx/>
                <a:latin typeface="Meiryo UI"/>
                <a:ea typeface="Meiryo UI"/>
                <a:cs typeface="Meiryo UI" panose="020B0604030504040204" pitchFamily="50" charset="-128"/>
              </a:rPr>
              <a:t>ショット</a:t>
            </a:r>
          </a:p>
        </p:txBody>
      </p:sp>
    </p:spTree>
    <p:extLst>
      <p:ext uri="{BB962C8B-B14F-4D97-AF65-F5344CB8AC3E}">
        <p14:creationId xmlns:p14="http://schemas.microsoft.com/office/powerpoint/2010/main" val="3153822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9A956497-1446-C34E-1726-F3FBFF4521A8}"/>
              </a:ext>
            </a:extLst>
          </p:cNvPr>
          <p:cNvSpPr>
            <a:spLocks noGrp="1"/>
          </p:cNvSpPr>
          <p:nvPr>
            <p:ph type="title"/>
          </p:nvPr>
        </p:nvSpPr>
        <p:spPr/>
        <p:txBody>
          <a:bodyPr/>
          <a:lstStyle/>
          <a:p>
            <a:r>
              <a:rPr lang="en-US" altLang="ja-JP" dirty="0"/>
              <a:t>【</a:t>
            </a:r>
            <a:r>
              <a:rPr lang="ja-JP" altLang="en-US" dirty="0"/>
              <a:t>参考②</a:t>
            </a:r>
            <a:r>
              <a:rPr lang="en-US" altLang="ja-JP" dirty="0"/>
              <a:t>】</a:t>
            </a:r>
            <a:r>
              <a:rPr lang="ja-JP" altLang="en-US" dirty="0"/>
              <a:t>電話機購入計画（</a:t>
            </a:r>
            <a:r>
              <a:rPr lang="en-US" altLang="ja-JP" dirty="0"/>
              <a:t>SMCC</a:t>
            </a:r>
            <a:r>
              <a:rPr lang="ja-JP" altLang="en-US" dirty="0"/>
              <a:t>直商流）</a:t>
            </a:r>
          </a:p>
        </p:txBody>
      </p:sp>
      <p:pic>
        <p:nvPicPr>
          <p:cNvPr id="103" name="図 102">
            <a:extLst>
              <a:ext uri="{FF2B5EF4-FFF2-40B4-BE49-F238E27FC236}">
                <a16:creationId xmlns:a16="http://schemas.microsoft.com/office/drawing/2014/main" id="{B6E14C18-AFD2-A55C-8C75-CD2B10579DB8}"/>
              </a:ext>
            </a:extLst>
          </p:cNvPr>
          <p:cNvPicPr>
            <a:picLocks noChangeAspect="1"/>
          </p:cNvPicPr>
          <p:nvPr/>
        </p:nvPicPr>
        <p:blipFill>
          <a:blip r:embed="rId2"/>
          <a:stretch>
            <a:fillRect/>
          </a:stretch>
        </p:blipFill>
        <p:spPr>
          <a:xfrm>
            <a:off x="158699" y="855445"/>
            <a:ext cx="9453838" cy="4493865"/>
          </a:xfrm>
          <a:prstGeom prst="rect">
            <a:avLst/>
          </a:prstGeom>
        </p:spPr>
      </p:pic>
    </p:spTree>
    <p:extLst>
      <p:ext uri="{BB962C8B-B14F-4D97-AF65-F5344CB8AC3E}">
        <p14:creationId xmlns:p14="http://schemas.microsoft.com/office/powerpoint/2010/main" val="1127628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41B056C8-D676-73B9-7504-DAD3C7343AC5}"/>
              </a:ext>
            </a:extLst>
          </p:cNvPr>
          <p:cNvSpPr>
            <a:spLocks noGrp="1"/>
          </p:cNvSpPr>
          <p:nvPr>
            <p:ph type="body" sz="quarter" idx="12"/>
          </p:nvPr>
        </p:nvSpPr>
        <p:spPr/>
        <p:txBody>
          <a:bodyPr/>
          <a:lstStyle/>
          <a:p>
            <a:r>
              <a:rPr lang="ja-JP" altLang="en-US" dirty="0"/>
              <a:t>オペレータの固定席に全て電話機を置いていることから不在オペレータ分もライセンスが必要となっている。</a:t>
            </a:r>
          </a:p>
          <a:p>
            <a:r>
              <a:rPr lang="ja-JP" altLang="en-US" dirty="0"/>
              <a:t>固定席にせずにフリーシート化することで不要なライセンスの削減を行う。</a:t>
            </a:r>
          </a:p>
          <a:p>
            <a:r>
              <a:rPr lang="ja-JP" altLang="en-US" dirty="0"/>
              <a:t>現在の利用状況から席数を７割に削減する前提で規模試算を実施する。</a:t>
            </a:r>
          </a:p>
        </p:txBody>
      </p:sp>
      <p:sp>
        <p:nvSpPr>
          <p:cNvPr id="6" name="タイトル 5">
            <a:extLst>
              <a:ext uri="{FF2B5EF4-FFF2-40B4-BE49-F238E27FC236}">
                <a16:creationId xmlns:a16="http://schemas.microsoft.com/office/drawing/2014/main" id="{9A956497-1446-C34E-1726-F3FBFF4521A8}"/>
              </a:ext>
            </a:extLst>
          </p:cNvPr>
          <p:cNvSpPr>
            <a:spLocks noGrp="1"/>
          </p:cNvSpPr>
          <p:nvPr>
            <p:ph type="title"/>
          </p:nvPr>
        </p:nvSpPr>
        <p:spPr/>
        <p:txBody>
          <a:bodyPr/>
          <a:lstStyle/>
          <a:p>
            <a:r>
              <a:rPr lang="en-US" altLang="ja-JP" dirty="0"/>
              <a:t>【</a:t>
            </a:r>
            <a:r>
              <a:rPr lang="ja-JP" altLang="en-US" dirty="0"/>
              <a:t>参考③</a:t>
            </a:r>
            <a:r>
              <a:rPr lang="en-US" altLang="ja-JP" dirty="0"/>
              <a:t>】</a:t>
            </a:r>
            <a:r>
              <a:rPr lang="ja-JP" altLang="en-US" dirty="0"/>
              <a:t>ライセンスの削減</a:t>
            </a:r>
          </a:p>
        </p:txBody>
      </p:sp>
      <p:pic>
        <p:nvPicPr>
          <p:cNvPr id="7" name="図 6">
            <a:extLst>
              <a:ext uri="{FF2B5EF4-FFF2-40B4-BE49-F238E27FC236}">
                <a16:creationId xmlns:a16="http://schemas.microsoft.com/office/drawing/2014/main" id="{71402FC8-EDC0-865C-4A7E-0893D14C88AA}"/>
              </a:ext>
            </a:extLst>
          </p:cNvPr>
          <p:cNvPicPr>
            <a:picLocks noChangeAspect="1"/>
          </p:cNvPicPr>
          <p:nvPr/>
        </p:nvPicPr>
        <p:blipFill>
          <a:blip r:embed="rId2"/>
          <a:stretch>
            <a:fillRect/>
          </a:stretch>
        </p:blipFill>
        <p:spPr>
          <a:xfrm>
            <a:off x="157382" y="4340089"/>
            <a:ext cx="9520018" cy="1314803"/>
          </a:xfrm>
          <a:prstGeom prst="rect">
            <a:avLst/>
          </a:prstGeom>
        </p:spPr>
      </p:pic>
      <p:sp>
        <p:nvSpPr>
          <p:cNvPr id="8" name="テキスト ボックス 7">
            <a:extLst>
              <a:ext uri="{FF2B5EF4-FFF2-40B4-BE49-F238E27FC236}">
                <a16:creationId xmlns:a16="http://schemas.microsoft.com/office/drawing/2014/main" id="{4F72F431-DBF0-8515-5E07-AC7237C1528C}"/>
              </a:ext>
            </a:extLst>
          </p:cNvPr>
          <p:cNvSpPr txBox="1"/>
          <p:nvPr/>
        </p:nvSpPr>
        <p:spPr>
          <a:xfrm>
            <a:off x="110401" y="3858806"/>
            <a:ext cx="9685197" cy="307777"/>
          </a:xfrm>
          <a:prstGeom prst="rect">
            <a:avLst/>
          </a:prstGeom>
          <a:noFill/>
        </p:spPr>
        <p:txBody>
          <a:bodyPr wrap="square">
            <a:spAutoFit/>
          </a:bodyPr>
          <a:lstStyle/>
          <a:p>
            <a:pPr>
              <a:spcAft>
                <a:spcPts val="0"/>
              </a:spcAft>
              <a:defRPr/>
            </a:pPr>
            <a:r>
              <a:rPr lang="en-US" altLang="ja-JP" sz="1400" dirty="0">
                <a:solidFill>
                  <a:srgbClr val="292929"/>
                </a:solidFill>
                <a:latin typeface="Meiryo UI"/>
                <a:ea typeface="Meiryo UI"/>
              </a:rPr>
              <a:t>【</a:t>
            </a:r>
            <a:r>
              <a:rPr lang="ja-JP" altLang="en-US" sz="1400" dirty="0">
                <a:solidFill>
                  <a:srgbClr val="292929"/>
                </a:solidFill>
                <a:latin typeface="Meiryo UI"/>
                <a:ea typeface="Meiryo UI"/>
              </a:rPr>
              <a:t>フリーシート化によるライセンス削減（イメージ）</a:t>
            </a:r>
            <a:r>
              <a:rPr lang="en-US" altLang="ja-JP" sz="1400" dirty="0">
                <a:solidFill>
                  <a:srgbClr val="292929"/>
                </a:solidFill>
                <a:latin typeface="Meiryo UI"/>
                <a:ea typeface="Meiryo UI"/>
              </a:rPr>
              <a:t>】</a:t>
            </a:r>
          </a:p>
        </p:txBody>
      </p:sp>
      <p:graphicFrame>
        <p:nvGraphicFramePr>
          <p:cNvPr id="9" name="表 8">
            <a:extLst>
              <a:ext uri="{FF2B5EF4-FFF2-40B4-BE49-F238E27FC236}">
                <a16:creationId xmlns:a16="http://schemas.microsoft.com/office/drawing/2014/main" id="{E70D3FEA-5172-A62F-CB31-1EBCE8C96774}"/>
              </a:ext>
            </a:extLst>
          </p:cNvPr>
          <p:cNvGraphicFramePr>
            <a:graphicFrameLocks noGrp="1"/>
          </p:cNvGraphicFramePr>
          <p:nvPr/>
        </p:nvGraphicFramePr>
        <p:xfrm>
          <a:off x="512884" y="1771054"/>
          <a:ext cx="8486336" cy="1548720"/>
        </p:xfrm>
        <a:graphic>
          <a:graphicData uri="http://schemas.openxmlformats.org/drawingml/2006/table">
            <a:tbl>
              <a:tblPr firstRow="1" bandRow="1"/>
              <a:tblGrid>
                <a:gridCol w="561536">
                  <a:extLst>
                    <a:ext uri="{9D8B030D-6E8A-4147-A177-3AD203B41FA5}">
                      <a16:colId xmlns:a16="http://schemas.microsoft.com/office/drawing/2014/main" val="116094207"/>
                    </a:ext>
                  </a:extLst>
                </a:gridCol>
                <a:gridCol w="1889760">
                  <a:extLst>
                    <a:ext uri="{9D8B030D-6E8A-4147-A177-3AD203B41FA5}">
                      <a16:colId xmlns:a16="http://schemas.microsoft.com/office/drawing/2014/main" val="3322080614"/>
                    </a:ext>
                  </a:extLst>
                </a:gridCol>
                <a:gridCol w="1615440">
                  <a:extLst>
                    <a:ext uri="{9D8B030D-6E8A-4147-A177-3AD203B41FA5}">
                      <a16:colId xmlns:a16="http://schemas.microsoft.com/office/drawing/2014/main" val="1621574184"/>
                    </a:ext>
                  </a:extLst>
                </a:gridCol>
                <a:gridCol w="1607820">
                  <a:extLst>
                    <a:ext uri="{9D8B030D-6E8A-4147-A177-3AD203B41FA5}">
                      <a16:colId xmlns:a16="http://schemas.microsoft.com/office/drawing/2014/main" val="4216761080"/>
                    </a:ext>
                  </a:extLst>
                </a:gridCol>
                <a:gridCol w="1480107">
                  <a:extLst>
                    <a:ext uri="{9D8B030D-6E8A-4147-A177-3AD203B41FA5}">
                      <a16:colId xmlns:a16="http://schemas.microsoft.com/office/drawing/2014/main" val="3294670443"/>
                    </a:ext>
                  </a:extLst>
                </a:gridCol>
                <a:gridCol w="1331673">
                  <a:extLst>
                    <a:ext uri="{9D8B030D-6E8A-4147-A177-3AD203B41FA5}">
                      <a16:colId xmlns:a16="http://schemas.microsoft.com/office/drawing/2014/main" val="3234658643"/>
                    </a:ext>
                  </a:extLst>
                </a:gridCol>
              </a:tblGrid>
              <a:tr h="153998">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200" b="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項番</a:t>
                      </a:r>
                    </a:p>
                  </a:txBody>
                  <a:tcPr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会社名</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保有数</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ピーク件数</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利用率</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備考</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extLst>
                  <a:ext uri="{0D108BD9-81ED-4DB2-BD59-A6C34878D82A}">
                    <a16:rowId xmlns:a16="http://schemas.microsoft.com/office/drawing/2014/main" val="175094704"/>
                  </a:ext>
                </a:extLst>
              </a:tr>
              <a:tr h="113356">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ja-JP" altLang="en-US" sz="1200" b="1" u="none" dirty="0">
                          <a:latin typeface="Meiryo UI" panose="020B0604030504040204" pitchFamily="50" charset="-128"/>
                          <a:ea typeface="Meiryo UI" panose="020B0604030504040204" pitchFamily="50" charset="-128"/>
                          <a:cs typeface="Meiryo UI" panose="020B0604030504040204" pitchFamily="50" charset="-128"/>
                        </a:rPr>
                        <a:t>１</a:t>
                      </a:r>
                      <a:endParaRPr kumimoji="1" lang="en-US" altLang="ja-JP" sz="1200" b="1" u="none"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SMCC ACD1</a:t>
                      </a:r>
                      <a:endPar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１，０６９</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６０１</a:t>
                      </a:r>
                      <a:endParaRPr kumimoji="1" lang="en-US" altLang="ja-JP"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５６．２２％</a:t>
                      </a:r>
                      <a:endParaRPr kumimoji="1" lang="en-US" altLang="ja-JP"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endParaRPr kumimoji="1" lang="en-US" altLang="ja-JP"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4377112"/>
                  </a:ext>
                </a:extLst>
              </a:tr>
              <a:tr h="0">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ja-JP" altLang="en-US" sz="1200" b="1" u="none" dirty="0">
                          <a:latin typeface="Meiryo UI" panose="020B0604030504040204" pitchFamily="50" charset="-128"/>
                          <a:ea typeface="Meiryo UI" panose="020B0604030504040204" pitchFamily="50" charset="-128"/>
                          <a:cs typeface="Meiryo UI" panose="020B0604030504040204" pitchFamily="50" charset="-128"/>
                        </a:rPr>
                        <a:t>２</a:t>
                      </a:r>
                      <a:endParaRPr kumimoji="1" lang="en-US" altLang="ja-JP" sz="1200" b="1" u="none"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SMCC ACD1</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１，４６９</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５８４</a:t>
                      </a:r>
                      <a:endParaRPr kumimoji="1" lang="en-US" altLang="ja-JP"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３９．７５％</a:t>
                      </a:r>
                      <a:endParaRPr kumimoji="1" lang="en-US" altLang="ja-JP"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endParaRPr kumimoji="1" lang="en-US" altLang="ja-JP"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67518408"/>
                  </a:ext>
                </a:extLst>
              </a:tr>
              <a:tr h="12540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ja-JP" altLang="en-US" sz="1200" b="1" u="none" dirty="0">
                          <a:latin typeface="Meiryo UI" panose="020B0604030504040204" pitchFamily="50" charset="-128"/>
                          <a:ea typeface="Meiryo UI" panose="020B0604030504040204" pitchFamily="50" charset="-128"/>
                          <a:cs typeface="Meiryo UI" panose="020B0604030504040204" pitchFamily="50" charset="-128"/>
                        </a:rPr>
                        <a:t>３</a:t>
                      </a:r>
                      <a:endParaRPr kumimoji="1" lang="en-US" altLang="ja-JP" sz="1200" b="1" u="none"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受託先</a:t>
                      </a:r>
                      <a:endParaRPr kumimoji="1" lang="en-US" altLang="ja-JP"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２３２</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１６３</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７０．２６％</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endPar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03872542"/>
                  </a:ext>
                </a:extLst>
              </a:tr>
              <a:tr h="12540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ja-JP" altLang="en-US" sz="1200" b="1" u="none" dirty="0">
                          <a:latin typeface="Meiryo UI" panose="020B0604030504040204" pitchFamily="50" charset="-128"/>
                          <a:ea typeface="Meiryo UI" panose="020B0604030504040204" pitchFamily="50" charset="-128"/>
                          <a:cs typeface="Meiryo UI" panose="020B0604030504040204" pitchFamily="50" charset="-128"/>
                        </a:rPr>
                        <a:t>４</a:t>
                      </a:r>
                      <a:endParaRPr kumimoji="1" lang="en-US" altLang="ja-JP" sz="1200" b="1" u="none"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旧</a:t>
                      </a:r>
                      <a:r>
                        <a:rPr kumimoji="1" lang="en-US" altLang="ja-JP"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FS</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２，３６５</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６９６</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２９．４３％</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endPar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1243481"/>
                  </a:ext>
                </a:extLst>
              </a:tr>
              <a:tr h="125408">
                <a:tc gridSpan="2">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ja-JP" altLang="en-US" sz="1200" b="1" u="none" dirty="0">
                          <a:latin typeface="Meiryo UI" panose="020B0604030504040204" pitchFamily="50" charset="-128"/>
                          <a:ea typeface="Meiryo UI" panose="020B0604030504040204" pitchFamily="50" charset="-128"/>
                          <a:cs typeface="Meiryo UI" panose="020B0604030504040204" pitchFamily="50" charset="-128"/>
                        </a:rPr>
                        <a:t>合計</a:t>
                      </a:r>
                      <a:endParaRPr kumimoji="1" lang="en-US" altLang="ja-JP" sz="1200" b="1" u="none"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gn="l"/>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５，１３５</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２，０４４</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r>
                        <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３９．８１％</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endParaRPr kumimoji="1" lang="ja-JP" altLang="en-US" sz="12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75074084"/>
                  </a:ext>
                </a:extLst>
              </a:tr>
            </a:tbl>
          </a:graphicData>
        </a:graphic>
      </p:graphicFrame>
    </p:spTree>
    <p:extLst>
      <p:ext uri="{BB962C8B-B14F-4D97-AF65-F5344CB8AC3E}">
        <p14:creationId xmlns:p14="http://schemas.microsoft.com/office/powerpoint/2010/main" val="3685506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2DE2D-4072-FD31-FF2E-4AED64B350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F3B1D90-1B40-9C20-1018-94B3B2710597}"/>
              </a:ext>
            </a:extLst>
          </p:cNvPr>
          <p:cNvSpPr>
            <a:spLocks noGrp="1"/>
          </p:cNvSpPr>
          <p:nvPr>
            <p:ph type="title"/>
          </p:nvPr>
        </p:nvSpPr>
        <p:spPr/>
        <p:txBody>
          <a:bodyPr/>
          <a:lstStyle/>
          <a:p>
            <a:pPr marL="0" indent="0" eaLnBrk="1" hangingPunct="1">
              <a:spcAft>
                <a:spcPts val="0"/>
              </a:spcAft>
              <a:defRPr/>
            </a:pPr>
            <a:r>
              <a:rPr lang="en-US" altLang="ja-JP" dirty="0">
                <a:latin typeface="+mn-ea"/>
                <a:ea typeface="+mn-ea"/>
              </a:rPr>
              <a:t>【</a:t>
            </a:r>
            <a:r>
              <a:rPr lang="ja-JP" altLang="en-US" dirty="0">
                <a:latin typeface="+mn-ea"/>
                <a:ea typeface="+mn-ea"/>
              </a:rPr>
              <a:t>参考④</a:t>
            </a:r>
            <a:r>
              <a:rPr lang="en-US" altLang="ja-JP" dirty="0">
                <a:latin typeface="+mn-ea"/>
                <a:ea typeface="+mn-ea"/>
              </a:rPr>
              <a:t>】</a:t>
            </a:r>
            <a:r>
              <a:rPr lang="ja-JP" altLang="en-US" dirty="0"/>
              <a:t>仮想基盤構成の検討</a:t>
            </a:r>
            <a:endParaRPr kumimoji="1" lang="en-US" altLang="ja-JP" sz="1800" dirty="0">
              <a:latin typeface="+mn-ea"/>
              <a:ea typeface="+mn-ea"/>
            </a:endParaRPr>
          </a:p>
        </p:txBody>
      </p:sp>
      <p:sp>
        <p:nvSpPr>
          <p:cNvPr id="3" name="テキスト プレースホルダー 2">
            <a:extLst>
              <a:ext uri="{FF2B5EF4-FFF2-40B4-BE49-F238E27FC236}">
                <a16:creationId xmlns:a16="http://schemas.microsoft.com/office/drawing/2014/main" id="{153FABA9-AC72-84B4-9FCE-90AF8266E8FA}"/>
              </a:ext>
            </a:extLst>
          </p:cNvPr>
          <p:cNvSpPr txBox="1">
            <a:spLocks/>
          </p:cNvSpPr>
          <p:nvPr/>
        </p:nvSpPr>
        <p:spPr>
          <a:xfrm>
            <a:off x="165100" y="590980"/>
            <a:ext cx="9615104" cy="840382"/>
          </a:xfrm>
          <a:prstGeom prst="rect">
            <a:avLst/>
          </a:prstGeom>
        </p:spPr>
        <p:txBody>
          <a:bodyPr/>
          <a:lstStyle>
            <a:lvl1pPr marL="180975" indent="-180975" algn="l" rtl="0" eaLnBrk="0" fontAlgn="base" hangingPunct="0">
              <a:lnSpc>
                <a:spcPct val="100000"/>
              </a:lnSpc>
              <a:spcBef>
                <a:spcPts val="300"/>
              </a:spcBef>
              <a:spcAft>
                <a:spcPct val="0"/>
              </a:spcAft>
              <a:buClr>
                <a:schemeClr val="tx1"/>
              </a:buClr>
              <a:buFont typeface="Wingdings" panose="05000000000000000000" pitchFamily="2" charset="2"/>
              <a:buChar char="l"/>
              <a:defRPr kumimoji="1" sz="1400">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a:lstStyle>
          <a:p>
            <a:r>
              <a:rPr lang="en-US" altLang="ja-JP" dirty="0"/>
              <a:t>VMWare</a:t>
            </a:r>
            <a:r>
              <a:rPr lang="ja-JP" altLang="en-US" dirty="0"/>
              <a:t>のライセンス高騰に伴ってインテル共通基盤の後継となるオープン系システム基盤（</a:t>
            </a:r>
            <a:r>
              <a:rPr lang="en-US" altLang="ja-JP" dirty="0"/>
              <a:t>Hyper-V</a:t>
            </a:r>
            <a:r>
              <a:rPr lang="ja-JP" altLang="en-US" dirty="0"/>
              <a:t>・</a:t>
            </a:r>
            <a:r>
              <a:rPr lang="en-US" altLang="ja-JP" dirty="0"/>
              <a:t>Nutanix</a:t>
            </a:r>
            <a:r>
              <a:rPr lang="ja-JP" altLang="en-US" dirty="0"/>
              <a:t>基盤）を開発中。</a:t>
            </a:r>
            <a:endParaRPr lang="en-US" altLang="ja-JP" dirty="0"/>
          </a:p>
          <a:p>
            <a:r>
              <a:rPr lang="ja-JP" altLang="en-US" kern="0" dirty="0">
                <a:latin typeface="+mn-ea"/>
              </a:rPr>
              <a:t>オープン系システム基盤では、現在コンタクトセンタ共通基盤で利用しているスタンダードカスタムが</a:t>
            </a:r>
            <a:r>
              <a:rPr lang="ja-JP" altLang="en-US" dirty="0"/>
              <a:t>提供されないこと</a:t>
            </a:r>
            <a:r>
              <a:rPr lang="ja-JP" altLang="en-US" kern="0" dirty="0">
                <a:latin typeface="+mn-ea"/>
              </a:rPr>
              <a:t>に伴い、代替となるシステム構成の検討（①アプライアンス導入検討、②</a:t>
            </a:r>
            <a:r>
              <a:rPr lang="en-US" altLang="ja-JP" kern="0" dirty="0">
                <a:latin typeface="+mn-ea"/>
              </a:rPr>
              <a:t>Hyper-V</a:t>
            </a:r>
            <a:r>
              <a:rPr lang="ja-JP" altLang="en-US" kern="0" dirty="0">
                <a:latin typeface="+mn-ea"/>
              </a:rPr>
              <a:t>基盤構築検討）を実施。</a:t>
            </a:r>
            <a:endParaRPr lang="en-US" altLang="ja-JP" kern="0" dirty="0">
              <a:latin typeface="+mn-ea"/>
            </a:endParaRPr>
          </a:p>
        </p:txBody>
      </p:sp>
      <p:pic>
        <p:nvPicPr>
          <p:cNvPr id="4" name="図 3">
            <a:extLst>
              <a:ext uri="{FF2B5EF4-FFF2-40B4-BE49-F238E27FC236}">
                <a16:creationId xmlns:a16="http://schemas.microsoft.com/office/drawing/2014/main" id="{0B28F61C-7FC8-179F-2A9C-676772F7FFB6}"/>
              </a:ext>
            </a:extLst>
          </p:cNvPr>
          <p:cNvPicPr>
            <a:picLocks noChangeAspect="1"/>
          </p:cNvPicPr>
          <p:nvPr/>
        </p:nvPicPr>
        <p:blipFill>
          <a:blip r:embed="rId3"/>
          <a:stretch>
            <a:fillRect/>
          </a:stretch>
        </p:blipFill>
        <p:spPr>
          <a:xfrm>
            <a:off x="228178" y="1549646"/>
            <a:ext cx="9243481" cy="5192576"/>
          </a:xfrm>
          <a:prstGeom prst="rect">
            <a:avLst/>
          </a:prstGeom>
        </p:spPr>
      </p:pic>
      <p:sp>
        <p:nvSpPr>
          <p:cNvPr id="5" name="矢印: 上下 4">
            <a:extLst>
              <a:ext uri="{FF2B5EF4-FFF2-40B4-BE49-F238E27FC236}">
                <a16:creationId xmlns:a16="http://schemas.microsoft.com/office/drawing/2014/main" id="{CA21718A-1740-3D76-8D19-6F601A8F7E4D}"/>
              </a:ext>
            </a:extLst>
          </p:cNvPr>
          <p:cNvSpPr/>
          <p:nvPr/>
        </p:nvSpPr>
        <p:spPr bwMode="auto">
          <a:xfrm>
            <a:off x="6469380" y="1549646"/>
            <a:ext cx="571500" cy="2633734"/>
          </a:xfrm>
          <a:prstGeom prst="upDownArrow">
            <a:avLst/>
          </a:prstGeom>
          <a:solidFill>
            <a:srgbClr val="FF0000"/>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dirty="0">
              <a:ln>
                <a:noFill/>
              </a:ln>
              <a:solidFill>
                <a:schemeClr val="tx1"/>
              </a:solidFill>
              <a:effectLst/>
              <a:latin typeface="+mn-ea"/>
              <a:ea typeface="+mn-ea"/>
              <a:cs typeface="Meiryo UI" panose="020B0604030504040204" pitchFamily="50" charset="-128"/>
            </a:endParaRPr>
          </a:p>
        </p:txBody>
      </p:sp>
      <p:sp>
        <p:nvSpPr>
          <p:cNvPr id="6" name="矢印: 上下 5">
            <a:extLst>
              <a:ext uri="{FF2B5EF4-FFF2-40B4-BE49-F238E27FC236}">
                <a16:creationId xmlns:a16="http://schemas.microsoft.com/office/drawing/2014/main" id="{164E6C95-2CC0-E69D-FB2E-CAEEE6892392}"/>
              </a:ext>
            </a:extLst>
          </p:cNvPr>
          <p:cNvSpPr/>
          <p:nvPr/>
        </p:nvSpPr>
        <p:spPr bwMode="auto">
          <a:xfrm>
            <a:off x="6469380" y="4183380"/>
            <a:ext cx="571500" cy="2558842"/>
          </a:xfrm>
          <a:prstGeom prst="upDownArrow">
            <a:avLst/>
          </a:prstGeom>
          <a:solidFill>
            <a:srgbClr val="FF0000"/>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dirty="0">
              <a:ln>
                <a:noFill/>
              </a:ln>
              <a:solidFill>
                <a:schemeClr val="tx1"/>
              </a:solidFill>
              <a:effectLst/>
              <a:latin typeface="+mn-ea"/>
              <a:ea typeface="+mn-ea"/>
              <a:cs typeface="Meiryo UI" panose="020B0604030504040204" pitchFamily="50" charset="-128"/>
            </a:endParaRPr>
          </a:p>
        </p:txBody>
      </p:sp>
      <p:sp>
        <p:nvSpPr>
          <p:cNvPr id="7" name="吹き出し: 角を丸めた四角形 6">
            <a:extLst>
              <a:ext uri="{FF2B5EF4-FFF2-40B4-BE49-F238E27FC236}">
                <a16:creationId xmlns:a16="http://schemas.microsoft.com/office/drawing/2014/main" id="{711D0FD8-29EA-5524-8B5C-AFD798CD8C8F}"/>
              </a:ext>
            </a:extLst>
          </p:cNvPr>
          <p:cNvSpPr/>
          <p:nvPr/>
        </p:nvSpPr>
        <p:spPr bwMode="auto">
          <a:xfrm>
            <a:off x="7139940" y="1549646"/>
            <a:ext cx="2697480" cy="751594"/>
          </a:xfrm>
          <a:prstGeom prst="wedgeRoundRectCallout">
            <a:avLst>
              <a:gd name="adj1" fmla="val -57736"/>
              <a:gd name="adj2" fmla="val 41179"/>
              <a:gd name="adj3" fmla="val 16667"/>
            </a:avLst>
          </a:prstGeom>
          <a:solidFill>
            <a:schemeClr val="bg1"/>
          </a:solidFill>
          <a:ln w="12700">
            <a:solidFill>
              <a:schemeClr val="tx1">
                <a:lumMod val="90000"/>
                <a:lumOff val="1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en-US" altLang="ja-JP" sz="1000" b="1" dirty="0">
                <a:solidFill>
                  <a:schemeClr val="tx1"/>
                </a:solidFill>
                <a:latin typeface="+mn-ea"/>
                <a:cs typeface="Meiryo UI" panose="020B0604030504040204" pitchFamily="50" charset="-128"/>
              </a:rPr>
              <a:t>【</a:t>
            </a:r>
            <a:r>
              <a:rPr lang="ja-JP" altLang="en-US" sz="1000" b="1" dirty="0">
                <a:solidFill>
                  <a:schemeClr val="tx1"/>
                </a:solidFill>
                <a:latin typeface="+mn-ea"/>
                <a:cs typeface="Meiryo UI" panose="020B0604030504040204" pitchFamily="50" charset="-128"/>
              </a:rPr>
              <a:t>検討事項①</a:t>
            </a:r>
            <a:r>
              <a:rPr lang="en-US" altLang="ja-JP" sz="1000" b="1" dirty="0">
                <a:solidFill>
                  <a:schemeClr val="tx1"/>
                </a:solidFill>
                <a:latin typeface="+mn-ea"/>
                <a:cs typeface="Meiryo UI" panose="020B0604030504040204" pitchFamily="50" charset="-128"/>
              </a:rPr>
              <a:t>】</a:t>
            </a:r>
          </a:p>
          <a:p>
            <a:pPr algn="just" defTabSz="742950" eaLnBrk="1" hangingPunct="1"/>
            <a:r>
              <a:rPr lang="ja-JP" altLang="en-US" sz="1000" b="1" dirty="0">
                <a:solidFill>
                  <a:schemeClr val="tx1"/>
                </a:solidFill>
                <a:latin typeface="+mn-ea"/>
                <a:cs typeface="Meiryo UI" panose="020B0604030504040204" pitchFamily="50" charset="-128"/>
              </a:rPr>
              <a:t>・左記</a:t>
            </a:r>
            <a:r>
              <a:rPr lang="en-US" altLang="ja-JP" sz="1000" b="1" dirty="0">
                <a:solidFill>
                  <a:schemeClr val="tx1"/>
                </a:solidFill>
                <a:latin typeface="+mn-ea"/>
                <a:cs typeface="Meiryo UI" panose="020B0604030504040204" pitchFamily="50" charset="-128"/>
              </a:rPr>
              <a:t>A</a:t>
            </a:r>
            <a:r>
              <a:rPr lang="ja-JP" altLang="en-US" sz="1000" b="1" dirty="0">
                <a:solidFill>
                  <a:schemeClr val="tx1"/>
                </a:solidFill>
                <a:latin typeface="+mn-ea"/>
                <a:cs typeface="Meiryo UI" panose="020B0604030504040204" pitchFamily="50" charset="-128"/>
              </a:rPr>
              <a:t>～</a:t>
            </a:r>
            <a:r>
              <a:rPr lang="en-US" altLang="ja-JP" sz="1000" b="1" dirty="0">
                <a:solidFill>
                  <a:schemeClr val="tx1"/>
                </a:solidFill>
                <a:latin typeface="+mn-ea"/>
                <a:cs typeface="Meiryo UI" panose="020B0604030504040204" pitchFamily="50" charset="-128"/>
              </a:rPr>
              <a:t>C</a:t>
            </a:r>
            <a:r>
              <a:rPr lang="ja-JP" altLang="en-US" sz="1000" b="1" dirty="0">
                <a:solidFill>
                  <a:schemeClr val="tx1"/>
                </a:solidFill>
                <a:latin typeface="+mn-ea"/>
                <a:cs typeface="Meiryo UI" panose="020B0604030504040204" pitchFamily="50" charset="-128"/>
              </a:rPr>
              <a:t>のサーバについて、以下２案で比較</a:t>
            </a:r>
            <a:endParaRPr lang="en-US" altLang="ja-JP" sz="1000" b="1" dirty="0">
              <a:solidFill>
                <a:schemeClr val="tx1"/>
              </a:solidFill>
              <a:latin typeface="+mn-ea"/>
              <a:cs typeface="Meiryo UI" panose="020B0604030504040204" pitchFamily="50" charset="-128"/>
            </a:endParaRPr>
          </a:p>
          <a:p>
            <a:pPr algn="just" defTabSz="742950" eaLnBrk="1" hangingPunct="1"/>
            <a:r>
              <a:rPr lang="ja-JP" altLang="en-US" sz="1000" b="1" dirty="0">
                <a:solidFill>
                  <a:schemeClr val="tx1"/>
                </a:solidFill>
                <a:latin typeface="+mn-ea"/>
                <a:cs typeface="Meiryo UI" panose="020B0604030504040204" pitchFamily="50" charset="-128"/>
              </a:rPr>
              <a:t>　案①：アプライアンスサーバ主体の構成</a:t>
            </a:r>
            <a:endParaRPr lang="en-US" altLang="ja-JP" sz="1000" b="1" dirty="0">
              <a:solidFill>
                <a:schemeClr val="tx1"/>
              </a:solidFill>
              <a:latin typeface="+mn-ea"/>
              <a:cs typeface="Meiryo UI" panose="020B0604030504040204" pitchFamily="50" charset="-128"/>
            </a:endParaRPr>
          </a:p>
          <a:p>
            <a:pPr algn="just" defTabSz="742950" eaLnBrk="1" hangingPunct="1"/>
            <a:r>
              <a:rPr lang="ja-JP" altLang="en-US" sz="1000" b="1" dirty="0">
                <a:solidFill>
                  <a:schemeClr val="tx1"/>
                </a:solidFill>
                <a:latin typeface="+mn-ea"/>
                <a:cs typeface="Meiryo UI" panose="020B0604030504040204" pitchFamily="50" charset="-128"/>
              </a:rPr>
              <a:t>　案②：</a:t>
            </a:r>
            <a:r>
              <a:rPr lang="en-US" altLang="ja-JP" sz="1000" b="1" dirty="0">
                <a:solidFill>
                  <a:schemeClr val="tx1"/>
                </a:solidFill>
                <a:latin typeface="+mn-ea"/>
                <a:cs typeface="Meiryo UI" panose="020B0604030504040204" pitchFamily="50" charset="-128"/>
              </a:rPr>
              <a:t>Hyper-V</a:t>
            </a:r>
            <a:r>
              <a:rPr lang="ja-JP" altLang="en-US" sz="1000" b="1" dirty="0">
                <a:solidFill>
                  <a:schemeClr val="tx1"/>
                </a:solidFill>
                <a:latin typeface="+mn-ea"/>
                <a:cs typeface="Meiryo UI" panose="020B0604030504040204" pitchFamily="50" charset="-128"/>
              </a:rPr>
              <a:t>基盤主体の構成</a:t>
            </a:r>
            <a:endParaRPr lang="en-US" altLang="ja-JP" sz="1000" b="1" dirty="0">
              <a:solidFill>
                <a:schemeClr val="tx1"/>
              </a:solidFill>
              <a:latin typeface="+mn-ea"/>
              <a:cs typeface="Meiryo UI" panose="020B0604030504040204" pitchFamily="50" charset="-128"/>
            </a:endParaRPr>
          </a:p>
        </p:txBody>
      </p:sp>
      <p:sp>
        <p:nvSpPr>
          <p:cNvPr id="8" name="吹き出し: 角を丸めた四角形 7">
            <a:extLst>
              <a:ext uri="{FF2B5EF4-FFF2-40B4-BE49-F238E27FC236}">
                <a16:creationId xmlns:a16="http://schemas.microsoft.com/office/drawing/2014/main" id="{3D80A082-E4AA-F1DE-0437-42ED8B4E7662}"/>
              </a:ext>
            </a:extLst>
          </p:cNvPr>
          <p:cNvSpPr/>
          <p:nvPr/>
        </p:nvSpPr>
        <p:spPr bwMode="auto">
          <a:xfrm>
            <a:off x="7139940" y="4285226"/>
            <a:ext cx="2697480" cy="751594"/>
          </a:xfrm>
          <a:prstGeom prst="wedgeRoundRectCallout">
            <a:avLst>
              <a:gd name="adj1" fmla="val -57736"/>
              <a:gd name="adj2" fmla="val 41179"/>
              <a:gd name="adj3" fmla="val 16667"/>
            </a:avLst>
          </a:prstGeom>
          <a:solidFill>
            <a:schemeClr val="bg1"/>
          </a:solidFill>
          <a:ln w="12700">
            <a:solidFill>
              <a:schemeClr val="tx1">
                <a:lumMod val="90000"/>
                <a:lumOff val="1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en-US" altLang="ja-JP" sz="1000" b="1" dirty="0">
                <a:solidFill>
                  <a:schemeClr val="tx1"/>
                </a:solidFill>
                <a:latin typeface="+mn-ea"/>
                <a:cs typeface="Meiryo UI" panose="020B0604030504040204" pitchFamily="50" charset="-128"/>
              </a:rPr>
              <a:t>【</a:t>
            </a:r>
            <a:r>
              <a:rPr lang="ja-JP" altLang="en-US" sz="1000" b="1" dirty="0">
                <a:solidFill>
                  <a:schemeClr val="tx1"/>
                </a:solidFill>
                <a:latin typeface="+mn-ea"/>
                <a:cs typeface="Meiryo UI" panose="020B0604030504040204" pitchFamily="50" charset="-128"/>
              </a:rPr>
              <a:t>検討事項②</a:t>
            </a:r>
            <a:r>
              <a:rPr lang="en-US" altLang="ja-JP" sz="1000" b="1" dirty="0">
                <a:solidFill>
                  <a:schemeClr val="tx1"/>
                </a:solidFill>
                <a:latin typeface="+mn-ea"/>
                <a:cs typeface="Meiryo UI" panose="020B0604030504040204" pitchFamily="50" charset="-128"/>
              </a:rPr>
              <a:t>】</a:t>
            </a:r>
          </a:p>
          <a:p>
            <a:pPr algn="just" defTabSz="742950" eaLnBrk="1" hangingPunct="1"/>
            <a:r>
              <a:rPr lang="ja-JP" altLang="en-US" sz="1000" b="1" dirty="0">
                <a:solidFill>
                  <a:schemeClr val="tx1"/>
                </a:solidFill>
                <a:latin typeface="+mn-ea"/>
                <a:cs typeface="Meiryo UI" panose="020B0604030504040204" pitchFamily="50" charset="-128"/>
              </a:rPr>
              <a:t>・</a:t>
            </a:r>
            <a:r>
              <a:rPr lang="en-US" altLang="ja-JP" sz="1000" b="1" dirty="0">
                <a:solidFill>
                  <a:schemeClr val="tx1"/>
                </a:solidFill>
                <a:latin typeface="+mn-ea"/>
                <a:cs typeface="Meiryo UI" panose="020B0604030504040204" pitchFamily="50" charset="-128"/>
              </a:rPr>
              <a:t>Hyper-V</a:t>
            </a:r>
            <a:r>
              <a:rPr lang="ja-JP" altLang="en-US" sz="1000" b="1" dirty="0">
                <a:solidFill>
                  <a:schemeClr val="tx1"/>
                </a:solidFill>
                <a:latin typeface="+mn-ea"/>
                <a:cs typeface="Meiryo UI" panose="020B0604030504040204" pitchFamily="50" charset="-128"/>
              </a:rPr>
              <a:t>基盤の構築方法を検討</a:t>
            </a:r>
            <a:endParaRPr lang="en-US" altLang="ja-JP" sz="1000" b="1" dirty="0">
              <a:solidFill>
                <a:schemeClr val="tx1"/>
              </a:solidFill>
              <a:latin typeface="+mn-ea"/>
              <a:cs typeface="Meiryo UI" panose="020B0604030504040204" pitchFamily="50" charset="-128"/>
            </a:endParaRPr>
          </a:p>
          <a:p>
            <a:pPr algn="just" defTabSz="742950" eaLnBrk="1" hangingPunct="1"/>
            <a:r>
              <a:rPr lang="ja-JP" altLang="en-US" sz="1000" b="1" dirty="0">
                <a:solidFill>
                  <a:schemeClr val="tx1"/>
                </a:solidFill>
                <a:latin typeface="+mn-ea"/>
                <a:cs typeface="Meiryo UI" panose="020B0604030504040204" pitchFamily="50" charset="-128"/>
              </a:rPr>
              <a:t>　案①：</a:t>
            </a:r>
            <a:r>
              <a:rPr lang="en-US" altLang="ja-JP" sz="1000" b="1" dirty="0">
                <a:solidFill>
                  <a:schemeClr val="tx1"/>
                </a:solidFill>
                <a:latin typeface="+mn-ea"/>
                <a:cs typeface="Meiryo UI" panose="020B0604030504040204" pitchFamily="50" charset="-128"/>
              </a:rPr>
              <a:t>CC</a:t>
            </a:r>
            <a:r>
              <a:rPr lang="ja-JP" altLang="en-US" sz="1000" b="1" dirty="0">
                <a:solidFill>
                  <a:schemeClr val="tx1"/>
                </a:solidFill>
                <a:latin typeface="+mn-ea"/>
                <a:cs typeface="Meiryo UI" panose="020B0604030504040204" pitchFamily="50" charset="-128"/>
              </a:rPr>
              <a:t>専用の</a:t>
            </a:r>
            <a:r>
              <a:rPr lang="en-US" altLang="ja-JP" sz="1000" b="1" dirty="0">
                <a:solidFill>
                  <a:schemeClr val="tx1"/>
                </a:solidFill>
                <a:latin typeface="+mn-ea"/>
                <a:cs typeface="Meiryo UI" panose="020B0604030504040204" pitchFamily="50" charset="-128"/>
              </a:rPr>
              <a:t>Hyper-V</a:t>
            </a:r>
            <a:r>
              <a:rPr lang="ja-JP" altLang="en-US" sz="1000" b="1" dirty="0">
                <a:solidFill>
                  <a:schemeClr val="tx1"/>
                </a:solidFill>
                <a:latin typeface="+mn-ea"/>
                <a:cs typeface="Meiryo UI" panose="020B0604030504040204" pitchFamily="50" charset="-128"/>
              </a:rPr>
              <a:t>基盤の構築</a:t>
            </a:r>
            <a:endParaRPr lang="en-US" altLang="ja-JP" sz="1000" b="1" dirty="0">
              <a:solidFill>
                <a:schemeClr val="tx1"/>
              </a:solidFill>
              <a:latin typeface="+mn-ea"/>
              <a:cs typeface="Meiryo UI" panose="020B0604030504040204" pitchFamily="50" charset="-128"/>
            </a:endParaRPr>
          </a:p>
          <a:p>
            <a:pPr algn="just" defTabSz="742950" eaLnBrk="1" hangingPunct="1"/>
            <a:r>
              <a:rPr lang="ja-JP" altLang="en-US" sz="1000" b="1" dirty="0">
                <a:solidFill>
                  <a:schemeClr val="tx1"/>
                </a:solidFill>
                <a:latin typeface="+mn-ea"/>
                <a:cs typeface="Meiryo UI" panose="020B0604030504040204" pitchFamily="50" charset="-128"/>
              </a:rPr>
              <a:t>　案②：オープン系システム基盤の利用</a:t>
            </a:r>
            <a:endParaRPr lang="en-US" altLang="ja-JP" sz="1000" b="1" dirty="0">
              <a:solidFill>
                <a:schemeClr val="tx1"/>
              </a:solidFill>
              <a:latin typeface="+mn-ea"/>
              <a:cs typeface="Meiryo UI" panose="020B0604030504040204" pitchFamily="50" charset="-128"/>
            </a:endParaRPr>
          </a:p>
        </p:txBody>
      </p:sp>
    </p:spTree>
    <p:extLst>
      <p:ext uri="{BB962C8B-B14F-4D97-AF65-F5344CB8AC3E}">
        <p14:creationId xmlns:p14="http://schemas.microsoft.com/office/powerpoint/2010/main" val="3717935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DED0E-7933-67D6-03AD-F6559D9BB07E}"/>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06DCFEC0-DB46-8245-75E5-884CCE2B2466}"/>
              </a:ext>
            </a:extLst>
          </p:cNvPr>
          <p:cNvSpPr>
            <a:spLocks noGrp="1"/>
          </p:cNvSpPr>
          <p:nvPr>
            <p:ph type="body" sz="quarter" idx="17"/>
          </p:nvPr>
        </p:nvSpPr>
        <p:spPr/>
        <p:txBody>
          <a:bodyPr/>
          <a:lstStyle/>
          <a:p>
            <a:endParaRPr lang="ja-JP" altLang="en-US"/>
          </a:p>
        </p:txBody>
      </p:sp>
      <p:sp>
        <p:nvSpPr>
          <p:cNvPr id="5" name="テキスト プレースホルダー 4">
            <a:extLst>
              <a:ext uri="{FF2B5EF4-FFF2-40B4-BE49-F238E27FC236}">
                <a16:creationId xmlns:a16="http://schemas.microsoft.com/office/drawing/2014/main" id="{C932D1B4-BA77-6160-64AF-1A326313C52E}"/>
              </a:ext>
            </a:extLst>
          </p:cNvPr>
          <p:cNvSpPr>
            <a:spLocks noGrp="1"/>
          </p:cNvSpPr>
          <p:nvPr>
            <p:ph type="body" sz="quarter" idx="18"/>
          </p:nvPr>
        </p:nvSpPr>
        <p:spPr/>
        <p:txBody>
          <a:bodyPr/>
          <a:lstStyle/>
          <a:p>
            <a:endParaRPr lang="ja-JP" altLang="en-US"/>
          </a:p>
        </p:txBody>
      </p:sp>
      <p:sp>
        <p:nvSpPr>
          <p:cNvPr id="2" name="タイトル 1">
            <a:extLst>
              <a:ext uri="{FF2B5EF4-FFF2-40B4-BE49-F238E27FC236}">
                <a16:creationId xmlns:a16="http://schemas.microsoft.com/office/drawing/2014/main" id="{912E6516-0F8E-42AC-4C6A-A9FE12366E53}"/>
              </a:ext>
            </a:extLst>
          </p:cNvPr>
          <p:cNvSpPr>
            <a:spLocks noGrp="1"/>
          </p:cNvSpPr>
          <p:nvPr>
            <p:ph type="title"/>
          </p:nvPr>
        </p:nvSpPr>
        <p:spPr/>
        <p:txBody>
          <a:bodyPr/>
          <a:lstStyle/>
          <a:p>
            <a:pPr marL="0" indent="0" eaLnBrk="1" hangingPunct="1">
              <a:spcAft>
                <a:spcPts val="0"/>
              </a:spcAft>
              <a:defRPr/>
            </a:pPr>
            <a:r>
              <a:rPr lang="en-US" altLang="ja-JP" dirty="0">
                <a:latin typeface="+mn-ea"/>
              </a:rPr>
              <a:t>【</a:t>
            </a:r>
            <a:r>
              <a:rPr lang="ja-JP" altLang="en-US" dirty="0">
                <a:latin typeface="+mn-ea"/>
              </a:rPr>
              <a:t>参考④</a:t>
            </a:r>
            <a:r>
              <a:rPr lang="en-US" altLang="ja-JP" dirty="0">
                <a:latin typeface="+mn-ea"/>
              </a:rPr>
              <a:t>】</a:t>
            </a:r>
            <a:r>
              <a:rPr lang="ja-JP" altLang="en-US" dirty="0"/>
              <a:t>仮想基盤構成の検討</a:t>
            </a:r>
            <a:r>
              <a:rPr lang="ja-JP" altLang="en-US" dirty="0">
                <a:latin typeface="+mn-ea"/>
                <a:ea typeface="+mn-ea"/>
              </a:rPr>
              <a:t>：検討事項①アプライアンス導入検討</a:t>
            </a:r>
            <a:endParaRPr kumimoji="1" lang="en-US" altLang="ja-JP" sz="1800" dirty="0">
              <a:latin typeface="+mn-ea"/>
              <a:ea typeface="+mn-ea"/>
            </a:endParaRPr>
          </a:p>
        </p:txBody>
      </p:sp>
      <p:sp>
        <p:nvSpPr>
          <p:cNvPr id="9" name="テキスト プレースホルダー 2">
            <a:extLst>
              <a:ext uri="{FF2B5EF4-FFF2-40B4-BE49-F238E27FC236}">
                <a16:creationId xmlns:a16="http://schemas.microsoft.com/office/drawing/2014/main" id="{EFADA9E0-4EF4-F881-C612-0822F080C9BD}"/>
              </a:ext>
            </a:extLst>
          </p:cNvPr>
          <p:cNvSpPr txBox="1">
            <a:spLocks/>
          </p:cNvSpPr>
          <p:nvPr/>
        </p:nvSpPr>
        <p:spPr>
          <a:xfrm>
            <a:off x="165000" y="607418"/>
            <a:ext cx="9740999" cy="840382"/>
          </a:xfrm>
          <a:prstGeom prst="rect">
            <a:avLst/>
          </a:prstGeom>
        </p:spPr>
        <p:txBody>
          <a:bodyPr/>
          <a:lstStyle>
            <a:lvl1pPr marL="180975" indent="-180975" algn="l" rtl="0" eaLnBrk="0" fontAlgn="base" hangingPunct="0">
              <a:lnSpc>
                <a:spcPct val="100000"/>
              </a:lnSpc>
              <a:spcBef>
                <a:spcPts val="300"/>
              </a:spcBef>
              <a:spcAft>
                <a:spcPct val="0"/>
              </a:spcAft>
              <a:buClr>
                <a:schemeClr val="tx1"/>
              </a:buClr>
              <a:buFont typeface="Wingdings" panose="05000000000000000000" pitchFamily="2" charset="2"/>
              <a:buChar char="l"/>
              <a:defRPr kumimoji="1" sz="1400">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a:lstStyle>
          <a:p>
            <a:r>
              <a:rPr lang="ja-JP" altLang="en-US" dirty="0"/>
              <a:t>案①：アプライアンスサーバ主体と案②：</a:t>
            </a:r>
            <a:r>
              <a:rPr lang="en-US" altLang="ja-JP" dirty="0"/>
              <a:t>Hyper-V</a:t>
            </a:r>
            <a:r>
              <a:rPr lang="ja-JP" altLang="en-US" dirty="0"/>
              <a:t>基盤主体となる構成の２案の評価を実施</a:t>
            </a:r>
            <a:endParaRPr lang="en-US" altLang="ja-JP" dirty="0"/>
          </a:p>
          <a:p>
            <a:r>
              <a:rPr lang="ja-JP" altLang="en-US" kern="0" dirty="0">
                <a:latin typeface="+mn-ea"/>
              </a:rPr>
              <a:t>納期</a:t>
            </a:r>
            <a:r>
              <a:rPr lang="en-US" altLang="ja-JP" kern="0" dirty="0">
                <a:latin typeface="+mn-ea"/>
              </a:rPr>
              <a:t>/</a:t>
            </a:r>
            <a:r>
              <a:rPr lang="ja-JP" altLang="en-US" kern="0" dirty="0">
                <a:latin typeface="+mn-ea"/>
              </a:rPr>
              <a:t>実績面で優位であり構築におけるリスク回避が可能なこと、セキュリティ要件がノックアウト条件にならないことから案①を推奨</a:t>
            </a:r>
            <a:endParaRPr lang="en-US" altLang="ja-JP" kern="0" dirty="0">
              <a:latin typeface="+mn-ea"/>
            </a:endParaRPr>
          </a:p>
        </p:txBody>
      </p:sp>
      <p:graphicFrame>
        <p:nvGraphicFramePr>
          <p:cNvPr id="10" name="表 9">
            <a:extLst>
              <a:ext uri="{FF2B5EF4-FFF2-40B4-BE49-F238E27FC236}">
                <a16:creationId xmlns:a16="http://schemas.microsoft.com/office/drawing/2014/main" id="{7E4A1F2F-C622-8BE4-836A-A9CEF8AA0250}"/>
              </a:ext>
            </a:extLst>
          </p:cNvPr>
          <p:cNvGraphicFramePr>
            <a:graphicFrameLocks noGrp="1"/>
          </p:cNvGraphicFramePr>
          <p:nvPr/>
        </p:nvGraphicFramePr>
        <p:xfrm>
          <a:off x="165000" y="1272540"/>
          <a:ext cx="9629018" cy="5319840"/>
        </p:xfrm>
        <a:graphic>
          <a:graphicData uri="http://schemas.openxmlformats.org/drawingml/2006/table">
            <a:tbl>
              <a:tblPr firstRow="1" bandRow="1">
                <a:tableStyleId>{5C22544A-7EE6-4342-B048-85BDC9FD1C3A}</a:tableStyleId>
              </a:tblPr>
              <a:tblGrid>
                <a:gridCol w="768596">
                  <a:extLst>
                    <a:ext uri="{9D8B030D-6E8A-4147-A177-3AD203B41FA5}">
                      <a16:colId xmlns:a16="http://schemas.microsoft.com/office/drawing/2014/main" val="116094207"/>
                    </a:ext>
                  </a:extLst>
                </a:gridCol>
                <a:gridCol w="559924">
                  <a:extLst>
                    <a:ext uri="{9D8B030D-6E8A-4147-A177-3AD203B41FA5}">
                      <a16:colId xmlns:a16="http://schemas.microsoft.com/office/drawing/2014/main" val="3322080614"/>
                    </a:ext>
                  </a:extLst>
                </a:gridCol>
                <a:gridCol w="3838053">
                  <a:extLst>
                    <a:ext uri="{9D8B030D-6E8A-4147-A177-3AD203B41FA5}">
                      <a16:colId xmlns:a16="http://schemas.microsoft.com/office/drawing/2014/main" val="640390301"/>
                    </a:ext>
                  </a:extLst>
                </a:gridCol>
                <a:gridCol w="665367">
                  <a:extLst>
                    <a:ext uri="{9D8B030D-6E8A-4147-A177-3AD203B41FA5}">
                      <a16:colId xmlns:a16="http://schemas.microsoft.com/office/drawing/2014/main" val="3915138592"/>
                    </a:ext>
                  </a:extLst>
                </a:gridCol>
                <a:gridCol w="3797078">
                  <a:extLst>
                    <a:ext uri="{9D8B030D-6E8A-4147-A177-3AD203B41FA5}">
                      <a16:colId xmlns:a16="http://schemas.microsoft.com/office/drawing/2014/main" val="2187409085"/>
                    </a:ext>
                  </a:extLst>
                </a:gridCol>
              </a:tblGrid>
              <a:tr h="170565">
                <a:tc>
                  <a:txBody>
                    <a:bodyPr/>
                    <a:lstStyle/>
                    <a:p>
                      <a:pPr algn="ctr"/>
                      <a:endParaRPr kumimoji="1" lang="ja-JP" altLang="en-US" sz="14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gridSpan="2">
                  <a:txBody>
                    <a:bodyPr/>
                    <a:lstStyle/>
                    <a:p>
                      <a:pPr algn="ctr"/>
                      <a:r>
                        <a:rPr kumimoji="1" lang="ja-JP" altLang="en-US" sz="12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構成案①（アプライアンスサーバ主体の構成）</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tc gridSpan="2">
                  <a:txBody>
                    <a:bodyPr/>
                    <a:lstStyle/>
                    <a:p>
                      <a:pPr algn="ctr"/>
                      <a:r>
                        <a:rPr kumimoji="1" lang="ja-JP" altLang="en-US" sz="12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構成案②（</a:t>
                      </a:r>
                      <a:r>
                        <a:rPr kumimoji="1" lang="en-US" altLang="ja-JP" sz="12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2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基盤主体の構成）</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extLst>
                  <a:ext uri="{0D108BD9-81ED-4DB2-BD59-A6C34878D82A}">
                    <a16:rowId xmlns:a16="http://schemas.microsoft.com/office/drawing/2014/main" val="175094704"/>
                  </a:ext>
                </a:extLst>
              </a:tr>
              <a:tr h="1630680">
                <a:tc>
                  <a:txBody>
                    <a:bodyPr/>
                    <a:lstStyle/>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構成</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algn="r"/>
                      <a:endPar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2395498616"/>
                  </a:ext>
                </a:extLst>
              </a:tr>
              <a:tr h="0">
                <a:tc rowSpan="2">
                  <a:txBody>
                    <a:bodyPr/>
                    <a:lstStyle/>
                    <a:p>
                      <a:pPr algn="l"/>
                      <a:r>
                        <a:rPr kumimoji="1" lang="ja-JP" altLang="en-US" sz="1200" b="1" dirty="0">
                          <a:latin typeface="Meiryo UI" panose="020B0604030504040204" pitchFamily="50" charset="-128"/>
                          <a:ea typeface="Meiryo UI" panose="020B0604030504040204" pitchFamily="50" charset="-128"/>
                          <a:cs typeface="Meiryo UI" panose="020B0604030504040204" pitchFamily="50" charset="-128"/>
                        </a:rPr>
                        <a:t>総評</a:t>
                      </a:r>
                      <a:endParaRPr kumimoji="1" lang="en-US" altLang="ja-JP" sz="120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algn="ctr"/>
                      <a:r>
                        <a:rPr kumimoji="1" lang="ja-JP" altLang="en-US" sz="2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ja-JP" altLang="en-US" sz="2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9285201"/>
                  </a:ext>
                </a:extLst>
              </a:tr>
              <a:tr h="342900">
                <a:tc vMerge="1">
                  <a:txBody>
                    <a:bodyPr/>
                    <a:lstStyle/>
                    <a:p>
                      <a:pPr algn="l"/>
                      <a:endParaRPr kumimoji="1" lang="en-US" altLang="ja-JP" sz="10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・コストは案②よりも高額となるが、納期</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実績面で優位であり構築におけるリスク回避が可能</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・アプライアンス導入に伴うセキュリティの制約事項がノックアウト条件にならないことをセキュ統に確認（正式にはセキュリティレビューにて評価が必要）</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・コストは案①よりも安価となるが、納期</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実績面でリスク有</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CMS</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EP</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EPM</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MPP</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）が</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サポート対象外のため、案②においてもアプライアンスサーバの導入が必要</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00" b="1">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9556552"/>
                  </a:ext>
                </a:extLst>
              </a:tr>
              <a:tr h="342900">
                <a:tc>
                  <a:txBody>
                    <a:bodyPr/>
                    <a:lstStyle/>
                    <a:p>
                      <a:pPr algn="l"/>
                      <a:r>
                        <a:rPr kumimoji="1" lang="ja-JP" altLang="en-US" sz="1200" b="1" dirty="0">
                          <a:latin typeface="Meiryo UI" panose="020B0604030504040204" pitchFamily="50" charset="-128"/>
                          <a:ea typeface="Meiryo UI" panose="020B0604030504040204" pitchFamily="50" charset="-128"/>
                          <a:cs typeface="Meiryo UI" panose="020B0604030504040204" pitchFamily="50" charset="-128"/>
                        </a:rPr>
                        <a:t>コスト</a:t>
                      </a:r>
                      <a:endParaRPr kumimoji="1" lang="en-US" altLang="ja-JP" sz="120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基盤とアプライアンス対象外サーバそれぞれにストレージが必要となり、あまり差はないが案②よりも高額</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基盤用の共有ストレージのみ必要なため安価</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9366505"/>
                  </a:ext>
                </a:extLst>
              </a:tr>
              <a:tr h="294540">
                <a:tc>
                  <a:txBody>
                    <a:bodyPr/>
                    <a:lstStyle/>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納期</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OS</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セットアップされた状態で納品され、ゲスト</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OS</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が構築可能</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・ハイパーバイザー構築に</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ヶ月程度開発期間が追加で必要</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5829938"/>
                  </a:ext>
                </a:extLst>
              </a:tr>
              <a:tr h="199680">
                <a:tc>
                  <a:txBody>
                    <a:bodyPr/>
                    <a:lstStyle/>
                    <a:p>
                      <a:pPr algn="l"/>
                      <a:r>
                        <a:rPr kumimoji="1" lang="ja-JP" altLang="en-US" sz="1200" b="1" dirty="0">
                          <a:latin typeface="Meiryo UI" panose="020B0604030504040204" pitchFamily="50" charset="-128"/>
                          <a:ea typeface="Meiryo UI" panose="020B0604030504040204" pitchFamily="50" charset="-128"/>
                          <a:cs typeface="Meiryo UI" panose="020B0604030504040204" pitchFamily="50" charset="-128"/>
                        </a:rPr>
                        <a:t>実績</a:t>
                      </a:r>
                      <a:endParaRPr kumimoji="1" lang="en-US" altLang="ja-JP" sz="120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・アプライアンス構築実績は各ベンダ多数有</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基盤上での構築実績は少数</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仮想は</a:t>
                      </a:r>
                      <a:r>
                        <a:rPr kumimoji="1" lang="en-US" altLang="ja-JP" sz="11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Vmware</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の実績多数</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949321"/>
                  </a:ext>
                </a:extLst>
              </a:tr>
              <a:tr h="0">
                <a:tc>
                  <a:txBody>
                    <a:bodyPr/>
                    <a:lstStyle/>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ｾｷｭﾘﾃｨ</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運用</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AVAYA</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独自</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OS</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）の導入にあたり、汎用</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OS</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のセキュリティ対策に近づけることが必要（ただし、ノックアウト条件にならないことを確認 </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セキュリティレビューにて正式に評価）</a:t>
                      </a:r>
                    </a:p>
                  </a:txBody>
                  <a:tcPr marL="9000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CMS</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EP</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EPM</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MPP</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）が</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サポート対象外のため、いずれの案においてもアプライアンスサーバの導入が必要となり、案②においても案①と同様のセキュリティ対応が必要</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0773297"/>
                  </a:ext>
                </a:extLst>
              </a:tr>
              <a:tr h="278421">
                <a:tc>
                  <a:txBody>
                    <a:bodyPr/>
                    <a:lstStyle/>
                    <a:p>
                      <a:pPr algn="l"/>
                      <a:r>
                        <a:rPr kumimoji="1" lang="ja-JP" altLang="en-US" sz="1200" b="1" dirty="0">
                          <a:latin typeface="Meiryo UI" panose="020B0604030504040204" pitchFamily="50" charset="-128"/>
                          <a:ea typeface="Meiryo UI" panose="020B0604030504040204" pitchFamily="50" charset="-128"/>
                          <a:cs typeface="Meiryo UI" panose="020B0604030504040204" pitchFamily="50" charset="-128"/>
                        </a:rPr>
                        <a:t>体制</a:t>
                      </a:r>
                      <a:endParaRPr kumimoji="1" lang="en-US" altLang="ja-JP" sz="1200" b="1" dirty="0">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・アプライアンスサーバ構築をベンダー委託可</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アプライアンスサーバ構築については役割分担の整理が必要</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基盤の２つの開発体制が必要</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アプライアンスサーバ構築については役割分担の整理が必要</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5274948"/>
                  </a:ext>
                </a:extLst>
              </a:tr>
            </a:tbl>
          </a:graphicData>
        </a:graphic>
      </p:graphicFrame>
      <p:pic>
        <p:nvPicPr>
          <p:cNvPr id="11" name="図 10">
            <a:extLst>
              <a:ext uri="{FF2B5EF4-FFF2-40B4-BE49-F238E27FC236}">
                <a16:creationId xmlns:a16="http://schemas.microsoft.com/office/drawing/2014/main" id="{DBF13CDD-5917-B6F2-0A5B-88C1FC13160C}"/>
              </a:ext>
            </a:extLst>
          </p:cNvPr>
          <p:cNvPicPr>
            <a:picLocks noChangeAspect="1"/>
          </p:cNvPicPr>
          <p:nvPr/>
        </p:nvPicPr>
        <p:blipFill>
          <a:blip r:embed="rId3"/>
          <a:stretch>
            <a:fillRect/>
          </a:stretch>
        </p:blipFill>
        <p:spPr>
          <a:xfrm>
            <a:off x="2099209" y="1648102"/>
            <a:ext cx="2045984" cy="1505093"/>
          </a:xfrm>
          <a:prstGeom prst="rect">
            <a:avLst/>
          </a:prstGeom>
        </p:spPr>
      </p:pic>
      <p:pic>
        <p:nvPicPr>
          <p:cNvPr id="12" name="図 11">
            <a:extLst>
              <a:ext uri="{FF2B5EF4-FFF2-40B4-BE49-F238E27FC236}">
                <a16:creationId xmlns:a16="http://schemas.microsoft.com/office/drawing/2014/main" id="{927F1ED0-09D7-A4C9-FE8A-4407220E2D12}"/>
              </a:ext>
            </a:extLst>
          </p:cNvPr>
          <p:cNvPicPr>
            <a:picLocks noChangeAspect="1"/>
          </p:cNvPicPr>
          <p:nvPr/>
        </p:nvPicPr>
        <p:blipFill>
          <a:blip r:embed="rId4"/>
          <a:stretch>
            <a:fillRect/>
          </a:stretch>
        </p:blipFill>
        <p:spPr>
          <a:xfrm>
            <a:off x="6517031" y="1648103"/>
            <a:ext cx="2045984" cy="1505092"/>
          </a:xfrm>
          <a:prstGeom prst="rect">
            <a:avLst/>
          </a:prstGeom>
        </p:spPr>
      </p:pic>
      <p:sp>
        <p:nvSpPr>
          <p:cNvPr id="13" name="正方形/長方形 12">
            <a:extLst>
              <a:ext uri="{FF2B5EF4-FFF2-40B4-BE49-F238E27FC236}">
                <a16:creationId xmlns:a16="http://schemas.microsoft.com/office/drawing/2014/main" id="{A5ABDC85-3346-2B54-59C4-A765E145A685}"/>
              </a:ext>
            </a:extLst>
          </p:cNvPr>
          <p:cNvSpPr/>
          <p:nvPr/>
        </p:nvSpPr>
        <p:spPr bwMode="auto">
          <a:xfrm>
            <a:off x="944880" y="1272540"/>
            <a:ext cx="4381500" cy="5319840"/>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Tree>
    <p:extLst>
      <p:ext uri="{BB962C8B-B14F-4D97-AF65-F5344CB8AC3E}">
        <p14:creationId xmlns:p14="http://schemas.microsoft.com/office/powerpoint/2010/main" val="1179857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13D59-9AAF-D2D0-5371-9AC8FD90A58C}"/>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F7E214B-3E8A-D2FC-3454-387A24D62F82}"/>
              </a:ext>
            </a:extLst>
          </p:cNvPr>
          <p:cNvSpPr>
            <a:spLocks noGrp="1"/>
          </p:cNvSpPr>
          <p:nvPr>
            <p:ph type="body" sz="quarter" idx="12"/>
          </p:nvPr>
        </p:nvSpPr>
        <p:spPr/>
        <p:txBody>
          <a:bodyPr/>
          <a:lstStyle/>
          <a:p>
            <a:pPr marL="0" indent="0">
              <a:buNone/>
            </a:pPr>
            <a:r>
              <a:rPr lang="en-US" altLang="ja-JP" dirty="0"/>
              <a:t>Hyper-V</a:t>
            </a:r>
            <a:r>
              <a:rPr lang="ja-JP" altLang="en-US" dirty="0"/>
              <a:t>基盤の構築方法については、専用基盤の構築またはオープン系システム基盤の２案の評価を実施。</a:t>
            </a:r>
            <a:endParaRPr lang="en-US" altLang="ja-JP" dirty="0"/>
          </a:p>
          <a:p>
            <a:r>
              <a:rPr lang="en-US" altLang="ja-JP" dirty="0"/>
              <a:t>CC</a:t>
            </a:r>
            <a:r>
              <a:rPr lang="ja-JP" altLang="en-US" dirty="0"/>
              <a:t>共通基盤専用の</a:t>
            </a:r>
            <a:r>
              <a:rPr lang="en-US" altLang="ja-JP" dirty="0"/>
              <a:t>Hyper-V</a:t>
            </a:r>
            <a:r>
              <a:rPr lang="ja-JP" altLang="en-US" dirty="0"/>
              <a:t>基盤：開発期間が長く環境提供が間に合わないため、不採用とする。</a:t>
            </a:r>
            <a:endParaRPr lang="en-US" altLang="ja-JP" dirty="0"/>
          </a:p>
          <a:p>
            <a:r>
              <a:rPr lang="ja-JP" altLang="en-US" sz="1400" dirty="0">
                <a:latin typeface="+mn-ea"/>
                <a:ea typeface="+mn-ea"/>
              </a:rPr>
              <a:t>オープン系システム基盤：システムの重要性ランクに応じてハイエンドまたはスタンダードを選択可とする。</a:t>
            </a:r>
            <a:endParaRPr lang="en-US" altLang="ja-JP" sz="1400" dirty="0">
              <a:latin typeface="+mn-ea"/>
              <a:ea typeface="+mn-ea"/>
            </a:endParaRPr>
          </a:p>
        </p:txBody>
      </p:sp>
      <p:sp>
        <p:nvSpPr>
          <p:cNvPr id="2" name="タイトル 1">
            <a:extLst>
              <a:ext uri="{FF2B5EF4-FFF2-40B4-BE49-F238E27FC236}">
                <a16:creationId xmlns:a16="http://schemas.microsoft.com/office/drawing/2014/main" id="{670302B1-1753-7763-3D05-77D124B28180}"/>
              </a:ext>
            </a:extLst>
          </p:cNvPr>
          <p:cNvSpPr>
            <a:spLocks noGrp="1"/>
          </p:cNvSpPr>
          <p:nvPr>
            <p:ph type="title"/>
          </p:nvPr>
        </p:nvSpPr>
        <p:spPr/>
        <p:txBody>
          <a:bodyPr/>
          <a:lstStyle/>
          <a:p>
            <a:pPr marL="0" indent="0" eaLnBrk="1" hangingPunct="1">
              <a:spcAft>
                <a:spcPts val="0"/>
              </a:spcAft>
              <a:defRPr/>
            </a:pPr>
            <a:r>
              <a:rPr lang="en-US" altLang="ja-JP" dirty="0">
                <a:latin typeface="+mn-ea"/>
              </a:rPr>
              <a:t>【</a:t>
            </a:r>
            <a:r>
              <a:rPr lang="ja-JP" altLang="en-US" dirty="0">
                <a:latin typeface="+mn-ea"/>
              </a:rPr>
              <a:t>参考④</a:t>
            </a:r>
            <a:r>
              <a:rPr lang="en-US" altLang="ja-JP" dirty="0">
                <a:latin typeface="+mn-ea"/>
              </a:rPr>
              <a:t>】</a:t>
            </a:r>
            <a:r>
              <a:rPr lang="ja-JP" altLang="en-US" dirty="0"/>
              <a:t>仮想基盤構成の検討</a:t>
            </a:r>
            <a:r>
              <a:rPr lang="ja-JP" altLang="en-US" dirty="0">
                <a:latin typeface="+mn-ea"/>
              </a:rPr>
              <a:t>：</a:t>
            </a:r>
            <a:r>
              <a:rPr lang="ja-JP" altLang="en-US" dirty="0">
                <a:latin typeface="+mn-ea"/>
                <a:ea typeface="+mn-ea"/>
              </a:rPr>
              <a:t>検討事項②</a:t>
            </a:r>
            <a:r>
              <a:rPr lang="en-US" altLang="ja-JP" dirty="0">
                <a:latin typeface="+mn-ea"/>
                <a:ea typeface="+mn-ea"/>
              </a:rPr>
              <a:t>Hyper-V</a:t>
            </a:r>
            <a:r>
              <a:rPr lang="ja-JP" altLang="en-US" dirty="0">
                <a:latin typeface="+mn-ea"/>
                <a:ea typeface="+mn-ea"/>
              </a:rPr>
              <a:t>基盤構築検討</a:t>
            </a:r>
            <a:endParaRPr kumimoji="1" lang="en-US" altLang="ja-JP" sz="1800" dirty="0">
              <a:latin typeface="+mn-ea"/>
              <a:ea typeface="+mn-ea"/>
            </a:endParaRPr>
          </a:p>
        </p:txBody>
      </p:sp>
      <p:graphicFrame>
        <p:nvGraphicFramePr>
          <p:cNvPr id="4" name="表 3">
            <a:extLst>
              <a:ext uri="{FF2B5EF4-FFF2-40B4-BE49-F238E27FC236}">
                <a16:creationId xmlns:a16="http://schemas.microsoft.com/office/drawing/2014/main" id="{EB520046-7A6D-8CC6-DA58-D4629DF1D335}"/>
              </a:ext>
            </a:extLst>
          </p:cNvPr>
          <p:cNvGraphicFramePr>
            <a:graphicFrameLocks noGrp="1"/>
          </p:cNvGraphicFramePr>
          <p:nvPr/>
        </p:nvGraphicFramePr>
        <p:xfrm>
          <a:off x="111980" y="1520499"/>
          <a:ext cx="9629019" cy="5216184"/>
        </p:xfrm>
        <a:graphic>
          <a:graphicData uri="http://schemas.openxmlformats.org/drawingml/2006/table">
            <a:tbl>
              <a:tblPr firstRow="1" bandRow="1">
                <a:tableStyleId>{5C22544A-7EE6-4342-B048-85BDC9FD1C3A}</a:tableStyleId>
              </a:tblPr>
              <a:tblGrid>
                <a:gridCol w="991766">
                  <a:extLst>
                    <a:ext uri="{9D8B030D-6E8A-4147-A177-3AD203B41FA5}">
                      <a16:colId xmlns:a16="http://schemas.microsoft.com/office/drawing/2014/main" val="116094207"/>
                    </a:ext>
                  </a:extLst>
                </a:gridCol>
                <a:gridCol w="610752">
                  <a:extLst>
                    <a:ext uri="{9D8B030D-6E8A-4147-A177-3AD203B41FA5}">
                      <a16:colId xmlns:a16="http://schemas.microsoft.com/office/drawing/2014/main" val="3322080614"/>
                    </a:ext>
                  </a:extLst>
                </a:gridCol>
                <a:gridCol w="2226736">
                  <a:extLst>
                    <a:ext uri="{9D8B030D-6E8A-4147-A177-3AD203B41FA5}">
                      <a16:colId xmlns:a16="http://schemas.microsoft.com/office/drawing/2014/main" val="640390301"/>
                    </a:ext>
                  </a:extLst>
                </a:gridCol>
                <a:gridCol w="615524">
                  <a:extLst>
                    <a:ext uri="{9D8B030D-6E8A-4147-A177-3AD203B41FA5}">
                      <a16:colId xmlns:a16="http://schemas.microsoft.com/office/drawing/2014/main" val="1621574184"/>
                    </a:ext>
                  </a:extLst>
                </a:gridCol>
                <a:gridCol w="2305160">
                  <a:extLst>
                    <a:ext uri="{9D8B030D-6E8A-4147-A177-3AD203B41FA5}">
                      <a16:colId xmlns:a16="http://schemas.microsoft.com/office/drawing/2014/main" val="3707754320"/>
                    </a:ext>
                  </a:extLst>
                </a:gridCol>
                <a:gridCol w="666640">
                  <a:extLst>
                    <a:ext uri="{9D8B030D-6E8A-4147-A177-3AD203B41FA5}">
                      <a16:colId xmlns:a16="http://schemas.microsoft.com/office/drawing/2014/main" val="3915138592"/>
                    </a:ext>
                  </a:extLst>
                </a:gridCol>
                <a:gridCol w="2212441">
                  <a:extLst>
                    <a:ext uri="{9D8B030D-6E8A-4147-A177-3AD203B41FA5}">
                      <a16:colId xmlns:a16="http://schemas.microsoft.com/office/drawing/2014/main" val="2187409085"/>
                    </a:ext>
                  </a:extLst>
                </a:gridCol>
              </a:tblGrid>
              <a:tr h="283860">
                <a:tc>
                  <a:txBody>
                    <a:bodyPr/>
                    <a:lstStyle/>
                    <a:p>
                      <a:pPr algn="ctr"/>
                      <a:endParaRPr kumimoji="1" lang="ja-JP" altLang="en-US" sz="11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gridSpan="2">
                  <a:txBody>
                    <a:bodyPr/>
                    <a:lstStyle/>
                    <a:p>
                      <a:pPr algn="ctr"/>
                      <a:r>
                        <a:rPr kumimoji="1" lang="ja-JP" altLang="en-US" sz="105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構成案①（</a:t>
                      </a:r>
                      <a:r>
                        <a:rPr kumimoji="1" lang="en-US" altLang="ja-JP" sz="105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CC</a:t>
                      </a:r>
                      <a:r>
                        <a:rPr kumimoji="1" lang="ja-JP" altLang="en-US" sz="105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専用</a:t>
                      </a:r>
                      <a:r>
                        <a:rPr kumimoji="1" lang="en-US" altLang="ja-JP" sz="105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05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基盤の構築）</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tc gridSpan="2">
                  <a:txBody>
                    <a:bodyPr/>
                    <a:lstStyle/>
                    <a:p>
                      <a:pPr algn="ctr"/>
                      <a:r>
                        <a:rPr kumimoji="1" lang="ja-JP" altLang="en-US" sz="105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構成案②（オープン系システム基盤：ハイエンド）</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tc gridSpan="2">
                  <a:txBody>
                    <a:bodyPr/>
                    <a:lstStyle/>
                    <a:p>
                      <a:pPr algn="ctr"/>
                      <a:r>
                        <a:rPr kumimoji="1" lang="ja-JP" altLang="en-US" sz="105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構成案③（オープン系システム基盤：スタンダード）</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extLst>
                  <a:ext uri="{0D108BD9-81ED-4DB2-BD59-A6C34878D82A}">
                    <a16:rowId xmlns:a16="http://schemas.microsoft.com/office/drawing/2014/main" val="175094704"/>
                  </a:ext>
                </a:extLst>
              </a:tr>
              <a:tr h="412839">
                <a:tc rowSpan="2">
                  <a:txBody>
                    <a:bodyPr/>
                    <a:lstStyle/>
                    <a:p>
                      <a:pPr algn="l"/>
                      <a:r>
                        <a:rPr kumimoji="1" lang="ja-JP" altLang="en-US" sz="12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総評</a:t>
                      </a:r>
                      <a:endParaRPr kumimoji="1" lang="en-US" altLang="ja-JP" sz="12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algn="ctr"/>
                      <a:r>
                        <a:rPr kumimoji="1" lang="en-US" altLang="ja-JP"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ja-JP" altLang="en-US"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ランク相当システムの場合も採用）</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ja-JP" altLang="en-US"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ランク相当システムではない場合に採用）</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9285201"/>
                  </a:ext>
                </a:extLst>
              </a:tr>
              <a:tr h="496644">
                <a:tc vMerge="1">
                  <a:txBody>
                    <a:bodyPr/>
                    <a:lstStyle/>
                    <a:p>
                      <a:pPr algn="l"/>
                      <a:endParaRPr kumimoji="1" lang="en-US" altLang="ja-JP" sz="10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CC</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共通基盤の要件に沿って構築が可能</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・コストは</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NEC</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にて概算見積中</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・ハイパーバイザー構築により開発期間が</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ヶ月延びる見込みであり、環境提供が間に合わない可能性有。</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・開発体制は構築可能だが新規参画メンバとなる</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・納期</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体制面で優位</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・コストはインテル共通基盤（ハイエンド）と同等の見込だが、</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CC</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共通基盤適用時の評価が必要</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・部品が堅牢化</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冗長化された高信頼性</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HW</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採用し、</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HW</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交換も</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24/365</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対応</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ランク相当システムの場合に採用可と判断</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1">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l"/>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・コスト</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納期</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体制面で優位</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・予備ホスト切替が可能なため、障害発生時の業務復旧時間が短縮</a:t>
                      </a:r>
                      <a:endPar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ランク相当システムではない場合に採用可と判断</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00" b="1">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9556552"/>
                  </a:ext>
                </a:extLst>
              </a:tr>
              <a:tr h="267162">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コスト</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l"/>
                      <a:r>
                        <a:rPr kumimoji="1" lang="en-US" altLang="ja-JP" sz="105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NEC</a:t>
                      </a:r>
                      <a:r>
                        <a:rPr kumimoji="1" lang="ja-JP" altLang="en-US" sz="105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見積中（</a:t>
                      </a:r>
                      <a:r>
                        <a:rPr kumimoji="1" lang="en-US" altLang="ja-JP" sz="105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10/17</a:t>
                      </a:r>
                      <a:r>
                        <a:rPr kumimoji="1" lang="ja-JP" altLang="en-US" sz="105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回答予定）</a:t>
                      </a:r>
                      <a:endParaRPr kumimoji="1" lang="en-US" altLang="ja-JP" sz="105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インテル共通基盤（ハイエンド）と同等</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（コア単価：</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19,700</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円</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月）</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インテル共通基盤（スタンダード）と同等（コア単価：</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5,720</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円</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月）</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249366505"/>
                  </a:ext>
                </a:extLst>
              </a:tr>
              <a:tr h="525976">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納期</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en-US" altLang="ja-JP"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・ハイパーバイザー構築により</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ヶ月程度追加でかかる見込（</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NEC</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実績では利用者提供まで</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7-8</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ヶ月見込）</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ja-JP" altLang="en-US" sz="1050" b="1" dirty="0">
                          <a:solidFill>
                            <a:schemeClr val="tx1">
                              <a:lumMod val="90000"/>
                              <a:lumOff val="10000"/>
                            </a:schemeClr>
                          </a:solidFill>
                          <a:latin typeface="+mn-ea"/>
                          <a:cs typeface="Meiryo UI" panose="020B0604030504040204" pitchFamily="50" charset="-128"/>
                        </a:rPr>
                        <a:t>利用申請：</a:t>
                      </a:r>
                      <a:r>
                        <a:rPr lang="en-US" altLang="ja-JP" sz="1050" b="1" dirty="0">
                          <a:solidFill>
                            <a:schemeClr val="tx1">
                              <a:lumMod val="90000"/>
                              <a:lumOff val="10000"/>
                            </a:schemeClr>
                          </a:solidFill>
                          <a:latin typeface="+mn-ea"/>
                          <a:cs typeface="Meiryo UI" panose="020B0604030504040204" pitchFamily="50" charset="-128"/>
                        </a:rPr>
                        <a:t>1.5</a:t>
                      </a:r>
                      <a:r>
                        <a:rPr lang="ja-JP" altLang="en-US" sz="1050" b="1" dirty="0">
                          <a:solidFill>
                            <a:schemeClr val="tx1">
                              <a:lumMod val="90000"/>
                              <a:lumOff val="10000"/>
                            </a:schemeClr>
                          </a:solidFill>
                          <a:latin typeface="+mn-ea"/>
                          <a:cs typeface="Meiryo UI" panose="020B0604030504040204" pitchFamily="50" charset="-128"/>
                        </a:rPr>
                        <a:t>ヶ月、</a:t>
                      </a:r>
                      <a:r>
                        <a:rPr lang="en-US" altLang="ja-JP" sz="1050" b="1" dirty="0">
                          <a:solidFill>
                            <a:schemeClr val="tx1">
                              <a:lumMod val="90000"/>
                              <a:lumOff val="10000"/>
                            </a:schemeClr>
                          </a:solidFill>
                          <a:latin typeface="+mn-ea"/>
                          <a:cs typeface="Meiryo UI" panose="020B0604030504040204" pitchFamily="50" charset="-128"/>
                        </a:rPr>
                        <a:t>VM</a:t>
                      </a:r>
                      <a:r>
                        <a:rPr lang="ja-JP" altLang="en-US" sz="1050" b="1" dirty="0">
                          <a:solidFill>
                            <a:schemeClr val="tx1">
                              <a:lumMod val="90000"/>
                              <a:lumOff val="10000"/>
                            </a:schemeClr>
                          </a:solidFill>
                          <a:latin typeface="+mn-ea"/>
                          <a:cs typeface="Meiryo UI" panose="020B0604030504040204" pitchFamily="50" charset="-128"/>
                        </a:rPr>
                        <a:t>構築：</a:t>
                      </a:r>
                      <a:r>
                        <a:rPr lang="en-US" altLang="ja-JP" sz="1050" b="1" dirty="0">
                          <a:solidFill>
                            <a:schemeClr val="tx1">
                              <a:lumMod val="90000"/>
                              <a:lumOff val="10000"/>
                            </a:schemeClr>
                          </a:solidFill>
                          <a:latin typeface="+mn-ea"/>
                          <a:cs typeface="Meiryo UI" panose="020B0604030504040204" pitchFamily="50" charset="-128"/>
                        </a:rPr>
                        <a:t>0.5</a:t>
                      </a:r>
                      <a:r>
                        <a:rPr lang="ja-JP" altLang="en-US" sz="1050" b="1" dirty="0">
                          <a:solidFill>
                            <a:schemeClr val="tx1">
                              <a:lumMod val="90000"/>
                              <a:lumOff val="10000"/>
                            </a:schemeClr>
                          </a:solidFill>
                          <a:latin typeface="+mn-ea"/>
                          <a:cs typeface="Meiryo UI" panose="020B0604030504040204" pitchFamily="50" charset="-128"/>
                        </a:rPr>
                        <a:t>ヶ月、ゲスト</a:t>
                      </a:r>
                      <a:r>
                        <a:rPr lang="en-US" altLang="ja-JP" sz="1050" b="1" dirty="0">
                          <a:solidFill>
                            <a:schemeClr val="tx1">
                              <a:lumMod val="90000"/>
                              <a:lumOff val="10000"/>
                            </a:schemeClr>
                          </a:solidFill>
                          <a:latin typeface="+mn-ea"/>
                          <a:cs typeface="Meiryo UI" panose="020B0604030504040204" pitchFamily="50" charset="-128"/>
                        </a:rPr>
                        <a:t>OS</a:t>
                      </a:r>
                      <a:r>
                        <a:rPr lang="ja-JP" altLang="en-US" sz="1050" b="1" dirty="0">
                          <a:solidFill>
                            <a:schemeClr val="tx1">
                              <a:lumMod val="90000"/>
                              <a:lumOff val="10000"/>
                            </a:schemeClr>
                          </a:solidFill>
                          <a:latin typeface="+mn-ea"/>
                          <a:cs typeface="Meiryo UI" panose="020B0604030504040204" pitchFamily="50" charset="-128"/>
                        </a:rPr>
                        <a:t>構築：</a:t>
                      </a:r>
                      <a:r>
                        <a:rPr lang="en-US" altLang="ja-JP" sz="1050" b="1" dirty="0">
                          <a:solidFill>
                            <a:schemeClr val="tx1">
                              <a:lumMod val="90000"/>
                              <a:lumOff val="10000"/>
                            </a:schemeClr>
                          </a:solidFill>
                          <a:latin typeface="+mn-ea"/>
                          <a:cs typeface="Meiryo UI" panose="020B0604030504040204" pitchFamily="50" charset="-128"/>
                        </a:rPr>
                        <a:t>0.5</a:t>
                      </a:r>
                      <a:r>
                        <a:rPr lang="ja-JP" altLang="en-US" sz="1050" b="1" dirty="0">
                          <a:solidFill>
                            <a:schemeClr val="tx1">
                              <a:lumMod val="90000"/>
                              <a:lumOff val="10000"/>
                            </a:schemeClr>
                          </a:solidFill>
                          <a:latin typeface="+mn-ea"/>
                          <a:cs typeface="Meiryo UI" panose="020B0604030504040204" pitchFamily="50" charset="-128"/>
                        </a:rPr>
                        <a:t>ヶ月</a:t>
                      </a:r>
                      <a:endParaRPr lang="en-US" altLang="ja-JP" sz="1050" b="1" dirty="0">
                        <a:solidFill>
                          <a:schemeClr val="tx1">
                            <a:lumMod val="90000"/>
                            <a:lumOff val="10000"/>
                          </a:schemeClr>
                        </a:solidFill>
                        <a:latin typeface="+mn-ea"/>
                        <a:cs typeface="Meiryo UI" panose="020B0604030504040204" pitchFamily="50" charset="-128"/>
                      </a:endParaRPr>
                    </a:p>
                    <a:p>
                      <a:pPr algn="l"/>
                      <a:r>
                        <a:rPr lang="en-US" altLang="ja-JP" sz="1050" b="1" dirty="0">
                          <a:solidFill>
                            <a:schemeClr val="tx1">
                              <a:lumMod val="90000"/>
                              <a:lumOff val="10000"/>
                            </a:schemeClr>
                          </a:solidFill>
                          <a:latin typeface="+mn-ea"/>
                          <a:cs typeface="Meiryo UI" panose="020B0604030504040204" pitchFamily="50" charset="-128"/>
                        </a:rPr>
                        <a:t>※NW</a:t>
                      </a:r>
                      <a:r>
                        <a:rPr lang="ja-JP" altLang="en-US" sz="1050" b="1" dirty="0">
                          <a:solidFill>
                            <a:schemeClr val="tx1">
                              <a:lumMod val="90000"/>
                              <a:lumOff val="10000"/>
                            </a:schemeClr>
                          </a:solidFill>
                          <a:latin typeface="+mn-ea"/>
                          <a:cs typeface="Meiryo UI" panose="020B0604030504040204" pitchFamily="50" charset="-128"/>
                        </a:rPr>
                        <a:t>手配含め</a:t>
                      </a:r>
                      <a:r>
                        <a:rPr lang="en-US" altLang="ja-JP" sz="1050" b="1" dirty="0">
                          <a:solidFill>
                            <a:schemeClr val="tx1">
                              <a:lumMod val="90000"/>
                              <a:lumOff val="10000"/>
                            </a:schemeClr>
                          </a:solidFill>
                          <a:latin typeface="+mn-ea"/>
                          <a:cs typeface="Meiryo UI" panose="020B0604030504040204" pitchFamily="50" charset="-128"/>
                        </a:rPr>
                        <a:t>4</a:t>
                      </a:r>
                      <a:r>
                        <a:rPr lang="ja-JP" altLang="en-US" sz="1050" b="1" dirty="0">
                          <a:solidFill>
                            <a:schemeClr val="tx1">
                              <a:lumMod val="90000"/>
                              <a:lumOff val="10000"/>
                            </a:schemeClr>
                          </a:solidFill>
                          <a:latin typeface="+mn-ea"/>
                          <a:cs typeface="Meiryo UI" panose="020B0604030504040204" pitchFamily="50" charset="-128"/>
                        </a:rPr>
                        <a:t>ヶ月の見込</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zh-TW"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最低確保期間</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zh-TW"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本番：</a:t>
                      </a:r>
                      <a:r>
                        <a:rPr kumimoji="1" lang="en-US" altLang="zh-TW"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r>
                        <a:rPr kumimoji="1" lang="zh-TW"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営業日、開発：</a:t>
                      </a:r>
                      <a:r>
                        <a:rPr kumimoji="1" lang="en-US" altLang="zh-TW"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r>
                        <a:rPr kumimoji="1" lang="zh-TW"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営業日</a:t>
                      </a:r>
                    </a:p>
                    <a:p>
                      <a:pPr algn="l"/>
                      <a:r>
                        <a:rPr lang="en-US" altLang="ja-JP" sz="1050" b="1" dirty="0">
                          <a:solidFill>
                            <a:schemeClr val="tx1">
                              <a:lumMod val="90000"/>
                              <a:lumOff val="10000"/>
                            </a:schemeClr>
                          </a:solidFill>
                          <a:latin typeface="+mn-ea"/>
                          <a:cs typeface="Meiryo UI" panose="020B0604030504040204" pitchFamily="50" charset="-128"/>
                        </a:rPr>
                        <a:t>※NW</a:t>
                      </a:r>
                      <a:r>
                        <a:rPr lang="ja-JP" altLang="en-US" sz="1050" b="1" dirty="0">
                          <a:solidFill>
                            <a:schemeClr val="tx1">
                              <a:lumMod val="90000"/>
                              <a:lumOff val="10000"/>
                            </a:schemeClr>
                          </a:solidFill>
                          <a:latin typeface="+mn-ea"/>
                          <a:cs typeface="Meiryo UI" panose="020B0604030504040204" pitchFamily="50" charset="-128"/>
                        </a:rPr>
                        <a:t>手配含め</a:t>
                      </a:r>
                      <a:r>
                        <a:rPr lang="en-US" altLang="ja-JP" sz="1050" b="1" dirty="0">
                          <a:solidFill>
                            <a:schemeClr val="tx1">
                              <a:lumMod val="90000"/>
                              <a:lumOff val="10000"/>
                            </a:schemeClr>
                          </a:solidFill>
                          <a:latin typeface="+mn-ea"/>
                          <a:cs typeface="Meiryo UI" panose="020B0604030504040204" pitchFamily="50" charset="-128"/>
                        </a:rPr>
                        <a:t>4</a:t>
                      </a:r>
                      <a:r>
                        <a:rPr lang="ja-JP" altLang="en-US" sz="1050" b="1" dirty="0">
                          <a:solidFill>
                            <a:schemeClr val="tx1">
                              <a:lumMod val="90000"/>
                              <a:lumOff val="10000"/>
                            </a:schemeClr>
                          </a:solidFill>
                          <a:latin typeface="+mn-ea"/>
                          <a:cs typeface="Meiryo UI" panose="020B0604030504040204" pitchFamily="50" charset="-128"/>
                        </a:rPr>
                        <a:t>ヶ月の見込</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5829938"/>
                  </a:ext>
                </a:extLst>
              </a:tr>
              <a:tr h="350651">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体制</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2026/4</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より</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NEC</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開発体制構築可</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（共通基盤とは別体制となる）</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オープン系システム基盤のサービス利用となるため、開発体制に懸念無し</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オープン系システム基盤のサービス利用となるため、開発体制に懸念無し</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5274948"/>
                  </a:ext>
                </a:extLst>
              </a:tr>
              <a:tr h="267162">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対象</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ランク相当システムの収容可</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ランク相当システムの収容可</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ランク相当システムの収容不可</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084115821"/>
                  </a:ext>
                </a:extLst>
              </a:tr>
              <a:tr h="267162">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占有</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共有</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サーバ占有</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サーバ共有</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サーバ共有</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8770338"/>
                  </a:ext>
                </a:extLst>
              </a:tr>
              <a:tr h="350651">
                <a:tc>
                  <a:txBody>
                    <a:bodyPr/>
                    <a:lstStyle/>
                    <a:p>
                      <a:pPr algn="l"/>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HW</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PC</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サーバ</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部品が堅牢化</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冗長化された高信頼性</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HW</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採用し、</a:t>
                      </a: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点故障の業務影響なし</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PC</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サーバ</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619271914"/>
                  </a:ext>
                </a:extLst>
              </a:tr>
              <a:tr h="525976">
                <a:tc>
                  <a:txBody>
                    <a:bodyPr/>
                    <a:lstStyle/>
                    <a:p>
                      <a:pPr algn="l"/>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HW</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交換</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24/365</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保守</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24/365</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保守</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平日日中</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予備ホストでの業務継続を実施（交換作業は業務影響なし）</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636626390"/>
                  </a:ext>
                </a:extLst>
              </a:tr>
              <a:tr h="267162">
                <a:tc>
                  <a:txBody>
                    <a:bodyPr/>
                    <a:lstStyle/>
                    <a:p>
                      <a:pPr algn="l"/>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SE</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保守</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平日日中</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平日日中</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平日日中</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958124"/>
                  </a:ext>
                </a:extLst>
              </a:tr>
              <a:tr h="267162">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監視</a:t>
                      </a:r>
                      <a:r>
                        <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連絡</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24/365</a:t>
                      </a: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（新規構築のため調整要）</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24/365</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24/365</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2904294"/>
                  </a:ext>
                </a:extLst>
              </a:tr>
              <a:tr h="267162">
                <a:tc>
                  <a:txBody>
                    <a:bodyPr/>
                    <a:lstStyle/>
                    <a:p>
                      <a:pPr algn="l"/>
                      <a:r>
                        <a:rPr kumimoji="1"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ストレージ</a:t>
                      </a:r>
                      <a:endParaRPr kumimoji="1" lang="en-US" altLang="ja-JP"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共有ストレージの新規構築が必要</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ストレージクラウドの利用が可能</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ストレージクラウドの利用が可能</a:t>
                      </a:r>
                      <a:endParaRPr kumimoji="1" lang="en-US" altLang="ja-JP"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092237"/>
                  </a:ext>
                </a:extLst>
              </a:tr>
            </a:tbl>
          </a:graphicData>
        </a:graphic>
      </p:graphicFrame>
      <p:sp>
        <p:nvSpPr>
          <p:cNvPr id="5" name="正方形/長方形 4">
            <a:extLst>
              <a:ext uri="{FF2B5EF4-FFF2-40B4-BE49-F238E27FC236}">
                <a16:creationId xmlns:a16="http://schemas.microsoft.com/office/drawing/2014/main" id="{FA0D5468-667C-EA0F-1992-96F622CA3BE1}"/>
              </a:ext>
            </a:extLst>
          </p:cNvPr>
          <p:cNvSpPr/>
          <p:nvPr/>
        </p:nvSpPr>
        <p:spPr bwMode="auto">
          <a:xfrm>
            <a:off x="3939538" y="1520499"/>
            <a:ext cx="5801459" cy="5242546"/>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dirty="0">
              <a:ln>
                <a:noFill/>
              </a:ln>
              <a:solidFill>
                <a:schemeClr val="tx1"/>
              </a:solidFill>
              <a:effectLst/>
              <a:latin typeface="+mn-ea"/>
              <a:ea typeface="+mn-ea"/>
              <a:cs typeface="Meiryo UI" panose="020B0604030504040204" pitchFamily="50" charset="-128"/>
            </a:endParaRPr>
          </a:p>
        </p:txBody>
      </p:sp>
    </p:spTree>
    <p:extLst>
      <p:ext uri="{BB962C8B-B14F-4D97-AF65-F5344CB8AC3E}">
        <p14:creationId xmlns:p14="http://schemas.microsoft.com/office/powerpoint/2010/main" val="704617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FE26A-33CE-9E87-5B53-61F4C8A9229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EC2BE76D-5049-E944-8120-782CC99DB485}"/>
              </a:ext>
            </a:extLst>
          </p:cNvPr>
          <p:cNvSpPr>
            <a:spLocks noGrp="1"/>
          </p:cNvSpPr>
          <p:nvPr>
            <p:ph type="body" sz="quarter" idx="12"/>
          </p:nvPr>
        </p:nvSpPr>
        <p:spPr>
          <a:xfrm>
            <a:off x="165000" y="613723"/>
            <a:ext cx="9740999" cy="601518"/>
          </a:xfrm>
        </p:spPr>
        <p:txBody>
          <a:bodyPr/>
          <a:lstStyle/>
          <a:p>
            <a:pPr marL="0" indent="0">
              <a:buNone/>
            </a:pPr>
            <a:r>
              <a:rPr lang="en-US" altLang="ja-JP" dirty="0"/>
              <a:t>CC</a:t>
            </a:r>
            <a:r>
              <a:rPr lang="ja-JP" altLang="en-US" dirty="0"/>
              <a:t>共通基盤にて現在利用しているアウトバウンドシステム（①</a:t>
            </a:r>
            <a:r>
              <a:rPr lang="en-US" altLang="ja-JP" dirty="0"/>
              <a:t>Avaya APC</a:t>
            </a:r>
            <a:r>
              <a:rPr lang="ja-JP" altLang="en-US" dirty="0"/>
              <a:t>、②</a:t>
            </a:r>
            <a:r>
              <a:rPr lang="en-US" altLang="ja-JP" dirty="0"/>
              <a:t>Genesys OCS</a:t>
            </a:r>
            <a:r>
              <a:rPr lang="ja-JP" altLang="en-US" dirty="0"/>
              <a:t>）が販売終了となることから後継製品となるアウトバウンドシステムの選定が必要となる。</a:t>
            </a:r>
            <a:endParaRPr lang="en-US" altLang="ja-JP" dirty="0"/>
          </a:p>
          <a:p>
            <a:r>
              <a:rPr lang="ja-JP" altLang="en-US" dirty="0">
                <a:latin typeface="+mn-ea"/>
              </a:rPr>
              <a:t>オンプレミス</a:t>
            </a:r>
            <a:r>
              <a:rPr lang="en-US" altLang="ja-JP" dirty="0">
                <a:latin typeface="+mn-ea"/>
              </a:rPr>
              <a:t>Avaya</a:t>
            </a:r>
            <a:r>
              <a:rPr lang="ja-JP" altLang="en-US" dirty="0">
                <a:latin typeface="+mn-ea"/>
              </a:rPr>
              <a:t>と連携可能なアウトバウンドシステム（①</a:t>
            </a:r>
            <a:r>
              <a:rPr lang="en-US" altLang="ja-JP" dirty="0">
                <a:latin typeface="+mn-ea"/>
              </a:rPr>
              <a:t>Avaya POM</a:t>
            </a:r>
            <a:r>
              <a:rPr lang="ja-JP" altLang="en-US" dirty="0">
                <a:latin typeface="+mn-ea"/>
              </a:rPr>
              <a:t>、②</a:t>
            </a:r>
            <a:r>
              <a:rPr lang="en-US" altLang="ja-JP" dirty="0">
                <a:latin typeface="+mn-ea"/>
              </a:rPr>
              <a:t>Aspect Unified IP</a:t>
            </a:r>
            <a:r>
              <a:rPr lang="ja-JP" altLang="en-US" dirty="0">
                <a:latin typeface="+mn-ea"/>
              </a:rPr>
              <a:t>、③</a:t>
            </a:r>
            <a:r>
              <a:rPr lang="en-US" altLang="ja-JP" dirty="0" err="1">
                <a:latin typeface="+mn-ea"/>
              </a:rPr>
              <a:t>SoftDialer</a:t>
            </a:r>
            <a:r>
              <a:rPr lang="ja-JP" altLang="en-US" dirty="0">
                <a:latin typeface="+mn-ea"/>
              </a:rPr>
              <a:t>）の評価を実施。</a:t>
            </a:r>
            <a:endParaRPr lang="en-US" altLang="ja-JP" sz="1400" dirty="0">
              <a:latin typeface="+mn-ea"/>
              <a:ea typeface="+mn-ea"/>
            </a:endParaRPr>
          </a:p>
          <a:p>
            <a:r>
              <a:rPr lang="ja-JP" altLang="en-US" sz="1400" dirty="0">
                <a:latin typeface="+mn-ea"/>
                <a:ea typeface="+mn-ea"/>
              </a:rPr>
              <a:t>各社の業務要件・キャパシティが大きく異なることから最適製品を１つに絞り込むことが困難であり、これまでと同様に製品推奨までとし、導入については個社対応とする。</a:t>
            </a:r>
            <a:endParaRPr lang="en-US" altLang="ja-JP" dirty="0">
              <a:latin typeface="+mn-ea"/>
            </a:endParaRPr>
          </a:p>
          <a:p>
            <a:r>
              <a:rPr lang="ja-JP" altLang="en-US" sz="1400" dirty="0">
                <a:latin typeface="+mn-ea"/>
                <a:ea typeface="+mn-ea"/>
              </a:rPr>
              <a:t>現行製品と比較して評価対象製品が高額となることから、アウトバウンド業務の業務効率</a:t>
            </a:r>
            <a:r>
              <a:rPr lang="ja-JP" altLang="en-US" dirty="0">
                <a:latin typeface="+mn-ea"/>
              </a:rPr>
              <a:t>（</a:t>
            </a:r>
            <a:r>
              <a:rPr lang="en-US" altLang="ja-JP" dirty="0">
                <a:latin typeface="+mn-ea"/>
              </a:rPr>
              <a:t>ROI</a:t>
            </a:r>
            <a:r>
              <a:rPr lang="ja-JP" altLang="en-US" dirty="0">
                <a:latin typeface="+mn-ea"/>
              </a:rPr>
              <a:t>ベース）</a:t>
            </a:r>
            <a:r>
              <a:rPr lang="ja-JP" altLang="en-US" sz="1400" dirty="0">
                <a:latin typeface="+mn-ea"/>
                <a:ea typeface="+mn-ea"/>
              </a:rPr>
              <a:t>を</a:t>
            </a:r>
            <a:r>
              <a:rPr lang="ja-JP" altLang="en-US" dirty="0">
                <a:latin typeface="+mn-ea"/>
              </a:rPr>
              <a:t>勘案した導入検討が</a:t>
            </a:r>
            <a:r>
              <a:rPr lang="ja-JP" altLang="en-US" sz="1400" dirty="0">
                <a:latin typeface="+mn-ea"/>
                <a:ea typeface="+mn-ea"/>
              </a:rPr>
              <a:t>必要</a:t>
            </a:r>
            <a:endParaRPr lang="en-US" altLang="ja-JP" sz="1400" dirty="0">
              <a:latin typeface="+mn-ea"/>
              <a:ea typeface="+mn-ea"/>
            </a:endParaRPr>
          </a:p>
        </p:txBody>
      </p:sp>
      <p:sp>
        <p:nvSpPr>
          <p:cNvPr id="2" name="タイトル 1">
            <a:extLst>
              <a:ext uri="{FF2B5EF4-FFF2-40B4-BE49-F238E27FC236}">
                <a16:creationId xmlns:a16="http://schemas.microsoft.com/office/drawing/2014/main" id="{30EFC880-7013-86AC-8EF7-0397CDCB1BF6}"/>
              </a:ext>
            </a:extLst>
          </p:cNvPr>
          <p:cNvSpPr>
            <a:spLocks noGrp="1"/>
          </p:cNvSpPr>
          <p:nvPr>
            <p:ph type="title"/>
          </p:nvPr>
        </p:nvSpPr>
        <p:spPr/>
        <p:txBody>
          <a:bodyPr/>
          <a:lstStyle/>
          <a:p>
            <a:pPr marL="0" indent="0" eaLnBrk="1" hangingPunct="1">
              <a:spcAft>
                <a:spcPts val="0"/>
              </a:spcAft>
              <a:defRPr/>
            </a:pPr>
            <a:r>
              <a:rPr lang="en-US" altLang="ja-JP" dirty="0"/>
              <a:t>【</a:t>
            </a:r>
            <a:r>
              <a:rPr lang="ja-JP" altLang="en-US" dirty="0"/>
              <a:t>参考⑤</a:t>
            </a:r>
            <a:r>
              <a:rPr lang="en-US" altLang="ja-JP" dirty="0"/>
              <a:t>】</a:t>
            </a:r>
            <a:r>
              <a:rPr lang="ja-JP" altLang="en-US" dirty="0"/>
              <a:t>アウトバウンド製品の選定について</a:t>
            </a:r>
            <a:endParaRPr kumimoji="1" lang="en-US" altLang="ja-JP" sz="1800" dirty="0">
              <a:latin typeface="+mn-ea"/>
              <a:ea typeface="+mn-ea"/>
            </a:endParaRPr>
          </a:p>
        </p:txBody>
      </p:sp>
      <p:sp>
        <p:nvSpPr>
          <p:cNvPr id="4" name="正方形/長方形 3">
            <a:extLst>
              <a:ext uri="{FF2B5EF4-FFF2-40B4-BE49-F238E27FC236}">
                <a16:creationId xmlns:a16="http://schemas.microsoft.com/office/drawing/2014/main" id="{029BDBC4-C902-BC75-640B-4CD4C8048A2E}"/>
              </a:ext>
            </a:extLst>
          </p:cNvPr>
          <p:cNvSpPr/>
          <p:nvPr/>
        </p:nvSpPr>
        <p:spPr bwMode="auto">
          <a:xfrm>
            <a:off x="240234" y="2552435"/>
            <a:ext cx="4188641" cy="758551"/>
          </a:xfrm>
          <a:prstGeom prst="rect">
            <a:avLst/>
          </a:prstGeom>
          <a:no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42950" eaLnBrk="1" hangingPunct="1">
              <a:defRPr/>
            </a:pPr>
            <a:r>
              <a:rPr kumimoji="1" lang="ja-JP" altLang="en-US" sz="1100" dirty="0">
                <a:latin typeface="+mn-ea"/>
                <a:ea typeface="+mn-ea"/>
              </a:rPr>
              <a:t>後継製品として、３製品（①</a:t>
            </a:r>
            <a:r>
              <a:rPr kumimoji="1" lang="en-US" altLang="ja-JP" sz="1100" dirty="0">
                <a:latin typeface="+mn-ea"/>
                <a:ea typeface="+mn-ea"/>
              </a:rPr>
              <a:t>Avaya POM</a:t>
            </a:r>
            <a:r>
              <a:rPr kumimoji="1" lang="ja-JP" altLang="en-US" sz="1100" dirty="0">
                <a:latin typeface="+mn-ea"/>
                <a:ea typeface="+mn-ea"/>
              </a:rPr>
              <a:t>、②</a:t>
            </a:r>
            <a:r>
              <a:rPr kumimoji="1" lang="en-US" altLang="ja-JP" sz="1100" dirty="0">
                <a:latin typeface="+mn-ea"/>
                <a:ea typeface="+mn-ea"/>
              </a:rPr>
              <a:t>Aspect Unified IP</a:t>
            </a:r>
            <a:r>
              <a:rPr kumimoji="1" lang="ja-JP" altLang="en-US" sz="1100" dirty="0">
                <a:latin typeface="+mn-ea"/>
                <a:ea typeface="+mn-ea"/>
              </a:rPr>
              <a:t>、③</a:t>
            </a:r>
            <a:r>
              <a:rPr kumimoji="1" lang="en-US" altLang="ja-JP" sz="1100" dirty="0" err="1">
                <a:latin typeface="+mn-ea"/>
                <a:ea typeface="+mn-ea"/>
              </a:rPr>
              <a:t>SoftDialer</a:t>
            </a:r>
            <a:r>
              <a:rPr kumimoji="1" lang="ja-JP" altLang="en-US" sz="1100" dirty="0">
                <a:latin typeface="+mn-ea"/>
                <a:ea typeface="+mn-ea"/>
              </a:rPr>
              <a:t>）の評価を実施。</a:t>
            </a:r>
            <a:endParaRPr kumimoji="1" lang="en-US" altLang="ja-JP" sz="1100" dirty="0">
              <a:latin typeface="+mn-ea"/>
              <a:ea typeface="+mn-ea"/>
            </a:endParaRPr>
          </a:p>
          <a:p>
            <a:pPr marL="182563" indent="-182563" defTabSz="742950" eaLnBrk="1" hangingPunct="1">
              <a:buFont typeface="Wingdings" panose="05000000000000000000" pitchFamily="2" charset="2"/>
              <a:buChar char="ü"/>
              <a:defRPr/>
            </a:pPr>
            <a:r>
              <a:rPr kumimoji="1" lang="ja-JP" altLang="en-US" sz="1100" dirty="0">
                <a:latin typeface="+mn-ea"/>
                <a:ea typeface="+mn-ea"/>
              </a:rPr>
              <a:t>機能要件（オンプレ）：</a:t>
            </a:r>
            <a:r>
              <a:rPr lang="ja-JP" altLang="en-US" sz="1100" dirty="0">
                <a:latin typeface="+mn-ea"/>
                <a:ea typeface="+mn-ea"/>
              </a:rPr>
              <a:t>大きな</a:t>
            </a:r>
            <a:r>
              <a:rPr kumimoji="1" lang="ja-JP" altLang="en-US" sz="1100" dirty="0">
                <a:latin typeface="+mn-ea"/>
                <a:ea typeface="+mn-ea"/>
              </a:rPr>
              <a:t>機能差はないものの架電結果連携時における切断理由の把握要否については製品によって差がある。</a:t>
            </a:r>
            <a:endParaRPr kumimoji="1" lang="en-US" altLang="ja-JP" sz="1100" dirty="0">
              <a:latin typeface="+mn-ea"/>
              <a:ea typeface="+mn-ea"/>
            </a:endParaRPr>
          </a:p>
          <a:p>
            <a:pPr marL="182563" indent="-182563" defTabSz="742950" eaLnBrk="1" hangingPunct="1">
              <a:buFont typeface="Wingdings" panose="05000000000000000000" pitchFamily="2" charset="2"/>
              <a:buChar char="ü"/>
              <a:defRPr/>
            </a:pPr>
            <a:r>
              <a:rPr kumimoji="1" lang="ja-JP" altLang="en-US" sz="1100" dirty="0">
                <a:latin typeface="+mn-ea"/>
                <a:ea typeface="+mn-ea"/>
              </a:rPr>
              <a:t>機能要件（クラウド）：オンプレ製品と比較して顧客情報や</a:t>
            </a:r>
            <a:r>
              <a:rPr kumimoji="1" lang="en-US" altLang="ja-JP" sz="1100" dirty="0">
                <a:latin typeface="+mn-ea"/>
                <a:ea typeface="+mn-ea"/>
              </a:rPr>
              <a:t>CTI</a:t>
            </a:r>
            <a:r>
              <a:rPr kumimoji="1" lang="ja-JP" altLang="en-US" sz="1100" dirty="0">
                <a:latin typeface="+mn-ea"/>
                <a:ea typeface="+mn-ea"/>
              </a:rPr>
              <a:t>情報の連携に制約がある。</a:t>
            </a:r>
            <a:endParaRPr kumimoji="1" lang="en-US" altLang="ja-JP" sz="1100" dirty="0">
              <a:latin typeface="+mn-ea"/>
              <a:ea typeface="+mn-ea"/>
            </a:endParaRPr>
          </a:p>
          <a:p>
            <a:pPr marL="182563" indent="-182563" defTabSz="742950" eaLnBrk="1" hangingPunct="1">
              <a:buFont typeface="Wingdings" panose="05000000000000000000" pitchFamily="2" charset="2"/>
              <a:buChar char="ü"/>
              <a:defRPr/>
            </a:pPr>
            <a:r>
              <a:rPr lang="ja-JP" altLang="en-US" sz="1100" dirty="0">
                <a:latin typeface="+mn-ea"/>
                <a:ea typeface="+mn-ea"/>
              </a:rPr>
              <a:t>コスト：製品によりキャパシティに差異があるため、規模により最適解が異なるが現行製品に比べ全体的に高額となっている。</a:t>
            </a:r>
            <a:endParaRPr kumimoji="1" lang="en-US" altLang="ja-JP" sz="1100" dirty="0">
              <a:latin typeface="+mn-ea"/>
              <a:ea typeface="+mn-ea"/>
            </a:endParaRPr>
          </a:p>
        </p:txBody>
      </p:sp>
      <p:grpSp>
        <p:nvGrpSpPr>
          <p:cNvPr id="5" name="グループ化 4">
            <a:extLst>
              <a:ext uri="{FF2B5EF4-FFF2-40B4-BE49-F238E27FC236}">
                <a16:creationId xmlns:a16="http://schemas.microsoft.com/office/drawing/2014/main" id="{B50337FE-C288-BBF7-7CA5-23F499A5F5B5}"/>
              </a:ext>
            </a:extLst>
          </p:cNvPr>
          <p:cNvGrpSpPr/>
          <p:nvPr/>
        </p:nvGrpSpPr>
        <p:grpSpPr>
          <a:xfrm>
            <a:off x="240235" y="2293509"/>
            <a:ext cx="4188642" cy="237463"/>
            <a:chOff x="997893" y="668547"/>
            <a:chExt cx="4176001" cy="237463"/>
          </a:xfrm>
        </p:grpSpPr>
        <p:sp>
          <p:nvSpPr>
            <p:cNvPr id="6" name="Rectangle 2">
              <a:extLst>
                <a:ext uri="{FF2B5EF4-FFF2-40B4-BE49-F238E27FC236}">
                  <a16:creationId xmlns:a16="http://schemas.microsoft.com/office/drawing/2014/main" id="{E694DD67-7FE8-485A-69A8-09E5F55A6A97}"/>
                </a:ext>
              </a:extLst>
            </p:cNvPr>
            <p:cNvSpPr txBox="1">
              <a:spLocks noChangeArrowheads="1"/>
            </p:cNvSpPr>
            <p:nvPr/>
          </p:nvSpPr>
          <p:spPr bwMode="auto">
            <a:xfrm>
              <a:off x="997893" y="668547"/>
              <a:ext cx="4140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lstStyle>
              <a:lvl1pPr eaLnBrk="0" hangingPunct="0">
                <a:lnSpc>
                  <a:spcPts val="2100"/>
                </a:lnSpc>
                <a:spcBef>
                  <a:spcPct val="80000"/>
                </a:spcBef>
                <a:buClr>
                  <a:srgbClr val="003C2C"/>
                </a:buClr>
                <a:buFont typeface="Wingdings" pitchFamily="2" charset="2"/>
                <a:buChar char="l"/>
                <a:tabLst>
                  <a:tab pos="6372225" algn="l"/>
                </a:tabLst>
                <a:defRPr kumimoji="1">
                  <a:solidFill>
                    <a:schemeClr val="tx1"/>
                  </a:solidFill>
                  <a:latin typeface="ＭＳ Ｐゴシック" charset="-128"/>
                  <a:ea typeface="ＭＳ Ｐゴシック" charset="-128"/>
                </a:defRPr>
              </a:lvl1pPr>
              <a:lvl2pPr marL="742950" indent="-285750" eaLnBrk="0" hangingPunct="0">
                <a:lnSpc>
                  <a:spcPts val="2100"/>
                </a:lnSpc>
                <a:spcBef>
                  <a:spcPct val="20000"/>
                </a:spcBef>
                <a:buClr>
                  <a:srgbClr val="A8D435"/>
                </a:buClr>
                <a:buSzPct val="90000"/>
                <a:buFont typeface="Wingdings" pitchFamily="2" charset="2"/>
                <a:buChar char="l"/>
                <a:tabLst>
                  <a:tab pos="6372225" algn="l"/>
                </a:tabLst>
                <a:defRPr kumimoji="1" sz="1600">
                  <a:solidFill>
                    <a:schemeClr val="tx1"/>
                  </a:solidFill>
                  <a:latin typeface="ＭＳ Ｐゴシック" charset="-128"/>
                  <a:ea typeface="ＭＳ Ｐゴシック" charset="-128"/>
                </a:defRPr>
              </a:lvl2pPr>
              <a:lvl3pPr marL="1143000" indent="-228600" eaLnBrk="0" hangingPunct="0">
                <a:lnSpc>
                  <a:spcPct val="125000"/>
                </a:lnSpc>
                <a:spcBef>
                  <a:spcPct val="20000"/>
                </a:spcBef>
                <a:buClr>
                  <a:srgbClr val="A2A2A2"/>
                </a:buClr>
                <a:buSzPct val="70000"/>
                <a:buFont typeface="Wingdings" pitchFamily="2" charset="2"/>
                <a:tabLst>
                  <a:tab pos="6372225" algn="l"/>
                </a:tabLst>
                <a:defRPr kumimoji="1" sz="1600">
                  <a:solidFill>
                    <a:schemeClr val="tx1"/>
                  </a:solidFill>
                  <a:latin typeface="ＭＳ Ｐゴシック" charset="-128"/>
                  <a:ea typeface="ＭＳ Ｐゴシック" charset="-128"/>
                </a:defRPr>
              </a:lvl3pPr>
              <a:lvl4pPr marL="1600200" indent="-228600" eaLnBrk="0" fontAlgn="ctr" hangingPunct="0">
                <a:lnSpc>
                  <a:spcPts val="2100"/>
                </a:lnSpc>
                <a:spcBef>
                  <a:spcPct val="20000"/>
                </a:spcBef>
                <a:buClr>
                  <a:srgbClr val="A2A2A2"/>
                </a:buClr>
                <a:buSzPct val="70000"/>
                <a:buFont typeface="Wingdings" pitchFamily="2" charset="2"/>
                <a:buChar char="l"/>
                <a:tabLst>
                  <a:tab pos="6372225" algn="l"/>
                </a:tabLst>
                <a:defRPr kumimoji="1" sz="1400">
                  <a:solidFill>
                    <a:schemeClr val="tx1"/>
                  </a:solidFill>
                  <a:latin typeface="ＭＳ Ｐゴシック" charset="-128"/>
                  <a:ea typeface="ＭＳ Ｐゴシック" charset="-128"/>
                </a:defRPr>
              </a:lvl4pPr>
              <a:lvl5pPr marL="2057400" indent="-228600" eaLnBrk="0" fontAlgn="ctr" hangingPunct="0">
                <a:lnSpc>
                  <a:spcPts val="2100"/>
                </a:lnSpc>
                <a:spcBef>
                  <a:spcPct val="20000"/>
                </a:spcBef>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5pPr>
              <a:lvl6pPr marL="25146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6pPr>
              <a:lvl7pPr marL="29718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7pPr>
              <a:lvl8pPr marL="34290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8pPr>
              <a:lvl9pPr marL="38862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tab pos="6372225" algn="l"/>
                </a:tabLst>
                <a:defRPr/>
              </a:pPr>
              <a:r>
                <a:rPr kumimoji="1" lang="ja-JP" altLang="en-US" sz="1400" b="1" dirty="0">
                  <a:latin typeface="+mn-ea"/>
                  <a:ea typeface="+mn-ea"/>
                </a:rPr>
                <a:t>アウトバウドシステムの評価</a:t>
              </a:r>
              <a:endParaRPr kumimoji="1" lang="en-US" altLang="ja-JP" sz="1400" b="1" i="0" u="none" strike="noStrike" kern="1200" cap="none" spc="0" normalizeH="0" baseline="0" noProof="0" dirty="0">
                <a:ln>
                  <a:noFill/>
                </a:ln>
                <a:effectLst/>
                <a:uLnTx/>
                <a:uFillTx/>
                <a:latin typeface="Meiryo UI" pitchFamily="50" charset="-128"/>
                <a:ea typeface="Meiryo UI" pitchFamily="50" charset="-128"/>
                <a:cs typeface="Meiryo UI" pitchFamily="50" charset="-128"/>
              </a:endParaRPr>
            </a:p>
          </p:txBody>
        </p:sp>
        <p:cxnSp>
          <p:nvCxnSpPr>
            <p:cNvPr id="7" name="直線コネクタ 6">
              <a:extLst>
                <a:ext uri="{FF2B5EF4-FFF2-40B4-BE49-F238E27FC236}">
                  <a16:creationId xmlns:a16="http://schemas.microsoft.com/office/drawing/2014/main" id="{3D14119E-FD9B-315E-F57C-BCE1D2AAEB0E}"/>
                </a:ext>
              </a:extLst>
            </p:cNvPr>
            <p:cNvCxnSpPr>
              <a:cxnSpLocks/>
            </p:cNvCxnSpPr>
            <p:nvPr/>
          </p:nvCxnSpPr>
          <p:spPr bwMode="auto">
            <a:xfrm>
              <a:off x="997894" y="906010"/>
              <a:ext cx="4176000" cy="0"/>
            </a:xfrm>
            <a:prstGeom prst="line">
              <a:avLst/>
            </a:prstGeom>
            <a:noFill/>
            <a:ln w="19050" cap="flat" cmpd="sng" algn="ctr">
              <a:solidFill>
                <a:srgbClr val="0072CE"/>
              </a:solidFill>
              <a:prstDash val="solid"/>
              <a:headEnd type="none" w="med" len="med"/>
              <a:tailEnd type="none" w="med" len="med"/>
            </a:ln>
            <a:effectLst/>
          </p:spPr>
        </p:cxnSp>
      </p:grpSp>
      <p:graphicFrame>
        <p:nvGraphicFramePr>
          <p:cNvPr id="8" name="表 7">
            <a:extLst>
              <a:ext uri="{FF2B5EF4-FFF2-40B4-BE49-F238E27FC236}">
                <a16:creationId xmlns:a16="http://schemas.microsoft.com/office/drawing/2014/main" id="{4DFDF35A-2526-AF28-2B32-BA140BB1573B}"/>
              </a:ext>
            </a:extLst>
          </p:cNvPr>
          <p:cNvGraphicFramePr>
            <a:graphicFrameLocks noGrp="1"/>
          </p:cNvGraphicFramePr>
          <p:nvPr/>
        </p:nvGraphicFramePr>
        <p:xfrm>
          <a:off x="240234" y="4118692"/>
          <a:ext cx="4188641" cy="2125586"/>
        </p:xfrm>
        <a:graphic>
          <a:graphicData uri="http://schemas.openxmlformats.org/drawingml/2006/table">
            <a:tbl>
              <a:tblPr firstRow="1" bandRow="1">
                <a:tableStyleId>{5C22544A-7EE6-4342-B048-85BDC9FD1C3A}</a:tableStyleId>
              </a:tblPr>
              <a:tblGrid>
                <a:gridCol w="801387">
                  <a:extLst>
                    <a:ext uri="{9D8B030D-6E8A-4147-A177-3AD203B41FA5}">
                      <a16:colId xmlns:a16="http://schemas.microsoft.com/office/drawing/2014/main" val="2764512828"/>
                    </a:ext>
                  </a:extLst>
                </a:gridCol>
                <a:gridCol w="3387254">
                  <a:extLst>
                    <a:ext uri="{9D8B030D-6E8A-4147-A177-3AD203B41FA5}">
                      <a16:colId xmlns:a16="http://schemas.microsoft.com/office/drawing/2014/main" val="3668374175"/>
                    </a:ext>
                  </a:extLst>
                </a:gridCol>
              </a:tblGrid>
              <a:tr h="233186">
                <a:tc>
                  <a:txBody>
                    <a:bodyPr/>
                    <a:lstStyle/>
                    <a:p>
                      <a:pPr algn="ctr"/>
                      <a:r>
                        <a:rPr kumimoji="1" lang="ja-JP" altLang="en-US" sz="1050" b="0" dirty="0">
                          <a:solidFill>
                            <a:schemeClr val="bg1"/>
                          </a:solidFill>
                        </a:rPr>
                        <a:t>比較項目</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050" b="0">
                          <a:solidFill>
                            <a:schemeClr val="bg1"/>
                          </a:solidFill>
                        </a:rPr>
                        <a:t>各項目ごとの特性</a:t>
                      </a:r>
                      <a:endParaRPr kumimoji="1" lang="ja-JP" altLang="en-US" sz="1050" b="0" dirty="0">
                        <a:solidFill>
                          <a:schemeClr val="bg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3213353780"/>
                  </a:ext>
                </a:extLst>
              </a:tr>
              <a:tr h="163516">
                <a:tc>
                  <a:txBody>
                    <a:bodyPr/>
                    <a:lstStyle/>
                    <a:p>
                      <a:pPr algn="ctr"/>
                      <a:r>
                        <a:rPr kumimoji="1" lang="ja-JP" altLang="en-US" sz="1000" b="0" dirty="0">
                          <a:solidFill>
                            <a:schemeClr val="tx1"/>
                          </a:solidFill>
                        </a:rPr>
                        <a:t>主要機能</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0" dirty="0">
                          <a:solidFill>
                            <a:schemeClr val="tx1"/>
                          </a:solidFill>
                        </a:rPr>
                        <a:t>・オンプレの各製品に大きな差異なし（架電結果連携）</a:t>
                      </a:r>
                      <a:endParaRPr kumimoji="1" lang="en-US" altLang="ja-JP" sz="1000" b="0" dirty="0">
                        <a:solidFill>
                          <a:schemeClr val="tx1"/>
                        </a:solidFill>
                      </a:endParaRPr>
                    </a:p>
                    <a:p>
                      <a:pPr algn="l"/>
                      <a:r>
                        <a:rPr kumimoji="1" lang="ja-JP" altLang="en-US" sz="1000" b="0" dirty="0">
                          <a:solidFill>
                            <a:schemeClr val="tx1"/>
                          </a:solidFill>
                        </a:rPr>
                        <a:t>・クラウド製品は機能制約が多数有（顧客情報、</a:t>
                      </a:r>
                      <a:r>
                        <a:rPr kumimoji="1" lang="en-US" altLang="ja-JP" sz="1000" b="0" dirty="0">
                          <a:solidFill>
                            <a:schemeClr val="tx1"/>
                          </a:solidFill>
                        </a:rPr>
                        <a:t>CTI</a:t>
                      </a:r>
                      <a:r>
                        <a:rPr kumimoji="1" lang="ja-JP" altLang="en-US" sz="1000" b="0" dirty="0">
                          <a:solidFill>
                            <a:schemeClr val="tx1"/>
                          </a:solidFill>
                        </a:rPr>
                        <a:t>連携等）</a:t>
                      </a:r>
                      <a:endParaRPr kumimoji="1" lang="en-US" altLang="ja-JP" sz="1000" b="0" dirty="0">
                        <a:solidFill>
                          <a:schemeClr val="tx1"/>
                        </a:solidFill>
                      </a:endParaRPr>
                    </a:p>
                    <a:p>
                      <a:pPr algn="l"/>
                      <a:r>
                        <a:rPr kumimoji="1" lang="ja-JP" altLang="en-US" sz="1000" b="0" dirty="0">
                          <a:solidFill>
                            <a:schemeClr val="tx1"/>
                          </a:solidFill>
                        </a:rPr>
                        <a:t>→各社の業務要件についてノックアウトファクターがないか確認</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6534004"/>
                  </a:ext>
                </a:extLst>
              </a:tr>
              <a:tr h="163516">
                <a:tc>
                  <a:txBody>
                    <a:bodyPr/>
                    <a:lstStyle/>
                    <a:p>
                      <a:pPr algn="ctr"/>
                      <a:r>
                        <a:rPr kumimoji="1" lang="ja-JP" altLang="en-US" sz="1000" b="0" dirty="0">
                          <a:solidFill>
                            <a:schemeClr val="tx1"/>
                          </a:solidFill>
                        </a:rPr>
                        <a:t>キャパシティー</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0" dirty="0">
                          <a:solidFill>
                            <a:schemeClr val="tx1"/>
                          </a:solidFill>
                        </a:rPr>
                        <a:t>・</a:t>
                      </a:r>
                      <a:r>
                        <a:rPr kumimoji="1" lang="en-US" altLang="ja-JP" sz="1000" b="0" dirty="0" err="1">
                          <a:solidFill>
                            <a:schemeClr val="tx1"/>
                          </a:solidFill>
                        </a:rPr>
                        <a:t>SoftDialer</a:t>
                      </a:r>
                      <a:r>
                        <a:rPr kumimoji="1" lang="ja-JP" altLang="en-US" sz="1000" b="0" dirty="0">
                          <a:solidFill>
                            <a:schemeClr val="tx1"/>
                          </a:solidFill>
                        </a:rPr>
                        <a:t>：</a:t>
                      </a:r>
                      <a:r>
                        <a:rPr kumimoji="1" lang="en-US" altLang="ja-JP" sz="1000" b="0" dirty="0">
                          <a:solidFill>
                            <a:schemeClr val="tx1"/>
                          </a:solidFill>
                        </a:rPr>
                        <a:t>400Agent/1</a:t>
                      </a:r>
                      <a:r>
                        <a:rPr kumimoji="1" lang="ja-JP" altLang="en-US" sz="1000" b="0" dirty="0">
                          <a:solidFill>
                            <a:schemeClr val="tx1"/>
                          </a:solidFill>
                        </a:rPr>
                        <a:t>システム</a:t>
                      </a:r>
                      <a:endParaRPr kumimoji="1" lang="en-US" altLang="ja-JP" sz="1000" b="0" dirty="0">
                        <a:solidFill>
                          <a:schemeClr val="tx1"/>
                        </a:solidFill>
                      </a:endParaRPr>
                    </a:p>
                    <a:p>
                      <a:pPr algn="l"/>
                      <a:r>
                        <a:rPr kumimoji="1" lang="ja-JP" altLang="en-US" sz="1000" b="0" dirty="0">
                          <a:solidFill>
                            <a:schemeClr val="tx1"/>
                          </a:solidFill>
                        </a:rPr>
                        <a:t>・</a:t>
                      </a:r>
                      <a:r>
                        <a:rPr kumimoji="1" lang="en-US" altLang="ja-JP" sz="1000" b="0" dirty="0">
                          <a:solidFill>
                            <a:schemeClr val="tx1"/>
                          </a:solidFill>
                        </a:rPr>
                        <a:t>POM/Unified IP</a:t>
                      </a:r>
                      <a:r>
                        <a:rPr kumimoji="1" lang="ja-JP" altLang="en-US" sz="1000" b="0" dirty="0">
                          <a:solidFill>
                            <a:schemeClr val="tx1"/>
                          </a:solidFill>
                        </a:rPr>
                        <a:t>：</a:t>
                      </a:r>
                      <a:r>
                        <a:rPr kumimoji="1" lang="en-US" altLang="ja-JP" sz="1000" b="0" dirty="0">
                          <a:solidFill>
                            <a:schemeClr val="tx1"/>
                          </a:solidFill>
                        </a:rPr>
                        <a:t>2,000Agent/1</a:t>
                      </a:r>
                      <a:r>
                        <a:rPr kumimoji="1" lang="ja-JP" altLang="en-US" sz="1000" b="0" dirty="0">
                          <a:solidFill>
                            <a:schemeClr val="tx1"/>
                          </a:solidFill>
                        </a:rPr>
                        <a:t>システム</a:t>
                      </a:r>
                      <a:endParaRPr kumimoji="1" lang="en-US" altLang="ja-JP" sz="1000" b="0" dirty="0">
                        <a:solidFill>
                          <a:schemeClr val="tx1"/>
                        </a:solidFill>
                      </a:endParaRPr>
                    </a:p>
                    <a:p>
                      <a:pPr algn="l"/>
                      <a:r>
                        <a:rPr kumimoji="1" lang="ja-JP" altLang="en-US" sz="1000" b="0" dirty="0">
                          <a:solidFill>
                            <a:schemeClr val="tx1"/>
                          </a:solidFill>
                        </a:rPr>
                        <a:t>→各社の業務要件についてノックアウトファクターがないか確認</a:t>
                      </a:r>
                      <a:endParaRPr kumimoji="1" lang="en-US" altLang="ja-JP" sz="10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2646845"/>
                  </a:ext>
                </a:extLst>
              </a:tr>
              <a:tr h="163516">
                <a:tc>
                  <a:txBody>
                    <a:bodyPr/>
                    <a:lstStyle/>
                    <a:p>
                      <a:pPr algn="ctr"/>
                      <a:r>
                        <a:rPr kumimoji="1" lang="ja-JP" altLang="en-US" sz="1000" b="0" dirty="0">
                          <a:solidFill>
                            <a:schemeClr val="tx1"/>
                          </a:solidFill>
                        </a:rPr>
                        <a:t>コスト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0" dirty="0">
                          <a:solidFill>
                            <a:schemeClr val="tx1"/>
                          </a:solidFill>
                        </a:rPr>
                        <a:t>・キャパシティにより各製品のコスト評価が異なる</a:t>
                      </a:r>
                      <a:endParaRPr kumimoji="1" lang="en-US" altLang="ja-JP" sz="1000" b="0" dirty="0">
                        <a:solidFill>
                          <a:schemeClr val="tx1"/>
                        </a:solidFill>
                      </a:endParaRPr>
                    </a:p>
                    <a:p>
                      <a:pPr algn="l"/>
                      <a:r>
                        <a:rPr kumimoji="1" lang="ja-JP" altLang="en-US" sz="1000" b="0" dirty="0">
                          <a:solidFill>
                            <a:schemeClr val="tx1"/>
                          </a:solidFill>
                        </a:rPr>
                        <a:t>→</a:t>
                      </a:r>
                      <a:r>
                        <a:rPr kumimoji="1" lang="en-US" altLang="ja-JP" sz="1000" b="0" dirty="0" err="1">
                          <a:solidFill>
                            <a:schemeClr val="tx1"/>
                          </a:solidFill>
                        </a:rPr>
                        <a:t>SoftDialer</a:t>
                      </a:r>
                      <a:r>
                        <a:rPr kumimoji="1" lang="ja-JP" altLang="en-US" sz="1000" b="0" dirty="0">
                          <a:solidFill>
                            <a:schemeClr val="tx1"/>
                          </a:solidFill>
                        </a:rPr>
                        <a:t>は</a:t>
                      </a:r>
                      <a:r>
                        <a:rPr kumimoji="1" lang="en-US" altLang="ja-JP" sz="1000" b="0" dirty="0">
                          <a:solidFill>
                            <a:schemeClr val="tx1"/>
                          </a:solidFill>
                        </a:rPr>
                        <a:t>400</a:t>
                      </a:r>
                      <a:r>
                        <a:rPr kumimoji="1" lang="ja-JP" altLang="en-US" sz="1000" b="0" dirty="0">
                          <a:solidFill>
                            <a:schemeClr val="tx1"/>
                          </a:solidFill>
                        </a:rPr>
                        <a:t>席</a:t>
                      </a:r>
                      <a:r>
                        <a:rPr kumimoji="1" lang="en-US" altLang="ja-JP" sz="1000" b="0" dirty="0">
                          <a:solidFill>
                            <a:schemeClr val="tx1"/>
                          </a:solidFill>
                        </a:rPr>
                        <a:t>/</a:t>
                      </a:r>
                      <a:r>
                        <a:rPr kumimoji="1" lang="ja-JP" altLang="en-US" sz="1000" b="0" dirty="0">
                          <a:solidFill>
                            <a:schemeClr val="tx1"/>
                          </a:solidFill>
                        </a:rPr>
                        <a:t>システムのため</a:t>
                      </a:r>
                      <a:r>
                        <a:rPr kumimoji="1" lang="en-US" altLang="ja-JP" sz="1000" b="0" dirty="0">
                          <a:solidFill>
                            <a:schemeClr val="tx1"/>
                          </a:solidFill>
                        </a:rPr>
                        <a:t>2,000</a:t>
                      </a:r>
                      <a:r>
                        <a:rPr kumimoji="1" lang="ja-JP" altLang="en-US" sz="1000" b="0" dirty="0">
                          <a:solidFill>
                            <a:schemeClr val="tx1"/>
                          </a:solidFill>
                        </a:rPr>
                        <a:t>席規模の大規模システムの場合はコストが高くなる。</a:t>
                      </a:r>
                      <a:endParaRPr kumimoji="1" lang="en-US" altLang="ja-JP" sz="1000" b="0" dirty="0">
                        <a:solidFill>
                          <a:schemeClr val="tx1"/>
                        </a:solidFill>
                      </a:endParaRPr>
                    </a:p>
                    <a:p>
                      <a:pPr algn="l"/>
                      <a:r>
                        <a:rPr kumimoji="1" lang="ja-JP" altLang="en-US" sz="1000" b="0" dirty="0">
                          <a:solidFill>
                            <a:schemeClr val="tx1"/>
                          </a:solidFill>
                        </a:rPr>
                        <a:t>・現行アウトバウンドシステムよりは高額になる見込み</a:t>
                      </a:r>
                      <a:endParaRPr kumimoji="1" lang="en-US" altLang="ja-JP" sz="1000" b="0" dirty="0">
                        <a:solidFill>
                          <a:schemeClr val="tx1"/>
                        </a:solidFill>
                      </a:endParaRPr>
                    </a:p>
                    <a:p>
                      <a:pPr algn="l"/>
                      <a:r>
                        <a:rPr kumimoji="1" lang="ja-JP" altLang="en-US" sz="1000" b="0" dirty="0">
                          <a:solidFill>
                            <a:schemeClr val="tx1"/>
                          </a:solidFill>
                        </a:rPr>
                        <a:t>→各社の業務効率を勘案した</a:t>
                      </a:r>
                      <a:r>
                        <a:rPr kumimoji="1" lang="en-US" altLang="ja-JP" sz="1000" b="0" dirty="0">
                          <a:solidFill>
                            <a:schemeClr val="tx1"/>
                          </a:solidFill>
                        </a:rPr>
                        <a:t>ROI</a:t>
                      </a:r>
                      <a:r>
                        <a:rPr kumimoji="1" lang="ja-JP" altLang="en-US" sz="1000" b="0" dirty="0">
                          <a:solidFill>
                            <a:schemeClr val="tx1"/>
                          </a:solidFill>
                        </a:rPr>
                        <a:t>評価を実施する必要がある。</a:t>
                      </a:r>
                      <a:endParaRPr kumimoji="1" lang="en-US" altLang="ja-JP" sz="10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2612884"/>
                  </a:ext>
                </a:extLst>
              </a:tr>
            </a:tbl>
          </a:graphicData>
        </a:graphic>
      </p:graphicFrame>
      <p:sp>
        <p:nvSpPr>
          <p:cNvPr id="9" name="正方形/長方形 8">
            <a:extLst>
              <a:ext uri="{FF2B5EF4-FFF2-40B4-BE49-F238E27FC236}">
                <a16:creationId xmlns:a16="http://schemas.microsoft.com/office/drawing/2014/main" id="{9B1F8478-B46C-766F-E473-1DC7CBF36009}"/>
              </a:ext>
            </a:extLst>
          </p:cNvPr>
          <p:cNvSpPr/>
          <p:nvPr/>
        </p:nvSpPr>
        <p:spPr bwMode="auto">
          <a:xfrm>
            <a:off x="4575020" y="2552435"/>
            <a:ext cx="5090746" cy="973113"/>
          </a:xfrm>
          <a:prstGeom prst="rect">
            <a:avLst/>
          </a:prstGeom>
          <a:no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42950" eaLnBrk="1" hangingPunct="1">
              <a:defRPr/>
            </a:pPr>
            <a:r>
              <a:rPr lang="ja-JP" altLang="en-US" sz="1100" dirty="0">
                <a:latin typeface="+mn-ea"/>
                <a:ea typeface="+mn-ea"/>
              </a:rPr>
              <a:t>アウトバウンドシステムは日興、</a:t>
            </a:r>
            <a:r>
              <a:rPr lang="en-US" altLang="ja-JP" sz="1100" dirty="0">
                <a:latin typeface="+mn-ea"/>
                <a:ea typeface="+mn-ea"/>
              </a:rPr>
              <a:t>SMCC</a:t>
            </a:r>
            <a:r>
              <a:rPr lang="ja-JP" altLang="en-US" sz="1100" dirty="0">
                <a:latin typeface="+mn-ea"/>
                <a:ea typeface="+mn-ea"/>
              </a:rPr>
              <a:t>（旧</a:t>
            </a:r>
            <a:r>
              <a:rPr lang="en-US" altLang="ja-JP" sz="1100" dirty="0">
                <a:latin typeface="+mn-ea"/>
                <a:ea typeface="+mn-ea"/>
              </a:rPr>
              <a:t>FS</a:t>
            </a:r>
            <a:r>
              <a:rPr lang="ja-JP" altLang="en-US" sz="1100" dirty="0">
                <a:latin typeface="+mn-ea"/>
                <a:ea typeface="+mn-ea"/>
              </a:rPr>
              <a:t>）、</a:t>
            </a:r>
            <a:r>
              <a:rPr lang="en-US" altLang="ja-JP" sz="1100" dirty="0">
                <a:latin typeface="+mn-ea"/>
                <a:ea typeface="+mn-ea"/>
              </a:rPr>
              <a:t>SMBCCF</a:t>
            </a:r>
            <a:r>
              <a:rPr lang="ja-JP" altLang="en-US" sz="1100" dirty="0">
                <a:latin typeface="+mn-ea"/>
                <a:ea typeface="+mn-ea"/>
              </a:rPr>
              <a:t>にて利用しているが、各社の業務要件により、システム要求が異なるため、各社で対応方針を決定。</a:t>
            </a:r>
            <a:endParaRPr kumimoji="1" lang="en-US" altLang="ja-JP" sz="1100" dirty="0">
              <a:latin typeface="+mn-ea"/>
              <a:ea typeface="+mn-ea"/>
            </a:endParaRPr>
          </a:p>
          <a:p>
            <a:pPr marL="182563" indent="-182563" defTabSz="742950" eaLnBrk="1" hangingPunct="1">
              <a:buFont typeface="Wingdings" panose="05000000000000000000" pitchFamily="2" charset="2"/>
              <a:buChar char="ü"/>
              <a:defRPr/>
            </a:pPr>
            <a:r>
              <a:rPr kumimoji="1" lang="ja-JP" altLang="en-US" sz="1100" dirty="0">
                <a:latin typeface="+mn-ea"/>
                <a:ea typeface="+mn-ea"/>
              </a:rPr>
              <a:t>日興：リスト架電機能を開発予定</a:t>
            </a:r>
            <a:endParaRPr kumimoji="1" lang="en-US" altLang="ja-JP" sz="1100" dirty="0">
              <a:latin typeface="+mn-ea"/>
              <a:ea typeface="+mn-ea"/>
            </a:endParaRPr>
          </a:p>
          <a:p>
            <a:pPr marL="182563" indent="-182563" defTabSz="742950" eaLnBrk="1" hangingPunct="1">
              <a:buFont typeface="Wingdings" panose="05000000000000000000" pitchFamily="2" charset="2"/>
              <a:buChar char="ü"/>
              <a:defRPr/>
            </a:pPr>
            <a:r>
              <a:rPr lang="en-US" altLang="ja-JP" sz="1100" dirty="0">
                <a:latin typeface="+mn-ea"/>
                <a:ea typeface="+mn-ea"/>
              </a:rPr>
              <a:t>SMCC</a:t>
            </a:r>
            <a:r>
              <a:rPr lang="ja-JP" altLang="en-US" sz="1100" dirty="0">
                <a:latin typeface="+mn-ea"/>
                <a:ea typeface="+mn-ea"/>
              </a:rPr>
              <a:t>：自動架電のシステム選定予定（オペレータ転送時に顧客電話番号引継）</a:t>
            </a:r>
            <a:endParaRPr lang="en-US" altLang="ja-JP" sz="1100" dirty="0">
              <a:latin typeface="+mn-ea"/>
              <a:ea typeface="+mn-ea"/>
            </a:endParaRPr>
          </a:p>
          <a:p>
            <a:pPr marL="182563" indent="-182563" defTabSz="742950" eaLnBrk="1" hangingPunct="1">
              <a:buFont typeface="Wingdings" panose="05000000000000000000" pitchFamily="2" charset="2"/>
              <a:buChar char="ü"/>
              <a:defRPr/>
            </a:pPr>
            <a:r>
              <a:rPr kumimoji="1" lang="en-US" altLang="ja-JP" sz="1100" dirty="0">
                <a:latin typeface="+mn-ea"/>
                <a:ea typeface="+mn-ea"/>
              </a:rPr>
              <a:t>CF</a:t>
            </a:r>
            <a:r>
              <a:rPr kumimoji="1" lang="ja-JP" altLang="en-US" sz="1100" dirty="0">
                <a:latin typeface="+mn-ea"/>
                <a:ea typeface="+mn-ea"/>
              </a:rPr>
              <a:t>：</a:t>
            </a:r>
            <a:r>
              <a:rPr kumimoji="1" lang="en-US" altLang="ja-JP" sz="1100" dirty="0">
                <a:latin typeface="+mn-ea"/>
                <a:ea typeface="+mn-ea"/>
              </a:rPr>
              <a:t>2026</a:t>
            </a:r>
            <a:r>
              <a:rPr kumimoji="1" lang="ja-JP" altLang="en-US" sz="1100" dirty="0">
                <a:latin typeface="+mn-ea"/>
                <a:ea typeface="+mn-ea"/>
              </a:rPr>
              <a:t>年度に検討開始予定</a:t>
            </a:r>
            <a:endParaRPr kumimoji="1" lang="en-US" altLang="ja-JP" sz="1100" dirty="0">
              <a:latin typeface="+mn-ea"/>
              <a:ea typeface="+mn-ea"/>
            </a:endParaRPr>
          </a:p>
        </p:txBody>
      </p:sp>
      <p:grpSp>
        <p:nvGrpSpPr>
          <p:cNvPr id="10" name="グループ化 9">
            <a:extLst>
              <a:ext uri="{FF2B5EF4-FFF2-40B4-BE49-F238E27FC236}">
                <a16:creationId xmlns:a16="http://schemas.microsoft.com/office/drawing/2014/main" id="{9054E382-2BE3-7C4B-42FD-DE1FEC038224}"/>
              </a:ext>
            </a:extLst>
          </p:cNvPr>
          <p:cNvGrpSpPr/>
          <p:nvPr/>
        </p:nvGrpSpPr>
        <p:grpSpPr>
          <a:xfrm>
            <a:off x="4575020" y="2293509"/>
            <a:ext cx="5090747" cy="237463"/>
            <a:chOff x="997893" y="668547"/>
            <a:chExt cx="4176001" cy="237463"/>
          </a:xfrm>
        </p:grpSpPr>
        <p:sp>
          <p:nvSpPr>
            <p:cNvPr id="11" name="Rectangle 2">
              <a:extLst>
                <a:ext uri="{FF2B5EF4-FFF2-40B4-BE49-F238E27FC236}">
                  <a16:creationId xmlns:a16="http://schemas.microsoft.com/office/drawing/2014/main" id="{6638ADC1-FC82-B5AD-7564-49A4384B1660}"/>
                </a:ext>
              </a:extLst>
            </p:cNvPr>
            <p:cNvSpPr txBox="1">
              <a:spLocks noChangeArrowheads="1"/>
            </p:cNvSpPr>
            <p:nvPr/>
          </p:nvSpPr>
          <p:spPr bwMode="auto">
            <a:xfrm>
              <a:off x="997893" y="668547"/>
              <a:ext cx="4140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lstStyle>
              <a:lvl1pPr eaLnBrk="0" hangingPunct="0">
                <a:lnSpc>
                  <a:spcPts val="2100"/>
                </a:lnSpc>
                <a:spcBef>
                  <a:spcPct val="80000"/>
                </a:spcBef>
                <a:buClr>
                  <a:srgbClr val="003C2C"/>
                </a:buClr>
                <a:buFont typeface="Wingdings" pitchFamily="2" charset="2"/>
                <a:buChar char="l"/>
                <a:tabLst>
                  <a:tab pos="6372225" algn="l"/>
                </a:tabLst>
                <a:defRPr kumimoji="1">
                  <a:solidFill>
                    <a:schemeClr val="tx1"/>
                  </a:solidFill>
                  <a:latin typeface="ＭＳ Ｐゴシック" charset="-128"/>
                  <a:ea typeface="ＭＳ Ｐゴシック" charset="-128"/>
                </a:defRPr>
              </a:lvl1pPr>
              <a:lvl2pPr marL="742950" indent="-285750" eaLnBrk="0" hangingPunct="0">
                <a:lnSpc>
                  <a:spcPts val="2100"/>
                </a:lnSpc>
                <a:spcBef>
                  <a:spcPct val="20000"/>
                </a:spcBef>
                <a:buClr>
                  <a:srgbClr val="A8D435"/>
                </a:buClr>
                <a:buSzPct val="90000"/>
                <a:buFont typeface="Wingdings" pitchFamily="2" charset="2"/>
                <a:buChar char="l"/>
                <a:tabLst>
                  <a:tab pos="6372225" algn="l"/>
                </a:tabLst>
                <a:defRPr kumimoji="1" sz="1600">
                  <a:solidFill>
                    <a:schemeClr val="tx1"/>
                  </a:solidFill>
                  <a:latin typeface="ＭＳ Ｐゴシック" charset="-128"/>
                  <a:ea typeface="ＭＳ Ｐゴシック" charset="-128"/>
                </a:defRPr>
              </a:lvl2pPr>
              <a:lvl3pPr marL="1143000" indent="-228600" eaLnBrk="0" hangingPunct="0">
                <a:lnSpc>
                  <a:spcPct val="125000"/>
                </a:lnSpc>
                <a:spcBef>
                  <a:spcPct val="20000"/>
                </a:spcBef>
                <a:buClr>
                  <a:srgbClr val="A2A2A2"/>
                </a:buClr>
                <a:buSzPct val="70000"/>
                <a:buFont typeface="Wingdings" pitchFamily="2" charset="2"/>
                <a:tabLst>
                  <a:tab pos="6372225" algn="l"/>
                </a:tabLst>
                <a:defRPr kumimoji="1" sz="1600">
                  <a:solidFill>
                    <a:schemeClr val="tx1"/>
                  </a:solidFill>
                  <a:latin typeface="ＭＳ Ｐゴシック" charset="-128"/>
                  <a:ea typeface="ＭＳ Ｐゴシック" charset="-128"/>
                </a:defRPr>
              </a:lvl3pPr>
              <a:lvl4pPr marL="1600200" indent="-228600" eaLnBrk="0" fontAlgn="ctr" hangingPunct="0">
                <a:lnSpc>
                  <a:spcPts val="2100"/>
                </a:lnSpc>
                <a:spcBef>
                  <a:spcPct val="20000"/>
                </a:spcBef>
                <a:buClr>
                  <a:srgbClr val="A2A2A2"/>
                </a:buClr>
                <a:buSzPct val="70000"/>
                <a:buFont typeface="Wingdings" pitchFamily="2" charset="2"/>
                <a:buChar char="l"/>
                <a:tabLst>
                  <a:tab pos="6372225" algn="l"/>
                </a:tabLst>
                <a:defRPr kumimoji="1" sz="1400">
                  <a:solidFill>
                    <a:schemeClr val="tx1"/>
                  </a:solidFill>
                  <a:latin typeface="ＭＳ Ｐゴシック" charset="-128"/>
                  <a:ea typeface="ＭＳ Ｐゴシック" charset="-128"/>
                </a:defRPr>
              </a:lvl4pPr>
              <a:lvl5pPr marL="2057400" indent="-228600" eaLnBrk="0" fontAlgn="ctr" hangingPunct="0">
                <a:lnSpc>
                  <a:spcPts val="2100"/>
                </a:lnSpc>
                <a:spcBef>
                  <a:spcPct val="20000"/>
                </a:spcBef>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5pPr>
              <a:lvl6pPr marL="25146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6pPr>
              <a:lvl7pPr marL="29718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7pPr>
              <a:lvl8pPr marL="34290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8pPr>
              <a:lvl9pPr marL="38862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tab pos="6372225" algn="l"/>
                </a:tabLst>
                <a:defRPr/>
              </a:pPr>
              <a:r>
                <a:rPr kumimoji="1" lang="ja-JP" altLang="en-US" sz="1400" b="1" dirty="0">
                  <a:latin typeface="+mn-ea"/>
                  <a:ea typeface="+mn-ea"/>
                </a:rPr>
                <a:t>各社の状況</a:t>
              </a:r>
              <a:endParaRPr kumimoji="1" lang="en-US" altLang="ja-JP" sz="1400" b="1" i="0" u="none" strike="noStrike" kern="1200" cap="none" spc="0" normalizeH="0" baseline="0" noProof="0" dirty="0">
                <a:ln>
                  <a:noFill/>
                </a:ln>
                <a:effectLst/>
                <a:uLnTx/>
                <a:uFillTx/>
                <a:latin typeface="Meiryo UI" pitchFamily="50" charset="-128"/>
                <a:ea typeface="Meiryo UI" pitchFamily="50" charset="-128"/>
                <a:cs typeface="Meiryo UI" pitchFamily="50" charset="-128"/>
              </a:endParaRPr>
            </a:p>
          </p:txBody>
        </p:sp>
        <p:cxnSp>
          <p:nvCxnSpPr>
            <p:cNvPr id="12" name="直線コネクタ 11">
              <a:extLst>
                <a:ext uri="{FF2B5EF4-FFF2-40B4-BE49-F238E27FC236}">
                  <a16:creationId xmlns:a16="http://schemas.microsoft.com/office/drawing/2014/main" id="{2954BB9A-1111-2D2B-90A1-3E2B894FAB48}"/>
                </a:ext>
              </a:extLst>
            </p:cNvPr>
            <p:cNvCxnSpPr>
              <a:cxnSpLocks/>
            </p:cNvCxnSpPr>
            <p:nvPr/>
          </p:nvCxnSpPr>
          <p:spPr bwMode="auto">
            <a:xfrm>
              <a:off x="997894" y="906010"/>
              <a:ext cx="4176000" cy="0"/>
            </a:xfrm>
            <a:prstGeom prst="line">
              <a:avLst/>
            </a:prstGeom>
            <a:noFill/>
            <a:ln w="19050" cap="flat" cmpd="sng" algn="ctr">
              <a:solidFill>
                <a:srgbClr val="0072CE"/>
              </a:solidFill>
              <a:prstDash val="solid"/>
              <a:headEnd type="none" w="med" len="med"/>
              <a:tailEnd type="none" w="med" len="med"/>
            </a:ln>
            <a:effectLst/>
          </p:spPr>
        </p:cxnSp>
      </p:grpSp>
      <p:graphicFrame>
        <p:nvGraphicFramePr>
          <p:cNvPr id="13" name="表 12">
            <a:extLst>
              <a:ext uri="{FF2B5EF4-FFF2-40B4-BE49-F238E27FC236}">
                <a16:creationId xmlns:a16="http://schemas.microsoft.com/office/drawing/2014/main" id="{E39A5DB6-B408-D8E7-6331-EF6E374CF626}"/>
              </a:ext>
            </a:extLst>
          </p:cNvPr>
          <p:cNvGraphicFramePr>
            <a:graphicFrameLocks noGrp="1"/>
          </p:cNvGraphicFramePr>
          <p:nvPr/>
        </p:nvGraphicFramePr>
        <p:xfrm>
          <a:off x="4575020" y="3547015"/>
          <a:ext cx="5090746" cy="2408185"/>
        </p:xfrm>
        <a:graphic>
          <a:graphicData uri="http://schemas.openxmlformats.org/drawingml/2006/table">
            <a:tbl>
              <a:tblPr firstRow="1" bandRow="1">
                <a:tableStyleId>{5C22544A-7EE6-4342-B048-85BDC9FD1C3A}</a:tableStyleId>
              </a:tblPr>
              <a:tblGrid>
                <a:gridCol w="489962">
                  <a:extLst>
                    <a:ext uri="{9D8B030D-6E8A-4147-A177-3AD203B41FA5}">
                      <a16:colId xmlns:a16="http://schemas.microsoft.com/office/drawing/2014/main" val="2154324548"/>
                    </a:ext>
                  </a:extLst>
                </a:gridCol>
                <a:gridCol w="761206">
                  <a:extLst>
                    <a:ext uri="{9D8B030D-6E8A-4147-A177-3AD203B41FA5}">
                      <a16:colId xmlns:a16="http://schemas.microsoft.com/office/drawing/2014/main" val="357243514"/>
                    </a:ext>
                  </a:extLst>
                </a:gridCol>
                <a:gridCol w="2578342">
                  <a:extLst>
                    <a:ext uri="{9D8B030D-6E8A-4147-A177-3AD203B41FA5}">
                      <a16:colId xmlns:a16="http://schemas.microsoft.com/office/drawing/2014/main" val="1874687076"/>
                    </a:ext>
                  </a:extLst>
                </a:gridCol>
                <a:gridCol w="1261236">
                  <a:extLst>
                    <a:ext uri="{9D8B030D-6E8A-4147-A177-3AD203B41FA5}">
                      <a16:colId xmlns:a16="http://schemas.microsoft.com/office/drawing/2014/main" val="2505023907"/>
                    </a:ext>
                  </a:extLst>
                </a:gridCol>
              </a:tblGrid>
              <a:tr h="234625">
                <a:tc gridSpan="2">
                  <a:txBody>
                    <a:bodyPr/>
                    <a:lstStyle/>
                    <a:p>
                      <a:pPr algn="ctr"/>
                      <a:r>
                        <a:rPr kumimoji="1" lang="ja-JP" altLang="en-US" sz="1000" b="1" dirty="0">
                          <a:solidFill>
                            <a:schemeClr val="bg1"/>
                          </a:solidFill>
                        </a:rPr>
                        <a:t>現行システム</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dirty="0"/>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000" b="0" dirty="0">
                          <a:solidFill>
                            <a:schemeClr val="bg1"/>
                          </a:solidFill>
                        </a:rPr>
                        <a:t>アウトバウンド業務概要</a:t>
                      </a:r>
                      <a:endParaRPr kumimoji="1" lang="en-US" altLang="ja-JP" sz="1000" b="0" dirty="0">
                        <a:solidFill>
                          <a:schemeClr val="bg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000" b="0" dirty="0">
                          <a:solidFill>
                            <a:schemeClr val="bg1"/>
                          </a:solidFill>
                        </a:rPr>
                        <a:t>次期方針</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1710650726"/>
                  </a:ext>
                </a:extLst>
              </a:tr>
              <a:tr h="234625">
                <a:tc>
                  <a:txBody>
                    <a:bodyPr/>
                    <a:lstStyle/>
                    <a:p>
                      <a:r>
                        <a:rPr kumimoji="1" lang="ja-JP" altLang="en-US" sz="1000" b="0" dirty="0">
                          <a:solidFill>
                            <a:schemeClr val="tx1"/>
                          </a:solidFill>
                        </a:rPr>
                        <a:t>日興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900" b="0" dirty="0">
                          <a:solidFill>
                            <a:schemeClr val="tx1"/>
                          </a:solidFill>
                        </a:rPr>
                        <a:t>Avaya AP</a:t>
                      </a:r>
                      <a:endParaRPr kumimoji="1" lang="ja-JP" altLang="en-US" sz="9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u="sng" dirty="0">
                          <a:solidFill>
                            <a:schemeClr val="tx1"/>
                          </a:solidFill>
                          <a:latin typeface="+mn-ea"/>
                          <a:ea typeface="+mn-ea"/>
                        </a:rPr>
                        <a:t>営業系</a:t>
                      </a:r>
                      <a:endParaRPr kumimoji="1" lang="en-US" altLang="ja-JP" sz="900" b="1" u="sng" dirty="0">
                        <a:solidFill>
                          <a:schemeClr val="tx1"/>
                        </a:solidFill>
                        <a:latin typeface="+mn-ea"/>
                        <a:ea typeface="+mn-ea"/>
                      </a:endParaRPr>
                    </a:p>
                    <a:p>
                      <a:r>
                        <a:rPr kumimoji="1" lang="ja-JP" altLang="en-US" sz="800" b="0" dirty="0">
                          <a:solidFill>
                            <a:schemeClr val="tx1"/>
                          </a:solidFill>
                        </a:rPr>
                        <a:t>（リスト架電：オペレータが架電先を確認して１件ずつ架電）</a:t>
                      </a:r>
                      <a:endParaRPr kumimoji="1" lang="ja-JP" altLang="en-US" sz="9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0" dirty="0">
                          <a:solidFill>
                            <a:schemeClr val="tx1"/>
                          </a:solidFill>
                        </a:rPr>
                        <a:t>顧客管理アプリにてリスト架電機能の開発を検討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1460998"/>
                  </a:ext>
                </a:extLst>
              </a:tr>
              <a:tr h="234625">
                <a:tc>
                  <a:txBody>
                    <a:bodyPr/>
                    <a:lstStyle/>
                    <a:p>
                      <a:r>
                        <a:rPr kumimoji="1" lang="en-US" altLang="ja-JP" sz="1000" b="0" dirty="0">
                          <a:solidFill>
                            <a:schemeClr val="tx1"/>
                          </a:solidFill>
                        </a:rPr>
                        <a:t>SMCC</a:t>
                      </a:r>
                      <a:endParaRPr kumimoji="1" lang="ja-JP" altLang="en-US" sz="10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900" b="0" dirty="0">
                          <a:solidFill>
                            <a:schemeClr val="tx1"/>
                          </a:solidFill>
                        </a:rPr>
                        <a:t>Aspect Unified IP</a:t>
                      </a:r>
                      <a:endParaRPr kumimoji="1" lang="ja-JP" altLang="en-US" sz="9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u="sng" dirty="0">
                          <a:solidFill>
                            <a:schemeClr val="tx1"/>
                          </a:solidFill>
                          <a:latin typeface="+mn-ea"/>
                          <a:ea typeface="+mn-ea"/>
                        </a:rPr>
                        <a:t>簡易 延滞督促</a:t>
                      </a:r>
                      <a:endParaRPr kumimoji="1" lang="en-US" altLang="ja-JP" sz="900" b="1" u="sng" dirty="0">
                        <a:solidFill>
                          <a:schemeClr val="tx1"/>
                        </a:solidFill>
                        <a:latin typeface="+mn-ea"/>
                        <a:ea typeface="+mn-ea"/>
                      </a:endParaRPr>
                    </a:p>
                    <a:p>
                      <a:r>
                        <a:rPr kumimoji="1" lang="ja-JP" altLang="en-US" sz="800" b="0" dirty="0">
                          <a:solidFill>
                            <a:schemeClr val="tx1"/>
                          </a:solidFill>
                        </a:rPr>
                        <a:t>（オペレータ稼働状況を考慮せずに自動架電を実施。</a:t>
                      </a:r>
                      <a:r>
                        <a:rPr kumimoji="1" lang="en-US" altLang="ja-JP" sz="800" b="0" dirty="0">
                          <a:solidFill>
                            <a:schemeClr val="tx1"/>
                          </a:solidFill>
                        </a:rPr>
                        <a:t>IVR</a:t>
                      </a:r>
                      <a:r>
                        <a:rPr kumimoji="1" lang="ja-JP" altLang="en-US" sz="800" b="0" dirty="0">
                          <a:solidFill>
                            <a:schemeClr val="tx1"/>
                          </a:solidFill>
                        </a:rPr>
                        <a:t>による自動完結が出来ない場合はオペレータに外線転送）</a:t>
                      </a:r>
                      <a:endParaRPr kumimoji="1" lang="en-US" altLang="ja-JP" sz="800" b="0" dirty="0">
                        <a:solidFill>
                          <a:schemeClr val="tx1"/>
                        </a:solidFill>
                      </a:endParaRPr>
                    </a:p>
                    <a:p>
                      <a:r>
                        <a:rPr kumimoji="1" lang="en-US" altLang="ja-JP" sz="800" b="0" dirty="0">
                          <a:solidFill>
                            <a:schemeClr val="tx1"/>
                          </a:solidFill>
                        </a:rPr>
                        <a:t>※JRI</a:t>
                      </a:r>
                      <a:r>
                        <a:rPr kumimoji="1" lang="ja-JP" altLang="en-US" sz="800" b="0" dirty="0">
                          <a:solidFill>
                            <a:schemeClr val="tx1"/>
                          </a:solidFill>
                        </a:rPr>
                        <a:t>所管外</a:t>
                      </a:r>
                      <a:endParaRPr kumimoji="1" lang="ja-JP" altLang="en-US" sz="9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kumimoji="1" lang="ja-JP" altLang="en-US" sz="900" b="0" dirty="0">
                          <a:solidFill>
                            <a:schemeClr val="tx1"/>
                          </a:solidFill>
                        </a:rPr>
                        <a:t>製品選定中。</a:t>
                      </a:r>
                      <a:endParaRPr kumimoji="1" lang="en-US" altLang="ja-JP" sz="900" b="0" dirty="0">
                        <a:solidFill>
                          <a:schemeClr val="tx1"/>
                        </a:solidFill>
                      </a:endParaRPr>
                    </a:p>
                    <a:p>
                      <a:r>
                        <a:rPr kumimoji="1" lang="en-US" altLang="ja-JP" sz="900" b="0" dirty="0">
                          <a:solidFill>
                            <a:schemeClr val="tx1"/>
                          </a:solidFill>
                        </a:rPr>
                        <a:t>PD</a:t>
                      </a:r>
                      <a:r>
                        <a:rPr kumimoji="1" lang="ja-JP" altLang="en-US" sz="900" b="0" dirty="0">
                          <a:solidFill>
                            <a:schemeClr val="tx1"/>
                          </a:solidFill>
                        </a:rPr>
                        <a:t>架電は必須要件とはせず、オペレータ転送時に顧客電話番号の引継が出来る方法を検討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7466846"/>
                  </a:ext>
                </a:extLst>
              </a:tr>
              <a:tr h="234625">
                <a:tc rowSpan="2">
                  <a:txBody>
                    <a:bodyPr/>
                    <a:lstStyle/>
                    <a:p>
                      <a:r>
                        <a:rPr kumimoji="1" lang="ja-JP" altLang="en-US" sz="1000" b="0" dirty="0">
                          <a:solidFill>
                            <a:schemeClr val="tx1"/>
                          </a:solidFill>
                        </a:rPr>
                        <a:t>旧</a:t>
                      </a:r>
                      <a:r>
                        <a:rPr kumimoji="1" lang="en-US" altLang="ja-JP" sz="1000" b="0" dirty="0">
                          <a:solidFill>
                            <a:schemeClr val="tx1"/>
                          </a:solidFill>
                        </a:rPr>
                        <a:t>FS</a:t>
                      </a:r>
                      <a:endParaRPr kumimoji="1" lang="ja-JP" altLang="en-US" sz="10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900" b="0" dirty="0">
                          <a:solidFill>
                            <a:schemeClr val="tx1"/>
                          </a:solidFill>
                        </a:rPr>
                        <a:t>Genesys OCS</a:t>
                      </a:r>
                      <a:endParaRPr kumimoji="1" lang="ja-JP" altLang="en-US" sz="9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u="sng" dirty="0">
                          <a:solidFill>
                            <a:schemeClr val="tx1"/>
                          </a:solidFill>
                        </a:rPr>
                        <a:t>高機能 延滞督促</a:t>
                      </a:r>
                      <a:endParaRPr kumimoji="1" lang="en-US" altLang="ja-JP" sz="900" b="1" u="sng"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dirty="0">
                          <a:solidFill>
                            <a:schemeClr val="tx1"/>
                          </a:solidFill>
                          <a:latin typeface="+mn-ea"/>
                          <a:ea typeface="+mn-ea"/>
                        </a:rPr>
                        <a:t>（オペレータ稼働状況を考慮し</a:t>
                      </a:r>
                      <a:r>
                        <a:rPr kumimoji="1" lang="en-US" altLang="ja-JP" sz="800" b="0" dirty="0">
                          <a:solidFill>
                            <a:schemeClr val="tx1"/>
                          </a:solidFill>
                          <a:latin typeface="+mn-ea"/>
                          <a:ea typeface="+mn-ea"/>
                        </a:rPr>
                        <a:t>PD</a:t>
                      </a:r>
                      <a:r>
                        <a:rPr kumimoji="1" lang="ja-JP" altLang="en-US" sz="800" b="0" dirty="0">
                          <a:solidFill>
                            <a:schemeClr val="tx1"/>
                          </a:solidFill>
                          <a:latin typeface="+mn-ea"/>
                          <a:ea typeface="+mn-ea"/>
                        </a:rPr>
                        <a:t>架電を実施。</a:t>
                      </a:r>
                      <a:r>
                        <a:rPr kumimoji="1" lang="en-US" altLang="ja-JP" sz="800" b="0" dirty="0">
                          <a:solidFill>
                            <a:schemeClr val="tx1"/>
                          </a:solidFill>
                          <a:latin typeface="+mn-ea"/>
                          <a:ea typeface="+mn-ea"/>
                        </a:rPr>
                        <a:t>IVR</a:t>
                      </a:r>
                      <a:r>
                        <a:rPr kumimoji="1" lang="ja-JP" altLang="en-US" sz="800" b="0" dirty="0">
                          <a:solidFill>
                            <a:schemeClr val="tx1"/>
                          </a:solidFill>
                          <a:latin typeface="+mn-ea"/>
                          <a:ea typeface="+mn-ea"/>
                        </a:rPr>
                        <a:t>による自動完結が出来ない場合はオペレータ転送（</a:t>
                      </a:r>
                      <a:r>
                        <a:rPr kumimoji="1" lang="en-US" altLang="ja-JP" sz="800" b="0" dirty="0">
                          <a:solidFill>
                            <a:schemeClr val="tx1"/>
                          </a:solidFill>
                          <a:latin typeface="+mn-ea"/>
                          <a:ea typeface="+mn-ea"/>
                        </a:rPr>
                        <a:t>UUI</a:t>
                      </a:r>
                      <a:r>
                        <a:rPr kumimoji="1" lang="ja-JP" altLang="en-US" sz="800" b="0" dirty="0">
                          <a:solidFill>
                            <a:schemeClr val="tx1"/>
                          </a:solidFill>
                          <a:latin typeface="+mn-ea"/>
                          <a:ea typeface="+mn-ea"/>
                        </a:rPr>
                        <a:t>連携有））</a:t>
                      </a:r>
                      <a:endParaRPr kumimoji="1" lang="en-US" altLang="ja-JP" sz="800" b="0" dirty="0">
                        <a:solidFill>
                          <a:schemeClr val="tx1"/>
                        </a:solidFill>
                        <a:latin typeface="+mn-ea"/>
                        <a:ea typeface="+mn-ea"/>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sz="9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0289012"/>
                  </a:ext>
                </a:extLst>
              </a:tr>
              <a:tr h="234625">
                <a:tc vMerge="1">
                  <a:txBody>
                    <a:bodyPr/>
                    <a:lstStyle/>
                    <a:p>
                      <a:endParaRPr kumimoji="1" lang="ja-JP" altLang="en-US" sz="10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900" b="0" dirty="0">
                          <a:solidFill>
                            <a:schemeClr val="tx1"/>
                          </a:solidFill>
                        </a:rPr>
                        <a:t>Avaya APC</a:t>
                      </a:r>
                      <a:endParaRPr kumimoji="1" lang="ja-JP" altLang="en-US" sz="9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u="sng" dirty="0">
                          <a:solidFill>
                            <a:schemeClr val="tx1"/>
                          </a:solidFill>
                          <a:latin typeface="+mn-ea"/>
                          <a:ea typeface="+mn-ea"/>
                        </a:rPr>
                        <a:t>営業系</a:t>
                      </a:r>
                      <a:endParaRPr kumimoji="1" lang="en-US" altLang="ja-JP" sz="900" b="1" u="sng" dirty="0">
                        <a:solidFill>
                          <a:schemeClr val="tx1"/>
                        </a:solidFill>
                        <a:latin typeface="+mn-ea"/>
                        <a:ea typeface="+mn-ea"/>
                      </a:endParaRPr>
                    </a:p>
                    <a:p>
                      <a:r>
                        <a:rPr kumimoji="1" lang="ja-JP" altLang="en-US" sz="800" b="0" dirty="0">
                          <a:solidFill>
                            <a:schemeClr val="tx1"/>
                          </a:solidFill>
                        </a:rPr>
                        <a:t>（リスト架電：オペレータが架電先を確認して１件ずつ架電）</a:t>
                      </a:r>
                      <a:endParaRPr kumimoji="1" lang="ja-JP" altLang="en-US" sz="9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0" dirty="0">
                          <a:solidFill>
                            <a:schemeClr val="tx1"/>
                          </a:solidFill>
                        </a:rPr>
                        <a:t>既存</a:t>
                      </a:r>
                      <a:r>
                        <a:rPr kumimoji="1" lang="en-US" altLang="ja-JP" sz="900" b="0" dirty="0">
                          <a:solidFill>
                            <a:schemeClr val="tx1"/>
                          </a:solidFill>
                        </a:rPr>
                        <a:t>SCB</a:t>
                      </a:r>
                      <a:r>
                        <a:rPr kumimoji="1" lang="ja-JP" altLang="en-US" sz="900" b="0" dirty="0">
                          <a:solidFill>
                            <a:schemeClr val="tx1"/>
                          </a:solidFill>
                        </a:rPr>
                        <a:t>を使ったリスト架電機能の開発を検討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8873475"/>
                  </a:ext>
                </a:extLst>
              </a:tr>
              <a:tr h="234625">
                <a:tc>
                  <a:txBody>
                    <a:bodyPr/>
                    <a:lstStyle/>
                    <a:p>
                      <a:r>
                        <a:rPr kumimoji="1" lang="en-US" altLang="ja-JP" sz="1000" b="0" dirty="0">
                          <a:solidFill>
                            <a:schemeClr val="tx1"/>
                          </a:solidFill>
                        </a:rPr>
                        <a:t>CF</a:t>
                      </a:r>
                      <a:endParaRPr kumimoji="1" lang="ja-JP" altLang="en-US" sz="10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dirty="0">
                          <a:solidFill>
                            <a:schemeClr val="tx1"/>
                          </a:solidFill>
                        </a:rPr>
                        <a:t>Avaya APC</a:t>
                      </a:r>
                      <a:endParaRPr kumimoji="1" lang="ja-JP" altLang="en-US" sz="9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u="sng" dirty="0">
                          <a:solidFill>
                            <a:schemeClr val="tx1"/>
                          </a:solidFill>
                        </a:rPr>
                        <a:t>高機能 延滞督促</a:t>
                      </a:r>
                      <a:endParaRPr kumimoji="1" lang="en-US" altLang="ja-JP" sz="900" b="1" u="sng"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dirty="0">
                          <a:solidFill>
                            <a:schemeClr val="tx1"/>
                          </a:solidFill>
                          <a:latin typeface="+mn-ea"/>
                          <a:ea typeface="+mn-ea"/>
                        </a:rPr>
                        <a:t>（オペレータ稼働状況を考慮し</a:t>
                      </a:r>
                      <a:r>
                        <a:rPr kumimoji="1" lang="en-US" altLang="ja-JP" sz="800" b="0" dirty="0">
                          <a:solidFill>
                            <a:schemeClr val="tx1"/>
                          </a:solidFill>
                          <a:latin typeface="+mn-ea"/>
                          <a:ea typeface="+mn-ea"/>
                        </a:rPr>
                        <a:t>PD</a:t>
                      </a:r>
                      <a:r>
                        <a:rPr kumimoji="1" lang="ja-JP" altLang="en-US" sz="800" b="0" dirty="0">
                          <a:solidFill>
                            <a:schemeClr val="tx1"/>
                          </a:solidFill>
                          <a:latin typeface="+mn-ea"/>
                          <a:ea typeface="+mn-ea"/>
                        </a:rPr>
                        <a:t>架電を実施。</a:t>
                      </a:r>
                      <a:r>
                        <a:rPr kumimoji="1" lang="en-US" altLang="ja-JP" sz="800" b="0" dirty="0">
                          <a:solidFill>
                            <a:schemeClr val="tx1"/>
                          </a:solidFill>
                          <a:latin typeface="+mn-ea"/>
                          <a:ea typeface="+mn-ea"/>
                        </a:rPr>
                        <a:t>IVR</a:t>
                      </a:r>
                      <a:r>
                        <a:rPr kumimoji="1" lang="ja-JP" altLang="en-US" sz="800" b="0" dirty="0">
                          <a:solidFill>
                            <a:schemeClr val="tx1"/>
                          </a:solidFill>
                          <a:latin typeface="+mn-ea"/>
                          <a:ea typeface="+mn-ea"/>
                        </a:rPr>
                        <a:t>による自動完結が出来ない場合はオペレータ転送（</a:t>
                      </a:r>
                      <a:r>
                        <a:rPr kumimoji="1" lang="en-US" altLang="ja-JP" sz="800" b="0" dirty="0">
                          <a:solidFill>
                            <a:schemeClr val="tx1"/>
                          </a:solidFill>
                          <a:latin typeface="+mn-ea"/>
                          <a:ea typeface="+mn-ea"/>
                        </a:rPr>
                        <a:t>UUI</a:t>
                      </a:r>
                      <a:r>
                        <a:rPr kumimoji="1" lang="ja-JP" altLang="en-US" sz="800" b="0" dirty="0">
                          <a:solidFill>
                            <a:schemeClr val="tx1"/>
                          </a:solidFill>
                          <a:latin typeface="+mn-ea"/>
                          <a:ea typeface="+mn-ea"/>
                        </a:rPr>
                        <a:t>連携有））</a:t>
                      </a:r>
                      <a:endParaRPr kumimoji="1" lang="en-US" altLang="ja-JP" sz="800" b="0" dirty="0">
                        <a:solidFill>
                          <a:schemeClr val="tx1"/>
                        </a:solidFill>
                        <a:latin typeface="+mn-ea"/>
                        <a:ea typeface="+mn-ea"/>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0" dirty="0">
                          <a:solidFill>
                            <a:schemeClr val="tx1"/>
                          </a:solidFill>
                        </a:rPr>
                        <a:t>今後検討予定</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87951069"/>
                  </a:ext>
                </a:extLst>
              </a:tr>
            </a:tbl>
          </a:graphicData>
        </a:graphic>
      </p:graphicFrame>
    </p:spTree>
    <p:extLst>
      <p:ext uri="{BB962C8B-B14F-4D97-AF65-F5344CB8AC3E}">
        <p14:creationId xmlns:p14="http://schemas.microsoft.com/office/powerpoint/2010/main" val="2740509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EAF1FA56-0E4D-2242-CC75-C99A2D3D5713}"/>
              </a:ext>
            </a:extLst>
          </p:cNvPr>
          <p:cNvSpPr txBox="1">
            <a:spLocks/>
          </p:cNvSpPr>
          <p:nvPr/>
        </p:nvSpPr>
        <p:spPr>
          <a:xfrm>
            <a:off x="601537" y="124234"/>
            <a:ext cx="7635875" cy="334962"/>
          </a:xfrm>
          <a:prstGeom prst="rect">
            <a:avLst/>
          </a:prstGeom>
        </p:spPr>
        <p:txBody>
          <a:bodyPr/>
          <a:lst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a:lstStyle>
          <a:p>
            <a:r>
              <a:rPr lang="ja-JP" altLang="en-US" kern="0" dirty="0">
                <a:latin typeface="Meiryo UI" panose="020B0604030504040204" pitchFamily="50" charset="-128"/>
                <a:ea typeface="Meiryo UI" panose="020B0604030504040204" pitchFamily="50" charset="-128"/>
              </a:rPr>
              <a:t>１</a:t>
            </a:r>
            <a:r>
              <a:rPr lang="en-US" altLang="ja-JP" kern="0" dirty="0">
                <a:latin typeface="Meiryo UI" panose="020B0604030504040204" pitchFamily="50" charset="-128"/>
                <a:ea typeface="Meiryo UI" panose="020B0604030504040204" pitchFamily="50" charset="-128"/>
              </a:rPr>
              <a:t>-</a:t>
            </a:r>
            <a:r>
              <a:rPr lang="ja-JP" altLang="en-US" kern="0" dirty="0">
                <a:latin typeface="Meiryo UI" panose="020B0604030504040204" pitchFamily="50" charset="-128"/>
                <a:ea typeface="Meiryo UI" panose="020B0604030504040204" pitchFamily="50" charset="-128"/>
              </a:rPr>
              <a:t>２．</a:t>
            </a:r>
            <a:r>
              <a:rPr lang="en-US" altLang="ja-JP" kern="0" dirty="0">
                <a:latin typeface="Meiryo UI" panose="020B0604030504040204" pitchFamily="50" charset="-128"/>
                <a:ea typeface="Meiryo UI" panose="020B0604030504040204" pitchFamily="50" charset="-128"/>
              </a:rPr>
              <a:t>【</a:t>
            </a:r>
            <a:r>
              <a:rPr lang="ja-JP" altLang="en-US" kern="0" dirty="0">
                <a:latin typeface="Meiryo UI" panose="020B0604030504040204" pitchFamily="50" charset="-128"/>
                <a:ea typeface="Meiryo UI" panose="020B0604030504040204" pitchFamily="50" charset="-128"/>
              </a:rPr>
              <a:t>案件概要</a:t>
            </a:r>
            <a:r>
              <a:rPr lang="en-US" altLang="ja-JP" kern="0" dirty="0">
                <a:latin typeface="Meiryo UI" panose="020B0604030504040204" pitchFamily="50" charset="-128"/>
                <a:ea typeface="Meiryo UI" panose="020B0604030504040204" pitchFamily="50" charset="-128"/>
              </a:rPr>
              <a:t>】</a:t>
            </a:r>
            <a:r>
              <a:rPr lang="ja-JP" altLang="en-US" kern="0" dirty="0">
                <a:latin typeface="Meiryo UI" panose="020B0604030504040204" pitchFamily="50" charset="-128"/>
                <a:ea typeface="Meiryo UI" panose="020B0604030504040204" pitchFamily="50" charset="-128"/>
              </a:rPr>
              <a:t>システム対応概要（</a:t>
            </a:r>
            <a:r>
              <a:rPr lang="en-US" altLang="ja-JP" kern="0" dirty="0">
                <a:latin typeface="Meiryo UI" panose="020B0604030504040204" pitchFamily="50" charset="-128"/>
                <a:ea typeface="Meiryo UI" panose="020B0604030504040204" pitchFamily="50" charset="-128"/>
              </a:rPr>
              <a:t>CTI</a:t>
            </a:r>
            <a:r>
              <a:rPr lang="ja-JP" altLang="en-US" kern="0" dirty="0">
                <a:latin typeface="Meiryo UI" panose="020B0604030504040204" pitchFamily="50" charset="-128"/>
                <a:ea typeface="Meiryo UI" panose="020B0604030504040204" pitchFamily="50" charset="-128"/>
              </a:rPr>
              <a:t>基盤統合）</a:t>
            </a:r>
            <a:endParaRPr lang="ja-JP" altLang="en-US" kern="0" dirty="0"/>
          </a:p>
        </p:txBody>
      </p:sp>
      <p:sp>
        <p:nvSpPr>
          <p:cNvPr id="13" name="テキスト プレースホルダー 7">
            <a:extLst>
              <a:ext uri="{FF2B5EF4-FFF2-40B4-BE49-F238E27FC236}">
                <a16:creationId xmlns:a16="http://schemas.microsoft.com/office/drawing/2014/main" id="{D5632FC5-FF3A-D7B7-B4C4-389097D8D1E3}"/>
              </a:ext>
            </a:extLst>
          </p:cNvPr>
          <p:cNvSpPr>
            <a:spLocks noGrp="1"/>
          </p:cNvSpPr>
          <p:nvPr>
            <p:ph type="body" sz="quarter" idx="12"/>
          </p:nvPr>
        </p:nvSpPr>
        <p:spPr>
          <a:xfrm>
            <a:off x="165001" y="613723"/>
            <a:ext cx="9576000" cy="601518"/>
          </a:xfrm>
        </p:spPr>
        <p:txBody>
          <a:bodyPr/>
          <a:lstStyle/>
          <a:p>
            <a:r>
              <a:rPr lang="ja-JP" altLang="en-US" dirty="0"/>
              <a:t>現在、４システム（</a:t>
            </a:r>
            <a:r>
              <a:rPr lang="en-US" altLang="ja-JP" dirty="0"/>
              <a:t>SMCC ACD1</a:t>
            </a:r>
            <a:r>
              <a:rPr lang="ja-JP" altLang="en-US" dirty="0"/>
              <a:t>、</a:t>
            </a:r>
            <a:r>
              <a:rPr lang="en-US" altLang="ja-JP" dirty="0"/>
              <a:t>ACD2</a:t>
            </a:r>
            <a:r>
              <a:rPr lang="ja-JP" altLang="en-US" dirty="0"/>
              <a:t>、旧</a:t>
            </a:r>
            <a:r>
              <a:rPr lang="en-US" altLang="ja-JP" dirty="0"/>
              <a:t>FS</a:t>
            </a:r>
            <a:r>
              <a:rPr lang="ja-JP" altLang="en-US" dirty="0"/>
              <a:t>、受託先）に分かれている</a:t>
            </a:r>
            <a:r>
              <a:rPr lang="en-US" altLang="ja-JP" dirty="0"/>
              <a:t>CTI</a:t>
            </a:r>
            <a:r>
              <a:rPr lang="ja-JP" altLang="en-US" dirty="0"/>
              <a:t>基盤を１システムに統合して構築を行う。</a:t>
            </a:r>
            <a:endParaRPr lang="en-US" altLang="ja-JP" dirty="0"/>
          </a:p>
          <a:p>
            <a:r>
              <a:rPr lang="en-US" altLang="ja-JP" dirty="0"/>
              <a:t>CTI</a:t>
            </a:r>
            <a:r>
              <a:rPr lang="ja-JP" altLang="en-US" dirty="0"/>
              <a:t>基盤の統合にあたり、ダイヤルプラン（内線番号、</a:t>
            </a:r>
            <a:r>
              <a:rPr lang="en-US" altLang="ja-JP" dirty="0"/>
              <a:t>VDN</a:t>
            </a:r>
            <a:r>
              <a:rPr lang="ja-JP" altLang="en-US" dirty="0"/>
              <a:t>番号、</a:t>
            </a:r>
            <a:r>
              <a:rPr lang="en-US" altLang="ja-JP" dirty="0" err="1"/>
              <a:t>AgentID</a:t>
            </a:r>
            <a:r>
              <a:rPr lang="ja-JP" altLang="en-US" dirty="0"/>
              <a:t>など）や機能特番の番号計画を統一する。</a:t>
            </a:r>
            <a:endParaRPr lang="en-US" altLang="ja-JP" dirty="0"/>
          </a:p>
          <a:p>
            <a:r>
              <a:rPr lang="en-US" altLang="ja-JP" dirty="0"/>
              <a:t>VDN</a:t>
            </a:r>
            <a:r>
              <a:rPr lang="ja-JP" altLang="en-US" dirty="0"/>
              <a:t>番号、</a:t>
            </a:r>
            <a:r>
              <a:rPr lang="en-US" altLang="ja-JP" dirty="0" err="1"/>
              <a:t>AgentID</a:t>
            </a:r>
            <a:r>
              <a:rPr lang="ja-JP" altLang="en-US" dirty="0"/>
              <a:t>の番号体系が変わることによるコールフロー改修、関連システムの影響確認を実施する。</a:t>
            </a:r>
            <a:endParaRPr lang="en-US" altLang="ja-JP" dirty="0"/>
          </a:p>
        </p:txBody>
      </p:sp>
      <p:graphicFrame>
        <p:nvGraphicFramePr>
          <p:cNvPr id="15" name="表 14">
            <a:extLst>
              <a:ext uri="{FF2B5EF4-FFF2-40B4-BE49-F238E27FC236}">
                <a16:creationId xmlns:a16="http://schemas.microsoft.com/office/drawing/2014/main" id="{AF624DC6-6B7F-3652-914E-996F8841454B}"/>
              </a:ext>
            </a:extLst>
          </p:cNvPr>
          <p:cNvGraphicFramePr>
            <a:graphicFrameLocks noGrp="1"/>
          </p:cNvGraphicFramePr>
          <p:nvPr>
            <p:extLst>
              <p:ext uri="{D42A27DB-BD31-4B8C-83A1-F6EECF244321}">
                <p14:modId xmlns:p14="http://schemas.microsoft.com/office/powerpoint/2010/main" val="669870035"/>
              </p:ext>
            </p:extLst>
          </p:nvPr>
        </p:nvGraphicFramePr>
        <p:xfrm>
          <a:off x="353438" y="1636301"/>
          <a:ext cx="2850740" cy="4283040"/>
        </p:xfrm>
        <a:graphic>
          <a:graphicData uri="http://schemas.openxmlformats.org/drawingml/2006/table">
            <a:tbl>
              <a:tblPr firstRow="1" bandRow="1"/>
              <a:tblGrid>
                <a:gridCol w="714652">
                  <a:extLst>
                    <a:ext uri="{9D8B030D-6E8A-4147-A177-3AD203B41FA5}">
                      <a16:colId xmlns:a16="http://schemas.microsoft.com/office/drawing/2014/main" val="116094207"/>
                    </a:ext>
                  </a:extLst>
                </a:gridCol>
                <a:gridCol w="430750">
                  <a:extLst>
                    <a:ext uri="{9D8B030D-6E8A-4147-A177-3AD203B41FA5}">
                      <a16:colId xmlns:a16="http://schemas.microsoft.com/office/drawing/2014/main" val="3322080614"/>
                    </a:ext>
                  </a:extLst>
                </a:gridCol>
                <a:gridCol w="1705338">
                  <a:extLst>
                    <a:ext uri="{9D8B030D-6E8A-4147-A177-3AD203B41FA5}">
                      <a16:colId xmlns:a16="http://schemas.microsoft.com/office/drawing/2014/main" val="1621574184"/>
                    </a:ext>
                  </a:extLst>
                </a:gridCol>
              </a:tblGrid>
              <a:tr h="237753">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0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番号帯</a:t>
                      </a:r>
                    </a:p>
                  </a:txBody>
                  <a:tcPr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0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桁数</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0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機能</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extLst>
                  <a:ext uri="{0D108BD9-81ED-4DB2-BD59-A6C34878D82A}">
                    <a16:rowId xmlns:a16="http://schemas.microsoft.com/office/drawing/2014/main" val="175094704"/>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13xxxxx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7</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IVR</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用</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4377112"/>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15xxx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スキル用内線番号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67518408"/>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18xx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03872542"/>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19xxxx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6</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アナウンス番号、</a:t>
                      </a:r>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CTILink</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29440652"/>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4xxx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1243481"/>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5xxx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内線番号、</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41323652"/>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6xxx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34906995"/>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7xxx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40161475"/>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8xxx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31070873"/>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90xxx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スキル用内線、</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42864327"/>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91xxx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6787138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921xx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24614153"/>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94xxx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9106040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95xxx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09829068"/>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99xx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2284875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他拠点</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PBX</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発信特番</a:t>
                      </a:r>
                      <a:endPar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87967146"/>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機能特番</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9807016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0</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外線発信用特番</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00948945"/>
                  </a:ext>
                </a:extLst>
              </a:tr>
            </a:tbl>
          </a:graphicData>
        </a:graphic>
      </p:graphicFrame>
      <p:graphicFrame>
        <p:nvGraphicFramePr>
          <p:cNvPr id="16" name="表 15">
            <a:extLst>
              <a:ext uri="{FF2B5EF4-FFF2-40B4-BE49-F238E27FC236}">
                <a16:creationId xmlns:a16="http://schemas.microsoft.com/office/drawing/2014/main" id="{4818981E-80EA-7D5B-C06A-73E30B7268C6}"/>
              </a:ext>
            </a:extLst>
          </p:cNvPr>
          <p:cNvGraphicFramePr>
            <a:graphicFrameLocks noGrp="1"/>
          </p:cNvGraphicFramePr>
          <p:nvPr>
            <p:extLst>
              <p:ext uri="{D42A27DB-BD31-4B8C-83A1-F6EECF244321}">
                <p14:modId xmlns:p14="http://schemas.microsoft.com/office/powerpoint/2010/main" val="2931764795"/>
              </p:ext>
            </p:extLst>
          </p:nvPr>
        </p:nvGraphicFramePr>
        <p:xfrm>
          <a:off x="3383805" y="1636301"/>
          <a:ext cx="2843183" cy="5180640"/>
        </p:xfrm>
        <a:graphic>
          <a:graphicData uri="http://schemas.openxmlformats.org/drawingml/2006/table">
            <a:tbl>
              <a:tblPr firstRow="1" bandRow="1"/>
              <a:tblGrid>
                <a:gridCol w="716734">
                  <a:extLst>
                    <a:ext uri="{9D8B030D-6E8A-4147-A177-3AD203B41FA5}">
                      <a16:colId xmlns:a16="http://schemas.microsoft.com/office/drawing/2014/main" val="116094207"/>
                    </a:ext>
                  </a:extLst>
                </a:gridCol>
                <a:gridCol w="432005">
                  <a:extLst>
                    <a:ext uri="{9D8B030D-6E8A-4147-A177-3AD203B41FA5}">
                      <a16:colId xmlns:a16="http://schemas.microsoft.com/office/drawing/2014/main" val="3322080614"/>
                    </a:ext>
                  </a:extLst>
                </a:gridCol>
                <a:gridCol w="1694444">
                  <a:extLst>
                    <a:ext uri="{9D8B030D-6E8A-4147-A177-3AD203B41FA5}">
                      <a16:colId xmlns:a16="http://schemas.microsoft.com/office/drawing/2014/main" val="1621574184"/>
                    </a:ext>
                  </a:extLst>
                </a:gridCol>
              </a:tblGrid>
              <a:tr h="237753">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0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番号帯</a:t>
                      </a:r>
                    </a:p>
                  </a:txBody>
                  <a:tcPr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0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桁数</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0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機能</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extLst>
                  <a:ext uri="{0D108BD9-81ED-4DB2-BD59-A6C34878D82A}">
                    <a16:rowId xmlns:a16="http://schemas.microsoft.com/office/drawing/2014/main" val="175094704"/>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100xxx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6</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4377112"/>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11</a:t>
                      </a:r>
                      <a:r>
                        <a:rPr kumimoji="1" lang="ja-JP" altLang="en-US" sz="1000" b="1" u="none"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12</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機能特番</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29440652"/>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14xxxxx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7</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IVR</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用</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1243481"/>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15xxx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スキル用内線番号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41323652"/>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18xx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34906995"/>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18xxx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40161475"/>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19xxxx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6</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アナウンス番号、</a:t>
                      </a:r>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CTILink</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31070873"/>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4xxx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内線番号、</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42864327"/>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5xxx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内線番号、</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6787138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6xxx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内線番号、</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24614153"/>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8xxx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番号（モビット）</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9106040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90xxx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スキル用内線、</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09829068"/>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91xxx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CTILink</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2284875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92xx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endPar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87967146"/>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92xxx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9807016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93xxx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00948945"/>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94xx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89791877"/>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95xxx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42895037"/>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99xx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36751924"/>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他拠点</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PBX</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発信特番</a:t>
                      </a:r>
                      <a:endPar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50303843"/>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機能特番</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1701103"/>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0</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外線発信用特番</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38671124"/>
                  </a:ext>
                </a:extLst>
              </a:tr>
            </a:tbl>
          </a:graphicData>
        </a:graphic>
      </p:graphicFrame>
      <p:graphicFrame>
        <p:nvGraphicFramePr>
          <p:cNvPr id="17" name="表 16">
            <a:extLst>
              <a:ext uri="{FF2B5EF4-FFF2-40B4-BE49-F238E27FC236}">
                <a16:creationId xmlns:a16="http://schemas.microsoft.com/office/drawing/2014/main" id="{9072D598-37D6-93FF-410A-F8574BAAC6BF}"/>
              </a:ext>
            </a:extLst>
          </p:cNvPr>
          <p:cNvGraphicFramePr>
            <a:graphicFrameLocks noGrp="1"/>
          </p:cNvGraphicFramePr>
          <p:nvPr>
            <p:extLst>
              <p:ext uri="{D42A27DB-BD31-4B8C-83A1-F6EECF244321}">
                <p14:modId xmlns:p14="http://schemas.microsoft.com/office/powerpoint/2010/main" val="4017881334"/>
              </p:ext>
            </p:extLst>
          </p:nvPr>
        </p:nvGraphicFramePr>
        <p:xfrm>
          <a:off x="6419990" y="1636301"/>
          <a:ext cx="2746681" cy="4956240"/>
        </p:xfrm>
        <a:graphic>
          <a:graphicData uri="http://schemas.openxmlformats.org/drawingml/2006/table">
            <a:tbl>
              <a:tblPr firstRow="1" bandRow="1"/>
              <a:tblGrid>
                <a:gridCol w="719515">
                  <a:extLst>
                    <a:ext uri="{9D8B030D-6E8A-4147-A177-3AD203B41FA5}">
                      <a16:colId xmlns:a16="http://schemas.microsoft.com/office/drawing/2014/main" val="116094207"/>
                    </a:ext>
                  </a:extLst>
                </a:gridCol>
                <a:gridCol w="433681">
                  <a:extLst>
                    <a:ext uri="{9D8B030D-6E8A-4147-A177-3AD203B41FA5}">
                      <a16:colId xmlns:a16="http://schemas.microsoft.com/office/drawing/2014/main" val="3322080614"/>
                    </a:ext>
                  </a:extLst>
                </a:gridCol>
                <a:gridCol w="1593485">
                  <a:extLst>
                    <a:ext uri="{9D8B030D-6E8A-4147-A177-3AD203B41FA5}">
                      <a16:colId xmlns:a16="http://schemas.microsoft.com/office/drawing/2014/main" val="1621574184"/>
                    </a:ext>
                  </a:extLst>
                </a:gridCol>
              </a:tblGrid>
              <a:tr h="237753">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0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番号帯</a:t>
                      </a:r>
                    </a:p>
                  </a:txBody>
                  <a:tcPr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0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桁数</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000" b="1"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機能</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2CE"/>
                    </a:solidFill>
                  </a:tcPr>
                </a:tc>
                <a:extLst>
                  <a:ext uri="{0D108BD9-81ED-4DB2-BD59-A6C34878D82A}">
                    <a16:rowId xmlns:a16="http://schemas.microsoft.com/office/drawing/2014/main" val="175094704"/>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1xxxx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4377112"/>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2xxxx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67518408"/>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3xxxx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03872542"/>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4xxxx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29440652"/>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5xxxx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1243481"/>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56xxxx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6</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41323652"/>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58xxxx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6</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34906995"/>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59xxxx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6</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40161475"/>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6xxxx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番号、</a:t>
                      </a:r>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31070873"/>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7xxxx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内線、</a:t>
                      </a:r>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VDN</a:t>
                      </a: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42864327"/>
                  </a:ext>
                </a:extLst>
              </a:tr>
              <a:tr h="21879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8xxx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endPar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アナウンス内線番号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6787138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85xxx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アナウンス内線番号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24614153"/>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86xxx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アナウンス内線番号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9106040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87xxx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スキル用内線番号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09829068"/>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88xxx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5</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スキル用内線番号</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2284875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89xxxx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6</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AgentID</a:t>
                      </a:r>
                      <a:endPar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87967146"/>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9</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専用線発信特番</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98070169"/>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機能特番</a:t>
                      </a:r>
                      <a:endPar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00948945"/>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*xxx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4</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トランクアクセスコード</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79060435"/>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#xx</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機能特番</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00987917"/>
                  </a:ext>
                </a:extLst>
              </a:tr>
              <a:tr h="218798">
                <a:tc>
                  <a:txBody>
                    <a:bodyPr/>
                    <a:lstStyle/>
                    <a:p>
                      <a:pPr algn="l"/>
                      <a:r>
                        <a:rPr kumimoji="1" lang="en-US" altLang="ja-JP" sz="1000" b="1" u="none" dirty="0">
                          <a:latin typeface="Meiryo UI" panose="020B0604030504040204" pitchFamily="50" charset="-128"/>
                          <a:ea typeface="Meiryo UI" panose="020B0604030504040204" pitchFamily="50" charset="-128"/>
                          <a:cs typeface="Meiryo UI" panose="020B0604030504040204" pitchFamily="50" charset="-128"/>
                        </a:rPr>
                        <a:t>0</a:t>
                      </a:r>
                    </a:p>
                  </a:txBody>
                  <a:tcPr marL="36000" marR="36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en-US" altLang="ja-JP"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kumimoji="1" lang="ja-JP" altLang="en-US" sz="1000" b="1" u="none"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外線発信用特番</a:t>
                      </a:r>
                    </a:p>
                  </a:txBody>
                  <a:tcPr marL="90000" marR="90000" marT="36000" marB="36000">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69291919"/>
                  </a:ext>
                </a:extLst>
              </a:tr>
            </a:tbl>
          </a:graphicData>
        </a:graphic>
      </p:graphicFrame>
      <p:sp>
        <p:nvSpPr>
          <p:cNvPr id="18" name="テキスト ボックス 17">
            <a:extLst>
              <a:ext uri="{FF2B5EF4-FFF2-40B4-BE49-F238E27FC236}">
                <a16:creationId xmlns:a16="http://schemas.microsoft.com/office/drawing/2014/main" id="{EF1093F5-96A8-EA2B-A731-4680510E2559}"/>
              </a:ext>
            </a:extLst>
          </p:cNvPr>
          <p:cNvSpPr txBox="1"/>
          <p:nvPr/>
        </p:nvSpPr>
        <p:spPr>
          <a:xfrm>
            <a:off x="361482" y="1405469"/>
            <a:ext cx="2608914" cy="253916"/>
          </a:xfrm>
          <a:prstGeom prst="rect">
            <a:avLst/>
          </a:prstGeom>
          <a:noFill/>
        </p:spPr>
        <p:txBody>
          <a:bodyPr wrap="square">
            <a:spAutoFit/>
          </a:bodyPr>
          <a:lstStyle/>
          <a:p>
            <a:pPr>
              <a:spcAft>
                <a:spcPts val="0"/>
              </a:spcAft>
              <a:defRPr/>
            </a:pPr>
            <a:r>
              <a:rPr lang="en-US" altLang="ja-JP" sz="1050" dirty="0">
                <a:solidFill>
                  <a:srgbClr val="292929"/>
                </a:solidFill>
                <a:latin typeface="Meiryo UI"/>
                <a:ea typeface="Meiryo UI"/>
              </a:rPr>
              <a:t>【SMCC ACD1】</a:t>
            </a:r>
          </a:p>
        </p:txBody>
      </p:sp>
      <p:sp>
        <p:nvSpPr>
          <p:cNvPr id="19" name="テキスト ボックス 18">
            <a:extLst>
              <a:ext uri="{FF2B5EF4-FFF2-40B4-BE49-F238E27FC236}">
                <a16:creationId xmlns:a16="http://schemas.microsoft.com/office/drawing/2014/main" id="{C2AD6817-A42D-E285-99C5-895046DBD99B}"/>
              </a:ext>
            </a:extLst>
          </p:cNvPr>
          <p:cNvSpPr txBox="1"/>
          <p:nvPr/>
        </p:nvSpPr>
        <p:spPr>
          <a:xfrm>
            <a:off x="3383805" y="1404680"/>
            <a:ext cx="2608914" cy="253916"/>
          </a:xfrm>
          <a:prstGeom prst="rect">
            <a:avLst/>
          </a:prstGeom>
          <a:noFill/>
        </p:spPr>
        <p:txBody>
          <a:bodyPr wrap="square">
            <a:spAutoFit/>
          </a:bodyPr>
          <a:lstStyle/>
          <a:p>
            <a:pPr>
              <a:spcAft>
                <a:spcPts val="0"/>
              </a:spcAft>
              <a:defRPr/>
            </a:pPr>
            <a:r>
              <a:rPr lang="en-US" altLang="ja-JP" sz="1050" dirty="0">
                <a:solidFill>
                  <a:srgbClr val="292929"/>
                </a:solidFill>
                <a:latin typeface="Meiryo UI"/>
                <a:ea typeface="Meiryo UI"/>
              </a:rPr>
              <a:t>【SMCC ACD2】</a:t>
            </a:r>
          </a:p>
        </p:txBody>
      </p:sp>
      <p:sp>
        <p:nvSpPr>
          <p:cNvPr id="20" name="テキスト ボックス 19">
            <a:extLst>
              <a:ext uri="{FF2B5EF4-FFF2-40B4-BE49-F238E27FC236}">
                <a16:creationId xmlns:a16="http://schemas.microsoft.com/office/drawing/2014/main" id="{D6DFE290-2CD8-2DFC-5EF9-B3464E49AF53}"/>
              </a:ext>
            </a:extLst>
          </p:cNvPr>
          <p:cNvSpPr txBox="1"/>
          <p:nvPr/>
        </p:nvSpPr>
        <p:spPr>
          <a:xfrm>
            <a:off x="6414172" y="1390479"/>
            <a:ext cx="2608914" cy="253916"/>
          </a:xfrm>
          <a:prstGeom prst="rect">
            <a:avLst/>
          </a:prstGeom>
          <a:noFill/>
        </p:spPr>
        <p:txBody>
          <a:bodyPr wrap="square">
            <a:spAutoFit/>
          </a:bodyPr>
          <a:lstStyle/>
          <a:p>
            <a:pPr>
              <a:spcAft>
                <a:spcPts val="0"/>
              </a:spcAft>
              <a:defRPr/>
            </a:pPr>
            <a:r>
              <a:rPr lang="en-US" altLang="ja-JP" sz="1050" dirty="0">
                <a:solidFill>
                  <a:srgbClr val="292929"/>
                </a:solidFill>
                <a:latin typeface="Meiryo UI"/>
                <a:ea typeface="Meiryo UI"/>
              </a:rPr>
              <a:t>【</a:t>
            </a:r>
            <a:r>
              <a:rPr lang="ja-JP" altLang="en-US" sz="1050" dirty="0">
                <a:solidFill>
                  <a:srgbClr val="292929"/>
                </a:solidFill>
                <a:latin typeface="Meiryo UI"/>
                <a:ea typeface="Meiryo UI"/>
              </a:rPr>
              <a:t>旧</a:t>
            </a:r>
            <a:r>
              <a:rPr lang="en-US" altLang="ja-JP" sz="1050" dirty="0">
                <a:solidFill>
                  <a:srgbClr val="292929"/>
                </a:solidFill>
                <a:latin typeface="Meiryo UI"/>
                <a:ea typeface="Meiryo UI"/>
              </a:rPr>
              <a:t>FS】</a:t>
            </a:r>
          </a:p>
        </p:txBody>
      </p:sp>
    </p:spTree>
    <p:extLst>
      <p:ext uri="{BB962C8B-B14F-4D97-AF65-F5344CB8AC3E}">
        <p14:creationId xmlns:p14="http://schemas.microsoft.com/office/powerpoint/2010/main" val="1045865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5D6FE-8C29-C356-8B62-3709623E45C4}"/>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803CE725-BAB1-A7DF-D182-E2CE88F5494E}"/>
              </a:ext>
            </a:extLst>
          </p:cNvPr>
          <p:cNvSpPr txBox="1">
            <a:spLocks/>
          </p:cNvSpPr>
          <p:nvPr/>
        </p:nvSpPr>
        <p:spPr>
          <a:xfrm>
            <a:off x="601537" y="124234"/>
            <a:ext cx="7635875" cy="334962"/>
          </a:xfrm>
          <a:prstGeom prst="rect">
            <a:avLst/>
          </a:prstGeom>
        </p:spPr>
        <p:txBody>
          <a:bodyPr/>
          <a:lst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a:lstStyle>
          <a:p>
            <a:r>
              <a:rPr lang="ja-JP" altLang="en-US" kern="0" dirty="0">
                <a:latin typeface="Meiryo UI" panose="020B0604030504040204" pitchFamily="50" charset="-128"/>
                <a:ea typeface="Meiryo UI" panose="020B0604030504040204" pitchFamily="50" charset="-128"/>
              </a:rPr>
              <a:t>１</a:t>
            </a:r>
            <a:r>
              <a:rPr lang="en-US" altLang="ja-JP" kern="0" dirty="0">
                <a:latin typeface="Meiryo UI" panose="020B0604030504040204" pitchFamily="50" charset="-128"/>
                <a:ea typeface="Meiryo UI" panose="020B0604030504040204" pitchFamily="50" charset="-128"/>
              </a:rPr>
              <a:t>-</a:t>
            </a:r>
            <a:r>
              <a:rPr lang="ja-JP" altLang="en-US" kern="0" dirty="0">
                <a:latin typeface="Meiryo UI" panose="020B0604030504040204" pitchFamily="50" charset="-128"/>
                <a:ea typeface="Meiryo UI" panose="020B0604030504040204" pitchFamily="50" charset="-128"/>
              </a:rPr>
              <a:t>２．</a:t>
            </a:r>
            <a:r>
              <a:rPr lang="en-US" altLang="ja-JP" kern="0" dirty="0">
                <a:latin typeface="Meiryo UI" panose="020B0604030504040204" pitchFamily="50" charset="-128"/>
                <a:ea typeface="Meiryo UI" panose="020B0604030504040204" pitchFamily="50" charset="-128"/>
              </a:rPr>
              <a:t>【</a:t>
            </a:r>
            <a:r>
              <a:rPr lang="ja-JP" altLang="en-US" kern="0" dirty="0">
                <a:latin typeface="Meiryo UI" panose="020B0604030504040204" pitchFamily="50" charset="-128"/>
                <a:ea typeface="Meiryo UI" panose="020B0604030504040204" pitchFamily="50" charset="-128"/>
              </a:rPr>
              <a:t>案件概要</a:t>
            </a:r>
            <a:r>
              <a:rPr lang="en-US" altLang="ja-JP" kern="0" dirty="0">
                <a:latin typeface="Meiryo UI" panose="020B0604030504040204" pitchFamily="50" charset="-128"/>
                <a:ea typeface="Meiryo UI" panose="020B0604030504040204" pitchFamily="50" charset="-128"/>
              </a:rPr>
              <a:t>】</a:t>
            </a:r>
            <a:r>
              <a:rPr lang="ja-JP" altLang="en-US" kern="0" dirty="0">
                <a:latin typeface="Meiryo UI" panose="020B0604030504040204" pitchFamily="50" charset="-128"/>
                <a:ea typeface="Meiryo UI" panose="020B0604030504040204" pitchFamily="50" charset="-128"/>
              </a:rPr>
              <a:t>システム対応概要（</a:t>
            </a:r>
            <a:r>
              <a:rPr lang="en-US" altLang="ja-JP" kern="0" dirty="0">
                <a:latin typeface="Meiryo UI" panose="020B0604030504040204" pitchFamily="50" charset="-128"/>
                <a:ea typeface="Meiryo UI" panose="020B0604030504040204" pitchFamily="50" charset="-128"/>
              </a:rPr>
              <a:t>CTI</a:t>
            </a:r>
            <a:r>
              <a:rPr lang="ja-JP" altLang="en-US" kern="0" dirty="0">
                <a:latin typeface="Meiryo UI" panose="020B0604030504040204" pitchFamily="50" charset="-128"/>
                <a:ea typeface="Meiryo UI" panose="020B0604030504040204" pitchFamily="50" charset="-128"/>
              </a:rPr>
              <a:t>アプリ販売終了）</a:t>
            </a:r>
            <a:endParaRPr lang="ja-JP" altLang="en-US" kern="0" dirty="0"/>
          </a:p>
        </p:txBody>
      </p:sp>
      <p:sp>
        <p:nvSpPr>
          <p:cNvPr id="4" name="テキスト プレースホルダー 12">
            <a:extLst>
              <a:ext uri="{FF2B5EF4-FFF2-40B4-BE49-F238E27FC236}">
                <a16:creationId xmlns:a16="http://schemas.microsoft.com/office/drawing/2014/main" id="{6057E322-ABAA-E3C4-9AC2-E8DA1F96D24E}"/>
              </a:ext>
            </a:extLst>
          </p:cNvPr>
          <p:cNvSpPr>
            <a:spLocks noGrp="1"/>
          </p:cNvSpPr>
          <p:nvPr>
            <p:ph type="body" sz="quarter" idx="12"/>
          </p:nvPr>
        </p:nvSpPr>
        <p:spPr>
          <a:xfrm>
            <a:off x="165001" y="613723"/>
            <a:ext cx="9576000" cy="1337418"/>
          </a:xfrm>
        </p:spPr>
        <p:txBody>
          <a:bodyPr/>
          <a:lstStyle/>
          <a:p>
            <a:r>
              <a:rPr lang="en-US" altLang="ja-JP" dirty="0"/>
              <a:t>Genesys T-Server</a:t>
            </a:r>
            <a:r>
              <a:rPr lang="ja-JP" altLang="en-US" dirty="0"/>
              <a:t>の販売終了に伴い、</a:t>
            </a:r>
            <a:r>
              <a:rPr lang="en-US" altLang="ja-JP" dirty="0"/>
              <a:t>CT4U</a:t>
            </a:r>
            <a:r>
              <a:rPr lang="ja-JP" altLang="en-US" dirty="0"/>
              <a:t>にて</a:t>
            </a:r>
            <a:r>
              <a:rPr lang="en-US" altLang="ja-JP" dirty="0"/>
              <a:t>Genesys T-Server</a:t>
            </a:r>
            <a:r>
              <a:rPr lang="ja-JP" altLang="en-US" dirty="0"/>
              <a:t>を介さずに次期</a:t>
            </a:r>
            <a:r>
              <a:rPr lang="en-US" altLang="ja-JP" dirty="0"/>
              <a:t>CTI</a:t>
            </a:r>
            <a:r>
              <a:rPr lang="ja-JP" altLang="en-US" dirty="0"/>
              <a:t>基盤へのアクセスを行うよう</a:t>
            </a:r>
            <a:r>
              <a:rPr lang="en-US" altLang="ja-JP" dirty="0"/>
              <a:t>SDK</a:t>
            </a:r>
            <a:r>
              <a:rPr lang="ja-JP" altLang="en-US" dirty="0"/>
              <a:t>変更に伴う改修を実施する。</a:t>
            </a:r>
            <a:endParaRPr lang="en-US" altLang="ja-JP" dirty="0"/>
          </a:p>
          <a:p>
            <a:r>
              <a:rPr lang="ja-JP" altLang="en-US" dirty="0"/>
              <a:t>次期</a:t>
            </a:r>
            <a:r>
              <a:rPr lang="en-US" altLang="ja-JP" dirty="0"/>
              <a:t>SDK</a:t>
            </a:r>
            <a:r>
              <a:rPr lang="ja-JP" altLang="en-US" dirty="0"/>
              <a:t>については、日本</a:t>
            </a:r>
            <a:r>
              <a:rPr lang="en-US" altLang="ja-JP" dirty="0"/>
              <a:t>Avaya</a:t>
            </a:r>
            <a:r>
              <a:rPr lang="ja-JP" altLang="en-US" dirty="0"/>
              <a:t>社が提供する</a:t>
            </a:r>
            <a:r>
              <a:rPr lang="en-US" altLang="ja-JP" dirty="0" err="1"/>
              <a:t>StationLink</a:t>
            </a:r>
            <a:r>
              <a:rPr lang="en-US" altLang="ja-JP" dirty="0"/>
              <a:t> SDK</a:t>
            </a:r>
            <a:r>
              <a:rPr lang="ja-JP" altLang="en-US" dirty="0"/>
              <a:t>を使用することで開発規模の削減を図る。</a:t>
            </a:r>
            <a:endParaRPr lang="en-US" altLang="ja-JP" dirty="0"/>
          </a:p>
          <a:p>
            <a:r>
              <a:rPr lang="ja-JP" altLang="en-US" dirty="0"/>
              <a:t>現行端末（</a:t>
            </a:r>
            <a:r>
              <a:rPr lang="en-US" altLang="ja-JP" dirty="0"/>
              <a:t>SMCC</a:t>
            </a:r>
            <a:r>
              <a:rPr lang="ja-JP" altLang="en-US" dirty="0"/>
              <a:t>：</a:t>
            </a:r>
            <a:r>
              <a:rPr lang="en-US" altLang="ja-JP" dirty="0"/>
              <a:t>Win10</a:t>
            </a:r>
            <a:r>
              <a:rPr lang="ja-JP" altLang="en-US" dirty="0"/>
              <a:t>、旧</a:t>
            </a:r>
            <a:r>
              <a:rPr lang="en-US" altLang="ja-JP" dirty="0"/>
              <a:t>FS</a:t>
            </a:r>
            <a:r>
              <a:rPr lang="ja-JP" altLang="en-US" dirty="0"/>
              <a:t>：</a:t>
            </a:r>
            <a:r>
              <a:rPr lang="en-US" altLang="ja-JP" dirty="0"/>
              <a:t>Win7</a:t>
            </a:r>
            <a:r>
              <a:rPr lang="ja-JP" altLang="en-US" dirty="0"/>
              <a:t>）による基盤更改対応は実施せず、</a:t>
            </a:r>
            <a:r>
              <a:rPr lang="en-US" altLang="ja-JP" dirty="0"/>
              <a:t>Win11</a:t>
            </a:r>
            <a:r>
              <a:rPr lang="ja-JP" altLang="en-US" dirty="0"/>
              <a:t>化対応後に対応を実施する。</a:t>
            </a:r>
            <a:endParaRPr lang="en-US" altLang="ja-JP" dirty="0"/>
          </a:p>
          <a:p>
            <a:endParaRPr lang="ja-JP" altLang="en-US" dirty="0"/>
          </a:p>
        </p:txBody>
      </p:sp>
      <p:graphicFrame>
        <p:nvGraphicFramePr>
          <p:cNvPr id="5" name="表 4">
            <a:extLst>
              <a:ext uri="{FF2B5EF4-FFF2-40B4-BE49-F238E27FC236}">
                <a16:creationId xmlns:a16="http://schemas.microsoft.com/office/drawing/2014/main" id="{F07BF9CE-E6EC-80C1-592A-F56E0BBA5461}"/>
              </a:ext>
            </a:extLst>
          </p:cNvPr>
          <p:cNvGraphicFramePr>
            <a:graphicFrameLocks noGrp="1"/>
          </p:cNvGraphicFramePr>
          <p:nvPr>
            <p:extLst>
              <p:ext uri="{D42A27DB-BD31-4B8C-83A1-F6EECF244321}">
                <p14:modId xmlns:p14="http://schemas.microsoft.com/office/powerpoint/2010/main" val="3383488082"/>
              </p:ext>
            </p:extLst>
          </p:nvPr>
        </p:nvGraphicFramePr>
        <p:xfrm>
          <a:off x="179749" y="2143961"/>
          <a:ext cx="9561252" cy="4253760"/>
        </p:xfrm>
        <a:graphic>
          <a:graphicData uri="http://schemas.openxmlformats.org/drawingml/2006/table">
            <a:tbl>
              <a:tblPr firstRow="1" bandRow="1">
                <a:tableStyleId>{5C22544A-7EE6-4342-B048-85BDC9FD1C3A}</a:tableStyleId>
              </a:tblPr>
              <a:tblGrid>
                <a:gridCol w="376335">
                  <a:extLst>
                    <a:ext uri="{9D8B030D-6E8A-4147-A177-3AD203B41FA5}">
                      <a16:colId xmlns:a16="http://schemas.microsoft.com/office/drawing/2014/main" val="333634348"/>
                    </a:ext>
                  </a:extLst>
                </a:gridCol>
                <a:gridCol w="1529469">
                  <a:extLst>
                    <a:ext uri="{9D8B030D-6E8A-4147-A177-3AD203B41FA5}">
                      <a16:colId xmlns:a16="http://schemas.microsoft.com/office/drawing/2014/main" val="3489195631"/>
                    </a:ext>
                  </a:extLst>
                </a:gridCol>
                <a:gridCol w="956931">
                  <a:extLst>
                    <a:ext uri="{9D8B030D-6E8A-4147-A177-3AD203B41FA5}">
                      <a16:colId xmlns:a16="http://schemas.microsoft.com/office/drawing/2014/main" val="3322080614"/>
                    </a:ext>
                  </a:extLst>
                </a:gridCol>
                <a:gridCol w="956931">
                  <a:extLst>
                    <a:ext uri="{9D8B030D-6E8A-4147-A177-3AD203B41FA5}">
                      <a16:colId xmlns:a16="http://schemas.microsoft.com/office/drawing/2014/main" val="1137781925"/>
                    </a:ext>
                  </a:extLst>
                </a:gridCol>
                <a:gridCol w="956931">
                  <a:extLst>
                    <a:ext uri="{9D8B030D-6E8A-4147-A177-3AD203B41FA5}">
                      <a16:colId xmlns:a16="http://schemas.microsoft.com/office/drawing/2014/main" val="4170649524"/>
                    </a:ext>
                  </a:extLst>
                </a:gridCol>
                <a:gridCol w="956931">
                  <a:extLst>
                    <a:ext uri="{9D8B030D-6E8A-4147-A177-3AD203B41FA5}">
                      <a16:colId xmlns:a16="http://schemas.microsoft.com/office/drawing/2014/main" val="2110054383"/>
                    </a:ext>
                  </a:extLst>
                </a:gridCol>
                <a:gridCol w="956931">
                  <a:extLst>
                    <a:ext uri="{9D8B030D-6E8A-4147-A177-3AD203B41FA5}">
                      <a16:colId xmlns:a16="http://schemas.microsoft.com/office/drawing/2014/main" val="720800885"/>
                    </a:ext>
                  </a:extLst>
                </a:gridCol>
                <a:gridCol w="956931">
                  <a:extLst>
                    <a:ext uri="{9D8B030D-6E8A-4147-A177-3AD203B41FA5}">
                      <a16:colId xmlns:a16="http://schemas.microsoft.com/office/drawing/2014/main" val="2066650213"/>
                    </a:ext>
                  </a:extLst>
                </a:gridCol>
                <a:gridCol w="956931">
                  <a:extLst>
                    <a:ext uri="{9D8B030D-6E8A-4147-A177-3AD203B41FA5}">
                      <a16:colId xmlns:a16="http://schemas.microsoft.com/office/drawing/2014/main" val="2719817023"/>
                    </a:ext>
                  </a:extLst>
                </a:gridCol>
                <a:gridCol w="956931">
                  <a:extLst>
                    <a:ext uri="{9D8B030D-6E8A-4147-A177-3AD203B41FA5}">
                      <a16:colId xmlns:a16="http://schemas.microsoft.com/office/drawing/2014/main" val="3210821256"/>
                    </a:ext>
                  </a:extLst>
                </a:gridCol>
              </a:tblGrid>
              <a:tr h="239738">
                <a:tc rowSpan="2" gridSpan="2">
                  <a:txBody>
                    <a:bodyPr/>
                    <a:lstStyle/>
                    <a:p>
                      <a:endParaRPr kumimoji="1" lang="ja-JP" alt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rowSpan="2" hMerge="1">
                  <a:txBody>
                    <a:bodyPr/>
                    <a:lstStyle/>
                    <a:p>
                      <a:endParaRPr kumimoji="1" lang="ja-JP" altLang="en-US"/>
                    </a:p>
                  </a:txBody>
                  <a:tcPr/>
                </a:tc>
                <a:tc gridSpan="2">
                  <a:txBody>
                    <a:bodyPr/>
                    <a:lstStyle/>
                    <a:p>
                      <a:pPr algn="ctr"/>
                      <a:r>
                        <a:rPr kumimoji="1" lang="en-US" altLang="ja-JP"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2025</a:t>
                      </a: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年度</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tc hMerge="1">
                  <a:txBody>
                    <a:bodyPr/>
                    <a:lstStyle/>
                    <a:p>
                      <a:pPr algn="ctr"/>
                      <a:endParaRPr kumimoji="1" lang="ja-JP" altLang="en-US" sz="9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72CE"/>
                    </a:solidFill>
                  </a:tcPr>
                </a:tc>
                <a:tc gridSpan="2">
                  <a:txBody>
                    <a:bodyPr/>
                    <a:lstStyle/>
                    <a:p>
                      <a:pPr algn="ctr"/>
                      <a:r>
                        <a:rPr kumimoji="1" lang="en-US" altLang="ja-JP"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2026</a:t>
                      </a: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年度</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tc hMerge="1">
                  <a:txBody>
                    <a:bodyPr/>
                    <a:lstStyle/>
                    <a:p>
                      <a:pPr algn="ctr"/>
                      <a:endParaRPr kumimoji="1" lang="ja-JP" altLang="en-US" sz="9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72CE"/>
                    </a:solidFill>
                  </a:tcPr>
                </a:tc>
                <a:tc gridSpan="2">
                  <a:txBody>
                    <a:bodyPr/>
                    <a:lstStyle/>
                    <a:p>
                      <a:pPr algn="ctr"/>
                      <a:r>
                        <a:rPr kumimoji="1" lang="en-US" altLang="ja-JP"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2027</a:t>
                      </a: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年度</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tc hMerge="1">
                  <a:txBody>
                    <a:bodyPr/>
                    <a:lstStyle/>
                    <a:p>
                      <a:pPr algn="ctr"/>
                      <a:endParaRPr kumimoji="1" lang="ja-JP" altLang="en-US" sz="9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72CE"/>
                    </a:solidFill>
                  </a:tcPr>
                </a:tc>
                <a:tc gridSpan="2">
                  <a:txBody>
                    <a:bodyPr/>
                    <a:lstStyle/>
                    <a:p>
                      <a:pPr algn="ctr"/>
                      <a:r>
                        <a:rPr kumimoji="1" lang="en-US" altLang="ja-JP"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2028</a:t>
                      </a: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年度</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tc hMerge="1">
                  <a:txBody>
                    <a:bodyPr/>
                    <a:lstStyle/>
                    <a:p>
                      <a:pPr algn="ctr"/>
                      <a:endParaRPr kumimoji="1" lang="ja-JP" altLang="en-US" sz="9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72CE"/>
                    </a:solidFill>
                  </a:tcPr>
                </a:tc>
                <a:extLst>
                  <a:ext uri="{0D108BD9-81ED-4DB2-BD59-A6C34878D82A}">
                    <a16:rowId xmlns:a16="http://schemas.microsoft.com/office/drawing/2014/main" val="3120691387"/>
                  </a:ext>
                </a:extLst>
              </a:tr>
              <a:tr h="239738">
                <a:tc gridSpan="2" vMerge="1">
                  <a:txBody>
                    <a:bodyPr/>
                    <a:lstStyle/>
                    <a:p>
                      <a:endParaRPr kumimoji="1" lang="ja-JP" altLang="en-US"/>
                    </a:p>
                  </a:txBody>
                  <a:tcPr/>
                </a:tc>
                <a:tc hMerge="1" vMerge="1">
                  <a:txBody>
                    <a:bodyPr/>
                    <a:lstStyle/>
                    <a:p>
                      <a:endParaRPr kumimoji="1" lang="ja-JP" altLang="en-US"/>
                    </a:p>
                  </a:txBody>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上期</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下期</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上期</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下期</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上期</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下期</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上期</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下期</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72CE"/>
                    </a:solidFill>
                  </a:tcPr>
                </a:tc>
                <a:extLst>
                  <a:ext uri="{0D108BD9-81ED-4DB2-BD59-A6C34878D82A}">
                    <a16:rowId xmlns:a16="http://schemas.microsoft.com/office/drawing/2014/main" val="294008709"/>
                  </a:ext>
                </a:extLst>
              </a:tr>
              <a:tr h="540000">
                <a:tc gridSpan="2">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マイルストーン</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CCECFF"/>
                    </a:solidFill>
                  </a:tcPr>
                </a:tc>
                <a:tc hMerge="1">
                  <a:txBody>
                    <a:bodyPr/>
                    <a:lstStyle/>
                    <a:p>
                      <a:endParaRPr kumimoji="1" lang="ja-JP" altLang="en-US"/>
                    </a:p>
                  </a:txBody>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090996088"/>
                  </a:ext>
                </a:extLst>
              </a:tr>
              <a:tr h="540000">
                <a:tc rowSpan="2">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スケジュール</a:t>
                      </a:r>
                    </a:p>
                  </a:txBody>
                  <a:tcPr marL="36000" marR="36000" marT="36000" marB="36000" vert="eaVert"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CCEC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SMCC Win11</a:t>
                      </a:r>
                      <a:r>
                        <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化対応</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CCECFF"/>
                    </a:solidFill>
                  </a:tcPr>
                </a:tc>
                <a:tc>
                  <a:txBody>
                    <a:bodyPr/>
                    <a:lstStyle/>
                    <a:p>
                      <a:pPr algn="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902732597"/>
                  </a:ext>
                </a:extLst>
              </a:tr>
              <a:tr h="540000">
                <a:tc vMerge="1">
                  <a:txBody>
                    <a:bodyPr/>
                    <a:lstStyle/>
                    <a:p>
                      <a:pPr algn="ct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6">
                        <a:lumMod val="20000"/>
                        <a:lumOff val="80000"/>
                      </a:schemeClr>
                    </a:solid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次回</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CTI</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基盤更改</a:t>
                      </a:r>
                      <a:endParaRPr kumimoji="1" lang="ja-JP" altLang="en-US"/>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CCECFF"/>
                    </a:solidFill>
                  </a:tcPr>
                </a:tc>
                <a:tc>
                  <a:txBody>
                    <a:bodyPr/>
                    <a:lstStyle/>
                    <a:p>
                      <a:pPr algn="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037930029"/>
                  </a:ext>
                </a:extLst>
              </a:tr>
              <a:tr h="468000">
                <a:tc rowSpan="2" gridSpan="2">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システム構成遷移</a:t>
                      </a: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ECFF"/>
                    </a:solidFill>
                  </a:tcPr>
                </a:tc>
                <a:tc rowSpan="2" hMerge="1">
                  <a:txBody>
                    <a:bodyPr/>
                    <a:lstStyle/>
                    <a:p>
                      <a:pPr algn="ctr"/>
                      <a:endParaRPr kumimoji="1" lang="ja-JP" altLang="en-US" sz="1200"/>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CCECFF"/>
                    </a:solidFill>
                  </a:tcPr>
                </a:tc>
                <a:tc>
                  <a:txBody>
                    <a:bodyPr/>
                    <a:lstStyle/>
                    <a:p>
                      <a:pPr algn="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782512323"/>
                  </a:ext>
                </a:extLst>
              </a:tr>
              <a:tr h="1656000">
                <a:tc gridSpan="2" vMerge="1">
                  <a:txBody>
                    <a:bodyPr/>
                    <a:lstStyle/>
                    <a:p>
                      <a:endParaRPr kumimoji="1" lang="ja-JP" altLang="en-US"/>
                    </a:p>
                  </a:txBody>
                  <a:tcPr>
                    <a:lnT w="12700" cap="flat" cmpd="sng" algn="ctr">
                      <a:solidFill>
                        <a:schemeClr val="bg2"/>
                      </a:solidFill>
                      <a:prstDash val="solid"/>
                      <a:round/>
                      <a:headEnd type="none" w="med" len="med"/>
                      <a:tailEnd type="none" w="med" len="med"/>
                    </a:lnT>
                  </a:tcPr>
                </a:tc>
                <a:tc hMerge="1" vMerge="1">
                  <a:txBody>
                    <a:bodyPr/>
                    <a:lstStyle/>
                    <a:p>
                      <a:pPr algn="ctr"/>
                      <a:endParaRPr kumimoji="1" lang="ja-JP" altLang="en-US" sz="1200"/>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CCECFF"/>
                    </a:solidFill>
                  </a:tcPr>
                </a:tc>
                <a:tc gridSpan="2">
                  <a:txBody>
                    <a:bodyPr/>
                    <a:lstStyle/>
                    <a:p>
                      <a:pPr algn="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hMerge="1">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CCECFF">
                        <a:alpha val="30000"/>
                      </a:srgbClr>
                    </a:solidFill>
                  </a:tcPr>
                </a:tc>
                <a:tc gridSpan="3">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hMerge="1">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CCECFF">
                        <a:alpha val="30000"/>
                      </a:srgbClr>
                    </a:solidFill>
                  </a:tcPr>
                </a:tc>
                <a:tc hMerge="1">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CCECFF">
                        <a:alpha val="30000"/>
                      </a:srgbClr>
                    </a:solidFill>
                  </a:tcPr>
                </a:tc>
                <a:tc gridSpan="3">
                  <a:txBody>
                    <a:bodyPr/>
                    <a:lstStyle/>
                    <a:p>
                      <a:pPr algn="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hMerge="1">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CCECFF">
                        <a:alpha val="30000"/>
                      </a:srgbClr>
                    </a:solidFill>
                  </a:tcPr>
                </a:tc>
                <a:tc hMerge="1">
                  <a:txBody>
                    <a:bodyPr/>
                    <a:lstStyle/>
                    <a:p>
                      <a:pPr algn="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CCECFF">
                        <a:alpha val="30000"/>
                      </a:srgbClr>
                    </a:solidFill>
                  </a:tcPr>
                </a:tc>
                <a:extLst>
                  <a:ext uri="{0D108BD9-81ED-4DB2-BD59-A6C34878D82A}">
                    <a16:rowId xmlns:a16="http://schemas.microsoft.com/office/drawing/2014/main" val="2032460496"/>
                  </a:ext>
                </a:extLst>
              </a:tr>
            </a:tbl>
          </a:graphicData>
        </a:graphic>
      </p:graphicFrame>
      <p:sp>
        <p:nvSpPr>
          <p:cNvPr id="6" name="矢印: 五方向 5">
            <a:extLst>
              <a:ext uri="{FF2B5EF4-FFF2-40B4-BE49-F238E27FC236}">
                <a16:creationId xmlns:a16="http://schemas.microsoft.com/office/drawing/2014/main" id="{8EC557A1-B201-7FEC-532E-FA141B3252FD}"/>
              </a:ext>
            </a:extLst>
          </p:cNvPr>
          <p:cNvSpPr/>
          <p:nvPr/>
        </p:nvSpPr>
        <p:spPr bwMode="auto">
          <a:xfrm>
            <a:off x="2369387" y="3821208"/>
            <a:ext cx="4298346" cy="344585"/>
          </a:xfrm>
          <a:prstGeom prst="homePlate">
            <a:avLst>
              <a:gd name="adj" fmla="val 15553"/>
            </a:avLst>
          </a:prstGeom>
          <a:solidFill>
            <a:srgbClr val="CCEC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lang="ja-JP" altLang="en-US" sz="1200" b="0" i="0" u="none" strike="noStrike">
                <a:solidFill>
                  <a:srgbClr val="000000"/>
                </a:solidFill>
                <a:effectLst/>
                <a:latin typeface="Meiryo UI" panose="020B0604030504040204" pitchFamily="50" charset="-128"/>
                <a:ea typeface="Meiryo UI" panose="020B0604030504040204" pitchFamily="50" charset="-128"/>
              </a:rPr>
              <a:t>要件定義／開発</a:t>
            </a:r>
            <a:endParaRPr kumimoji="1" lang="ja-JP" altLang="en-US" sz="12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8" name="矢印: 五方向 7">
            <a:extLst>
              <a:ext uri="{FF2B5EF4-FFF2-40B4-BE49-F238E27FC236}">
                <a16:creationId xmlns:a16="http://schemas.microsoft.com/office/drawing/2014/main" id="{B9C43342-20AA-DE72-63DB-2AADC767CE11}"/>
              </a:ext>
            </a:extLst>
          </p:cNvPr>
          <p:cNvSpPr/>
          <p:nvPr/>
        </p:nvSpPr>
        <p:spPr bwMode="auto">
          <a:xfrm>
            <a:off x="6667733" y="3820354"/>
            <a:ext cx="891549" cy="344584"/>
          </a:xfrm>
          <a:prstGeom prst="homePlate">
            <a:avLst>
              <a:gd name="adj" fmla="val 15553"/>
            </a:avLst>
          </a:prstGeom>
          <a:solidFill>
            <a:srgbClr val="CCEC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742950"/>
            <a:r>
              <a:rPr lang="ja-JP" altLang="en-US" sz="1200" b="0">
                <a:solidFill>
                  <a:srgbClr val="000000"/>
                </a:solidFill>
                <a:latin typeface="Meiryo UI" panose="020B0604030504040204" pitchFamily="50" charset="-128"/>
                <a:ea typeface="Meiryo UI" panose="020B0604030504040204" pitchFamily="50" charset="-128"/>
              </a:rPr>
              <a:t>移行</a:t>
            </a:r>
          </a:p>
        </p:txBody>
      </p:sp>
      <p:sp>
        <p:nvSpPr>
          <p:cNvPr id="9" name="矢印: 五方向 8">
            <a:extLst>
              <a:ext uri="{FF2B5EF4-FFF2-40B4-BE49-F238E27FC236}">
                <a16:creationId xmlns:a16="http://schemas.microsoft.com/office/drawing/2014/main" id="{BD65FC29-94D6-AD92-DBFA-B3F23AA5CF83}"/>
              </a:ext>
            </a:extLst>
          </p:cNvPr>
          <p:cNvSpPr/>
          <p:nvPr/>
        </p:nvSpPr>
        <p:spPr bwMode="auto">
          <a:xfrm>
            <a:off x="3056611" y="3270302"/>
            <a:ext cx="2700280" cy="358333"/>
          </a:xfrm>
          <a:prstGeom prst="homePlate">
            <a:avLst>
              <a:gd name="adj" fmla="val 15553"/>
            </a:avLst>
          </a:prstGeom>
          <a:solidFill>
            <a:srgbClr val="CCEC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742950"/>
            <a:r>
              <a:rPr lang="ja-JP" altLang="en-US" sz="1200" b="0">
                <a:solidFill>
                  <a:srgbClr val="000000"/>
                </a:solidFill>
                <a:latin typeface="Meiryo UI" panose="020B0604030504040204" pitchFamily="50" charset="-128"/>
                <a:ea typeface="Meiryo UI" panose="020B0604030504040204" pitchFamily="50" charset="-128"/>
              </a:rPr>
              <a:t>開発</a:t>
            </a:r>
          </a:p>
        </p:txBody>
      </p:sp>
      <p:sp>
        <p:nvSpPr>
          <p:cNvPr id="10" name="矢印: 五方向 9">
            <a:extLst>
              <a:ext uri="{FF2B5EF4-FFF2-40B4-BE49-F238E27FC236}">
                <a16:creationId xmlns:a16="http://schemas.microsoft.com/office/drawing/2014/main" id="{C6869369-D411-E912-9753-1A15BC3117D6}"/>
              </a:ext>
            </a:extLst>
          </p:cNvPr>
          <p:cNvSpPr/>
          <p:nvPr/>
        </p:nvSpPr>
        <p:spPr bwMode="auto">
          <a:xfrm>
            <a:off x="5756891" y="3270301"/>
            <a:ext cx="1074532" cy="358332"/>
          </a:xfrm>
          <a:prstGeom prst="homePlate">
            <a:avLst>
              <a:gd name="adj" fmla="val 15553"/>
            </a:avLst>
          </a:prstGeom>
          <a:solidFill>
            <a:srgbClr val="CCEC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742950"/>
            <a:r>
              <a:rPr lang="ja-JP" altLang="en-US" sz="1200" b="0">
                <a:solidFill>
                  <a:srgbClr val="000000"/>
                </a:solidFill>
                <a:latin typeface="Meiryo UI" panose="020B0604030504040204" pitchFamily="50" charset="-128"/>
                <a:ea typeface="Meiryo UI" panose="020B0604030504040204" pitchFamily="50" charset="-128"/>
              </a:rPr>
              <a:t>アプリ移行</a:t>
            </a:r>
          </a:p>
        </p:txBody>
      </p:sp>
      <p:sp>
        <p:nvSpPr>
          <p:cNvPr id="11" name="矢印: 左右 10">
            <a:extLst>
              <a:ext uri="{FF2B5EF4-FFF2-40B4-BE49-F238E27FC236}">
                <a16:creationId xmlns:a16="http://schemas.microsoft.com/office/drawing/2014/main" id="{73ED1E59-8CA9-11B3-8EF2-02244E92EAA8}"/>
              </a:ext>
            </a:extLst>
          </p:cNvPr>
          <p:cNvSpPr/>
          <p:nvPr/>
        </p:nvSpPr>
        <p:spPr bwMode="auto">
          <a:xfrm>
            <a:off x="2151424" y="4330455"/>
            <a:ext cx="3605467" cy="344584"/>
          </a:xfrm>
          <a:prstGeom prst="leftRightArrow">
            <a:avLst>
              <a:gd name="adj1" fmla="val 77472"/>
              <a:gd name="adj2" fmla="val 50000"/>
            </a:avLst>
          </a:prstGeom>
          <a:solidFill>
            <a:srgbClr val="0072CE"/>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200" b="0" i="0" u="none" strike="noStrike" cap="none" normalizeH="0" baseline="0">
                <a:ln>
                  <a:noFill/>
                </a:ln>
                <a:solidFill>
                  <a:schemeClr val="bg1"/>
                </a:solidFill>
                <a:effectLst/>
                <a:latin typeface="+mn-ea"/>
                <a:ea typeface="+mn-ea"/>
                <a:cs typeface="Meiryo UI" panose="020B0604030504040204" pitchFamily="50" charset="-128"/>
              </a:rPr>
              <a:t>構成①</a:t>
            </a:r>
          </a:p>
        </p:txBody>
      </p:sp>
      <p:sp>
        <p:nvSpPr>
          <p:cNvPr id="12" name="矢印: 左右 11">
            <a:extLst>
              <a:ext uri="{FF2B5EF4-FFF2-40B4-BE49-F238E27FC236}">
                <a16:creationId xmlns:a16="http://schemas.microsoft.com/office/drawing/2014/main" id="{B17A9431-DFCD-3729-0EF6-03ACE8B991E9}"/>
              </a:ext>
            </a:extLst>
          </p:cNvPr>
          <p:cNvSpPr/>
          <p:nvPr/>
        </p:nvSpPr>
        <p:spPr bwMode="auto">
          <a:xfrm>
            <a:off x="5756891" y="4330454"/>
            <a:ext cx="1074532" cy="344584"/>
          </a:xfrm>
          <a:prstGeom prst="leftRightArrow">
            <a:avLst>
              <a:gd name="adj1" fmla="val 77472"/>
              <a:gd name="adj2" fmla="val 50000"/>
            </a:avLst>
          </a:prstGeom>
          <a:solidFill>
            <a:srgbClr val="0072CE"/>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200" b="0" i="0" u="none" strike="noStrike" cap="none" normalizeH="0" baseline="0">
                <a:ln>
                  <a:noFill/>
                </a:ln>
                <a:solidFill>
                  <a:schemeClr val="bg1"/>
                </a:solidFill>
                <a:effectLst/>
                <a:latin typeface="+mn-ea"/>
                <a:ea typeface="+mn-ea"/>
                <a:cs typeface="Meiryo UI" panose="020B0604030504040204" pitchFamily="50" charset="-128"/>
              </a:rPr>
              <a:t>構成②</a:t>
            </a:r>
          </a:p>
        </p:txBody>
      </p:sp>
      <p:sp>
        <p:nvSpPr>
          <p:cNvPr id="14" name="矢印: 左右 13">
            <a:extLst>
              <a:ext uri="{FF2B5EF4-FFF2-40B4-BE49-F238E27FC236}">
                <a16:creationId xmlns:a16="http://schemas.microsoft.com/office/drawing/2014/main" id="{779DE09C-540F-5EED-07FA-35CF3E7DA4E0}"/>
              </a:ext>
            </a:extLst>
          </p:cNvPr>
          <p:cNvSpPr/>
          <p:nvPr/>
        </p:nvSpPr>
        <p:spPr bwMode="auto">
          <a:xfrm>
            <a:off x="6905235" y="4330454"/>
            <a:ext cx="2782151" cy="344584"/>
          </a:xfrm>
          <a:prstGeom prst="leftRightArrow">
            <a:avLst>
              <a:gd name="adj1" fmla="val 77472"/>
              <a:gd name="adj2" fmla="val 50000"/>
            </a:avLst>
          </a:prstGeom>
          <a:solidFill>
            <a:srgbClr val="0072CE"/>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200" b="0" i="0" u="none" strike="noStrike" cap="none" normalizeH="0" baseline="0">
                <a:ln>
                  <a:noFill/>
                </a:ln>
                <a:solidFill>
                  <a:schemeClr val="bg1"/>
                </a:solidFill>
                <a:effectLst/>
                <a:latin typeface="+mn-ea"/>
                <a:ea typeface="+mn-ea"/>
                <a:cs typeface="Meiryo UI" panose="020B0604030504040204" pitchFamily="50" charset="-128"/>
              </a:rPr>
              <a:t>構成③</a:t>
            </a:r>
          </a:p>
        </p:txBody>
      </p:sp>
      <p:sp>
        <p:nvSpPr>
          <p:cNvPr id="21" name="テキスト ボックス 20">
            <a:extLst>
              <a:ext uri="{FF2B5EF4-FFF2-40B4-BE49-F238E27FC236}">
                <a16:creationId xmlns:a16="http://schemas.microsoft.com/office/drawing/2014/main" id="{36BA2B1D-FFD8-A24A-F360-F4619110C228}"/>
              </a:ext>
            </a:extLst>
          </p:cNvPr>
          <p:cNvSpPr txBox="1"/>
          <p:nvPr/>
        </p:nvSpPr>
        <p:spPr>
          <a:xfrm>
            <a:off x="2297745" y="5201868"/>
            <a:ext cx="833087" cy="1079999"/>
          </a:xfrm>
          <a:prstGeom prst="rect">
            <a:avLst/>
          </a:prstGeom>
          <a:solidFill>
            <a:schemeClr val="bg1">
              <a:lumMod val="95000"/>
            </a:schemeClr>
          </a:solidFill>
          <a:ln w="12700" cap="flat" cmpd="sng" algn="ctr">
            <a:solidFill>
              <a:schemeClr val="bg2"/>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defPPr>
              <a:defRPr lang="ja-JP"/>
            </a:defPPr>
            <a:lvl1pPr marR="0" indent="0" algn="just" defTabSz="742950" fontAlgn="base">
              <a:lnSpc>
                <a:spcPts val="2100"/>
              </a:lnSpc>
              <a:spcBef>
                <a:spcPct val="0"/>
              </a:spcBef>
              <a:spcAft>
                <a:spcPct val="0"/>
              </a:spcAft>
              <a:buClrTx/>
              <a:buSzTx/>
              <a:buFontTx/>
              <a:buNone/>
              <a:tabLst/>
              <a:defRPr b="0" i="0" u="none" strike="noStrike" cap="none" normalizeH="0" baseline="0">
                <a:ln>
                  <a:noFill/>
                </a:ln>
                <a:effectLst/>
                <a:latin typeface="+mj-ea"/>
                <a:ea typeface="+mj-ea"/>
              </a:defRPr>
            </a:lvl1pPr>
          </a:lstStyle>
          <a:p>
            <a:pPr algn="ctr">
              <a:lnSpc>
                <a:spcPct val="100000"/>
              </a:lnSpc>
            </a:pPr>
            <a:r>
              <a:rPr lang="ja-JP" altLang="en-US" sz="1000"/>
              <a:t>端末</a:t>
            </a:r>
          </a:p>
        </p:txBody>
      </p:sp>
      <p:sp>
        <p:nvSpPr>
          <p:cNvPr id="22" name="テキスト ボックス 21">
            <a:extLst>
              <a:ext uri="{FF2B5EF4-FFF2-40B4-BE49-F238E27FC236}">
                <a16:creationId xmlns:a16="http://schemas.microsoft.com/office/drawing/2014/main" id="{C5E30911-A15A-58AA-709C-F92ED4EDD5B3}"/>
              </a:ext>
            </a:extLst>
          </p:cNvPr>
          <p:cNvSpPr txBox="1"/>
          <p:nvPr/>
        </p:nvSpPr>
        <p:spPr>
          <a:xfrm>
            <a:off x="3315905" y="5201867"/>
            <a:ext cx="540000" cy="456220"/>
          </a:xfrm>
          <a:prstGeom prst="rect">
            <a:avLst/>
          </a:prstGeom>
          <a:noFill/>
          <a:ln w="12700" cap="flat" cmpd="sng" algn="ctr">
            <a:solidFill>
              <a:schemeClr val="bg2"/>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defPPr>
              <a:defRPr lang="ja-JP"/>
            </a:defPPr>
            <a:lvl1pPr marR="0" indent="0" algn="just" defTabSz="742950" fontAlgn="base">
              <a:lnSpc>
                <a:spcPts val="2100"/>
              </a:lnSpc>
              <a:spcBef>
                <a:spcPct val="0"/>
              </a:spcBef>
              <a:spcAft>
                <a:spcPct val="0"/>
              </a:spcAft>
              <a:buClrTx/>
              <a:buSzTx/>
              <a:buFontTx/>
              <a:buNone/>
              <a:tabLst/>
              <a:defRPr b="0" i="0" u="none" strike="noStrike" cap="none" normalizeH="0" baseline="0">
                <a:ln>
                  <a:noFill/>
                </a:ln>
                <a:effectLst/>
                <a:latin typeface="+mj-ea"/>
                <a:ea typeface="+mj-ea"/>
              </a:defRPr>
            </a:lvl1pPr>
          </a:lstStyle>
          <a:p>
            <a:pPr algn="ctr">
              <a:lnSpc>
                <a:spcPct val="100000"/>
              </a:lnSpc>
            </a:pPr>
            <a:r>
              <a:rPr lang="ja-JP" altLang="en-US" sz="1000"/>
              <a:t>現行</a:t>
            </a:r>
            <a:endParaRPr lang="en-US" altLang="ja-JP" sz="1000"/>
          </a:p>
          <a:p>
            <a:pPr algn="ctr">
              <a:lnSpc>
                <a:spcPct val="100000"/>
              </a:lnSpc>
            </a:pPr>
            <a:r>
              <a:rPr lang="en-US" altLang="ja-JP" sz="1000"/>
              <a:t>CTI</a:t>
            </a:r>
            <a:r>
              <a:rPr lang="ja-JP" altLang="en-US" sz="1000"/>
              <a:t>基盤</a:t>
            </a:r>
          </a:p>
        </p:txBody>
      </p:sp>
      <p:sp>
        <p:nvSpPr>
          <p:cNvPr id="23" name="四角形: 角を丸くする 22">
            <a:extLst>
              <a:ext uri="{FF2B5EF4-FFF2-40B4-BE49-F238E27FC236}">
                <a16:creationId xmlns:a16="http://schemas.microsoft.com/office/drawing/2014/main" id="{894F07BD-E1A0-5006-5884-FD6F17BB233B}"/>
              </a:ext>
            </a:extLst>
          </p:cNvPr>
          <p:cNvSpPr/>
          <p:nvPr/>
        </p:nvSpPr>
        <p:spPr bwMode="auto">
          <a:xfrm>
            <a:off x="2369387" y="5369638"/>
            <a:ext cx="687224" cy="540000"/>
          </a:xfrm>
          <a:prstGeom prst="roundRect">
            <a:avLst>
              <a:gd name="adj" fmla="val 6167"/>
            </a:avLst>
          </a:prstGeom>
          <a:solidFill>
            <a:srgbClr val="FFC000"/>
          </a:solidFill>
          <a:ln w="12700" cap="flat" cmpd="sng" algn="ctr">
            <a:solidFill>
              <a:schemeClr val="bg2"/>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742950" rtl="0" eaLnBrk="1" fontAlgn="base" latinLnBrk="0" hangingPunct="1">
              <a:lnSpc>
                <a:spcPts val="1300"/>
              </a:lnSpc>
              <a:spcBef>
                <a:spcPct val="0"/>
              </a:spcBef>
              <a:spcAft>
                <a:spcPct val="0"/>
              </a:spcAft>
              <a:buClrTx/>
              <a:buSzTx/>
              <a:buFontTx/>
              <a:buNone/>
              <a:tabLst/>
            </a:pPr>
            <a:r>
              <a:rPr kumimoji="1" lang="en-US" altLang="ja-JP" sz="1000" b="0" i="0" u="none" strike="noStrike" cap="none" normalizeH="0" baseline="0">
                <a:ln>
                  <a:noFill/>
                </a:ln>
                <a:solidFill>
                  <a:schemeClr val="tx1"/>
                </a:solidFill>
                <a:effectLst/>
                <a:latin typeface="+mn-ea"/>
                <a:ea typeface="+mn-ea"/>
              </a:rPr>
              <a:t>CT4U</a:t>
            </a:r>
            <a:br>
              <a:rPr kumimoji="1" lang="en-US" altLang="ja-JP" sz="1000" b="0" i="0" u="none" strike="noStrike" cap="none" normalizeH="0" baseline="0">
                <a:ln>
                  <a:noFill/>
                </a:ln>
                <a:solidFill>
                  <a:schemeClr val="tx1"/>
                </a:solidFill>
                <a:effectLst/>
                <a:latin typeface="+mn-ea"/>
                <a:ea typeface="+mn-ea"/>
              </a:rPr>
            </a:br>
            <a:r>
              <a:rPr kumimoji="1" lang="en-US" altLang="ja-JP" sz="1000" b="0" i="0" u="none" strike="noStrike" cap="none" normalizeH="0" baseline="0">
                <a:ln>
                  <a:noFill/>
                </a:ln>
                <a:solidFill>
                  <a:schemeClr val="tx1"/>
                </a:solidFill>
                <a:effectLst/>
                <a:latin typeface="+mn-ea"/>
                <a:ea typeface="+mn-ea"/>
              </a:rPr>
              <a:t>OracleJDK</a:t>
            </a:r>
            <a:endParaRPr kumimoji="1" lang="ja-JP" altLang="en-US" sz="1000" b="0" i="0" u="none" strike="noStrike" cap="none" normalizeH="0" baseline="0">
              <a:ln>
                <a:noFill/>
              </a:ln>
              <a:solidFill>
                <a:schemeClr val="tx1"/>
              </a:solidFill>
              <a:effectLst/>
              <a:latin typeface="+mn-ea"/>
              <a:ea typeface="+mn-ea"/>
            </a:endParaRPr>
          </a:p>
        </p:txBody>
      </p:sp>
      <p:sp>
        <p:nvSpPr>
          <p:cNvPr id="24" name="四角形: 角を丸くする 23">
            <a:extLst>
              <a:ext uri="{FF2B5EF4-FFF2-40B4-BE49-F238E27FC236}">
                <a16:creationId xmlns:a16="http://schemas.microsoft.com/office/drawing/2014/main" id="{0EE94511-7C26-1BF5-6D99-C7C55B987D1C}"/>
              </a:ext>
            </a:extLst>
          </p:cNvPr>
          <p:cNvSpPr/>
          <p:nvPr/>
        </p:nvSpPr>
        <p:spPr bwMode="auto">
          <a:xfrm>
            <a:off x="2452464" y="5693551"/>
            <a:ext cx="521069" cy="178098"/>
          </a:xfrm>
          <a:prstGeom prst="roundRect">
            <a:avLst>
              <a:gd name="adj" fmla="val 6167"/>
            </a:avLst>
          </a:prstGeom>
          <a:solidFill>
            <a:srgbClr val="FFC000"/>
          </a:solidFill>
          <a:ln w="12700" cap="flat" cmpd="sng" algn="ctr">
            <a:solidFill>
              <a:srgbClr val="00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lang="en-US" altLang="ja-JP" sz="1000" b="0">
                <a:latin typeface="+mn-ea"/>
              </a:rPr>
              <a:t>PSDK</a:t>
            </a:r>
            <a:endParaRPr kumimoji="1" lang="ja-JP" altLang="en-US" sz="1000" b="0" i="0" u="none" strike="noStrike" cap="none" normalizeH="0" baseline="0">
              <a:ln>
                <a:noFill/>
              </a:ln>
              <a:solidFill>
                <a:schemeClr val="tx1"/>
              </a:solidFill>
              <a:effectLst/>
              <a:latin typeface="+mn-ea"/>
              <a:ea typeface="+mn-ea"/>
            </a:endParaRPr>
          </a:p>
        </p:txBody>
      </p:sp>
      <p:sp>
        <p:nvSpPr>
          <p:cNvPr id="25" name="テキスト ボックス 24">
            <a:extLst>
              <a:ext uri="{FF2B5EF4-FFF2-40B4-BE49-F238E27FC236}">
                <a16:creationId xmlns:a16="http://schemas.microsoft.com/office/drawing/2014/main" id="{CB23AB5D-EACA-FD21-A1DC-07F027AAD10E}"/>
              </a:ext>
            </a:extLst>
          </p:cNvPr>
          <p:cNvSpPr txBox="1"/>
          <p:nvPr/>
        </p:nvSpPr>
        <p:spPr>
          <a:xfrm>
            <a:off x="5839689" y="5201867"/>
            <a:ext cx="540000" cy="456220"/>
          </a:xfrm>
          <a:prstGeom prst="rect">
            <a:avLst/>
          </a:prstGeom>
          <a:noFill/>
          <a:ln w="12700" cap="flat" cmpd="sng" algn="ctr">
            <a:solidFill>
              <a:schemeClr val="bg2"/>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defPPr>
              <a:defRPr lang="ja-JP"/>
            </a:defPPr>
            <a:lvl1pPr marR="0" indent="0" algn="just" defTabSz="742950" fontAlgn="base">
              <a:lnSpc>
                <a:spcPts val="2100"/>
              </a:lnSpc>
              <a:spcBef>
                <a:spcPct val="0"/>
              </a:spcBef>
              <a:spcAft>
                <a:spcPct val="0"/>
              </a:spcAft>
              <a:buClrTx/>
              <a:buSzTx/>
              <a:buFontTx/>
              <a:buNone/>
              <a:tabLst/>
              <a:defRPr b="0" i="0" u="none" strike="noStrike" cap="none" normalizeH="0" baseline="0">
                <a:ln>
                  <a:noFill/>
                </a:ln>
                <a:effectLst/>
                <a:latin typeface="+mj-ea"/>
                <a:ea typeface="+mj-ea"/>
              </a:defRPr>
            </a:lvl1pPr>
          </a:lstStyle>
          <a:p>
            <a:pPr algn="ctr">
              <a:lnSpc>
                <a:spcPct val="100000"/>
              </a:lnSpc>
            </a:pPr>
            <a:r>
              <a:rPr lang="ja-JP" altLang="en-US" sz="1000"/>
              <a:t>現行</a:t>
            </a:r>
            <a:endParaRPr lang="en-US" altLang="ja-JP" sz="1000"/>
          </a:p>
          <a:p>
            <a:pPr algn="ctr">
              <a:lnSpc>
                <a:spcPct val="100000"/>
              </a:lnSpc>
            </a:pPr>
            <a:r>
              <a:rPr lang="en-US" altLang="ja-JP" sz="1000"/>
              <a:t>CTI</a:t>
            </a:r>
            <a:r>
              <a:rPr lang="ja-JP" altLang="en-US" sz="1000"/>
              <a:t>基盤</a:t>
            </a:r>
          </a:p>
        </p:txBody>
      </p:sp>
      <p:sp>
        <p:nvSpPr>
          <p:cNvPr id="26" name="テキスト ボックス 25">
            <a:extLst>
              <a:ext uri="{FF2B5EF4-FFF2-40B4-BE49-F238E27FC236}">
                <a16:creationId xmlns:a16="http://schemas.microsoft.com/office/drawing/2014/main" id="{81E3BB55-4326-D20B-7C33-7E0D85DE6741}"/>
              </a:ext>
            </a:extLst>
          </p:cNvPr>
          <p:cNvSpPr txBox="1"/>
          <p:nvPr/>
        </p:nvSpPr>
        <p:spPr>
          <a:xfrm>
            <a:off x="5839689" y="5719856"/>
            <a:ext cx="540000" cy="562011"/>
          </a:xfrm>
          <a:prstGeom prst="rect">
            <a:avLst/>
          </a:prstGeom>
          <a:solidFill>
            <a:schemeClr val="bg1">
              <a:lumMod val="50000"/>
            </a:schemeClr>
          </a:solidFill>
          <a:ln w="12700" cap="flat" cmpd="sng" algn="ctr">
            <a:solidFill>
              <a:schemeClr val="bg2"/>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defPPr>
              <a:defRPr lang="ja-JP"/>
            </a:defPPr>
            <a:lvl1pPr marR="0" indent="0" algn="just" defTabSz="742950" fontAlgn="base">
              <a:lnSpc>
                <a:spcPts val="2100"/>
              </a:lnSpc>
              <a:spcBef>
                <a:spcPct val="0"/>
              </a:spcBef>
              <a:spcAft>
                <a:spcPct val="0"/>
              </a:spcAft>
              <a:buClrTx/>
              <a:buSzTx/>
              <a:buFontTx/>
              <a:buNone/>
              <a:tabLst/>
              <a:defRPr b="0" i="0" u="none" strike="noStrike" cap="none" normalizeH="0" baseline="0">
                <a:ln>
                  <a:noFill/>
                </a:ln>
                <a:effectLst/>
                <a:latin typeface="+mj-ea"/>
                <a:ea typeface="+mj-ea"/>
              </a:defRPr>
            </a:lvl1pPr>
          </a:lstStyle>
          <a:p>
            <a:pPr algn="ctr">
              <a:lnSpc>
                <a:spcPct val="100000"/>
              </a:lnSpc>
            </a:pPr>
            <a:r>
              <a:rPr lang="ja-JP" altLang="en-US" sz="1000"/>
              <a:t>次期</a:t>
            </a:r>
            <a:endParaRPr lang="en-US" altLang="ja-JP" sz="1000"/>
          </a:p>
          <a:p>
            <a:pPr algn="ctr">
              <a:lnSpc>
                <a:spcPct val="100000"/>
              </a:lnSpc>
            </a:pPr>
            <a:r>
              <a:rPr lang="en-US" altLang="ja-JP" sz="1000"/>
              <a:t>CTI</a:t>
            </a:r>
            <a:r>
              <a:rPr lang="ja-JP" altLang="en-US" sz="1000"/>
              <a:t>基盤</a:t>
            </a:r>
            <a:endParaRPr lang="en-US" altLang="ja-JP" sz="1000"/>
          </a:p>
          <a:p>
            <a:pPr algn="ctr">
              <a:lnSpc>
                <a:spcPct val="100000"/>
              </a:lnSpc>
            </a:pPr>
            <a:r>
              <a:rPr lang="ja-JP" altLang="en-US" sz="1000"/>
              <a:t>（構築中）</a:t>
            </a:r>
          </a:p>
        </p:txBody>
      </p:sp>
      <p:cxnSp>
        <p:nvCxnSpPr>
          <p:cNvPr id="27" name="直線矢印コネクタ 26">
            <a:extLst>
              <a:ext uri="{FF2B5EF4-FFF2-40B4-BE49-F238E27FC236}">
                <a16:creationId xmlns:a16="http://schemas.microsoft.com/office/drawing/2014/main" id="{49C02EF6-BE6A-96E3-79BE-5A654D6BA3C2}"/>
              </a:ext>
            </a:extLst>
          </p:cNvPr>
          <p:cNvCxnSpPr>
            <a:stCxn id="24" idx="3"/>
            <a:endCxn id="22" idx="1"/>
          </p:cNvCxnSpPr>
          <p:nvPr/>
        </p:nvCxnSpPr>
        <p:spPr bwMode="auto">
          <a:xfrm flipV="1">
            <a:off x="2973533" y="5429977"/>
            <a:ext cx="342372" cy="352623"/>
          </a:xfrm>
          <a:prstGeom prst="straightConnector1">
            <a:avLst/>
          </a:prstGeom>
          <a:ln w="19050" cap="flat" cmpd="sng" algn="ctr">
            <a:solidFill>
              <a:srgbClr val="0000FF"/>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8" name="テキスト ボックス 27">
            <a:extLst>
              <a:ext uri="{FF2B5EF4-FFF2-40B4-BE49-F238E27FC236}">
                <a16:creationId xmlns:a16="http://schemas.microsoft.com/office/drawing/2014/main" id="{2AC88BD9-FA6D-54DB-D0F2-BD9180F4F39D}"/>
              </a:ext>
            </a:extLst>
          </p:cNvPr>
          <p:cNvSpPr txBox="1"/>
          <p:nvPr/>
        </p:nvSpPr>
        <p:spPr>
          <a:xfrm>
            <a:off x="8835522" y="5201867"/>
            <a:ext cx="540000" cy="456220"/>
          </a:xfrm>
          <a:prstGeom prst="rect">
            <a:avLst/>
          </a:prstGeom>
          <a:solidFill>
            <a:schemeClr val="bg1">
              <a:lumMod val="50000"/>
            </a:schemeClr>
          </a:solidFill>
          <a:ln w="12700" cap="flat" cmpd="sng" algn="ctr">
            <a:solidFill>
              <a:schemeClr val="bg2"/>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defPPr>
              <a:defRPr lang="ja-JP"/>
            </a:defPPr>
            <a:lvl1pPr marR="0" indent="0" algn="just" defTabSz="742950" fontAlgn="base">
              <a:lnSpc>
                <a:spcPts val="2100"/>
              </a:lnSpc>
              <a:spcBef>
                <a:spcPct val="0"/>
              </a:spcBef>
              <a:spcAft>
                <a:spcPct val="0"/>
              </a:spcAft>
              <a:buClrTx/>
              <a:buSzTx/>
              <a:buFontTx/>
              <a:buNone/>
              <a:tabLst/>
              <a:defRPr b="0" i="0" u="none" strike="noStrike" cap="none" normalizeH="0" baseline="0">
                <a:ln>
                  <a:noFill/>
                </a:ln>
                <a:effectLst/>
                <a:latin typeface="+mj-ea"/>
                <a:ea typeface="+mj-ea"/>
              </a:defRPr>
            </a:lvl1pPr>
          </a:lstStyle>
          <a:p>
            <a:pPr algn="ctr">
              <a:lnSpc>
                <a:spcPct val="100000"/>
              </a:lnSpc>
            </a:pPr>
            <a:r>
              <a:rPr lang="ja-JP" altLang="en-US" sz="1000"/>
              <a:t>現行</a:t>
            </a:r>
            <a:endParaRPr lang="en-US" altLang="ja-JP" sz="1000"/>
          </a:p>
          <a:p>
            <a:pPr algn="ctr">
              <a:lnSpc>
                <a:spcPct val="100000"/>
              </a:lnSpc>
            </a:pPr>
            <a:r>
              <a:rPr lang="en-US" altLang="ja-JP" sz="1000"/>
              <a:t>CTI</a:t>
            </a:r>
            <a:r>
              <a:rPr lang="ja-JP" altLang="en-US" sz="1000"/>
              <a:t>基盤</a:t>
            </a:r>
          </a:p>
        </p:txBody>
      </p:sp>
      <p:sp>
        <p:nvSpPr>
          <p:cNvPr id="29" name="テキスト ボックス 28">
            <a:extLst>
              <a:ext uri="{FF2B5EF4-FFF2-40B4-BE49-F238E27FC236}">
                <a16:creationId xmlns:a16="http://schemas.microsoft.com/office/drawing/2014/main" id="{658EC0BB-0678-9DBA-4A46-5626575B8C88}"/>
              </a:ext>
            </a:extLst>
          </p:cNvPr>
          <p:cNvSpPr txBox="1"/>
          <p:nvPr/>
        </p:nvSpPr>
        <p:spPr>
          <a:xfrm>
            <a:off x="8835522" y="5719855"/>
            <a:ext cx="540000" cy="562012"/>
          </a:xfrm>
          <a:prstGeom prst="rect">
            <a:avLst/>
          </a:prstGeom>
          <a:solidFill>
            <a:schemeClr val="bg1"/>
          </a:solidFill>
          <a:ln w="12700" cap="flat" cmpd="sng" algn="ctr">
            <a:solidFill>
              <a:schemeClr val="bg2"/>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defPPr>
              <a:defRPr lang="ja-JP"/>
            </a:defPPr>
            <a:lvl1pPr marR="0" indent="0" algn="just" defTabSz="742950" fontAlgn="base">
              <a:lnSpc>
                <a:spcPts val="2100"/>
              </a:lnSpc>
              <a:spcBef>
                <a:spcPct val="0"/>
              </a:spcBef>
              <a:spcAft>
                <a:spcPct val="0"/>
              </a:spcAft>
              <a:buClrTx/>
              <a:buSzTx/>
              <a:buFontTx/>
              <a:buNone/>
              <a:tabLst/>
              <a:defRPr b="0" i="0" u="none" strike="noStrike" cap="none" normalizeH="0" baseline="0">
                <a:ln>
                  <a:noFill/>
                </a:ln>
                <a:effectLst/>
                <a:latin typeface="+mj-ea"/>
                <a:ea typeface="+mj-ea"/>
              </a:defRPr>
            </a:lvl1pPr>
          </a:lstStyle>
          <a:p>
            <a:pPr algn="ctr">
              <a:lnSpc>
                <a:spcPct val="100000"/>
              </a:lnSpc>
            </a:pPr>
            <a:r>
              <a:rPr lang="ja-JP" altLang="en-US" sz="1000"/>
              <a:t>次期</a:t>
            </a:r>
            <a:endParaRPr lang="en-US" altLang="ja-JP" sz="1000"/>
          </a:p>
          <a:p>
            <a:pPr algn="ctr">
              <a:lnSpc>
                <a:spcPct val="100000"/>
              </a:lnSpc>
            </a:pPr>
            <a:r>
              <a:rPr lang="en-US" altLang="ja-JP" sz="1000"/>
              <a:t>CTI</a:t>
            </a:r>
            <a:r>
              <a:rPr lang="ja-JP" altLang="en-US" sz="1000"/>
              <a:t>基盤</a:t>
            </a:r>
            <a:endParaRPr lang="en-US" altLang="ja-JP" sz="1000"/>
          </a:p>
        </p:txBody>
      </p:sp>
      <p:sp>
        <p:nvSpPr>
          <p:cNvPr id="30" name="正方形/長方形 29">
            <a:extLst>
              <a:ext uri="{FF2B5EF4-FFF2-40B4-BE49-F238E27FC236}">
                <a16:creationId xmlns:a16="http://schemas.microsoft.com/office/drawing/2014/main" id="{79CA2FD7-0D2D-ED07-9EF0-0820FD31911E}"/>
              </a:ext>
            </a:extLst>
          </p:cNvPr>
          <p:cNvSpPr/>
          <p:nvPr/>
        </p:nvSpPr>
        <p:spPr bwMode="auto">
          <a:xfrm>
            <a:off x="2151424" y="4822922"/>
            <a:ext cx="1793003" cy="273459"/>
          </a:xfrm>
          <a:prstGeom prst="rect">
            <a:avLst/>
          </a:prstGeom>
          <a:solidFill>
            <a:srgbClr val="0072CE"/>
          </a:solidFill>
          <a:ln w="9525" cap="flat" cmpd="sng" algn="ctr">
            <a:solidFill>
              <a:srgbClr val="0072CE"/>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200" b="0" i="0" u="none" strike="noStrike" cap="none" normalizeH="0" baseline="0">
                <a:ln>
                  <a:noFill/>
                </a:ln>
                <a:solidFill>
                  <a:schemeClr val="bg1"/>
                </a:solidFill>
                <a:effectLst/>
                <a:latin typeface="+mn-ea"/>
                <a:ea typeface="+mn-ea"/>
                <a:cs typeface="Meiryo UI" panose="020B0604030504040204" pitchFamily="50" charset="-128"/>
              </a:rPr>
              <a:t>構成①：現状</a:t>
            </a:r>
          </a:p>
        </p:txBody>
      </p:sp>
      <p:sp>
        <p:nvSpPr>
          <p:cNvPr id="31" name="正方形/長方形 30">
            <a:extLst>
              <a:ext uri="{FF2B5EF4-FFF2-40B4-BE49-F238E27FC236}">
                <a16:creationId xmlns:a16="http://schemas.microsoft.com/office/drawing/2014/main" id="{C02D130B-2F22-11D8-5A1F-C300F2E9C58F}"/>
              </a:ext>
            </a:extLst>
          </p:cNvPr>
          <p:cNvSpPr/>
          <p:nvPr/>
        </p:nvSpPr>
        <p:spPr bwMode="auto">
          <a:xfrm>
            <a:off x="4069734" y="4822922"/>
            <a:ext cx="2723401" cy="273459"/>
          </a:xfrm>
          <a:prstGeom prst="rect">
            <a:avLst/>
          </a:prstGeom>
          <a:solidFill>
            <a:srgbClr val="0072CE"/>
          </a:solidFill>
          <a:ln w="9525" cap="flat" cmpd="sng" algn="ctr">
            <a:solidFill>
              <a:srgbClr val="0072CE"/>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200" b="0" i="0" u="none" strike="noStrike" cap="none" normalizeH="0" baseline="0">
                <a:ln>
                  <a:noFill/>
                </a:ln>
                <a:solidFill>
                  <a:schemeClr val="bg1"/>
                </a:solidFill>
                <a:effectLst/>
                <a:latin typeface="+mn-ea"/>
                <a:ea typeface="+mn-ea"/>
                <a:cs typeface="Meiryo UI" panose="020B0604030504040204" pitchFamily="50" charset="-128"/>
              </a:rPr>
              <a:t>構成</a:t>
            </a:r>
            <a:r>
              <a:rPr lang="ja-JP" altLang="en-US" sz="1200" b="0">
                <a:solidFill>
                  <a:schemeClr val="bg1"/>
                </a:solidFill>
                <a:latin typeface="+mn-ea"/>
                <a:ea typeface="+mn-ea"/>
                <a:cs typeface="Meiryo UI" panose="020B0604030504040204" pitchFamily="50" charset="-128"/>
              </a:rPr>
              <a:t>②</a:t>
            </a:r>
            <a:r>
              <a:rPr kumimoji="1" lang="ja-JP" altLang="en-US" sz="1200" b="0" i="0" u="none" strike="noStrike" cap="none" normalizeH="0" baseline="0">
                <a:ln>
                  <a:noFill/>
                </a:ln>
                <a:solidFill>
                  <a:schemeClr val="bg1"/>
                </a:solidFill>
                <a:effectLst/>
                <a:latin typeface="+mn-ea"/>
                <a:ea typeface="+mn-ea"/>
                <a:cs typeface="Meiryo UI" panose="020B0604030504040204" pitchFamily="50" charset="-128"/>
              </a:rPr>
              <a:t>：</a:t>
            </a:r>
            <a:r>
              <a:rPr kumimoji="1" lang="en-US" altLang="ja-JP" sz="1200" b="0" i="0" u="none" strike="noStrike" cap="none" normalizeH="0" baseline="0">
                <a:ln>
                  <a:noFill/>
                </a:ln>
                <a:solidFill>
                  <a:schemeClr val="bg1"/>
                </a:solidFill>
                <a:effectLst/>
                <a:latin typeface="+mn-ea"/>
                <a:ea typeface="+mn-ea"/>
                <a:cs typeface="Meiryo UI" panose="020B0604030504040204" pitchFamily="50" charset="-128"/>
              </a:rPr>
              <a:t>Win11</a:t>
            </a:r>
            <a:r>
              <a:rPr kumimoji="1" lang="ja-JP" altLang="en-US" sz="1200" b="0" i="0" u="none" strike="noStrike" cap="none" normalizeH="0" baseline="0">
                <a:ln>
                  <a:noFill/>
                </a:ln>
                <a:solidFill>
                  <a:schemeClr val="bg1"/>
                </a:solidFill>
                <a:effectLst/>
                <a:latin typeface="+mn-ea"/>
                <a:ea typeface="+mn-ea"/>
                <a:cs typeface="Meiryo UI" panose="020B0604030504040204" pitchFamily="50" charset="-128"/>
              </a:rPr>
              <a:t>化アプリ移行</a:t>
            </a:r>
          </a:p>
        </p:txBody>
      </p:sp>
      <p:sp>
        <p:nvSpPr>
          <p:cNvPr id="32" name="正方形/長方形 31">
            <a:extLst>
              <a:ext uri="{FF2B5EF4-FFF2-40B4-BE49-F238E27FC236}">
                <a16:creationId xmlns:a16="http://schemas.microsoft.com/office/drawing/2014/main" id="{A48BBEB4-5616-6A99-922C-5F1BF65D49C4}"/>
              </a:ext>
            </a:extLst>
          </p:cNvPr>
          <p:cNvSpPr/>
          <p:nvPr/>
        </p:nvSpPr>
        <p:spPr bwMode="auto">
          <a:xfrm>
            <a:off x="6937357" y="4822922"/>
            <a:ext cx="2723401" cy="273459"/>
          </a:xfrm>
          <a:prstGeom prst="rect">
            <a:avLst/>
          </a:prstGeom>
          <a:solidFill>
            <a:srgbClr val="0072CE"/>
          </a:solidFill>
          <a:ln w="9525" cap="flat" cmpd="sng" algn="ctr">
            <a:solidFill>
              <a:srgbClr val="0072CE"/>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200" b="0" i="0" u="none" strike="noStrike" cap="none" normalizeH="0" baseline="0">
                <a:ln>
                  <a:noFill/>
                </a:ln>
                <a:solidFill>
                  <a:schemeClr val="bg1"/>
                </a:solidFill>
                <a:effectLst/>
                <a:latin typeface="+mn-ea"/>
                <a:ea typeface="+mn-ea"/>
                <a:cs typeface="Meiryo UI" panose="020B0604030504040204" pitchFamily="50" charset="-128"/>
              </a:rPr>
              <a:t>構成③：</a:t>
            </a:r>
            <a:r>
              <a:rPr kumimoji="1" lang="en-US" altLang="ja-JP" sz="1200" b="0" i="0" u="none" strike="noStrike" cap="none" normalizeH="0" baseline="0">
                <a:ln>
                  <a:noFill/>
                </a:ln>
                <a:solidFill>
                  <a:schemeClr val="bg1"/>
                </a:solidFill>
                <a:effectLst/>
                <a:latin typeface="+mn-ea"/>
                <a:ea typeface="+mn-ea"/>
                <a:cs typeface="Meiryo UI" panose="020B0604030504040204" pitchFamily="50" charset="-128"/>
              </a:rPr>
              <a:t>CTI</a:t>
            </a:r>
            <a:r>
              <a:rPr kumimoji="1" lang="ja-JP" altLang="en-US" sz="1200" b="0" i="0" u="none" strike="noStrike" cap="none" normalizeH="0" baseline="0">
                <a:ln>
                  <a:noFill/>
                </a:ln>
                <a:solidFill>
                  <a:schemeClr val="bg1"/>
                </a:solidFill>
                <a:effectLst/>
                <a:latin typeface="+mn-ea"/>
                <a:ea typeface="+mn-ea"/>
                <a:cs typeface="Meiryo UI" panose="020B0604030504040204" pitchFamily="50" charset="-128"/>
              </a:rPr>
              <a:t>基盤更改移行</a:t>
            </a:r>
          </a:p>
        </p:txBody>
      </p:sp>
      <p:sp>
        <p:nvSpPr>
          <p:cNvPr id="33" name="テキスト ボックス 32">
            <a:extLst>
              <a:ext uri="{FF2B5EF4-FFF2-40B4-BE49-F238E27FC236}">
                <a16:creationId xmlns:a16="http://schemas.microsoft.com/office/drawing/2014/main" id="{9FFC9E2F-F1FC-9F84-3DD5-314E1E0C3824}"/>
              </a:ext>
            </a:extLst>
          </p:cNvPr>
          <p:cNvSpPr txBox="1"/>
          <p:nvPr/>
        </p:nvSpPr>
        <p:spPr>
          <a:xfrm>
            <a:off x="4519117" y="2657110"/>
            <a:ext cx="2619102" cy="276999"/>
          </a:xfrm>
          <a:prstGeom prst="rect">
            <a:avLst/>
          </a:prstGeom>
          <a:noFill/>
        </p:spPr>
        <p:txBody>
          <a:bodyPr wrap="square" rtlCol="0">
            <a:spAutoFit/>
          </a:bodyPr>
          <a:lstStyle/>
          <a:p>
            <a:pPr algn="l"/>
            <a:r>
              <a:rPr kumimoji="1" lang="ja-JP" altLang="en-US" sz="1200" b="0">
                <a:latin typeface="+mn-ea"/>
                <a:ea typeface="+mn-ea"/>
                <a:cs typeface="Meiryo UI" panose="020B0604030504040204" pitchFamily="50" charset="-128"/>
              </a:rPr>
              <a:t>現行</a:t>
            </a:r>
            <a:r>
              <a:rPr kumimoji="1" lang="en-US" altLang="ja-JP" sz="1200" b="0">
                <a:latin typeface="+mn-ea"/>
                <a:ea typeface="+mn-ea"/>
                <a:cs typeface="Meiryo UI" panose="020B0604030504040204" pitchFamily="50" charset="-128"/>
              </a:rPr>
              <a:t>Win10</a:t>
            </a:r>
            <a:r>
              <a:rPr kumimoji="1" lang="ja-JP" altLang="en-US" sz="1200" b="0">
                <a:latin typeface="+mn-ea"/>
                <a:ea typeface="+mn-ea"/>
                <a:cs typeface="Meiryo UI" panose="020B0604030504040204" pitchFamily="50" charset="-128"/>
              </a:rPr>
              <a:t>サポート期限</a:t>
            </a:r>
            <a:r>
              <a:rPr lang="ja-JP" altLang="en-US" sz="1200" b="0">
                <a:latin typeface="+mn-ea"/>
                <a:ea typeface="+mn-ea"/>
                <a:cs typeface="Meiryo UI" panose="020B0604030504040204" pitchFamily="50" charset="-128"/>
              </a:rPr>
              <a:t>　</a:t>
            </a:r>
            <a:r>
              <a:rPr kumimoji="1" lang="en-US" altLang="ja-JP" sz="1200" b="0">
                <a:latin typeface="+mn-ea"/>
                <a:ea typeface="+mn-ea"/>
                <a:cs typeface="Meiryo UI" panose="020B0604030504040204" pitchFamily="50" charset="-128"/>
              </a:rPr>
              <a:t>2</a:t>
            </a:r>
            <a:r>
              <a:rPr kumimoji="1" lang="ja-JP" altLang="en-US" sz="1200" b="0">
                <a:latin typeface="+mn-ea"/>
                <a:ea typeface="+mn-ea"/>
                <a:cs typeface="Meiryo UI" panose="020B0604030504040204" pitchFamily="50" charset="-128"/>
              </a:rPr>
              <a:t>年延長</a:t>
            </a:r>
            <a:r>
              <a:rPr lang="ja-JP" altLang="en-US" sz="1200" b="0">
                <a:latin typeface="+mn-ea"/>
                <a:ea typeface="+mn-ea"/>
                <a:cs typeface="Meiryo UI" panose="020B0604030504040204" pitchFamily="50" charset="-128"/>
              </a:rPr>
              <a:t>▲</a:t>
            </a:r>
            <a:endParaRPr kumimoji="1" lang="ja-JP" altLang="en-US" sz="1200" b="0">
              <a:latin typeface="+mn-ea"/>
              <a:ea typeface="+mn-ea"/>
              <a:cs typeface="Meiryo UI" panose="020B0604030504040204" pitchFamily="50" charset="-128"/>
            </a:endParaRPr>
          </a:p>
        </p:txBody>
      </p:sp>
      <p:sp>
        <p:nvSpPr>
          <p:cNvPr id="34" name="テキスト ボックス 33">
            <a:extLst>
              <a:ext uri="{FF2B5EF4-FFF2-40B4-BE49-F238E27FC236}">
                <a16:creationId xmlns:a16="http://schemas.microsoft.com/office/drawing/2014/main" id="{AEBF3950-9D47-CCDE-8420-376C2FC690F7}"/>
              </a:ext>
            </a:extLst>
          </p:cNvPr>
          <p:cNvSpPr txBox="1"/>
          <p:nvPr/>
        </p:nvSpPr>
        <p:spPr>
          <a:xfrm>
            <a:off x="5180084" y="2906673"/>
            <a:ext cx="2619102" cy="276999"/>
          </a:xfrm>
          <a:prstGeom prst="rect">
            <a:avLst/>
          </a:prstGeom>
          <a:noFill/>
        </p:spPr>
        <p:txBody>
          <a:bodyPr wrap="square" rtlCol="0">
            <a:spAutoFit/>
          </a:bodyPr>
          <a:lstStyle/>
          <a:p>
            <a:pPr algn="r"/>
            <a:r>
              <a:rPr kumimoji="1" lang="ja-JP" altLang="en-US" sz="1200" b="0">
                <a:latin typeface="+mn-ea"/>
                <a:ea typeface="+mn-ea"/>
                <a:cs typeface="Meiryo UI" panose="020B0604030504040204" pitchFamily="50" charset="-128"/>
              </a:rPr>
              <a:t>現行</a:t>
            </a:r>
            <a:r>
              <a:rPr kumimoji="1" lang="en-US" altLang="ja-JP" sz="1200" b="0">
                <a:latin typeface="+mn-ea"/>
                <a:ea typeface="+mn-ea"/>
                <a:cs typeface="Meiryo UI" panose="020B0604030504040204" pitchFamily="50" charset="-128"/>
              </a:rPr>
              <a:t>CTI</a:t>
            </a:r>
            <a:r>
              <a:rPr kumimoji="1" lang="ja-JP" altLang="en-US" sz="1200" b="0">
                <a:latin typeface="+mn-ea"/>
                <a:ea typeface="+mn-ea"/>
                <a:cs typeface="Meiryo UI" panose="020B0604030504040204" pitchFamily="50" charset="-128"/>
              </a:rPr>
              <a:t>基盤保守期限</a:t>
            </a:r>
            <a:r>
              <a:rPr kumimoji="1" lang="en-US" altLang="ja-JP" sz="1200" b="0">
                <a:latin typeface="+mn-ea"/>
                <a:ea typeface="+mn-ea"/>
                <a:cs typeface="Meiryo UI" panose="020B0604030504040204" pitchFamily="50" charset="-128"/>
              </a:rPr>
              <a:t>(2028/2)</a:t>
            </a:r>
            <a:r>
              <a:rPr kumimoji="1" lang="ja-JP" altLang="en-US" sz="1200" b="0">
                <a:latin typeface="+mn-ea"/>
                <a:ea typeface="+mn-ea"/>
                <a:cs typeface="Meiryo UI" panose="020B0604030504040204" pitchFamily="50" charset="-128"/>
              </a:rPr>
              <a:t>▲</a:t>
            </a:r>
          </a:p>
        </p:txBody>
      </p:sp>
      <p:sp>
        <p:nvSpPr>
          <p:cNvPr id="35" name="テキスト ボックス 34">
            <a:extLst>
              <a:ext uri="{FF2B5EF4-FFF2-40B4-BE49-F238E27FC236}">
                <a16:creationId xmlns:a16="http://schemas.microsoft.com/office/drawing/2014/main" id="{49D1539A-9FC4-4324-309C-487F244F6964}"/>
              </a:ext>
            </a:extLst>
          </p:cNvPr>
          <p:cNvSpPr txBox="1"/>
          <p:nvPr/>
        </p:nvSpPr>
        <p:spPr>
          <a:xfrm>
            <a:off x="7419437" y="2657110"/>
            <a:ext cx="1564487" cy="276999"/>
          </a:xfrm>
          <a:prstGeom prst="rect">
            <a:avLst/>
          </a:prstGeom>
          <a:noFill/>
        </p:spPr>
        <p:txBody>
          <a:bodyPr wrap="square" rtlCol="0">
            <a:spAutoFit/>
          </a:bodyPr>
          <a:lstStyle/>
          <a:p>
            <a:pPr algn="r"/>
            <a:r>
              <a:rPr kumimoji="1" lang="en-US" altLang="ja-JP" sz="1200" b="0">
                <a:latin typeface="+mn-ea"/>
                <a:ea typeface="+mn-ea"/>
                <a:cs typeface="Meiryo UI" panose="020B0604030504040204" pitchFamily="50" charset="-128"/>
              </a:rPr>
              <a:t>3</a:t>
            </a:r>
            <a:r>
              <a:rPr kumimoji="1" lang="ja-JP" altLang="en-US" sz="1200" b="0">
                <a:latin typeface="+mn-ea"/>
                <a:ea typeface="+mn-ea"/>
                <a:cs typeface="Meiryo UI" panose="020B0604030504040204" pitchFamily="50" charset="-128"/>
              </a:rPr>
              <a:t>年延長</a:t>
            </a:r>
            <a:r>
              <a:rPr kumimoji="1" lang="en-US" altLang="ja-JP" sz="1200" b="0">
                <a:latin typeface="+mn-ea"/>
                <a:ea typeface="+mn-ea"/>
                <a:cs typeface="Meiryo UI" panose="020B0604030504040204" pitchFamily="50" charset="-128"/>
              </a:rPr>
              <a:t>(</a:t>
            </a:r>
            <a:r>
              <a:rPr lang="ja-JP" altLang="en-US" sz="1200" b="0">
                <a:latin typeface="+mn-ea"/>
                <a:ea typeface="+mn-ea"/>
                <a:cs typeface="Meiryo UI" panose="020B0604030504040204" pitchFamily="50" charset="-128"/>
              </a:rPr>
              <a:t>最大</a:t>
            </a:r>
            <a:r>
              <a:rPr lang="en-US" altLang="ja-JP" sz="1200" b="0">
                <a:latin typeface="+mn-ea"/>
                <a:ea typeface="+mn-ea"/>
                <a:cs typeface="Meiryo UI" panose="020B0604030504040204" pitchFamily="50" charset="-128"/>
              </a:rPr>
              <a:t>)</a:t>
            </a:r>
            <a:r>
              <a:rPr lang="ja-JP" altLang="en-US" sz="1200" b="0">
                <a:latin typeface="+mn-ea"/>
                <a:ea typeface="+mn-ea"/>
                <a:cs typeface="Meiryo UI" panose="020B0604030504040204" pitchFamily="50" charset="-128"/>
              </a:rPr>
              <a:t>▲</a:t>
            </a:r>
            <a:endParaRPr kumimoji="1" lang="ja-JP" altLang="en-US" sz="1200" b="0">
              <a:latin typeface="+mn-ea"/>
              <a:ea typeface="+mn-ea"/>
              <a:cs typeface="Meiryo UI" panose="020B0604030504040204" pitchFamily="50" charset="-128"/>
            </a:endParaRPr>
          </a:p>
        </p:txBody>
      </p:sp>
      <p:sp>
        <p:nvSpPr>
          <p:cNvPr id="36" name="矢印: 五方向 35">
            <a:extLst>
              <a:ext uri="{FF2B5EF4-FFF2-40B4-BE49-F238E27FC236}">
                <a16:creationId xmlns:a16="http://schemas.microsoft.com/office/drawing/2014/main" id="{9B40178F-8DD4-49CA-E4BC-0A318EF78620}"/>
              </a:ext>
            </a:extLst>
          </p:cNvPr>
          <p:cNvSpPr/>
          <p:nvPr/>
        </p:nvSpPr>
        <p:spPr bwMode="auto">
          <a:xfrm>
            <a:off x="2148065" y="3270302"/>
            <a:ext cx="825468" cy="358333"/>
          </a:xfrm>
          <a:prstGeom prst="homePlate">
            <a:avLst>
              <a:gd name="adj" fmla="val 15553"/>
            </a:avLst>
          </a:prstGeom>
          <a:solidFill>
            <a:srgbClr val="CCEC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742950"/>
            <a:r>
              <a:rPr lang="ja-JP" altLang="en-US" sz="1200" b="0">
                <a:solidFill>
                  <a:srgbClr val="000000"/>
                </a:solidFill>
                <a:latin typeface="Meiryo UI" panose="020B0604030504040204" pitchFamily="50" charset="-128"/>
                <a:ea typeface="Meiryo UI" panose="020B0604030504040204" pitchFamily="50" charset="-128"/>
              </a:rPr>
              <a:t>フィジビリティ検証</a:t>
            </a:r>
            <a:endParaRPr lang="en-US" altLang="ja-JP" sz="1200" b="0">
              <a:solidFill>
                <a:srgbClr val="000000"/>
              </a:solidFill>
              <a:latin typeface="Meiryo UI" panose="020B0604030504040204" pitchFamily="50" charset="-128"/>
              <a:ea typeface="Meiryo UI" panose="020B0604030504040204" pitchFamily="50" charset="-128"/>
            </a:endParaRPr>
          </a:p>
          <a:p>
            <a:pPr algn="ctr" defTabSz="742950"/>
            <a:r>
              <a:rPr lang="ja-JP" altLang="en-US" sz="1200" b="0">
                <a:solidFill>
                  <a:srgbClr val="000000"/>
                </a:solidFill>
                <a:latin typeface="Meiryo UI" panose="020B0604030504040204" pitchFamily="50" charset="-128"/>
                <a:ea typeface="Meiryo UI" panose="020B0604030504040204" pitchFamily="50" charset="-128"/>
              </a:rPr>
              <a:t>／開発準備</a:t>
            </a:r>
          </a:p>
        </p:txBody>
      </p:sp>
      <p:cxnSp>
        <p:nvCxnSpPr>
          <p:cNvPr id="37" name="直線コネクタ 36">
            <a:extLst>
              <a:ext uri="{FF2B5EF4-FFF2-40B4-BE49-F238E27FC236}">
                <a16:creationId xmlns:a16="http://schemas.microsoft.com/office/drawing/2014/main" id="{272EDDC8-7F3C-B75B-8FEB-376D5F2BA75C}"/>
              </a:ext>
            </a:extLst>
          </p:cNvPr>
          <p:cNvCxnSpPr/>
          <p:nvPr/>
        </p:nvCxnSpPr>
        <p:spPr bwMode="auto">
          <a:xfrm>
            <a:off x="6852890" y="3369082"/>
            <a:ext cx="0" cy="1305956"/>
          </a:xfrm>
          <a:prstGeom prst="line">
            <a:avLst/>
          </a:prstGeom>
          <a:solidFill>
            <a:schemeClr val="bg1"/>
          </a:solidFill>
          <a:ln w="28575" cap="flat" cmpd="sng" algn="ctr">
            <a:solidFill>
              <a:srgbClr val="0000FF"/>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コネクタ 37">
            <a:extLst>
              <a:ext uri="{FF2B5EF4-FFF2-40B4-BE49-F238E27FC236}">
                <a16:creationId xmlns:a16="http://schemas.microsoft.com/office/drawing/2014/main" id="{D8382DCA-6937-4DEB-EC06-5FEC08CF242A}"/>
              </a:ext>
            </a:extLst>
          </p:cNvPr>
          <p:cNvCxnSpPr/>
          <p:nvPr/>
        </p:nvCxnSpPr>
        <p:spPr bwMode="auto">
          <a:xfrm>
            <a:off x="5756891" y="3369082"/>
            <a:ext cx="0" cy="1305956"/>
          </a:xfrm>
          <a:prstGeom prst="line">
            <a:avLst/>
          </a:prstGeom>
          <a:solidFill>
            <a:schemeClr val="bg1"/>
          </a:solidFill>
          <a:ln w="28575" cap="flat" cmpd="sng" algn="ctr">
            <a:solidFill>
              <a:srgbClr val="0000FF"/>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テキスト ボックス 38">
            <a:extLst>
              <a:ext uri="{FF2B5EF4-FFF2-40B4-BE49-F238E27FC236}">
                <a16:creationId xmlns:a16="http://schemas.microsoft.com/office/drawing/2014/main" id="{57F83769-F3F6-8FC2-3056-15BF5FE76E2A}"/>
              </a:ext>
            </a:extLst>
          </p:cNvPr>
          <p:cNvSpPr txBox="1"/>
          <p:nvPr/>
        </p:nvSpPr>
        <p:spPr>
          <a:xfrm>
            <a:off x="4376881" y="5201868"/>
            <a:ext cx="833087" cy="1079999"/>
          </a:xfrm>
          <a:prstGeom prst="rect">
            <a:avLst/>
          </a:prstGeom>
          <a:solidFill>
            <a:schemeClr val="bg1">
              <a:lumMod val="95000"/>
            </a:schemeClr>
          </a:solidFill>
          <a:ln w="12700" cap="flat" cmpd="sng" algn="ctr">
            <a:solidFill>
              <a:schemeClr val="bg2"/>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defPPr>
              <a:defRPr lang="ja-JP"/>
            </a:defPPr>
            <a:lvl1pPr marR="0" indent="0" algn="just" defTabSz="742950" fontAlgn="base">
              <a:lnSpc>
                <a:spcPts val="2100"/>
              </a:lnSpc>
              <a:spcBef>
                <a:spcPct val="0"/>
              </a:spcBef>
              <a:spcAft>
                <a:spcPct val="0"/>
              </a:spcAft>
              <a:buClrTx/>
              <a:buSzTx/>
              <a:buFontTx/>
              <a:buNone/>
              <a:tabLst/>
              <a:defRPr b="0" i="0" u="none" strike="noStrike" cap="none" normalizeH="0" baseline="0">
                <a:ln>
                  <a:noFill/>
                </a:ln>
                <a:effectLst/>
                <a:latin typeface="+mj-ea"/>
                <a:ea typeface="+mj-ea"/>
              </a:defRPr>
            </a:lvl1pPr>
          </a:lstStyle>
          <a:p>
            <a:pPr algn="ctr">
              <a:lnSpc>
                <a:spcPct val="100000"/>
              </a:lnSpc>
            </a:pPr>
            <a:r>
              <a:rPr lang="ja-JP" altLang="en-US" sz="1000"/>
              <a:t>端末</a:t>
            </a:r>
          </a:p>
        </p:txBody>
      </p:sp>
      <p:sp>
        <p:nvSpPr>
          <p:cNvPr id="40" name="四角形: 角を丸くする 39">
            <a:extLst>
              <a:ext uri="{FF2B5EF4-FFF2-40B4-BE49-F238E27FC236}">
                <a16:creationId xmlns:a16="http://schemas.microsoft.com/office/drawing/2014/main" id="{9EC4650C-6BBE-398D-7C40-E9FBCD471514}"/>
              </a:ext>
            </a:extLst>
          </p:cNvPr>
          <p:cNvSpPr/>
          <p:nvPr/>
        </p:nvSpPr>
        <p:spPr bwMode="auto">
          <a:xfrm>
            <a:off x="4448523" y="5369638"/>
            <a:ext cx="687224" cy="540000"/>
          </a:xfrm>
          <a:prstGeom prst="roundRect">
            <a:avLst>
              <a:gd name="adj" fmla="val 6167"/>
            </a:avLst>
          </a:prstGeom>
          <a:solidFill>
            <a:srgbClr val="FFC000"/>
          </a:solidFill>
          <a:ln w="12700" cap="flat" cmpd="sng" algn="ctr">
            <a:solidFill>
              <a:schemeClr val="bg2"/>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742950" rtl="0" eaLnBrk="1" fontAlgn="base" latinLnBrk="0" hangingPunct="1">
              <a:lnSpc>
                <a:spcPts val="1300"/>
              </a:lnSpc>
              <a:spcBef>
                <a:spcPct val="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n-ea"/>
                <a:ea typeface="+mn-ea"/>
              </a:rPr>
              <a:t>CT4U</a:t>
            </a:r>
            <a:br>
              <a:rPr kumimoji="1" lang="en-US" altLang="ja-JP" sz="1000" b="0" i="0" u="none" strike="noStrike" cap="none" normalizeH="0" baseline="0" dirty="0">
                <a:ln>
                  <a:noFill/>
                </a:ln>
                <a:solidFill>
                  <a:schemeClr val="tx1"/>
                </a:solidFill>
                <a:effectLst/>
                <a:latin typeface="+mn-ea"/>
                <a:ea typeface="+mn-ea"/>
              </a:rPr>
            </a:br>
            <a:r>
              <a:rPr kumimoji="1" lang="en-US" altLang="ja-JP" sz="1000" b="0" i="0" u="none" strike="noStrike" cap="none" normalizeH="0" baseline="0" dirty="0">
                <a:ln>
                  <a:noFill/>
                </a:ln>
                <a:solidFill>
                  <a:srgbClr val="FF0000"/>
                </a:solidFill>
                <a:effectLst/>
                <a:latin typeface="+mn-ea"/>
                <a:ea typeface="+mn-ea"/>
              </a:rPr>
              <a:t>OpenJDK</a:t>
            </a:r>
            <a:endParaRPr kumimoji="1" lang="ja-JP" altLang="en-US" sz="1000" b="0" i="0" u="none" strike="noStrike" cap="none" normalizeH="0" baseline="0" dirty="0">
              <a:ln>
                <a:noFill/>
              </a:ln>
              <a:solidFill>
                <a:srgbClr val="FF0000"/>
              </a:solidFill>
              <a:effectLst/>
              <a:latin typeface="+mn-ea"/>
              <a:ea typeface="+mn-ea"/>
            </a:endParaRPr>
          </a:p>
        </p:txBody>
      </p:sp>
      <p:sp>
        <p:nvSpPr>
          <p:cNvPr id="41" name="四角形: 角を丸くする 40">
            <a:extLst>
              <a:ext uri="{FF2B5EF4-FFF2-40B4-BE49-F238E27FC236}">
                <a16:creationId xmlns:a16="http://schemas.microsoft.com/office/drawing/2014/main" id="{DABE4331-204D-43B6-1CC8-1445B09E1356}"/>
              </a:ext>
            </a:extLst>
          </p:cNvPr>
          <p:cNvSpPr/>
          <p:nvPr/>
        </p:nvSpPr>
        <p:spPr bwMode="auto">
          <a:xfrm>
            <a:off x="4531600" y="5693551"/>
            <a:ext cx="521069" cy="178098"/>
          </a:xfrm>
          <a:prstGeom prst="roundRect">
            <a:avLst>
              <a:gd name="adj" fmla="val 6167"/>
            </a:avLst>
          </a:prstGeom>
          <a:solidFill>
            <a:srgbClr val="FFC000"/>
          </a:solidFill>
          <a:ln w="12700" cap="flat" cmpd="sng" algn="ctr">
            <a:solidFill>
              <a:srgbClr val="00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lang="en-US" altLang="ja-JP" sz="1000" b="0">
                <a:latin typeface="+mn-ea"/>
              </a:rPr>
              <a:t>PSDK</a:t>
            </a:r>
            <a:endParaRPr kumimoji="1" lang="ja-JP" altLang="en-US" sz="1000" b="0" i="0" u="none" strike="noStrike" cap="none" normalizeH="0" baseline="0">
              <a:ln>
                <a:noFill/>
              </a:ln>
              <a:solidFill>
                <a:schemeClr val="tx1"/>
              </a:solidFill>
              <a:effectLst/>
              <a:latin typeface="+mn-ea"/>
              <a:ea typeface="+mn-ea"/>
            </a:endParaRPr>
          </a:p>
        </p:txBody>
      </p:sp>
      <p:cxnSp>
        <p:nvCxnSpPr>
          <p:cNvPr id="42" name="直線矢印コネクタ 41">
            <a:extLst>
              <a:ext uri="{FF2B5EF4-FFF2-40B4-BE49-F238E27FC236}">
                <a16:creationId xmlns:a16="http://schemas.microsoft.com/office/drawing/2014/main" id="{AD106230-E570-A847-4990-E0A6352D1648}"/>
              </a:ext>
            </a:extLst>
          </p:cNvPr>
          <p:cNvCxnSpPr>
            <a:cxnSpLocks/>
            <a:stCxn id="41" idx="3"/>
            <a:endCxn id="25" idx="1"/>
          </p:cNvCxnSpPr>
          <p:nvPr/>
        </p:nvCxnSpPr>
        <p:spPr bwMode="auto">
          <a:xfrm flipV="1">
            <a:off x="5052669" y="5429977"/>
            <a:ext cx="787020" cy="352623"/>
          </a:xfrm>
          <a:prstGeom prst="straightConnector1">
            <a:avLst/>
          </a:prstGeom>
          <a:ln w="19050" cap="flat" cmpd="sng" algn="ctr">
            <a:solidFill>
              <a:srgbClr val="0000FF"/>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3" name="テキスト ボックス 42">
            <a:extLst>
              <a:ext uri="{FF2B5EF4-FFF2-40B4-BE49-F238E27FC236}">
                <a16:creationId xmlns:a16="http://schemas.microsoft.com/office/drawing/2014/main" id="{FCCF43EA-A776-C330-536A-D72B22EDE41C}"/>
              </a:ext>
            </a:extLst>
          </p:cNvPr>
          <p:cNvSpPr txBox="1"/>
          <p:nvPr/>
        </p:nvSpPr>
        <p:spPr>
          <a:xfrm>
            <a:off x="7326062" y="5201868"/>
            <a:ext cx="833087" cy="1079999"/>
          </a:xfrm>
          <a:prstGeom prst="rect">
            <a:avLst/>
          </a:prstGeom>
          <a:solidFill>
            <a:schemeClr val="bg1">
              <a:lumMod val="95000"/>
            </a:schemeClr>
          </a:solidFill>
          <a:ln w="12700" cap="flat" cmpd="sng" algn="ctr">
            <a:solidFill>
              <a:schemeClr val="bg2"/>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defPPr>
              <a:defRPr lang="ja-JP"/>
            </a:defPPr>
            <a:lvl1pPr marR="0" indent="0" algn="just" defTabSz="742950" fontAlgn="base">
              <a:lnSpc>
                <a:spcPts val="2100"/>
              </a:lnSpc>
              <a:spcBef>
                <a:spcPct val="0"/>
              </a:spcBef>
              <a:spcAft>
                <a:spcPct val="0"/>
              </a:spcAft>
              <a:buClrTx/>
              <a:buSzTx/>
              <a:buFontTx/>
              <a:buNone/>
              <a:tabLst/>
              <a:defRPr b="0" i="0" u="none" strike="noStrike" cap="none" normalizeH="0" baseline="0">
                <a:ln>
                  <a:noFill/>
                </a:ln>
                <a:effectLst/>
                <a:latin typeface="+mj-ea"/>
                <a:ea typeface="+mj-ea"/>
              </a:defRPr>
            </a:lvl1pPr>
          </a:lstStyle>
          <a:p>
            <a:pPr algn="ctr">
              <a:lnSpc>
                <a:spcPct val="100000"/>
              </a:lnSpc>
            </a:pPr>
            <a:r>
              <a:rPr lang="ja-JP" altLang="en-US" sz="1000"/>
              <a:t>端末</a:t>
            </a:r>
          </a:p>
        </p:txBody>
      </p:sp>
      <p:sp>
        <p:nvSpPr>
          <p:cNvPr id="44" name="四角形: 角を丸くする 43">
            <a:extLst>
              <a:ext uri="{FF2B5EF4-FFF2-40B4-BE49-F238E27FC236}">
                <a16:creationId xmlns:a16="http://schemas.microsoft.com/office/drawing/2014/main" id="{B572BC05-5A98-0A5F-9380-886E72E621AF}"/>
              </a:ext>
            </a:extLst>
          </p:cNvPr>
          <p:cNvSpPr/>
          <p:nvPr/>
        </p:nvSpPr>
        <p:spPr bwMode="auto">
          <a:xfrm>
            <a:off x="7397704" y="5369638"/>
            <a:ext cx="687224" cy="540000"/>
          </a:xfrm>
          <a:prstGeom prst="roundRect">
            <a:avLst>
              <a:gd name="adj" fmla="val 6167"/>
            </a:avLst>
          </a:prstGeom>
          <a:solidFill>
            <a:srgbClr val="FFC000"/>
          </a:solidFill>
          <a:ln w="12700" cap="flat" cmpd="sng" algn="ctr">
            <a:solidFill>
              <a:schemeClr val="bg2"/>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742950" rtl="0" eaLnBrk="1" fontAlgn="base" latinLnBrk="0" hangingPunct="1">
              <a:lnSpc>
                <a:spcPts val="1300"/>
              </a:lnSpc>
              <a:spcBef>
                <a:spcPct val="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n-ea"/>
                <a:ea typeface="+mn-ea"/>
              </a:rPr>
              <a:t>CT4U</a:t>
            </a:r>
            <a:br>
              <a:rPr kumimoji="1" lang="en-US" altLang="ja-JP" sz="1000" b="0" i="0" u="none" strike="noStrike" cap="none" normalizeH="0" baseline="0" dirty="0">
                <a:ln>
                  <a:noFill/>
                </a:ln>
                <a:solidFill>
                  <a:schemeClr val="tx1"/>
                </a:solidFill>
                <a:effectLst/>
                <a:latin typeface="+mn-ea"/>
                <a:ea typeface="+mn-ea"/>
              </a:rPr>
            </a:br>
            <a:r>
              <a:rPr kumimoji="1" lang="en-US" altLang="ja-JP" sz="1000" b="0" i="0" u="none" strike="noStrike" cap="none" normalizeH="0" baseline="0" dirty="0">
                <a:ln>
                  <a:noFill/>
                </a:ln>
                <a:solidFill>
                  <a:schemeClr val="tx1"/>
                </a:solidFill>
                <a:effectLst/>
                <a:latin typeface="+mn-ea"/>
                <a:ea typeface="+mn-ea"/>
              </a:rPr>
              <a:t>OpenJDK</a:t>
            </a:r>
            <a:endParaRPr kumimoji="1" lang="ja-JP" altLang="en-US" sz="1000" b="0" i="0" u="none" strike="noStrike" cap="none" normalizeH="0" baseline="0" dirty="0">
              <a:ln>
                <a:noFill/>
              </a:ln>
              <a:solidFill>
                <a:schemeClr val="tx1"/>
              </a:solidFill>
              <a:effectLst/>
              <a:latin typeface="+mn-ea"/>
              <a:ea typeface="+mn-ea"/>
            </a:endParaRPr>
          </a:p>
        </p:txBody>
      </p:sp>
      <p:sp>
        <p:nvSpPr>
          <p:cNvPr id="45" name="四角形: 角を丸くする 44">
            <a:extLst>
              <a:ext uri="{FF2B5EF4-FFF2-40B4-BE49-F238E27FC236}">
                <a16:creationId xmlns:a16="http://schemas.microsoft.com/office/drawing/2014/main" id="{E822BD6F-BB64-41D4-17BC-63D7C4B3AC68}"/>
              </a:ext>
            </a:extLst>
          </p:cNvPr>
          <p:cNvSpPr/>
          <p:nvPr/>
        </p:nvSpPr>
        <p:spPr bwMode="auto">
          <a:xfrm>
            <a:off x="7480781" y="5693551"/>
            <a:ext cx="521069" cy="178098"/>
          </a:xfrm>
          <a:prstGeom prst="roundRect">
            <a:avLst>
              <a:gd name="adj" fmla="val 6167"/>
            </a:avLst>
          </a:prstGeom>
          <a:solidFill>
            <a:srgbClr val="FFC000"/>
          </a:solidFill>
          <a:ln w="12700" cap="flat" cmpd="sng" algn="ctr">
            <a:solidFill>
              <a:srgbClr val="00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lang="ja-JP" altLang="en-US" sz="1000" b="0" dirty="0">
                <a:solidFill>
                  <a:srgbClr val="FF0000"/>
                </a:solidFill>
                <a:latin typeface="+mn-ea"/>
              </a:rPr>
              <a:t>次期</a:t>
            </a:r>
            <a:r>
              <a:rPr lang="en-US" altLang="ja-JP" sz="1000" b="0" dirty="0">
                <a:solidFill>
                  <a:srgbClr val="FF0000"/>
                </a:solidFill>
                <a:latin typeface="+mn-ea"/>
              </a:rPr>
              <a:t>SDK</a:t>
            </a:r>
            <a:endParaRPr kumimoji="1" lang="ja-JP" altLang="en-US" sz="1000" b="0" i="0" u="none" strike="noStrike" cap="none" normalizeH="0" baseline="0" dirty="0">
              <a:ln>
                <a:noFill/>
              </a:ln>
              <a:solidFill>
                <a:srgbClr val="FF0000"/>
              </a:solidFill>
              <a:effectLst/>
              <a:latin typeface="+mn-ea"/>
              <a:ea typeface="+mn-ea"/>
            </a:endParaRPr>
          </a:p>
        </p:txBody>
      </p:sp>
      <p:cxnSp>
        <p:nvCxnSpPr>
          <p:cNvPr id="46" name="直線矢印コネクタ 45">
            <a:extLst>
              <a:ext uri="{FF2B5EF4-FFF2-40B4-BE49-F238E27FC236}">
                <a16:creationId xmlns:a16="http://schemas.microsoft.com/office/drawing/2014/main" id="{699812C4-3A82-470E-3AC9-008FC5A9B704}"/>
              </a:ext>
            </a:extLst>
          </p:cNvPr>
          <p:cNvCxnSpPr>
            <a:cxnSpLocks/>
            <a:stCxn id="45" idx="3"/>
            <a:endCxn id="29" idx="1"/>
          </p:cNvCxnSpPr>
          <p:nvPr/>
        </p:nvCxnSpPr>
        <p:spPr bwMode="auto">
          <a:xfrm>
            <a:off x="8001850" y="5782600"/>
            <a:ext cx="833672" cy="218261"/>
          </a:xfrm>
          <a:prstGeom prst="straightConnector1">
            <a:avLst/>
          </a:prstGeom>
          <a:ln w="19050" cap="flat" cmpd="sng" algn="ctr">
            <a:solidFill>
              <a:srgbClr val="0000FF"/>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7" name="テキスト ボックス 46">
            <a:extLst>
              <a:ext uri="{FF2B5EF4-FFF2-40B4-BE49-F238E27FC236}">
                <a16:creationId xmlns:a16="http://schemas.microsoft.com/office/drawing/2014/main" id="{69ED5D2C-C041-44A5-C359-BAF01CF2682F}"/>
              </a:ext>
            </a:extLst>
          </p:cNvPr>
          <p:cNvSpPr txBox="1"/>
          <p:nvPr/>
        </p:nvSpPr>
        <p:spPr>
          <a:xfrm>
            <a:off x="164999" y="1773927"/>
            <a:ext cx="9685197" cy="307777"/>
          </a:xfrm>
          <a:prstGeom prst="rect">
            <a:avLst/>
          </a:prstGeom>
          <a:noFill/>
        </p:spPr>
        <p:txBody>
          <a:bodyPr wrap="square">
            <a:spAutoFit/>
          </a:bodyPr>
          <a:lstStyle/>
          <a:p>
            <a:pPr>
              <a:spcAft>
                <a:spcPts val="0"/>
              </a:spcAft>
              <a:defRPr/>
            </a:pPr>
            <a:r>
              <a:rPr lang="en-US" altLang="ja-JP" sz="1400" dirty="0">
                <a:solidFill>
                  <a:srgbClr val="292929"/>
                </a:solidFill>
                <a:latin typeface="Meiryo UI"/>
                <a:ea typeface="Meiryo UI"/>
              </a:rPr>
              <a:t>【SMCC Win11</a:t>
            </a:r>
            <a:r>
              <a:rPr lang="ja-JP" altLang="en-US" sz="1400" dirty="0">
                <a:solidFill>
                  <a:srgbClr val="292929"/>
                </a:solidFill>
                <a:latin typeface="Meiryo UI"/>
                <a:ea typeface="Meiryo UI"/>
              </a:rPr>
              <a:t>化対応スケジュール</a:t>
            </a:r>
            <a:r>
              <a:rPr lang="en-US" altLang="ja-JP" sz="1400" dirty="0">
                <a:solidFill>
                  <a:srgbClr val="292929"/>
                </a:solidFill>
                <a:latin typeface="Meiryo UI"/>
                <a:ea typeface="Meiryo UI"/>
              </a:rPr>
              <a:t>】</a:t>
            </a:r>
          </a:p>
        </p:txBody>
      </p:sp>
    </p:spTree>
    <p:extLst>
      <p:ext uri="{BB962C8B-B14F-4D97-AF65-F5344CB8AC3E}">
        <p14:creationId xmlns:p14="http://schemas.microsoft.com/office/powerpoint/2010/main" val="2681442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BF487D-2B3A-4DD9-92A2-640F30B2B1AD}"/>
              </a:ext>
            </a:extLst>
          </p:cNvPr>
          <p:cNvSpPr>
            <a:spLocks noGrp="1"/>
          </p:cNvSpPr>
          <p:nvPr>
            <p:ph type="title" idx="4294967295"/>
          </p:nvPr>
        </p:nvSpPr>
        <p:spPr>
          <a:xfrm>
            <a:off x="628322" y="136510"/>
            <a:ext cx="9004300" cy="334962"/>
          </a:xfrm>
          <a:prstGeom prst="rect">
            <a:avLst/>
          </a:prstGeom>
        </p:spPr>
        <p:txBody>
          <a:bodyPr/>
          <a:lstStyle/>
          <a:p>
            <a:pPr algn="l"/>
            <a:r>
              <a:rPr lang="ja-JP" altLang="en-US"/>
              <a:t>２</a:t>
            </a:r>
            <a:r>
              <a:rPr lang="en-US" altLang="ja-JP"/>
              <a:t>-</a:t>
            </a:r>
            <a:r>
              <a:rPr lang="ja-JP" altLang="en-US"/>
              <a:t>１．</a:t>
            </a:r>
            <a:r>
              <a:rPr kumimoji="1" lang="en-US" altLang="ja-JP">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プロジェクトスコープ</a:t>
            </a:r>
            <a:r>
              <a:rPr kumimoji="1" lang="en-US" altLang="ja-JP">
                <a:latin typeface="Meiryo UI" panose="020B0604030504040204" pitchFamily="50" charset="-128"/>
                <a:ea typeface="Meiryo UI" panose="020B0604030504040204" pitchFamily="50" charset="-128"/>
              </a:rPr>
              <a:t>】</a:t>
            </a:r>
            <a:r>
              <a:rPr kumimoji="1" lang="ja-JP" altLang="en-US">
                <a:latin typeface="Meiryo UI" panose="020B0604030504040204" pitchFamily="50" charset="-128"/>
                <a:ea typeface="Meiryo UI" panose="020B0604030504040204" pitchFamily="50" charset="-128"/>
              </a:rPr>
              <a:t>作業スコープ</a:t>
            </a:r>
            <a:endParaRPr lang="en-US" altLang="ja-JP" b="1">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36855503-CD21-4B23-96BB-31FEA6E1D3AF}"/>
              </a:ext>
            </a:extLst>
          </p:cNvPr>
          <p:cNvSpPr txBox="1">
            <a:spLocks noChangeArrowheads="1"/>
          </p:cNvSpPr>
          <p:nvPr/>
        </p:nvSpPr>
        <p:spPr bwMode="auto">
          <a:xfrm>
            <a:off x="168230" y="651293"/>
            <a:ext cx="9567949" cy="703578"/>
          </a:xfrm>
          <a:prstGeom prst="rect">
            <a:avLst/>
          </a:prstGeom>
          <a:solidFill>
            <a:schemeClr val="bg1"/>
          </a:solidFill>
          <a:ln>
            <a:noFill/>
          </a:ln>
          <a:effectLst/>
        </p:spPr>
        <p:txBody>
          <a:bodyPr lIns="180087" tIns="0" rIns="180087" bIns="0"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defTabSz="987425"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defTabSz="987425"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defTabSz="987425"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defTabSz="987425"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marL="285750" marR="0" lvl="0" indent="-285750" algn="l" defTabSz="914400" rtl="0" eaLnBrk="1" fontAlgn="base" latinLnBrk="0" hangingPunct="0">
              <a:lnSpc>
                <a:spcPct val="100000"/>
              </a:lnSpc>
              <a:spcBef>
                <a:spcPts val="300"/>
              </a:spcBef>
              <a:spcAft>
                <a:spcPct val="0"/>
              </a:spcAft>
              <a:buClr>
                <a:srgbClr val="003C2C"/>
              </a:buClr>
              <a:buSzTx/>
              <a:buFont typeface="Wingdings" panose="05000000000000000000" pitchFamily="2" charset="2"/>
              <a:buChar char="l"/>
              <a:tabLst/>
              <a:defRPr/>
            </a:pPr>
            <a:r>
              <a:rPr lang="ja-JP" altLang="en-US" sz="1401" dirty="0">
                <a:solidFill>
                  <a:srgbClr val="000000"/>
                </a:solidFill>
                <a:latin typeface="Meiryo UI"/>
                <a:ea typeface="Meiryo UI"/>
              </a:rPr>
              <a:t>構成、および機能</a:t>
            </a:r>
            <a:r>
              <a:rPr lang="en-US" altLang="ja-JP" sz="1401" dirty="0">
                <a:solidFill>
                  <a:srgbClr val="000000"/>
                </a:solidFill>
                <a:latin typeface="Meiryo UI"/>
                <a:ea typeface="Meiryo UI"/>
              </a:rPr>
              <a:t>/</a:t>
            </a:r>
            <a:r>
              <a:rPr lang="ja-JP" altLang="en-US" sz="1401" dirty="0">
                <a:solidFill>
                  <a:srgbClr val="000000"/>
                </a:solidFill>
                <a:latin typeface="Meiryo UI"/>
                <a:ea typeface="Meiryo UI"/>
              </a:rPr>
              <a:t>非機能要件を整理し、対応スコープおよび見積精緻化を行う</a:t>
            </a:r>
            <a:endParaRPr lang="en-US" altLang="ja-JP" sz="1401" dirty="0">
              <a:solidFill>
                <a:srgbClr val="000000"/>
              </a:solidFill>
              <a:latin typeface="Meiryo UI"/>
              <a:ea typeface="Meiryo UI"/>
            </a:endParaRPr>
          </a:p>
          <a:p>
            <a:pPr marL="285750" marR="0" lvl="0" indent="-285750" algn="l" defTabSz="914400" rtl="0" eaLnBrk="1" fontAlgn="base" latinLnBrk="0" hangingPunct="0">
              <a:lnSpc>
                <a:spcPct val="100000"/>
              </a:lnSpc>
              <a:spcBef>
                <a:spcPts val="300"/>
              </a:spcBef>
              <a:spcAft>
                <a:spcPct val="0"/>
              </a:spcAft>
              <a:buClr>
                <a:srgbClr val="003C2C"/>
              </a:buClr>
              <a:buSzTx/>
              <a:buFont typeface="Wingdings" panose="05000000000000000000" pitchFamily="2" charset="2"/>
              <a:buChar char="l"/>
              <a:tabLst/>
              <a:defRPr/>
            </a:pPr>
            <a:r>
              <a:rPr lang="ja-JP" altLang="en-US" sz="1401" dirty="0">
                <a:solidFill>
                  <a:srgbClr val="000000"/>
                </a:solidFill>
                <a:latin typeface="Meiryo UI"/>
                <a:ea typeface="Meiryo UI"/>
              </a:rPr>
              <a:t>サービスインに大きな影響を与えるリスク・課題について、本要件定義期間中に事前</a:t>
            </a:r>
            <a:r>
              <a:rPr lang="en-US" altLang="ja-JP" sz="1401" dirty="0">
                <a:solidFill>
                  <a:srgbClr val="000000"/>
                </a:solidFill>
                <a:latin typeface="Meiryo UI"/>
                <a:ea typeface="Meiryo UI"/>
              </a:rPr>
              <a:t>/</a:t>
            </a:r>
            <a:r>
              <a:rPr lang="ja-JP" altLang="en-US" sz="1401" dirty="0">
                <a:solidFill>
                  <a:srgbClr val="000000"/>
                </a:solidFill>
                <a:latin typeface="Meiryo UI"/>
                <a:ea typeface="Meiryo UI"/>
              </a:rPr>
              <a:t>事後対応方針を確定する</a:t>
            </a:r>
            <a:endParaRPr lang="en-US" altLang="ja-JP" sz="1401" dirty="0">
              <a:solidFill>
                <a:srgbClr val="000000"/>
              </a:solidFill>
              <a:latin typeface="Meiryo UI"/>
              <a:ea typeface="Meiryo UI"/>
            </a:endParaRPr>
          </a:p>
          <a:p>
            <a:pPr marL="285750" marR="0" lvl="0" indent="-285750" algn="l" defTabSz="914400" rtl="0" eaLnBrk="1" fontAlgn="base" latinLnBrk="0" hangingPunct="0">
              <a:lnSpc>
                <a:spcPct val="100000"/>
              </a:lnSpc>
              <a:spcBef>
                <a:spcPts val="300"/>
              </a:spcBef>
              <a:spcAft>
                <a:spcPct val="0"/>
              </a:spcAft>
              <a:buClr>
                <a:srgbClr val="003C2C"/>
              </a:buClr>
              <a:buSzTx/>
              <a:buFont typeface="Wingdings" panose="05000000000000000000" pitchFamily="2" charset="2"/>
              <a:buChar char="l"/>
              <a:tabLst/>
              <a:defRPr/>
            </a:pPr>
            <a:r>
              <a:rPr lang="ja-JP" altLang="en-US" sz="1401" dirty="0">
                <a:solidFill>
                  <a:srgbClr val="000000"/>
                </a:solidFill>
                <a:latin typeface="Meiryo UI"/>
                <a:ea typeface="Meiryo UI"/>
              </a:rPr>
              <a:t>サービスインスケジュールについて前提・制約事項を整理し、後続スケジュールを確定する</a:t>
            </a:r>
            <a:endParaRPr lang="en-US" altLang="ja-JP" sz="1401" dirty="0">
              <a:solidFill>
                <a:srgbClr val="000000"/>
              </a:solidFill>
              <a:latin typeface="Meiryo UI"/>
              <a:ea typeface="Meiryo UI"/>
            </a:endParaRPr>
          </a:p>
        </p:txBody>
      </p:sp>
      <p:graphicFrame>
        <p:nvGraphicFramePr>
          <p:cNvPr id="7" name="表 6">
            <a:extLst>
              <a:ext uri="{FF2B5EF4-FFF2-40B4-BE49-F238E27FC236}">
                <a16:creationId xmlns:a16="http://schemas.microsoft.com/office/drawing/2014/main" id="{641CF254-2E5C-4B71-AFF0-C8467A95B9C6}"/>
              </a:ext>
            </a:extLst>
          </p:cNvPr>
          <p:cNvGraphicFramePr>
            <a:graphicFrameLocks noGrp="1"/>
          </p:cNvGraphicFramePr>
          <p:nvPr>
            <p:extLst>
              <p:ext uri="{D42A27DB-BD31-4B8C-83A1-F6EECF244321}">
                <p14:modId xmlns:p14="http://schemas.microsoft.com/office/powerpoint/2010/main" val="3347693884"/>
              </p:ext>
            </p:extLst>
          </p:nvPr>
        </p:nvGraphicFramePr>
        <p:xfrm>
          <a:off x="169026" y="1416352"/>
          <a:ext cx="9567948" cy="4545254"/>
        </p:xfrm>
        <a:graphic>
          <a:graphicData uri="http://schemas.openxmlformats.org/drawingml/2006/table">
            <a:tbl>
              <a:tblPr firstRow="1" bandRow="1"/>
              <a:tblGrid>
                <a:gridCol w="466153">
                  <a:extLst>
                    <a:ext uri="{9D8B030D-6E8A-4147-A177-3AD203B41FA5}">
                      <a16:colId xmlns:a16="http://schemas.microsoft.com/office/drawing/2014/main" val="3782506637"/>
                    </a:ext>
                  </a:extLst>
                </a:gridCol>
                <a:gridCol w="1744558">
                  <a:extLst>
                    <a:ext uri="{9D8B030D-6E8A-4147-A177-3AD203B41FA5}">
                      <a16:colId xmlns:a16="http://schemas.microsoft.com/office/drawing/2014/main" val="723838859"/>
                    </a:ext>
                  </a:extLst>
                </a:gridCol>
                <a:gridCol w="1240559">
                  <a:extLst>
                    <a:ext uri="{9D8B030D-6E8A-4147-A177-3AD203B41FA5}">
                      <a16:colId xmlns:a16="http://schemas.microsoft.com/office/drawing/2014/main" val="1129531495"/>
                    </a:ext>
                  </a:extLst>
                </a:gridCol>
                <a:gridCol w="6116678">
                  <a:extLst>
                    <a:ext uri="{9D8B030D-6E8A-4147-A177-3AD203B41FA5}">
                      <a16:colId xmlns:a16="http://schemas.microsoft.com/office/drawing/2014/main" val="3038106162"/>
                    </a:ext>
                  </a:extLst>
                </a:gridCol>
              </a:tblGrid>
              <a:tr h="4021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a:solidFill>
                            <a:schemeClr val="bg1"/>
                          </a:solidFill>
                          <a:latin typeface="+mn-lt"/>
                          <a:ea typeface="+mn-ea"/>
                        </a:rPr>
                        <a:t>No.</a:t>
                      </a:r>
                      <a:endParaRPr kumimoji="1" lang="ja-JP" altLang="en-US" sz="1400" b="0">
                        <a:solidFill>
                          <a:schemeClr val="bg1"/>
                        </a:solidFill>
                        <a:latin typeface="+mn-lt"/>
                        <a:ea typeface="+mn-ea"/>
                      </a:endParaRPr>
                    </a:p>
                  </a:txBody>
                  <a:tcPr anchor="ctr">
                    <a:lnR w="12700" cap="flat" cmpd="sng" algn="ctr">
                      <a:solidFill>
                        <a:schemeClr val="bg1">
                          <a:lumMod val="85000"/>
                        </a:schemeClr>
                      </a:solidFill>
                      <a:prstDash val="solid"/>
                      <a:round/>
                      <a:headEnd type="none" w="med" len="med"/>
                      <a:tailEnd type="none" w="med" len="med"/>
                    </a:lnR>
                    <a:solidFill>
                      <a:schemeClr val="accent1">
                        <a:lumMod val="75000"/>
                      </a:schemeClr>
                    </a:solidFill>
                  </a:tcPr>
                </a:tc>
                <a:tc>
                  <a:txBody>
                    <a:bodyPr/>
                    <a:lstStyle/>
                    <a:p>
                      <a:pPr algn="ctr"/>
                      <a:r>
                        <a:rPr kumimoji="1" lang="ja-JP" altLang="en-US" sz="1400" b="0" dirty="0">
                          <a:solidFill>
                            <a:schemeClr val="bg1"/>
                          </a:solidFill>
                          <a:latin typeface="+mn-lt"/>
                          <a:ea typeface="Meiryo UI" panose="020B0604030504040204" pitchFamily="50" charset="-128"/>
                        </a:rPr>
                        <a:t>作業対象</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solidFill>
                      <a:schemeClr val="accent1">
                        <a:lumMod val="75000"/>
                      </a:schemeClr>
                    </a:solidFill>
                  </a:tcPr>
                </a:tc>
                <a:tc>
                  <a:txBody>
                    <a:bodyPr/>
                    <a:lstStyle/>
                    <a:p>
                      <a:pPr algn="ctr"/>
                      <a:r>
                        <a:rPr kumimoji="1" lang="ja-JP" altLang="en-US" sz="1400" b="0" dirty="0">
                          <a:solidFill>
                            <a:schemeClr val="bg1"/>
                          </a:solidFill>
                          <a:latin typeface="+mn-lt"/>
                          <a:ea typeface="Meiryo UI" panose="020B0604030504040204" pitchFamily="50" charset="-128"/>
                        </a:rPr>
                        <a:t>工程</a:t>
                      </a: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solidFill>
                      <a:schemeClr val="accent1">
                        <a:lumMod val="75000"/>
                      </a:schemeClr>
                    </a:solidFill>
                  </a:tcPr>
                </a:tc>
                <a:tc>
                  <a:txBody>
                    <a:bodyPr/>
                    <a:lstStyle/>
                    <a:p>
                      <a:pPr algn="ctr"/>
                      <a:r>
                        <a:rPr kumimoji="1" lang="ja-JP" altLang="en-US" sz="1400" b="0">
                          <a:solidFill>
                            <a:schemeClr val="bg1"/>
                          </a:solidFill>
                          <a:latin typeface="+mn-lt"/>
                          <a:ea typeface="Meiryo UI" panose="020B0604030504040204" pitchFamily="50" charset="-128"/>
                        </a:rPr>
                        <a:t>対応概要／目的</a:t>
                      </a:r>
                    </a:p>
                  </a:txBody>
                  <a:tcPr anchor="ctr">
                    <a:lnL w="12700" cap="flat" cmpd="sng" algn="ctr">
                      <a:noFill/>
                      <a:prstDash val="solid"/>
                      <a:round/>
                      <a:headEnd type="none" w="med" len="med"/>
                      <a:tailEnd type="none" w="med" len="med"/>
                    </a:lnL>
                    <a:solidFill>
                      <a:schemeClr val="accent1">
                        <a:lumMod val="75000"/>
                      </a:schemeClr>
                    </a:solidFill>
                  </a:tcPr>
                </a:tc>
                <a:extLst>
                  <a:ext uri="{0D108BD9-81ED-4DB2-BD59-A6C34878D82A}">
                    <a16:rowId xmlns:a16="http://schemas.microsoft.com/office/drawing/2014/main" val="1199314974"/>
                  </a:ext>
                </a:extLst>
              </a:tr>
              <a:tr h="2845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n-lt"/>
                          <a:ea typeface="Meiryo UI" panose="020B0604030504040204" pitchFamily="50" charset="-128"/>
                        </a:rPr>
                        <a:t>1</a:t>
                      </a:r>
                      <a:endParaRPr kumimoji="1" lang="ja-JP" altLang="en-US" sz="1400" dirty="0">
                        <a:latin typeface="+mn-lt"/>
                        <a:ea typeface="Meiryo UI" panose="020B0604030504040204" pitchFamily="50" charset="-128"/>
                      </a:endParaRPr>
                    </a:p>
                  </a:txBody>
                  <a:tcPr anchor="ctr">
                    <a:solidFill>
                      <a:schemeClr val="accent6">
                        <a:lumMod val="20000"/>
                        <a:lumOff val="80000"/>
                      </a:schemeClr>
                    </a:solidFill>
                  </a:tcPr>
                </a:tc>
                <a:tc>
                  <a:txBody>
                    <a:bodyPr/>
                    <a:lstStyle/>
                    <a:p>
                      <a:pPr algn="l"/>
                      <a:r>
                        <a:rPr kumimoji="1" lang="en-US" altLang="ja-JP" sz="1200" dirty="0">
                          <a:solidFill>
                            <a:schemeClr val="tx1"/>
                          </a:solidFill>
                          <a:latin typeface="+mn-ea"/>
                          <a:ea typeface="+mn-ea"/>
                        </a:rPr>
                        <a:t>CTI</a:t>
                      </a:r>
                      <a:r>
                        <a:rPr kumimoji="1" lang="ja-JP" altLang="en-US" sz="1200" dirty="0">
                          <a:solidFill>
                            <a:schemeClr val="tx1"/>
                          </a:solidFill>
                          <a:latin typeface="+mn-ea"/>
                          <a:ea typeface="+mn-ea"/>
                        </a:rPr>
                        <a:t>基盤</a:t>
                      </a:r>
                      <a:r>
                        <a:rPr kumimoji="1" lang="en-US" altLang="ja-JP" sz="1200" dirty="0">
                          <a:solidFill>
                            <a:schemeClr val="tx1"/>
                          </a:solidFill>
                          <a:latin typeface="+mn-ea"/>
                          <a:ea typeface="+mn-ea"/>
                        </a:rPr>
                        <a:t>/</a:t>
                      </a:r>
                      <a:r>
                        <a:rPr kumimoji="1" lang="ja-JP" altLang="en-US" sz="1200" dirty="0">
                          <a:solidFill>
                            <a:schemeClr val="tx1"/>
                          </a:solidFill>
                          <a:latin typeface="+mn-ea"/>
                          <a:ea typeface="+mn-ea"/>
                        </a:rPr>
                        <a:t>通話録音</a:t>
                      </a:r>
                    </a:p>
                  </a:txBody>
                  <a:tcPr marL="36000" marR="0" marT="36024" marB="36024" anchor="ctr">
                    <a:solidFill>
                      <a:schemeClr val="accent6">
                        <a:lumMod val="20000"/>
                        <a:lumOff val="80000"/>
                      </a:schemeClr>
                    </a:solidFill>
                  </a:tcPr>
                </a:tc>
                <a:tc row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ea typeface="Meiryo UI" panose="020B0604030504040204" pitchFamily="50" charset="-128"/>
                        </a:rPr>
                        <a:t>要件定義</a:t>
                      </a:r>
                      <a:endParaRPr kumimoji="1" lang="en-US" altLang="ja-JP" sz="1200" dirty="0">
                        <a:latin typeface="+mn-lt"/>
                        <a:ea typeface="Meiryo UI" panose="020B0604030504040204" pitchFamily="50" charset="-128"/>
                      </a:endParaRPr>
                    </a:p>
                  </a:txBody>
                  <a:tcPr anchor="ctr">
                    <a:noFill/>
                  </a:tcPr>
                </a:tc>
                <a:tc>
                  <a:txBody>
                    <a:bodyPr/>
                    <a:lstStyle/>
                    <a:p>
                      <a:endParaRPr kumimoji="1" lang="en-US" altLang="ja-JP" sz="1100" b="0" kern="0" dirty="0">
                        <a:solidFill>
                          <a:prstClr val="black"/>
                        </a:solidFill>
                        <a:latin typeface="Meiryo UI" panose="020B0604030504040204" pitchFamily="50" charset="-128"/>
                        <a:ea typeface="Meiryo UI" panose="020B0604030504040204" pitchFamily="50" charset="-128"/>
                      </a:endParaRPr>
                    </a:p>
                  </a:txBody>
                  <a:tcPr marT="0" marB="0" anchor="ctr">
                    <a:noFill/>
                  </a:tcPr>
                </a:tc>
                <a:extLst>
                  <a:ext uri="{0D108BD9-81ED-4DB2-BD59-A6C34878D82A}">
                    <a16:rowId xmlns:a16="http://schemas.microsoft.com/office/drawing/2014/main" val="3721775574"/>
                  </a:ext>
                </a:extLst>
              </a:tr>
              <a:tr h="2769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n-lt"/>
                          <a:ea typeface="Meiryo UI" panose="020B0604030504040204" pitchFamily="50" charset="-128"/>
                        </a:rPr>
                        <a:t>2</a:t>
                      </a:r>
                      <a:endParaRPr kumimoji="1" lang="ja-JP" altLang="en-US" sz="1400" dirty="0">
                        <a:latin typeface="+mn-lt"/>
                        <a:ea typeface="Meiryo UI" panose="020B0604030504040204" pitchFamily="50" charset="-128"/>
                      </a:endParaRPr>
                    </a:p>
                  </a:txBody>
                  <a:tcPr anchor="ctr">
                    <a:solidFill>
                      <a:schemeClr val="accent6">
                        <a:lumMod val="20000"/>
                        <a:lumOff val="80000"/>
                      </a:schemeClr>
                    </a:solidFill>
                  </a:tcPr>
                </a:tc>
                <a:tc>
                  <a:txBody>
                    <a:bodyPr/>
                    <a:lstStyle/>
                    <a:p>
                      <a:pPr algn="l"/>
                      <a:r>
                        <a:rPr kumimoji="1" lang="en-US" altLang="ja-JP" sz="1200" dirty="0">
                          <a:solidFill>
                            <a:schemeClr val="tx1"/>
                          </a:solidFill>
                          <a:latin typeface="+mn-ea"/>
                          <a:ea typeface="+mn-ea"/>
                        </a:rPr>
                        <a:t>CTI</a:t>
                      </a:r>
                      <a:r>
                        <a:rPr kumimoji="1" lang="ja-JP" altLang="en-US" sz="1200" dirty="0">
                          <a:solidFill>
                            <a:schemeClr val="tx1"/>
                          </a:solidFill>
                          <a:latin typeface="+mn-ea"/>
                          <a:ea typeface="+mn-ea"/>
                        </a:rPr>
                        <a:t>アプリ</a:t>
                      </a:r>
                    </a:p>
                  </a:txBody>
                  <a:tcPr marL="36000" marR="0" marT="36024" marB="36024" anchor="ctr">
                    <a:solidFill>
                      <a:schemeClr val="accent6">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a:latin typeface="+mn-lt"/>
                        <a:ea typeface="Meiryo UI" panose="020B0604030504040204" pitchFamily="50" charset="-128"/>
                      </a:endParaRPr>
                    </a:p>
                  </a:txBody>
                  <a:tcPr anchor="ctr">
                    <a:noFill/>
                  </a:tcPr>
                </a:tc>
                <a:tc>
                  <a:txBody>
                    <a:bodyPr/>
                    <a:lstStyle/>
                    <a:p>
                      <a:endParaRPr kumimoji="1" lang="en-US" altLang="ja-JP" sz="1100" b="0" kern="0" dirty="0">
                        <a:solidFill>
                          <a:prstClr val="black"/>
                        </a:solidFill>
                        <a:latin typeface="Meiryo UI" panose="020B0604030504040204" pitchFamily="50" charset="-128"/>
                        <a:ea typeface="Meiryo UI" panose="020B0604030504040204" pitchFamily="50" charset="-128"/>
                      </a:endParaRPr>
                    </a:p>
                  </a:txBody>
                  <a:tcPr marT="0" marB="0" anchor="ctr">
                    <a:noFill/>
                  </a:tcPr>
                </a:tc>
                <a:extLst>
                  <a:ext uri="{0D108BD9-81ED-4DB2-BD59-A6C34878D82A}">
                    <a16:rowId xmlns:a16="http://schemas.microsoft.com/office/drawing/2014/main" val="1209123227"/>
                  </a:ext>
                </a:extLst>
              </a:tr>
              <a:tr h="2693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n-lt"/>
                          <a:ea typeface="Meiryo UI" panose="020B0604030504040204" pitchFamily="50" charset="-128"/>
                        </a:rPr>
                        <a:t>3</a:t>
                      </a:r>
                      <a:endParaRPr kumimoji="1" lang="ja-JP" altLang="en-US" sz="1400" dirty="0">
                        <a:latin typeface="+mn-lt"/>
                        <a:ea typeface="Meiryo UI" panose="020B0604030504040204" pitchFamily="50" charset="-128"/>
                      </a:endParaRPr>
                    </a:p>
                  </a:txBody>
                  <a:tcPr anchor="ctr">
                    <a:solidFill>
                      <a:schemeClr val="accent6">
                        <a:lumMod val="20000"/>
                        <a:lumOff val="80000"/>
                      </a:schemeClr>
                    </a:solidFill>
                  </a:tcPr>
                </a:tc>
                <a:tc>
                  <a:txBody>
                    <a:bodyPr/>
                    <a:lstStyle/>
                    <a:p>
                      <a:pPr algn="l"/>
                      <a:r>
                        <a:rPr kumimoji="1" lang="en-US" altLang="ja-JP" sz="1200" dirty="0">
                          <a:solidFill>
                            <a:schemeClr val="tx1"/>
                          </a:solidFill>
                          <a:latin typeface="+mn-ea"/>
                          <a:ea typeface="+mn-ea"/>
                        </a:rPr>
                        <a:t>IVR</a:t>
                      </a:r>
                      <a:r>
                        <a:rPr kumimoji="1" lang="ja-JP" altLang="en-US" sz="1200" dirty="0">
                          <a:solidFill>
                            <a:schemeClr val="tx1"/>
                          </a:solidFill>
                          <a:latin typeface="+mn-ea"/>
                          <a:ea typeface="+mn-ea"/>
                        </a:rPr>
                        <a:t>基盤</a:t>
                      </a:r>
                    </a:p>
                  </a:txBody>
                  <a:tcPr marL="36000" marR="0" marT="36024" marB="36024" anchor="ctr">
                    <a:solidFill>
                      <a:schemeClr val="accent6">
                        <a:lumMod val="20000"/>
                        <a:lumOff val="80000"/>
                      </a:schemeClr>
                    </a:solidFill>
                  </a:tcPr>
                </a:tc>
                <a:tc vMerge="1">
                  <a:txBody>
                    <a:bodyPr/>
                    <a:lstStyle/>
                    <a:p>
                      <a:endParaRPr kumimoji="1" lang="ja-JP" altLang="en-US"/>
                    </a:p>
                  </a:txBody>
                  <a:tcPr/>
                </a:tc>
                <a:tc>
                  <a:txBody>
                    <a:bodyPr/>
                    <a:lstStyle/>
                    <a:p>
                      <a:endParaRPr kumimoji="1" lang="en-US" altLang="ja-JP" sz="1100" b="0" kern="0" dirty="0">
                        <a:solidFill>
                          <a:prstClr val="black"/>
                        </a:solidFill>
                        <a:latin typeface="Meiryo UI" panose="020B0604030504040204" pitchFamily="50" charset="-128"/>
                        <a:ea typeface="Meiryo UI" panose="020B0604030504040204" pitchFamily="50" charset="-128"/>
                      </a:endParaRPr>
                    </a:p>
                  </a:txBody>
                  <a:tcPr marT="0" marB="0" anchor="ctr">
                    <a:noFill/>
                  </a:tcPr>
                </a:tc>
                <a:extLst>
                  <a:ext uri="{0D108BD9-81ED-4DB2-BD59-A6C34878D82A}">
                    <a16:rowId xmlns:a16="http://schemas.microsoft.com/office/drawing/2014/main" val="1595877841"/>
                  </a:ext>
                </a:extLst>
              </a:tr>
              <a:tr h="2693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n-lt"/>
                          <a:ea typeface="Meiryo UI" panose="020B0604030504040204" pitchFamily="50" charset="-128"/>
                        </a:rPr>
                        <a:t>4</a:t>
                      </a:r>
                      <a:endParaRPr kumimoji="1" lang="ja-JP" altLang="en-US" sz="1400" dirty="0">
                        <a:latin typeface="+mn-lt"/>
                        <a:ea typeface="Meiryo UI" panose="020B0604030504040204" pitchFamily="50" charset="-128"/>
                      </a:endParaRPr>
                    </a:p>
                  </a:txBody>
                  <a:tcPr anchor="ctr">
                    <a:solidFill>
                      <a:schemeClr val="accent6">
                        <a:lumMod val="20000"/>
                        <a:lumOff val="80000"/>
                      </a:schemeClr>
                    </a:solidFill>
                  </a:tcPr>
                </a:tc>
                <a:tc>
                  <a:txBody>
                    <a:bodyPr/>
                    <a:lstStyle/>
                    <a:p>
                      <a:pPr algn="l"/>
                      <a:r>
                        <a:rPr kumimoji="1" lang="en-US" altLang="ja-JP" sz="1200" dirty="0">
                          <a:solidFill>
                            <a:schemeClr val="tx1"/>
                          </a:solidFill>
                          <a:latin typeface="+mn-ea"/>
                          <a:ea typeface="+mn-ea"/>
                        </a:rPr>
                        <a:t>SMCC-IVR</a:t>
                      </a:r>
                      <a:endParaRPr kumimoji="1" lang="ja-JP" altLang="en-US" sz="1200" dirty="0">
                        <a:solidFill>
                          <a:schemeClr val="tx1"/>
                        </a:solidFill>
                        <a:latin typeface="+mn-ea"/>
                        <a:ea typeface="+mn-ea"/>
                      </a:endParaRPr>
                    </a:p>
                  </a:txBody>
                  <a:tcPr marL="36000" marR="0" marT="36024" marB="36024" anchor="ctr">
                    <a:solidFill>
                      <a:schemeClr val="accent6">
                        <a:lumMod val="20000"/>
                        <a:lumOff val="80000"/>
                      </a:schemeClr>
                    </a:solidFill>
                  </a:tcPr>
                </a:tc>
                <a:tc vMerge="1">
                  <a:txBody>
                    <a:bodyPr/>
                    <a:lstStyle/>
                    <a:p>
                      <a:endParaRPr kumimoji="1" lang="ja-JP" altLang="en-US"/>
                    </a:p>
                  </a:txBody>
                  <a:tcPr/>
                </a:tc>
                <a:tc>
                  <a:txBody>
                    <a:bodyPr/>
                    <a:lstStyle/>
                    <a:p>
                      <a:endParaRPr kumimoji="1" lang="en-US" altLang="ja-JP" sz="1100" b="0" kern="0" dirty="0">
                        <a:solidFill>
                          <a:prstClr val="black"/>
                        </a:solidFill>
                        <a:latin typeface="Meiryo UI" panose="020B0604030504040204" pitchFamily="50" charset="-128"/>
                        <a:ea typeface="Meiryo UI" panose="020B0604030504040204" pitchFamily="50" charset="-128"/>
                      </a:endParaRPr>
                    </a:p>
                  </a:txBody>
                  <a:tcPr marT="0" marB="0" anchor="ctr">
                    <a:noFill/>
                  </a:tcPr>
                </a:tc>
                <a:extLst>
                  <a:ext uri="{0D108BD9-81ED-4DB2-BD59-A6C34878D82A}">
                    <a16:rowId xmlns:a16="http://schemas.microsoft.com/office/drawing/2014/main" val="2502568391"/>
                  </a:ext>
                </a:extLst>
              </a:tr>
              <a:tr h="2693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n-lt"/>
                          <a:ea typeface="Meiryo UI" panose="020B0604030504040204" pitchFamily="50" charset="-128"/>
                        </a:rPr>
                        <a:t>5</a:t>
                      </a:r>
                      <a:endParaRPr kumimoji="1" lang="ja-JP" altLang="en-US" sz="1400" dirty="0">
                        <a:latin typeface="+mn-lt"/>
                        <a:ea typeface="Meiryo UI" panose="020B0604030504040204" pitchFamily="50" charset="-128"/>
                      </a:endParaRPr>
                    </a:p>
                  </a:txBody>
                  <a:tcPr anchor="ctr">
                    <a:solidFill>
                      <a:schemeClr val="accent6">
                        <a:lumMod val="20000"/>
                        <a:lumOff val="80000"/>
                      </a:schemeClr>
                    </a:solidFill>
                  </a:tcPr>
                </a:tc>
                <a:tc>
                  <a:txBody>
                    <a:bodyPr/>
                    <a:lstStyle/>
                    <a:p>
                      <a:pPr algn="l"/>
                      <a:r>
                        <a:rPr kumimoji="1" lang="ja-JP" altLang="en-US" sz="1200" dirty="0">
                          <a:solidFill>
                            <a:schemeClr val="tx1"/>
                          </a:solidFill>
                          <a:latin typeface="+mn-ea"/>
                          <a:ea typeface="+mn-ea"/>
                        </a:rPr>
                        <a:t>関連システム</a:t>
                      </a:r>
                      <a:endParaRPr kumimoji="1" lang="en-US" altLang="ja-JP" sz="1200" dirty="0">
                        <a:solidFill>
                          <a:schemeClr val="tx1"/>
                        </a:solidFill>
                        <a:latin typeface="+mn-ea"/>
                        <a:ea typeface="+mn-ea"/>
                      </a:endParaRPr>
                    </a:p>
                    <a:p>
                      <a:pPr algn="l"/>
                      <a:r>
                        <a:rPr kumimoji="1" lang="ja-JP" altLang="en-US" sz="1200" dirty="0">
                          <a:solidFill>
                            <a:schemeClr val="tx1"/>
                          </a:solidFill>
                          <a:latin typeface="+mn-ea"/>
                          <a:ea typeface="+mn-ea"/>
                        </a:rPr>
                        <a:t>（</a:t>
                      </a:r>
                      <a:r>
                        <a:rPr kumimoji="1" lang="en-US" altLang="ja-JP" sz="1200" dirty="0" err="1">
                          <a:solidFill>
                            <a:schemeClr val="tx1"/>
                          </a:solidFill>
                          <a:latin typeface="+mn-ea"/>
                          <a:ea typeface="+mn-ea"/>
                        </a:rPr>
                        <a:t>CuSIS</a:t>
                      </a:r>
                      <a:r>
                        <a:rPr kumimoji="1" lang="ja-JP" altLang="en-US" sz="1200" dirty="0">
                          <a:solidFill>
                            <a:schemeClr val="tx1"/>
                          </a:solidFill>
                          <a:latin typeface="+mn-ea"/>
                          <a:ea typeface="+mn-ea"/>
                        </a:rPr>
                        <a:t>、延滞管理）</a:t>
                      </a:r>
                    </a:p>
                  </a:txBody>
                  <a:tcPr marL="36000" marR="0" marT="36024" marB="36024" anchor="ctr">
                    <a:solidFill>
                      <a:schemeClr val="accent6">
                        <a:lumMod val="20000"/>
                        <a:lumOff val="80000"/>
                      </a:schemeClr>
                    </a:solidFill>
                  </a:tcPr>
                </a:tc>
                <a:tc vMerge="1">
                  <a:txBody>
                    <a:bodyPr/>
                    <a:lstStyle/>
                    <a:p>
                      <a:endParaRPr kumimoji="1" lang="ja-JP" altLang="en-US"/>
                    </a:p>
                  </a:txBody>
                  <a:tcPr/>
                </a:tc>
                <a:tc>
                  <a:txBody>
                    <a:bodyPr/>
                    <a:lstStyle/>
                    <a:p>
                      <a:endParaRPr kumimoji="1" lang="en-US" altLang="ja-JP" sz="1100" b="0" kern="0" dirty="0">
                        <a:solidFill>
                          <a:prstClr val="black"/>
                        </a:solidFill>
                        <a:latin typeface="Meiryo UI" panose="020B0604030504040204" pitchFamily="50" charset="-128"/>
                        <a:ea typeface="Meiryo UI" panose="020B0604030504040204" pitchFamily="50" charset="-128"/>
                      </a:endParaRPr>
                    </a:p>
                  </a:txBody>
                  <a:tcPr marT="0" marB="0" anchor="ctr">
                    <a:noFill/>
                  </a:tcPr>
                </a:tc>
                <a:extLst>
                  <a:ext uri="{0D108BD9-81ED-4DB2-BD59-A6C34878D82A}">
                    <a16:rowId xmlns:a16="http://schemas.microsoft.com/office/drawing/2014/main" val="2337134295"/>
                  </a:ext>
                </a:extLst>
              </a:tr>
              <a:tr h="2693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n-lt"/>
                          <a:ea typeface="Meiryo UI" panose="020B0604030504040204" pitchFamily="50" charset="-128"/>
                        </a:rPr>
                        <a:t>6</a:t>
                      </a:r>
                      <a:endParaRPr kumimoji="1" lang="ja-JP" altLang="en-US" sz="1400" dirty="0">
                        <a:latin typeface="+mn-lt"/>
                        <a:ea typeface="Meiryo UI" panose="020B0604030504040204" pitchFamily="50" charset="-128"/>
                      </a:endParaRPr>
                    </a:p>
                  </a:txBody>
                  <a:tcPr anchor="ctr">
                    <a:solidFill>
                      <a:schemeClr val="accent6">
                        <a:lumMod val="20000"/>
                        <a:lumOff val="80000"/>
                      </a:schemeClr>
                    </a:solidFill>
                  </a:tcPr>
                </a:tc>
                <a:tc>
                  <a:txBody>
                    <a:bodyPr/>
                    <a:lstStyle/>
                    <a:p>
                      <a:pPr algn="l"/>
                      <a:r>
                        <a:rPr kumimoji="1" lang="ja-JP" altLang="en-US" sz="1200" dirty="0">
                          <a:solidFill>
                            <a:schemeClr val="tx1"/>
                          </a:solidFill>
                          <a:latin typeface="+mn-ea"/>
                          <a:ea typeface="+mn-ea"/>
                        </a:rPr>
                        <a:t>インフラ構築</a:t>
                      </a:r>
                      <a:r>
                        <a:rPr kumimoji="1" lang="en-US" altLang="ja-JP" sz="1200" dirty="0">
                          <a:solidFill>
                            <a:schemeClr val="tx1"/>
                          </a:solidFill>
                          <a:latin typeface="+mn-ea"/>
                          <a:ea typeface="+mn-ea"/>
                        </a:rPr>
                        <a:t>/NW</a:t>
                      </a:r>
                      <a:endParaRPr kumimoji="1" lang="ja-JP" altLang="en-US" sz="1200" dirty="0">
                        <a:solidFill>
                          <a:schemeClr val="tx1"/>
                        </a:solidFill>
                        <a:latin typeface="+mn-ea"/>
                        <a:ea typeface="+mn-ea"/>
                      </a:endParaRPr>
                    </a:p>
                  </a:txBody>
                  <a:tcPr marL="36000" marR="0" marT="36024" marB="36024" anchor="ctr">
                    <a:solidFill>
                      <a:schemeClr val="accent6">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latin typeface="+mn-lt"/>
                        <a:ea typeface="Meiryo UI" panose="020B0604030504040204" pitchFamily="50" charset="-128"/>
                      </a:endParaRPr>
                    </a:p>
                  </a:txBody>
                  <a:tcPr anchor="ctr">
                    <a:noFill/>
                  </a:tcPr>
                </a:tc>
                <a:tc>
                  <a:txBody>
                    <a:bodyPr/>
                    <a:lstStyle/>
                    <a:p>
                      <a:endParaRPr kumimoji="1" lang="en-US" altLang="ja-JP" sz="1100" b="0" kern="0" dirty="0">
                        <a:solidFill>
                          <a:prstClr val="black"/>
                        </a:solidFill>
                        <a:latin typeface="Meiryo UI" panose="020B0604030504040204" pitchFamily="50" charset="-128"/>
                        <a:ea typeface="Meiryo UI" panose="020B0604030504040204" pitchFamily="50" charset="-128"/>
                      </a:endParaRPr>
                    </a:p>
                  </a:txBody>
                  <a:tcPr marT="0" marB="0" anchor="ctr">
                    <a:noFill/>
                  </a:tcPr>
                </a:tc>
                <a:extLst>
                  <a:ext uri="{0D108BD9-81ED-4DB2-BD59-A6C34878D82A}">
                    <a16:rowId xmlns:a16="http://schemas.microsoft.com/office/drawing/2014/main" val="3745311040"/>
                  </a:ext>
                </a:extLst>
              </a:tr>
              <a:tr h="436580">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n-lt"/>
                          <a:ea typeface="Meiryo UI" panose="020B0604030504040204" pitchFamily="50" charset="-128"/>
                        </a:rPr>
                        <a:t>7</a:t>
                      </a:r>
                      <a:endParaRPr kumimoji="1" lang="ja-JP" altLang="en-US" sz="1400" dirty="0">
                        <a:latin typeface="+mn-lt"/>
                        <a:ea typeface="Meiryo UI" panose="020B0604030504040204" pitchFamily="50" charset="-128"/>
                      </a:endParaRPr>
                    </a:p>
                  </a:txBody>
                  <a:tcPr anchor="ctr">
                    <a:solidFill>
                      <a:schemeClr val="accent1">
                        <a:lumMod val="20000"/>
                        <a:lumOff val="80000"/>
                      </a:schemeClr>
                    </a:solidFill>
                  </a:tcPr>
                </a:tc>
                <a:tc rowSpan="5">
                  <a:txBody>
                    <a:bodyPr/>
                    <a:lstStyle/>
                    <a:p>
                      <a:pPr algn="l"/>
                      <a:r>
                        <a:rPr kumimoji="1" lang="ja-JP" altLang="en-US" sz="1200" dirty="0">
                          <a:solidFill>
                            <a:schemeClr val="tx1"/>
                          </a:solidFill>
                          <a:latin typeface="+mn-ea"/>
                          <a:ea typeface="+mn-ea"/>
                        </a:rPr>
                        <a:t>開発工程</a:t>
                      </a:r>
                      <a:endParaRPr kumimoji="1" lang="en-US" altLang="ja-JP" sz="1200" dirty="0">
                        <a:solidFill>
                          <a:schemeClr val="tx1"/>
                        </a:solidFill>
                        <a:latin typeface="+mn-ea"/>
                        <a:ea typeface="+mn-ea"/>
                      </a:endParaRPr>
                    </a:p>
                  </a:txBody>
                  <a:tcPr marL="36000" marR="0" marT="36024" marB="36024"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latin typeface="+mn-lt"/>
                          <a:ea typeface="Meiryo UI" panose="020B0604030504040204" pitchFamily="50" charset="-128"/>
                          <a:cs typeface="+mn-cs"/>
                        </a:rPr>
                        <a:t>基本設計</a:t>
                      </a:r>
                      <a:r>
                        <a:rPr kumimoji="1" lang="en-US" altLang="ja-JP" sz="1200" kern="1200">
                          <a:solidFill>
                            <a:schemeClr val="tx1"/>
                          </a:solidFill>
                          <a:latin typeface="+mn-lt"/>
                          <a:ea typeface="Meiryo UI" panose="020B0604030504040204" pitchFamily="50"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latin typeface="+mn-lt"/>
                          <a:ea typeface="Meiryo UI" panose="020B0604030504040204" pitchFamily="50" charset="-128"/>
                          <a:cs typeface="+mn-cs"/>
                        </a:rPr>
                        <a:t>詳細設計</a:t>
                      </a:r>
                    </a:p>
                  </a:txBody>
                  <a:tcPr anchor="ctr">
                    <a:noFill/>
                  </a:tcPr>
                </a:tc>
                <a:tc>
                  <a:txBody>
                    <a:bodyPr/>
                    <a:lstStyle/>
                    <a:p>
                      <a:endParaRPr kumimoji="1" lang="en-US" altLang="ja-JP" sz="1100" b="0" kern="0">
                        <a:solidFill>
                          <a:prstClr val="black"/>
                        </a:solidFill>
                        <a:latin typeface="Meiryo UI" panose="020B0604030504040204" pitchFamily="50" charset="-128"/>
                        <a:ea typeface="Meiryo UI" panose="020B0604030504040204" pitchFamily="50" charset="-128"/>
                      </a:endParaRPr>
                    </a:p>
                  </a:txBody>
                  <a:tcPr marT="0" marB="0" anchor="ctr">
                    <a:noFill/>
                  </a:tcPr>
                </a:tc>
                <a:extLst>
                  <a:ext uri="{0D108BD9-81ED-4DB2-BD59-A6C34878D82A}">
                    <a16:rowId xmlns:a16="http://schemas.microsoft.com/office/drawing/2014/main" val="1251803249"/>
                  </a:ext>
                </a:extLst>
              </a:tr>
              <a:tr h="35247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dirty="0">
                        <a:latin typeface="+mn-lt"/>
                        <a:ea typeface="Meiryo UI" panose="020B0604030504040204" pitchFamily="50" charset="-128"/>
                      </a:endParaRPr>
                    </a:p>
                  </a:txBody>
                  <a:tcPr anchor="ctr">
                    <a:solidFill>
                      <a:schemeClr val="accent1">
                        <a:lumMod val="20000"/>
                        <a:lumOff val="80000"/>
                      </a:schemeClr>
                    </a:solidFill>
                  </a:tcPr>
                </a:tc>
                <a:tc vMerge="1">
                  <a:txBody>
                    <a:bodyPr/>
                    <a:lstStyle/>
                    <a:p>
                      <a:pPr algn="l"/>
                      <a:endParaRPr kumimoji="1" lang="en-US" altLang="ja-JP" sz="1200" dirty="0">
                        <a:solidFill>
                          <a:schemeClr val="tx1"/>
                        </a:solidFill>
                        <a:latin typeface="+mn-ea"/>
                        <a:ea typeface="+mn-ea"/>
                      </a:endParaRPr>
                    </a:p>
                  </a:txBody>
                  <a:tcPr marL="36000" marR="0" marT="36024" marB="36024"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latin typeface="+mn-lt"/>
                          <a:ea typeface="Meiryo UI" panose="020B0604030504040204" pitchFamily="50" charset="-128"/>
                          <a:cs typeface="+mn-cs"/>
                        </a:rPr>
                        <a:t>製造</a:t>
                      </a:r>
                    </a:p>
                  </a:txBody>
                  <a:tcPr anchor="ctr">
                    <a:noFill/>
                  </a:tcPr>
                </a:tc>
                <a:tc>
                  <a:txBody>
                    <a:bodyPr/>
                    <a:lstStyle/>
                    <a:p>
                      <a:endParaRPr kumimoji="1" lang="en-US" altLang="ja-JP" sz="1100" b="0" kern="0">
                        <a:solidFill>
                          <a:prstClr val="black"/>
                        </a:solidFill>
                        <a:latin typeface="Meiryo UI" panose="020B0604030504040204" pitchFamily="50" charset="-128"/>
                        <a:ea typeface="Meiryo UI" panose="020B0604030504040204" pitchFamily="50" charset="-128"/>
                      </a:endParaRPr>
                    </a:p>
                  </a:txBody>
                  <a:tcPr marT="0" marB="0" anchor="ctr">
                    <a:noFill/>
                  </a:tcPr>
                </a:tc>
                <a:extLst>
                  <a:ext uri="{0D108BD9-81ED-4DB2-BD59-A6C34878D82A}">
                    <a16:rowId xmlns:a16="http://schemas.microsoft.com/office/drawing/2014/main" val="1878325854"/>
                  </a:ext>
                </a:extLst>
              </a:tr>
              <a:tr h="4572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dirty="0">
                        <a:latin typeface="+mn-lt"/>
                        <a:ea typeface="Meiryo UI" panose="020B0604030504040204" pitchFamily="50" charset="-128"/>
                      </a:endParaRPr>
                    </a:p>
                  </a:txBody>
                  <a:tcPr anchor="ctr">
                    <a:solidFill>
                      <a:schemeClr val="accent1">
                        <a:lumMod val="20000"/>
                        <a:lumOff val="80000"/>
                      </a:schemeClr>
                    </a:solidFill>
                  </a:tcPr>
                </a:tc>
                <a:tc vMerge="1">
                  <a:txBody>
                    <a:bodyPr/>
                    <a:lstStyle/>
                    <a:p>
                      <a:pPr algn="l"/>
                      <a:endParaRPr kumimoji="1" lang="ja-JP" altLang="en-US" sz="1200" dirty="0">
                        <a:solidFill>
                          <a:schemeClr val="tx1"/>
                        </a:solidFill>
                        <a:latin typeface="+mn-ea"/>
                        <a:ea typeface="+mn-ea"/>
                      </a:endParaRPr>
                    </a:p>
                  </a:txBody>
                  <a:tcPr marL="36000" marR="0" marT="36024" marB="36024"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latin typeface="+mn-lt"/>
                          <a:ea typeface="Meiryo UI" panose="020B0604030504040204" pitchFamily="50" charset="-128"/>
                          <a:cs typeface="+mn-cs"/>
                        </a:rPr>
                        <a:t>結合テスト</a:t>
                      </a:r>
                      <a:r>
                        <a:rPr kumimoji="1" lang="en-US" altLang="ja-JP" sz="1200" kern="1200">
                          <a:solidFill>
                            <a:schemeClr val="tx1"/>
                          </a:solidFill>
                          <a:latin typeface="+mn-lt"/>
                          <a:ea typeface="Meiryo UI" panose="020B0604030504040204" pitchFamily="50"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latin typeface="+mn-lt"/>
                          <a:ea typeface="Meiryo UI" panose="020B0604030504040204" pitchFamily="50" charset="-128"/>
                          <a:cs typeface="+mn-cs"/>
                        </a:rPr>
                        <a:t>システムテスト</a:t>
                      </a:r>
                    </a:p>
                  </a:txBody>
                  <a:tcPr anchor="ctr">
                    <a:noFill/>
                  </a:tcPr>
                </a:tc>
                <a:tc>
                  <a:txBody>
                    <a:bodyPr/>
                    <a:lstStyle/>
                    <a:p>
                      <a:pPr marL="0" marR="0" indent="0" defTabSz="742950" rtl="0" eaLnBrk="1" fontAlgn="base" latinLnBrk="0" hangingPunct="1">
                        <a:spcBef>
                          <a:spcPct val="0"/>
                        </a:spcBef>
                        <a:spcAft>
                          <a:spcPct val="0"/>
                        </a:spcAft>
                        <a:buClrTx/>
                        <a:buSzTx/>
                        <a:buFontTx/>
                        <a:buNone/>
                        <a:tabLst/>
                      </a:pPr>
                      <a:endParaRPr kumimoji="1" lang="en-US" altLang="ja-JP" sz="1100" b="0" kern="0">
                        <a:solidFill>
                          <a:prstClr val="black"/>
                        </a:solidFill>
                        <a:latin typeface="Meiryo UI" panose="020B0604030504040204" pitchFamily="50" charset="-128"/>
                        <a:ea typeface="Meiryo UI" panose="020B0604030504040204" pitchFamily="50" charset="-128"/>
                      </a:endParaRPr>
                    </a:p>
                  </a:txBody>
                  <a:tcPr marT="0" marB="0" anchor="ctr">
                    <a:noFill/>
                  </a:tcPr>
                </a:tc>
                <a:extLst>
                  <a:ext uri="{0D108BD9-81ED-4DB2-BD59-A6C34878D82A}">
                    <a16:rowId xmlns:a16="http://schemas.microsoft.com/office/drawing/2014/main" val="447678202"/>
                  </a:ext>
                </a:extLst>
              </a:tr>
              <a:tr h="436580">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latin typeface="+mn-lt"/>
                          <a:ea typeface="Meiryo UI" panose="020B0604030504040204" pitchFamily="50" charset="-128"/>
                          <a:cs typeface="+mn-cs"/>
                        </a:rPr>
                        <a:t>移行・導入</a:t>
                      </a:r>
                      <a:endParaRPr kumimoji="1" lang="en-US" altLang="ja-JP" sz="1200" kern="1200">
                        <a:solidFill>
                          <a:schemeClr val="tx1"/>
                        </a:solidFill>
                        <a:latin typeface="+mn-lt"/>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a:solidFill>
                            <a:schemeClr val="tx1"/>
                          </a:solidFill>
                          <a:latin typeface="+mn-lt"/>
                          <a:ea typeface="Meiryo UI" panose="020B0604030504040204" pitchFamily="50" charset="-128"/>
                          <a:cs typeface="+mn-cs"/>
                        </a:rPr>
                        <a:t>(</a:t>
                      </a:r>
                      <a:r>
                        <a:rPr kumimoji="1" lang="ja-JP" altLang="en-US" sz="1200" kern="1200">
                          <a:solidFill>
                            <a:schemeClr val="tx1"/>
                          </a:solidFill>
                          <a:latin typeface="+mn-lt"/>
                          <a:ea typeface="Meiryo UI" panose="020B0604030504040204" pitchFamily="50" charset="-128"/>
                          <a:cs typeface="+mn-cs"/>
                        </a:rPr>
                        <a:t>先行システム</a:t>
                      </a:r>
                      <a:r>
                        <a:rPr kumimoji="1" lang="en-US" altLang="ja-JP" sz="1200" kern="1200">
                          <a:solidFill>
                            <a:schemeClr val="tx1"/>
                          </a:solidFill>
                          <a:latin typeface="+mn-lt"/>
                          <a:ea typeface="Meiryo UI" panose="020B0604030504040204" pitchFamily="50" charset="-128"/>
                          <a:cs typeface="+mn-cs"/>
                        </a:rPr>
                        <a:t>)</a:t>
                      </a:r>
                      <a:endParaRPr kumimoji="1" lang="ja-JP" altLang="en-US" sz="1200" kern="1200">
                        <a:solidFill>
                          <a:schemeClr val="tx1"/>
                        </a:solidFill>
                        <a:latin typeface="+mn-lt"/>
                        <a:ea typeface="Meiryo UI" panose="020B0604030504040204" pitchFamily="50" charset="-128"/>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100">
                        <a:latin typeface="+mn-lt"/>
                        <a:ea typeface="Meiryo UI" panose="020B0604030504040204" pitchFamily="50" charset="-128"/>
                      </a:endParaRPr>
                    </a:p>
                  </a:txBody>
                  <a:tcPr marT="0" marB="0" anchor="ctr">
                    <a:noFill/>
                  </a:tcPr>
                </a:tc>
                <a:extLst>
                  <a:ext uri="{0D108BD9-81ED-4DB2-BD59-A6C34878D82A}">
                    <a16:rowId xmlns:a16="http://schemas.microsoft.com/office/drawing/2014/main" val="1530380076"/>
                  </a:ext>
                </a:extLst>
              </a:tr>
              <a:tr h="0">
                <a:tc vMerge="1">
                  <a:txBody>
                    <a:bodyPr/>
                    <a:lstStyle/>
                    <a:p>
                      <a:pPr algn="ctr"/>
                      <a:r>
                        <a:rPr kumimoji="1" lang="en-US" altLang="ja-JP" sz="1400">
                          <a:latin typeface="+mn-lt"/>
                          <a:ea typeface="Meiryo UI" panose="020B0604030504040204" pitchFamily="50" charset="-128"/>
                        </a:rPr>
                        <a:t>2</a:t>
                      </a:r>
                      <a:endParaRPr kumimoji="1" lang="ja-JP" altLang="en-US" sz="1400">
                        <a:latin typeface="+mn-lt"/>
                        <a:ea typeface="Meiryo UI" panose="020B0604030504040204" pitchFamily="50" charset="-128"/>
                      </a:endParaRPr>
                    </a:p>
                  </a:txBody>
                  <a:tcPr anchor="ctr">
                    <a:noFill/>
                  </a:tcPr>
                </a:tc>
                <a:tc vMerge="1">
                  <a:txBody>
                    <a:bodyPr/>
                    <a:lstStyle/>
                    <a:p>
                      <a:pPr algn="l"/>
                      <a:r>
                        <a:rPr kumimoji="1" lang="ja-JP" altLang="en-US" sz="1200">
                          <a:solidFill>
                            <a:schemeClr val="tx1"/>
                          </a:solidFill>
                          <a:latin typeface="+mn-ea"/>
                          <a:ea typeface="+mn-ea"/>
                        </a:rPr>
                        <a:t>セキュアバックアップ基盤</a:t>
                      </a:r>
                      <a:endParaRPr kumimoji="1" lang="en-US" altLang="ja-JP" sz="1200">
                        <a:solidFill>
                          <a:schemeClr val="tx1"/>
                        </a:solidFill>
                        <a:latin typeface="+mn-ea"/>
                        <a:ea typeface="+mn-ea"/>
                      </a:endParaRPr>
                    </a:p>
                    <a:p>
                      <a:pPr algn="l"/>
                      <a:r>
                        <a:rPr kumimoji="1" lang="en-US" altLang="ja-JP" sz="1200" kern="1200">
                          <a:solidFill>
                            <a:schemeClr val="tx1"/>
                          </a:solidFill>
                          <a:latin typeface="+mn-ea"/>
                          <a:ea typeface="+mn-ea"/>
                          <a:cs typeface="+mn-cs"/>
                        </a:rPr>
                        <a:t>(</a:t>
                      </a:r>
                      <a:r>
                        <a:rPr kumimoji="1" lang="ja-JP" altLang="en-US" sz="1200" kern="1200">
                          <a:solidFill>
                            <a:schemeClr val="tx1"/>
                          </a:solidFill>
                          <a:latin typeface="+mn-ea"/>
                          <a:ea typeface="+mn-ea"/>
                          <a:cs typeface="+mn-cs"/>
                        </a:rPr>
                        <a:t>鰻谷本番</a:t>
                      </a:r>
                      <a:r>
                        <a:rPr kumimoji="1" lang="en-US" altLang="ja-JP" sz="1200" kern="1200">
                          <a:solidFill>
                            <a:schemeClr val="tx1"/>
                          </a:solidFill>
                          <a:latin typeface="+mn-ea"/>
                          <a:ea typeface="+mn-ea"/>
                          <a:cs typeface="+mn-cs"/>
                        </a:rPr>
                        <a:t>)</a:t>
                      </a:r>
                      <a:endParaRPr kumimoji="1" lang="en-US" altLang="ja-JP" sz="1200">
                        <a:solidFill>
                          <a:schemeClr val="tx1"/>
                        </a:solidFill>
                        <a:latin typeface="+mn-ea"/>
                        <a:ea typeface="+mn-ea"/>
                      </a:endParaRPr>
                    </a:p>
                  </a:txBody>
                  <a:tcPr marL="36000" marR="0" marT="36024" marB="36024"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latin typeface="+mn-lt"/>
                          <a:ea typeface="Meiryo UI" panose="020B0604030504040204" pitchFamily="50" charset="-128"/>
                          <a:cs typeface="+mn-cs"/>
                        </a:rPr>
                        <a:t>移行・導入</a:t>
                      </a:r>
                      <a:endParaRPr kumimoji="1" lang="en-US" altLang="ja-JP" sz="1200" kern="1200">
                        <a:solidFill>
                          <a:schemeClr val="tx1"/>
                        </a:solidFill>
                        <a:latin typeface="+mn-lt"/>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a:solidFill>
                            <a:schemeClr val="tx1"/>
                          </a:solidFill>
                          <a:latin typeface="+mn-lt"/>
                          <a:ea typeface="Meiryo UI" panose="020B0604030504040204" pitchFamily="50" charset="-128"/>
                          <a:cs typeface="+mn-cs"/>
                        </a:rPr>
                        <a:t>(</a:t>
                      </a:r>
                      <a:r>
                        <a:rPr kumimoji="1" lang="ja-JP" altLang="en-US" sz="1200" kern="1200">
                          <a:solidFill>
                            <a:schemeClr val="tx1"/>
                          </a:solidFill>
                          <a:latin typeface="+mn-lt"/>
                          <a:ea typeface="Meiryo UI" panose="020B0604030504040204" pitchFamily="50" charset="-128"/>
                          <a:cs typeface="+mn-cs"/>
                        </a:rPr>
                        <a:t>その他</a:t>
                      </a:r>
                      <a:r>
                        <a:rPr kumimoji="1" lang="en-US" altLang="ja-JP" sz="1200" kern="1200">
                          <a:solidFill>
                            <a:schemeClr val="tx1"/>
                          </a:solidFill>
                          <a:latin typeface="+mn-lt"/>
                          <a:ea typeface="Meiryo UI" panose="020B0604030504040204" pitchFamily="50" charset="-128"/>
                          <a:cs typeface="+mn-cs"/>
                        </a:rPr>
                        <a:t>)</a:t>
                      </a:r>
                      <a:endParaRPr kumimoji="1" lang="ja-JP" altLang="en-US" sz="1200" kern="1200">
                        <a:solidFill>
                          <a:schemeClr val="tx1"/>
                        </a:solidFill>
                        <a:latin typeface="+mn-lt"/>
                        <a:ea typeface="Meiryo UI" panose="020B0604030504040204" pitchFamily="50" charset="-128"/>
                        <a:cs typeface="+mn-cs"/>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ja-JP" altLang="en-US" sz="1100" dirty="0">
                        <a:latin typeface="+mn-lt"/>
                        <a:ea typeface="Meiryo UI" panose="020B0604030504040204" pitchFamily="50" charset="-128"/>
                      </a:endParaRPr>
                    </a:p>
                  </a:txBody>
                  <a:tcPr marT="0" marB="0" anchor="ctr">
                    <a:noFill/>
                  </a:tcPr>
                </a:tc>
                <a:extLst>
                  <a:ext uri="{0D108BD9-81ED-4DB2-BD59-A6C34878D82A}">
                    <a16:rowId xmlns:a16="http://schemas.microsoft.com/office/drawing/2014/main" val="4190665786"/>
                  </a:ext>
                </a:extLst>
              </a:tr>
            </a:tbl>
          </a:graphicData>
        </a:graphic>
      </p:graphicFrame>
      <p:sp>
        <p:nvSpPr>
          <p:cNvPr id="3" name="正方形/長方形 2">
            <a:extLst>
              <a:ext uri="{FF2B5EF4-FFF2-40B4-BE49-F238E27FC236}">
                <a16:creationId xmlns:a16="http://schemas.microsoft.com/office/drawing/2014/main" id="{1B3DF393-9EE8-DC37-1712-F72DD5D4AD84}"/>
              </a:ext>
            </a:extLst>
          </p:cNvPr>
          <p:cNvSpPr>
            <a:spLocks noChangeArrowheads="1"/>
          </p:cNvSpPr>
          <p:nvPr/>
        </p:nvSpPr>
        <p:spPr bwMode="gray">
          <a:xfrm>
            <a:off x="169026" y="1830628"/>
            <a:ext cx="9567949" cy="602329"/>
          </a:xfrm>
          <a:prstGeom prst="rect">
            <a:avLst/>
          </a:prstGeom>
          <a:noFill/>
          <a:ln w="28575" algn="ctr">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algn="ctr" eaLnBrk="1" hangingPunct="1">
              <a:spcBef>
                <a:spcPct val="0"/>
              </a:spcBef>
              <a:buFontTx/>
              <a:buNone/>
            </a:pPr>
            <a:endParaRPr lang="ja-JP" altLang="en-US" sz="1400">
              <a:latin typeface="+mn-ea"/>
              <a:ea typeface="+mn-ea"/>
            </a:endParaRPr>
          </a:p>
        </p:txBody>
      </p:sp>
      <p:sp>
        <p:nvSpPr>
          <p:cNvPr id="5" name="テキスト ボックス 4">
            <a:extLst>
              <a:ext uri="{FF2B5EF4-FFF2-40B4-BE49-F238E27FC236}">
                <a16:creationId xmlns:a16="http://schemas.microsoft.com/office/drawing/2014/main" id="{9D5E0097-E1A7-1B68-506B-DA16A5266D6A}"/>
              </a:ext>
            </a:extLst>
          </p:cNvPr>
          <p:cNvSpPr txBox="1"/>
          <p:nvPr/>
        </p:nvSpPr>
        <p:spPr>
          <a:xfrm>
            <a:off x="3609259" y="3789912"/>
            <a:ext cx="6066755" cy="2088374"/>
          </a:xfrm>
          <a:prstGeom prst="rect">
            <a:avLst/>
          </a:prstGeom>
          <a:solidFill>
            <a:schemeClr val="accent4">
              <a:alpha val="19000"/>
            </a:schemeClr>
          </a:solidFill>
        </p:spPr>
        <p:txBody>
          <a:bodyPr wrap="square" rtlCol="0" anchor="ctr">
            <a:noAutofit/>
          </a:bodyPr>
          <a:lstStyle/>
          <a:p>
            <a:pPr algn="ctr"/>
            <a:r>
              <a:rPr lang="ja-JP" altLang="en-US" sz="2400" b="1">
                <a:latin typeface="+mn-ea"/>
                <a:ea typeface="+mn-ea"/>
              </a:rPr>
              <a:t>要件定義工程にて詳細化</a:t>
            </a:r>
            <a:endParaRPr kumimoji="1" lang="ja-JP" altLang="en-US" sz="2400" b="1">
              <a:latin typeface="+mn-ea"/>
              <a:ea typeface="+mn-ea"/>
            </a:endParaRPr>
          </a:p>
        </p:txBody>
      </p:sp>
    </p:spTree>
    <p:extLst>
      <p:ext uri="{BB962C8B-B14F-4D97-AF65-F5344CB8AC3E}">
        <p14:creationId xmlns:p14="http://schemas.microsoft.com/office/powerpoint/2010/main" val="643280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8249B0EB-E7A6-3CF9-74C5-09FD39D2F799}"/>
              </a:ext>
            </a:extLst>
          </p:cNvPr>
          <p:cNvSpPr txBox="1">
            <a:spLocks/>
          </p:cNvSpPr>
          <p:nvPr/>
        </p:nvSpPr>
        <p:spPr>
          <a:xfrm>
            <a:off x="628322" y="136510"/>
            <a:ext cx="9004300" cy="334962"/>
          </a:xfrm>
          <a:prstGeom prst="rect">
            <a:avLst/>
          </a:prstGeom>
        </p:spPr>
        <p:txBody>
          <a:bodyPr/>
          <a:lst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a:lstStyle>
          <a:p>
            <a:r>
              <a:rPr lang="ja-JP" altLang="en-US" kern="0"/>
              <a:t>２</a:t>
            </a:r>
            <a:r>
              <a:rPr lang="en-US" altLang="ja-JP" kern="0"/>
              <a:t>-</a:t>
            </a:r>
            <a:r>
              <a:rPr lang="ja-JP" altLang="en-US" kern="0"/>
              <a:t>２．</a:t>
            </a:r>
            <a:r>
              <a:rPr lang="en-US" altLang="ja-JP" kern="0">
                <a:latin typeface="Meiryo UI" panose="020B0604030504040204" pitchFamily="50" charset="-128"/>
                <a:ea typeface="Meiryo UI" panose="020B0604030504040204" pitchFamily="50" charset="-128"/>
              </a:rPr>
              <a:t>【</a:t>
            </a:r>
            <a:r>
              <a:rPr lang="ja-JP" altLang="en-US" kern="0">
                <a:latin typeface="Meiryo UI" panose="020B0604030504040204" pitchFamily="50" charset="-128"/>
                <a:ea typeface="Meiryo UI" panose="020B0604030504040204" pitchFamily="50" charset="-128"/>
              </a:rPr>
              <a:t>プロジェクトスコープ</a:t>
            </a:r>
            <a:r>
              <a:rPr lang="en-US" altLang="ja-JP" kern="0">
                <a:latin typeface="Meiryo UI" panose="020B0604030504040204" pitchFamily="50" charset="-128"/>
                <a:ea typeface="Meiryo UI" panose="020B0604030504040204" pitchFamily="50" charset="-128"/>
              </a:rPr>
              <a:t>】</a:t>
            </a:r>
            <a:r>
              <a:rPr lang="ja-JP" altLang="en-US" kern="0">
                <a:latin typeface="Meiryo UI" panose="020B0604030504040204" pitchFamily="50" charset="-128"/>
                <a:ea typeface="Meiryo UI" panose="020B0604030504040204" pitchFamily="50" charset="-128"/>
              </a:rPr>
              <a:t>要件定義検討項目</a:t>
            </a:r>
            <a:endParaRPr lang="en-US" altLang="ja-JP" kern="0">
              <a:latin typeface="Meiryo UI" panose="020B0604030504040204" pitchFamily="50" charset="-128"/>
              <a:ea typeface="Meiryo UI" panose="020B0604030504040204" pitchFamily="50" charset="-128"/>
            </a:endParaRPr>
          </a:p>
        </p:txBody>
      </p:sp>
      <p:sp>
        <p:nvSpPr>
          <p:cNvPr id="6" name="テキスト プレースホルダー 2">
            <a:extLst>
              <a:ext uri="{FF2B5EF4-FFF2-40B4-BE49-F238E27FC236}">
                <a16:creationId xmlns:a16="http://schemas.microsoft.com/office/drawing/2014/main" id="{AB01424E-546B-5C0A-FA2A-42BF3690FD80}"/>
              </a:ext>
            </a:extLst>
          </p:cNvPr>
          <p:cNvSpPr>
            <a:spLocks noGrp="1"/>
          </p:cNvSpPr>
          <p:nvPr>
            <p:ph type="body" sz="quarter" idx="12"/>
          </p:nvPr>
        </p:nvSpPr>
        <p:spPr>
          <a:xfrm>
            <a:off x="165000" y="613722"/>
            <a:ext cx="9740999" cy="1323467"/>
          </a:xfrm>
        </p:spPr>
        <p:txBody>
          <a:bodyPr/>
          <a:lstStyle/>
          <a:p>
            <a:r>
              <a:rPr lang="ja-JP" altLang="en-US" dirty="0"/>
              <a:t>業務要件および非機能要件については、現行水準通りとする</a:t>
            </a:r>
            <a:endParaRPr lang="en-US" altLang="ja-JP" dirty="0"/>
          </a:p>
          <a:p>
            <a:r>
              <a:rPr lang="ja-JP" altLang="en-US" dirty="0"/>
              <a:t>インテル共通基盤の後継への移行が不可となることから後継構成（アプライアンス＋オープン系システム基盤）となる</a:t>
            </a:r>
            <a:endParaRPr lang="en-US" altLang="ja-JP" dirty="0"/>
          </a:p>
          <a:p>
            <a:r>
              <a:rPr lang="en-US" altLang="ja-JP" dirty="0"/>
              <a:t>CTI</a:t>
            </a:r>
            <a:r>
              <a:rPr lang="ja-JP" altLang="en-US" dirty="0"/>
              <a:t>アプリ変更に伴う関連システム（延滞管理・</a:t>
            </a:r>
            <a:r>
              <a:rPr lang="en-US" altLang="ja-JP" dirty="0" err="1"/>
              <a:t>CuSIS</a:t>
            </a:r>
            <a:r>
              <a:rPr lang="ja-JP" altLang="en-US" dirty="0"/>
              <a:t>）への影響が不明であり、関連システムの要件定義はフェーズを分けて実施</a:t>
            </a:r>
            <a:endParaRPr lang="en-US" altLang="ja-JP" dirty="0"/>
          </a:p>
          <a:p>
            <a:r>
              <a:rPr lang="ja-JP" altLang="en-US" dirty="0"/>
              <a:t>アウトバウンド製品の選定が未完了となっており、アウトバウンドの要件定義は更改方針決定後にフェーズを分けて実施</a:t>
            </a:r>
            <a:endParaRPr lang="en-US" altLang="ja-JP" dirty="0"/>
          </a:p>
          <a:p>
            <a:r>
              <a:rPr lang="ja-JP" altLang="en-US" dirty="0"/>
              <a:t>体制についても現在調整中で、開発スケジュールや体制の精緻化が必要</a:t>
            </a:r>
            <a:endParaRPr lang="en-US" altLang="ja-JP" dirty="0"/>
          </a:p>
        </p:txBody>
      </p:sp>
      <p:graphicFrame>
        <p:nvGraphicFramePr>
          <p:cNvPr id="8" name="Group 230">
            <a:extLst>
              <a:ext uri="{FF2B5EF4-FFF2-40B4-BE49-F238E27FC236}">
                <a16:creationId xmlns:a16="http://schemas.microsoft.com/office/drawing/2014/main" id="{12AE2018-A346-9337-4AFD-61A9DF0E9659}"/>
              </a:ext>
            </a:extLst>
          </p:cNvPr>
          <p:cNvGraphicFramePr>
            <a:graphicFrameLocks noGrp="1"/>
          </p:cNvGraphicFramePr>
          <p:nvPr>
            <p:extLst>
              <p:ext uri="{D42A27DB-BD31-4B8C-83A1-F6EECF244321}">
                <p14:modId xmlns:p14="http://schemas.microsoft.com/office/powerpoint/2010/main" val="1358481176"/>
              </p:ext>
            </p:extLst>
          </p:nvPr>
        </p:nvGraphicFramePr>
        <p:xfrm>
          <a:off x="172499" y="2000238"/>
          <a:ext cx="9561002" cy="4718037"/>
        </p:xfrm>
        <a:graphic>
          <a:graphicData uri="http://schemas.openxmlformats.org/drawingml/2006/table">
            <a:tbl>
              <a:tblPr/>
              <a:tblGrid>
                <a:gridCol w="392392">
                  <a:extLst>
                    <a:ext uri="{9D8B030D-6E8A-4147-A177-3AD203B41FA5}">
                      <a16:colId xmlns:a16="http://schemas.microsoft.com/office/drawing/2014/main" val="1166632712"/>
                    </a:ext>
                  </a:extLst>
                </a:gridCol>
                <a:gridCol w="519533">
                  <a:extLst>
                    <a:ext uri="{9D8B030D-6E8A-4147-A177-3AD203B41FA5}">
                      <a16:colId xmlns:a16="http://schemas.microsoft.com/office/drawing/2014/main" val="333953395"/>
                    </a:ext>
                  </a:extLst>
                </a:gridCol>
                <a:gridCol w="532837">
                  <a:extLst>
                    <a:ext uri="{9D8B030D-6E8A-4147-A177-3AD203B41FA5}">
                      <a16:colId xmlns:a16="http://schemas.microsoft.com/office/drawing/2014/main" val="20000"/>
                    </a:ext>
                  </a:extLst>
                </a:gridCol>
                <a:gridCol w="1365924">
                  <a:extLst>
                    <a:ext uri="{9D8B030D-6E8A-4147-A177-3AD203B41FA5}">
                      <a16:colId xmlns:a16="http://schemas.microsoft.com/office/drawing/2014/main" val="2260432545"/>
                    </a:ext>
                  </a:extLst>
                </a:gridCol>
                <a:gridCol w="1350063">
                  <a:extLst>
                    <a:ext uri="{9D8B030D-6E8A-4147-A177-3AD203B41FA5}">
                      <a16:colId xmlns:a16="http://schemas.microsoft.com/office/drawing/2014/main" val="2998989974"/>
                    </a:ext>
                  </a:extLst>
                </a:gridCol>
                <a:gridCol w="1350063">
                  <a:extLst>
                    <a:ext uri="{9D8B030D-6E8A-4147-A177-3AD203B41FA5}">
                      <a16:colId xmlns:a16="http://schemas.microsoft.com/office/drawing/2014/main" val="504352211"/>
                    </a:ext>
                  </a:extLst>
                </a:gridCol>
                <a:gridCol w="1350064">
                  <a:extLst>
                    <a:ext uri="{9D8B030D-6E8A-4147-A177-3AD203B41FA5}">
                      <a16:colId xmlns:a16="http://schemas.microsoft.com/office/drawing/2014/main" val="1234127411"/>
                    </a:ext>
                  </a:extLst>
                </a:gridCol>
                <a:gridCol w="1350063">
                  <a:extLst>
                    <a:ext uri="{9D8B030D-6E8A-4147-A177-3AD203B41FA5}">
                      <a16:colId xmlns:a16="http://schemas.microsoft.com/office/drawing/2014/main" val="622939243"/>
                    </a:ext>
                  </a:extLst>
                </a:gridCol>
                <a:gridCol w="1350063">
                  <a:extLst>
                    <a:ext uri="{9D8B030D-6E8A-4147-A177-3AD203B41FA5}">
                      <a16:colId xmlns:a16="http://schemas.microsoft.com/office/drawing/2014/main" val="20002"/>
                    </a:ext>
                  </a:extLst>
                </a:gridCol>
              </a:tblGrid>
              <a:tr h="267056">
                <a:tc>
                  <a:txBody>
                    <a:bodyPr/>
                    <a:lstStyle/>
                    <a:p>
                      <a:pPr marL="0" marR="0" lvl="0" indent="0" algn="ctr" defTabSz="914400" rtl="0" eaLnBrk="1" fontAlgn="base" latinLnBrk="0" hangingPunct="1">
                        <a:lnSpc>
                          <a:spcPct val="100000"/>
                        </a:lnSpc>
                        <a:spcBef>
                          <a:spcPct val="10000"/>
                        </a:spcBef>
                        <a:spcAft>
                          <a:spcPct val="0"/>
                        </a:spcAft>
                        <a:buClr>
                          <a:srgbClr val="003C2C"/>
                        </a:buClr>
                        <a:buSzTx/>
                        <a:buFont typeface="Wingdings" pitchFamily="2" charset="2"/>
                        <a:buNone/>
                        <a:tabLst/>
                      </a:pPr>
                      <a:r>
                        <a:rPr kumimoji="1" lang="en-US" altLang="ja-JP" sz="1100" b="1" i="0" u="none" strike="noStrike" cap="none" normalizeH="0" baseline="0" dirty="0">
                          <a:ln>
                            <a:noFill/>
                          </a:ln>
                          <a:solidFill>
                            <a:schemeClr val="tx1"/>
                          </a:solidFill>
                          <a:effectLst/>
                          <a:latin typeface="+mn-ea"/>
                          <a:ea typeface="+mn-ea"/>
                        </a:rPr>
                        <a:t>No</a:t>
                      </a:r>
                      <a:endParaRPr kumimoji="1" lang="ja-JP" altLang="en-US" sz="1100" b="1" i="0" u="none" strike="noStrike" cap="none" normalizeH="0" baseline="0" dirty="0">
                        <a:ln>
                          <a:noFill/>
                        </a:ln>
                        <a:solidFill>
                          <a:schemeClr val="tx1"/>
                        </a:solidFill>
                        <a:effectLst/>
                        <a:latin typeface="+mn-ea"/>
                        <a:ea typeface="+mn-ea"/>
                      </a:endParaRP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tx2">
                        <a:lumMod val="20000"/>
                        <a:lumOff val="80000"/>
                      </a:schemeClr>
                    </a:solidFill>
                  </a:tcPr>
                </a:tc>
                <a:tc gridSpan="3">
                  <a:txBody>
                    <a:bodyPr/>
                    <a:lstStyle/>
                    <a:p>
                      <a:pPr marL="0" marR="0" lvl="0" indent="0" algn="ctr" defTabSz="914400" rtl="0" eaLnBrk="1" fontAlgn="base" latinLnBrk="0" hangingPunct="1">
                        <a:lnSpc>
                          <a:spcPct val="100000"/>
                        </a:lnSpc>
                        <a:spcBef>
                          <a:spcPct val="10000"/>
                        </a:spcBef>
                        <a:spcAft>
                          <a:spcPct val="0"/>
                        </a:spcAft>
                        <a:buClr>
                          <a:srgbClr val="003C2C"/>
                        </a:buClr>
                        <a:buSzTx/>
                        <a:buFont typeface="Wingdings" pitchFamily="2" charset="2"/>
                        <a:buNone/>
                        <a:tabLst/>
                      </a:pPr>
                      <a:r>
                        <a:rPr kumimoji="1" lang="ja-JP" altLang="en-US" sz="1100" b="1" i="0" u="none" strike="noStrike" cap="none" normalizeH="0" baseline="0" dirty="0">
                          <a:ln>
                            <a:noFill/>
                          </a:ln>
                          <a:solidFill>
                            <a:schemeClr val="tx1"/>
                          </a:solidFill>
                          <a:effectLst/>
                          <a:latin typeface="+mn-ea"/>
                          <a:ea typeface="+mn-ea"/>
                        </a:rPr>
                        <a:t>検討項目</a:t>
                      </a:r>
                    </a:p>
                  </a:txBody>
                  <a:tcPr marL="89996" marR="89996"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tx2">
                        <a:lumMod val="20000"/>
                        <a:lumOff val="80000"/>
                      </a:schemeClr>
                    </a:solidFill>
                  </a:tcPr>
                </a:tc>
                <a:tc hMerge="1">
                  <a:txBody>
                    <a:bodyPr/>
                    <a:lstStyle/>
                    <a:p>
                      <a:pPr marL="0" marR="0" lvl="0" indent="0" algn="ctr" defTabSz="914400" rtl="0" eaLnBrk="1" fontAlgn="base" latinLnBrk="0" hangingPunct="1">
                        <a:lnSpc>
                          <a:spcPct val="100000"/>
                        </a:lnSpc>
                        <a:spcBef>
                          <a:spcPct val="10000"/>
                        </a:spcBef>
                        <a:spcAft>
                          <a:spcPct val="0"/>
                        </a:spcAft>
                        <a:buClr>
                          <a:srgbClr val="003C2C"/>
                        </a:buClr>
                        <a:buSzTx/>
                        <a:buFont typeface="Wingdings" pitchFamily="2" charset="2"/>
                        <a:buNone/>
                        <a:tabLst/>
                      </a:pPr>
                      <a:endParaRPr kumimoji="1" lang="ja-JP" altLang="en-US" sz="1600" b="1" i="0" u="none" strike="noStrike" cap="none" normalizeH="0" baseline="0" dirty="0">
                        <a:ln>
                          <a:noFill/>
                        </a:ln>
                        <a:solidFill>
                          <a:schemeClr val="tx1"/>
                        </a:solidFill>
                        <a:effectLst/>
                        <a:latin typeface="ＭＳ Ｐゴシック" panose="020B0600070205080204" pitchFamily="50" charset="-128"/>
                        <a:ea typeface="ＭＳ Ｐゴシック" panose="020B0600070205080204" pitchFamily="50" charset="-128"/>
                      </a:endParaRPr>
                    </a:p>
                  </a:txBody>
                  <a:tcPr marL="89996" marR="89996"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tx2">
                        <a:lumMod val="20000"/>
                        <a:lumOff val="80000"/>
                      </a:schemeClr>
                    </a:solidFill>
                  </a:tcPr>
                </a:tc>
                <a:tc hMerge="1">
                  <a:txBody>
                    <a:bodyPr/>
                    <a:lstStyle/>
                    <a:p>
                      <a:pPr marL="0" marR="0" lvl="0" indent="0" algn="ctr" defTabSz="914400" rtl="0" eaLnBrk="1" fontAlgn="base" latinLnBrk="0" hangingPunct="1">
                        <a:lnSpc>
                          <a:spcPct val="100000"/>
                        </a:lnSpc>
                        <a:spcBef>
                          <a:spcPct val="10000"/>
                        </a:spcBef>
                        <a:spcAft>
                          <a:spcPct val="0"/>
                        </a:spcAft>
                        <a:buClr>
                          <a:srgbClr val="003C2C"/>
                        </a:buClr>
                        <a:buSzTx/>
                        <a:buFont typeface="Wingdings" pitchFamily="2" charset="2"/>
                        <a:buNone/>
                        <a:tabLst/>
                      </a:pPr>
                      <a:endParaRPr kumimoji="1" lang="ja-JP" altLang="en-US" sz="1200" b="1" i="0" u="none" strike="noStrike" cap="none" normalizeH="0" baseline="0" dirty="0">
                        <a:ln>
                          <a:noFill/>
                        </a:ln>
                        <a:solidFill>
                          <a:schemeClr val="tx1"/>
                        </a:solidFill>
                        <a:effectLst/>
                        <a:latin typeface="+mn-ea"/>
                        <a:ea typeface="+mn-ea"/>
                      </a:endParaRPr>
                    </a:p>
                  </a:txBody>
                  <a:tcPr marL="89996" marR="89996"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10000"/>
                        </a:spcBef>
                        <a:spcAft>
                          <a:spcPct val="0"/>
                        </a:spcAft>
                        <a:buClr>
                          <a:srgbClr val="003C2C"/>
                        </a:buClr>
                        <a:buSzTx/>
                        <a:buFont typeface="Wingdings" pitchFamily="2" charset="2"/>
                        <a:buNone/>
                        <a:tabLst/>
                      </a:pPr>
                      <a:r>
                        <a:rPr kumimoji="1" lang="en-US" altLang="ja-JP" sz="1100" b="1" i="0" u="none" strike="noStrike" cap="none" normalizeH="0" baseline="0" dirty="0">
                          <a:ln>
                            <a:noFill/>
                          </a:ln>
                          <a:solidFill>
                            <a:schemeClr val="tx1"/>
                          </a:solidFill>
                          <a:effectLst/>
                          <a:latin typeface="+mn-ea"/>
                          <a:ea typeface="+mn-ea"/>
                        </a:rPr>
                        <a:t>CTI</a:t>
                      </a:r>
                      <a:r>
                        <a:rPr kumimoji="1" lang="ja-JP" altLang="en-US" sz="1100" b="1" i="0" u="none" strike="noStrike" cap="none" normalizeH="0" baseline="0" dirty="0">
                          <a:ln>
                            <a:noFill/>
                          </a:ln>
                          <a:solidFill>
                            <a:schemeClr val="tx1"/>
                          </a:solidFill>
                          <a:effectLst/>
                          <a:latin typeface="+mn-ea"/>
                          <a:ea typeface="+mn-ea"/>
                        </a:rPr>
                        <a:t>基盤</a:t>
                      </a:r>
                    </a:p>
                  </a:txBody>
                  <a:tcPr marL="89996" marR="89996"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10000"/>
                        </a:spcBef>
                        <a:spcAft>
                          <a:spcPct val="0"/>
                        </a:spcAft>
                        <a:buClr>
                          <a:srgbClr val="003C2C"/>
                        </a:buClr>
                        <a:buSzTx/>
                        <a:buFont typeface="Wingdings" pitchFamily="2" charset="2"/>
                        <a:buNone/>
                        <a:tabLst/>
                      </a:pPr>
                      <a:r>
                        <a:rPr kumimoji="1" lang="en-US" altLang="ja-JP" sz="1100" b="1" i="0" u="none" strike="noStrike" cap="none" normalizeH="0" baseline="0" dirty="0">
                          <a:ln>
                            <a:noFill/>
                          </a:ln>
                          <a:solidFill>
                            <a:schemeClr val="tx1"/>
                          </a:solidFill>
                          <a:effectLst/>
                          <a:latin typeface="+mn-ea"/>
                          <a:ea typeface="+mn-ea"/>
                        </a:rPr>
                        <a:t>CTI</a:t>
                      </a:r>
                      <a:r>
                        <a:rPr kumimoji="1" lang="ja-JP" altLang="en-US" sz="1100" b="1" i="0" u="none" strike="noStrike" cap="none" normalizeH="0" baseline="0" dirty="0">
                          <a:ln>
                            <a:noFill/>
                          </a:ln>
                          <a:solidFill>
                            <a:schemeClr val="tx1"/>
                          </a:solidFill>
                          <a:effectLst/>
                          <a:latin typeface="+mn-ea"/>
                          <a:ea typeface="+mn-ea"/>
                        </a:rPr>
                        <a:t>アプリ</a:t>
                      </a:r>
                    </a:p>
                  </a:txBody>
                  <a:tcPr marL="89996" marR="89996"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10000"/>
                        </a:spcBef>
                        <a:spcAft>
                          <a:spcPct val="0"/>
                        </a:spcAft>
                        <a:buClr>
                          <a:srgbClr val="003C2C"/>
                        </a:buClr>
                        <a:buSzTx/>
                        <a:buFont typeface="Wingdings" pitchFamily="2" charset="2"/>
                        <a:buNone/>
                        <a:tabLst/>
                      </a:pPr>
                      <a:r>
                        <a:rPr kumimoji="1" lang="ja-JP" altLang="en-US" sz="1100" b="1" i="0" u="none" strike="noStrike" cap="none" normalizeH="0" baseline="0" dirty="0">
                          <a:ln>
                            <a:noFill/>
                          </a:ln>
                          <a:solidFill>
                            <a:schemeClr val="tx1"/>
                          </a:solidFill>
                          <a:effectLst/>
                          <a:latin typeface="+mn-ea"/>
                          <a:ea typeface="+mn-ea"/>
                        </a:rPr>
                        <a:t>延滞管理</a:t>
                      </a:r>
                    </a:p>
                  </a:txBody>
                  <a:tcPr marL="89996" marR="89996"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10000"/>
                        </a:spcBef>
                        <a:spcAft>
                          <a:spcPct val="0"/>
                        </a:spcAft>
                        <a:buClr>
                          <a:srgbClr val="003C2C"/>
                        </a:buClr>
                        <a:buSzTx/>
                        <a:buFont typeface="Wingdings" pitchFamily="2" charset="2"/>
                        <a:buNone/>
                        <a:tabLst/>
                      </a:pPr>
                      <a:r>
                        <a:rPr kumimoji="1" lang="en-US" altLang="ja-JP" sz="1100" b="1" i="0" u="none" strike="noStrike" cap="none" normalizeH="0" baseline="0" dirty="0" err="1">
                          <a:ln>
                            <a:noFill/>
                          </a:ln>
                          <a:solidFill>
                            <a:schemeClr val="tx1"/>
                          </a:solidFill>
                          <a:effectLst/>
                          <a:latin typeface="+mn-ea"/>
                          <a:ea typeface="+mn-ea"/>
                        </a:rPr>
                        <a:t>CuSIS</a:t>
                      </a:r>
                      <a:endParaRPr kumimoji="1" lang="ja-JP" altLang="en-US" sz="1100" b="1" i="0" u="none" strike="noStrike" cap="none" normalizeH="0" baseline="0" dirty="0">
                        <a:ln>
                          <a:noFill/>
                        </a:ln>
                        <a:solidFill>
                          <a:schemeClr val="tx1"/>
                        </a:solidFill>
                        <a:effectLst/>
                        <a:latin typeface="+mn-ea"/>
                        <a:ea typeface="+mn-ea"/>
                      </a:endParaRPr>
                    </a:p>
                  </a:txBody>
                  <a:tcPr marL="89996" marR="89996"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10000"/>
                        </a:spcBef>
                        <a:spcAft>
                          <a:spcPct val="0"/>
                        </a:spcAft>
                        <a:buClr>
                          <a:srgbClr val="003C2C"/>
                        </a:buClr>
                        <a:buSzTx/>
                        <a:buFont typeface="Wingdings" pitchFamily="2" charset="2"/>
                        <a:buNone/>
                        <a:tabLst/>
                      </a:pPr>
                      <a:r>
                        <a:rPr kumimoji="1" lang="en-US" altLang="ja-JP" sz="1100" b="1" i="0" u="none" strike="noStrike" cap="none" normalizeH="0" baseline="0" dirty="0">
                          <a:ln>
                            <a:noFill/>
                          </a:ln>
                          <a:solidFill>
                            <a:schemeClr val="tx1"/>
                          </a:solidFill>
                          <a:effectLst/>
                          <a:latin typeface="+mn-ea"/>
                          <a:ea typeface="+mn-ea"/>
                        </a:rPr>
                        <a:t>IVR</a:t>
                      </a:r>
                      <a:endParaRPr kumimoji="1" lang="ja-JP" altLang="en-US" sz="1100" b="1" i="0" u="none" strike="noStrike" cap="none" normalizeH="0" baseline="0" dirty="0">
                        <a:ln>
                          <a:noFill/>
                        </a:ln>
                        <a:solidFill>
                          <a:schemeClr val="tx1"/>
                        </a:solidFill>
                        <a:effectLst/>
                        <a:latin typeface="+mn-ea"/>
                        <a:ea typeface="+mn-ea"/>
                      </a:endParaRPr>
                    </a:p>
                  </a:txBody>
                  <a:tcPr marL="89996" marR="89996"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0"/>
                  </a:ext>
                </a:extLst>
              </a:tr>
              <a:tr h="220472">
                <a:tc>
                  <a:txBody>
                    <a:bodyPr/>
                    <a:lstStyle/>
                    <a:p>
                      <a:pPr algn="ctr">
                        <a:defRPr/>
                      </a:pPr>
                      <a:r>
                        <a:rPr lang="en-US" altLang="ja-JP" sz="1100" dirty="0">
                          <a:solidFill>
                            <a:schemeClr val="tx1"/>
                          </a:solidFill>
                          <a:latin typeface="+mn-ea"/>
                          <a:ea typeface="+mn-ea"/>
                        </a:rPr>
                        <a:t>1</a:t>
                      </a:r>
                      <a:endParaRPr lang="ja-JP" altLang="en-US" sz="1100" dirty="0">
                        <a:solidFill>
                          <a:schemeClr val="tx1"/>
                        </a:solidFill>
                        <a:latin typeface="+mn-ea"/>
                        <a:ea typeface="+mn-ea"/>
                      </a:endParaRP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3">
                  <a:txBody>
                    <a:bodyPr/>
                    <a:lstStyle/>
                    <a:p>
                      <a:pPr algn="l">
                        <a:defRPr/>
                      </a:pPr>
                      <a:r>
                        <a:rPr lang="ja-JP" altLang="en-US" sz="1100" dirty="0">
                          <a:solidFill>
                            <a:schemeClr val="tx1"/>
                          </a:solidFill>
                          <a:latin typeface="+mn-ea"/>
                          <a:ea typeface="+mn-ea"/>
                        </a:rPr>
                        <a:t>機能要件（</a:t>
                      </a:r>
                      <a:r>
                        <a:rPr kumimoji="1" lang="ja-JP" altLang="en-US" sz="1100" kern="1200" dirty="0">
                          <a:solidFill>
                            <a:schemeClr val="tx1"/>
                          </a:solidFill>
                          <a:latin typeface="+mn-ea"/>
                          <a:ea typeface="+mn-ea"/>
                          <a:cs typeface="+mn-cs"/>
                        </a:rPr>
                        <a:t>バージョンアップに伴う非互換</a:t>
                      </a:r>
                      <a:r>
                        <a:rPr lang="ja-JP" altLang="en-US" sz="1100" dirty="0">
                          <a:solidFill>
                            <a:schemeClr val="tx1"/>
                          </a:solidFill>
                          <a:latin typeface="+mn-ea"/>
                          <a:ea typeface="+mn-ea"/>
                        </a:rPr>
                        <a:t>）</a:t>
                      </a: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algn="l">
                        <a:defRPr/>
                      </a:pPr>
                      <a:endParaRPr lang="ja-JP" altLang="en-US" sz="1200" dirty="0">
                        <a:latin typeface="ＭＳ Ｐゴシック" panose="020B0600070205080204" pitchFamily="50" charset="-128"/>
                        <a:ea typeface="ＭＳ Ｐゴシック" panose="020B060007020508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200" dirty="0">
                        <a:solidFill>
                          <a:schemeClr val="tx1"/>
                        </a:solidFill>
                        <a:latin typeface="+mn-ea"/>
                        <a:ea typeface="+mn-ea"/>
                      </a:endParaRP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5">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pPr>
                      <a:r>
                        <a:rPr kumimoji="1" lang="ja-JP" altLang="en-US" sz="1100" b="0" i="0" u="none" strike="noStrike" kern="1200" cap="none" normalizeH="0" baseline="0" dirty="0">
                          <a:ln>
                            <a:noFill/>
                          </a:ln>
                          <a:solidFill>
                            <a:schemeClr val="tx1"/>
                          </a:solidFill>
                          <a:effectLst/>
                          <a:latin typeface="+mn-ea"/>
                          <a:ea typeface="+mn-ea"/>
                          <a:cs typeface="+mn-cs"/>
                        </a:rPr>
                        <a:t>現行水準どおり</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pP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pP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lumMod val="20000"/>
                        <a:lumOff val="80000"/>
                      </a:schemeClr>
                    </a:solidFill>
                  </a:tcPr>
                </a:tc>
                <a:tc hMerge="1">
                  <a:txBody>
                    <a:bodyPr/>
                    <a:lstStyle/>
                    <a:p>
                      <a:endParaRPr dirty="0"/>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pPr>
                      <a:endParaRPr kumimoji="1" lang="en-US" altLang="ja-JP" sz="1200" b="0" i="0" u="none" strike="noStrike" kern="1200" cap="none" normalizeH="0" baseline="0" dirty="0">
                        <a:ln>
                          <a:noFill/>
                        </a:ln>
                        <a:solidFill>
                          <a:schemeClr val="tx1"/>
                        </a:solidFill>
                        <a:effectLst/>
                        <a:latin typeface="+mj-ea"/>
                        <a:ea typeface="+mn-ea"/>
                        <a:cs typeface="+mn-cs"/>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962157">
                <a:tc>
                  <a:txBody>
                    <a:bodyPr/>
                    <a:lstStyle/>
                    <a:p>
                      <a:pPr marL="0" marR="0" lvl="0" indent="0" algn="ctr" defTabSz="914400" rtl="0" eaLnBrk="1" fontAlgn="base" latinLnBrk="0" hangingPunct="1">
                        <a:lnSpc>
                          <a:spcPct val="100000"/>
                        </a:lnSpc>
                        <a:spcBef>
                          <a:spcPct val="0"/>
                        </a:spcBef>
                        <a:spcAft>
                          <a:spcPct val="0"/>
                        </a:spcAft>
                        <a:buClr>
                          <a:srgbClr val="003C2C"/>
                        </a:buClr>
                        <a:buSzTx/>
                        <a:buFont typeface="Wingdings" pitchFamily="2" charset="2"/>
                        <a:buNone/>
                        <a:tabLst/>
                      </a:pPr>
                      <a:r>
                        <a:rPr kumimoji="1" lang="en-US" altLang="ja-JP" sz="1100" b="0" i="0" u="none" strike="noStrike" cap="none" normalizeH="0" baseline="0" dirty="0">
                          <a:ln>
                            <a:noFill/>
                          </a:ln>
                          <a:solidFill>
                            <a:schemeClr val="tx1"/>
                          </a:solidFill>
                          <a:effectLst/>
                          <a:latin typeface="+mn-ea"/>
                          <a:ea typeface="+mn-ea"/>
                        </a:rPr>
                        <a:t>2</a:t>
                      </a: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3">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kern="1200" dirty="0">
                          <a:solidFill>
                            <a:schemeClr val="tx1"/>
                          </a:solidFill>
                          <a:latin typeface="+mn-ea"/>
                          <a:ea typeface="+mn-ea"/>
                          <a:cs typeface="Meiryo UI" panose="020B0604030504040204" pitchFamily="50" charset="-128"/>
                        </a:rPr>
                        <a:t>テクニカルアーキテクチャ検討</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endParaRPr kumimoji="1" lang="ja-JP" altLang="en-US" sz="1200" kern="1200" dirty="0">
                        <a:solidFill>
                          <a:schemeClr val="tx1"/>
                        </a:solidFill>
                        <a:latin typeface="+mj-ea"/>
                        <a:ea typeface="+mn-ea"/>
                        <a:cs typeface="Meiryo UI" panose="020B060403050404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endParaRPr kumimoji="1" lang="ja-JP" altLang="en-US" sz="1200" kern="1200" dirty="0">
                        <a:solidFill>
                          <a:schemeClr val="tx1"/>
                        </a:solidFill>
                        <a:latin typeface="+mn-ea"/>
                        <a:ea typeface="+mn-ea"/>
                        <a:cs typeface="Meiryo UI" panose="020B060403050404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kern="1200" dirty="0">
                          <a:solidFill>
                            <a:schemeClr val="tx1"/>
                          </a:solidFill>
                          <a:effectLst/>
                          <a:latin typeface="+mn-ea"/>
                          <a:ea typeface="+mn-ea"/>
                          <a:cs typeface="+mn-cs"/>
                        </a:rPr>
                        <a:t>インテル共通基盤の後継への移行が不可となることからアプライアンスまたは仮想基盤の個別構築を検討予定</a:t>
                      </a:r>
                      <a:endParaRPr kumimoji="1" lang="en-US" altLang="ja-JP" sz="1100" kern="1200" dirty="0">
                        <a:solidFill>
                          <a:schemeClr val="tx1"/>
                        </a:solidFill>
                        <a:effectLst/>
                        <a:latin typeface="+mn-ea"/>
                        <a:ea typeface="+mn-ea"/>
                        <a:cs typeface="+mn-cs"/>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kern="1200" cap="none" normalizeH="0" baseline="0" dirty="0">
                          <a:ln>
                            <a:noFill/>
                          </a:ln>
                          <a:solidFill>
                            <a:schemeClr val="tx1"/>
                          </a:solidFill>
                          <a:effectLst/>
                          <a:latin typeface="+mn-ea"/>
                          <a:ea typeface="+mn-ea"/>
                          <a:cs typeface="+mn-cs"/>
                        </a:rPr>
                        <a:t>-</a:t>
                      </a:r>
                      <a:endParaRPr lang="en-US" altLang="ja-JP" sz="1100" dirty="0">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kern="1200" cap="none" normalizeH="0" baseline="0" dirty="0">
                          <a:ln>
                            <a:noFill/>
                          </a:ln>
                          <a:solidFill>
                            <a:schemeClr val="tx1"/>
                          </a:solidFill>
                          <a:effectLst/>
                          <a:latin typeface="+mn-ea"/>
                          <a:ea typeface="+mn-ea"/>
                          <a:cs typeface="+mn-cs"/>
                        </a:rPr>
                        <a:t>-</a:t>
                      </a:r>
                      <a:endParaRPr lang="en-US" altLang="ja-JP" sz="1100" dirty="0">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lang="en-US" altLang="ja-JP" sz="1100" dirty="0">
                          <a:solidFill>
                            <a:schemeClr val="tx1"/>
                          </a:solidFill>
                          <a:effectLst/>
                          <a:latin typeface="+mn-ea"/>
                          <a:ea typeface="+mn-ea"/>
                        </a:rPr>
                        <a:t>-</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kern="1200" dirty="0">
                          <a:solidFill>
                            <a:schemeClr val="tx1"/>
                          </a:solidFill>
                          <a:effectLst/>
                          <a:latin typeface="+mn-ea"/>
                          <a:ea typeface="+mn-ea"/>
                          <a:cs typeface="+mn-cs"/>
                        </a:rPr>
                        <a:t>インテル共通基盤の後継への移行が不可となることからアプライアンスまたは仮想基盤の個別構築を検討予定</a:t>
                      </a:r>
                      <a:endParaRPr kumimoji="1" lang="en-US" altLang="ja-JP" sz="1100" kern="1200" dirty="0">
                        <a:solidFill>
                          <a:schemeClr val="tx1"/>
                        </a:solidFill>
                        <a:effectLst/>
                        <a:latin typeface="+mn-ea"/>
                        <a:ea typeface="+mn-ea"/>
                        <a:cs typeface="+mn-cs"/>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3"/>
                  </a:ext>
                </a:extLst>
              </a:tr>
              <a:tr h="263907">
                <a:tc>
                  <a:txBody>
                    <a:bodyPr/>
                    <a:lstStyle/>
                    <a:p>
                      <a:pPr marL="0" marR="0" lvl="0" indent="0" algn="ctr"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lang="en-US" altLang="ja-JP" sz="1100" b="0" dirty="0">
                          <a:solidFill>
                            <a:schemeClr val="tx1"/>
                          </a:solidFill>
                          <a:latin typeface="+mn-ea"/>
                          <a:ea typeface="+mn-ea"/>
                          <a:cs typeface="Meiryo UI" panose="020B0604030504040204" pitchFamily="50" charset="-128"/>
                        </a:rPr>
                        <a:t>3</a:t>
                      </a:r>
                      <a:endParaRPr lang="ja-JP" altLang="en-US" sz="1100" b="0" dirty="0">
                        <a:solidFill>
                          <a:schemeClr val="tx1"/>
                        </a:solidFill>
                        <a:latin typeface="+mn-ea"/>
                        <a:ea typeface="+mn-ea"/>
                        <a:cs typeface="Meiryo UI" panose="020B0604030504040204" pitchFamily="50" charset="-128"/>
                      </a:endParaRP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rowSpan="3" gridSpan="2">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lang="ja-JP" altLang="en-US" sz="1100" b="0" dirty="0">
                          <a:solidFill>
                            <a:schemeClr val="tx1"/>
                          </a:solidFill>
                          <a:latin typeface="+mn-ea"/>
                          <a:ea typeface="+mn-ea"/>
                          <a:cs typeface="Meiryo UI" panose="020B0604030504040204" pitchFamily="50" charset="-128"/>
                        </a:rPr>
                        <a:t>非機能要件</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rowSpan="3"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lang="ja-JP" altLang="en-US" sz="1200" b="0" dirty="0">
                          <a:solidFill>
                            <a:schemeClr val="tx1"/>
                          </a:solidFill>
                          <a:latin typeface="+mn-ea"/>
                          <a:ea typeface="+mn-ea"/>
                          <a:cs typeface="Meiryo UI" panose="020B0604030504040204" pitchFamily="50" charset="-128"/>
                        </a:rPr>
                        <a:t>性能要件</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lang="ja-JP" altLang="en-US" sz="1100" b="0" dirty="0">
                          <a:solidFill>
                            <a:schemeClr val="tx1"/>
                          </a:solidFill>
                          <a:latin typeface="+mn-ea"/>
                          <a:ea typeface="+mn-ea"/>
                          <a:cs typeface="Meiryo UI" panose="020B0604030504040204" pitchFamily="50" charset="-128"/>
                        </a:rPr>
                        <a:t>性能要件</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2">
                  <a:txBody>
                    <a:bodyPr/>
                    <a:lstStyle/>
                    <a:p>
                      <a:pPr rtl="0"/>
                      <a:r>
                        <a:rPr kumimoji="1" lang="ja-JP" altLang="en-US" sz="1100" b="0" i="0" u="none" strike="noStrike" cap="none" normalizeH="0" baseline="0" dirty="0">
                          <a:ln>
                            <a:noFill/>
                          </a:ln>
                          <a:solidFill>
                            <a:schemeClr val="tx1"/>
                          </a:solidFill>
                          <a:effectLst/>
                          <a:latin typeface="+mn-ea"/>
                          <a:ea typeface="+mn-ea"/>
                        </a:rPr>
                        <a:t>現行水準どおり</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en-US" altLang="ja-JP" sz="1200" b="0" i="0" u="none" strike="noStrike" cap="none" normalizeH="0" baseline="0" dirty="0">
                        <a:ln>
                          <a:noFill/>
                        </a:ln>
                        <a:solidFill>
                          <a:schemeClr val="tx1"/>
                        </a:solidFill>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kern="1200" cap="none" normalizeH="0" baseline="0" dirty="0">
                          <a:ln>
                            <a:noFill/>
                          </a:ln>
                          <a:solidFill>
                            <a:schemeClr val="tx1"/>
                          </a:solidFill>
                          <a:effectLst/>
                          <a:latin typeface="+mn-ea"/>
                          <a:ea typeface="+mn-ea"/>
                          <a:cs typeface="+mn-cs"/>
                        </a:rPr>
                        <a:t>-</a:t>
                      </a:r>
                      <a:endParaRPr lang="en-US" altLang="ja-JP" sz="1100" dirty="0">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lang="en-US" altLang="ja-JP" sz="1100" dirty="0">
                          <a:solidFill>
                            <a:schemeClr val="tx1"/>
                          </a:solidFill>
                          <a:effectLst/>
                          <a:latin typeface="+mn-ea"/>
                          <a:ea typeface="+mn-ea"/>
                        </a:rPr>
                        <a:t>-</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cap="none" normalizeH="0" baseline="0" dirty="0">
                          <a:ln>
                            <a:noFill/>
                          </a:ln>
                          <a:solidFill>
                            <a:schemeClr val="tx1"/>
                          </a:solidFill>
                          <a:effectLst/>
                          <a:latin typeface="+mn-ea"/>
                          <a:ea typeface="+mn-ea"/>
                        </a:rPr>
                        <a:t>現行水準どおり</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15033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100" b="0" dirty="0">
                          <a:solidFill>
                            <a:schemeClr val="tx1"/>
                          </a:solidFill>
                          <a:latin typeface="+mn-ea"/>
                          <a:ea typeface="+mn-ea"/>
                          <a:cs typeface="Meiryo UI" panose="020B0604030504040204" pitchFamily="50" charset="-128"/>
                        </a:rPr>
                        <a:t>4</a:t>
                      </a:r>
                      <a:endParaRPr lang="zh-TW" altLang="en-US" sz="1100" b="0" dirty="0">
                        <a:solidFill>
                          <a:schemeClr val="tx1"/>
                        </a:solidFill>
                        <a:latin typeface="+mn-ea"/>
                        <a:ea typeface="+mn-ea"/>
                        <a:cs typeface="Meiryo UI" panose="020B0604030504040204" pitchFamily="50" charset="-128"/>
                      </a:endParaRP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200" b="0" dirty="0">
                        <a:solidFill>
                          <a:schemeClr val="tx1"/>
                        </a:solidFill>
                        <a:latin typeface="ＭＳ Ｐゴシック" panose="020B0600070205080204" pitchFamily="50" charset="-128"/>
                        <a:ea typeface="+mn-ea"/>
                        <a:cs typeface="Meiryo UI" panose="020B060403050404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dirty="0">
                          <a:solidFill>
                            <a:schemeClr val="tx1"/>
                          </a:solidFill>
                          <a:latin typeface="+mn-ea"/>
                          <a:ea typeface="+mn-ea"/>
                          <a:cs typeface="Meiryo UI" panose="020B0604030504040204" pitchFamily="50" charset="-128"/>
                        </a:rPr>
                        <a:t>セキュリティ要件</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100" b="0" dirty="0">
                          <a:solidFill>
                            <a:schemeClr val="tx1"/>
                          </a:solidFill>
                          <a:latin typeface="+mn-ea"/>
                          <a:ea typeface="+mn-ea"/>
                          <a:cs typeface="Meiryo UI" panose="020B0604030504040204" pitchFamily="50" charset="-128"/>
                        </a:rPr>
                        <a:t>セキュリティ要件</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2">
                  <a:txBody>
                    <a:bodyPr/>
                    <a:lstStyle/>
                    <a:p>
                      <a:pPr rtl="0"/>
                      <a:r>
                        <a:rPr kumimoji="1" lang="ja-JP" altLang="en-US" sz="1100" b="0" i="0" u="none" strike="noStrike" cap="none" normalizeH="0" baseline="0" dirty="0">
                          <a:ln>
                            <a:noFill/>
                          </a:ln>
                          <a:solidFill>
                            <a:schemeClr val="tx1"/>
                          </a:solidFill>
                          <a:effectLst/>
                          <a:latin typeface="+mn-ea"/>
                          <a:ea typeface="+mn-ea"/>
                        </a:rPr>
                        <a:t>現行水準どおり</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kern="1200" cap="none" normalizeH="0" baseline="0" dirty="0">
                          <a:ln>
                            <a:noFill/>
                          </a:ln>
                          <a:solidFill>
                            <a:schemeClr val="tx1"/>
                          </a:solidFill>
                          <a:effectLst/>
                          <a:latin typeface="+mn-ea"/>
                          <a:ea typeface="+mn-ea"/>
                          <a:cs typeface="+mn-cs"/>
                        </a:rPr>
                        <a:t>-</a:t>
                      </a:r>
                      <a:endParaRPr lang="en-US" altLang="ja-JP" sz="1100" dirty="0">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lang="en-US" altLang="ja-JP" sz="1100" dirty="0">
                          <a:solidFill>
                            <a:schemeClr val="tx1"/>
                          </a:solidFill>
                          <a:effectLst/>
                          <a:latin typeface="+mn-ea"/>
                          <a:ea typeface="+mn-ea"/>
                        </a:rPr>
                        <a:t>-</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cap="none" normalizeH="0" baseline="0" dirty="0">
                          <a:ln>
                            <a:noFill/>
                          </a:ln>
                          <a:solidFill>
                            <a:schemeClr val="tx1"/>
                          </a:solidFill>
                          <a:effectLst/>
                          <a:latin typeface="+mn-ea"/>
                          <a:ea typeface="+mn-ea"/>
                        </a:rPr>
                        <a:t>現行水準どおり</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19880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100" b="0" dirty="0">
                          <a:solidFill>
                            <a:schemeClr val="tx1"/>
                          </a:solidFill>
                          <a:latin typeface="+mn-ea"/>
                          <a:ea typeface="+mn-ea"/>
                          <a:cs typeface="Meiryo UI" panose="020B0604030504040204" pitchFamily="50" charset="-128"/>
                        </a:rPr>
                        <a:t>5</a:t>
                      </a:r>
                      <a:endParaRPr lang="zh-TW" altLang="en-US" sz="1100" b="0" dirty="0">
                        <a:solidFill>
                          <a:schemeClr val="tx1"/>
                        </a:solidFill>
                        <a:latin typeface="+mn-ea"/>
                        <a:ea typeface="+mn-ea"/>
                        <a:cs typeface="Meiryo UI" panose="020B0604030504040204" pitchFamily="50" charset="-128"/>
                      </a:endParaRP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2" vMerge="1">
                  <a:txBody>
                    <a:bodyPr/>
                    <a:lstStyle/>
                    <a:p>
                      <a:endParaRPr kumimoji="1" lang="ja-JP" altLang="en-US"/>
                    </a:p>
                  </a:txBody>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a:solidFill>
                            <a:schemeClr val="tx1"/>
                          </a:solidFill>
                          <a:latin typeface="+mn-ea"/>
                          <a:ea typeface="+mn-ea"/>
                          <a:cs typeface="Meiryo UI" panose="020B0604030504040204" pitchFamily="50" charset="-128"/>
                        </a:rPr>
                        <a:t>運用要件</a:t>
                      </a:r>
                      <a:endParaRPr lang="ja-JP" altLang="en-US" sz="1200" b="0" dirty="0">
                        <a:solidFill>
                          <a:schemeClr val="tx1"/>
                        </a:solidFill>
                        <a:latin typeface="+mn-ea"/>
                        <a:ea typeface="+mn-ea"/>
                        <a:cs typeface="Meiryo UI" panose="020B060403050404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100" b="0" dirty="0">
                          <a:solidFill>
                            <a:schemeClr val="tx1"/>
                          </a:solidFill>
                          <a:latin typeface="+mn-ea"/>
                          <a:ea typeface="+mn-ea"/>
                          <a:cs typeface="Meiryo UI" panose="020B0604030504040204" pitchFamily="50" charset="-128"/>
                        </a:rPr>
                        <a:t>運用要件</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2">
                  <a:txBody>
                    <a:bodyPr/>
                    <a:lstStyle/>
                    <a:p>
                      <a:pPr rtl="0"/>
                      <a:r>
                        <a:rPr kumimoji="1" lang="ja-JP" altLang="en-US" sz="1100" b="0" i="0" u="none" strike="noStrike" cap="none" normalizeH="0" baseline="0" dirty="0">
                          <a:ln>
                            <a:noFill/>
                          </a:ln>
                          <a:solidFill>
                            <a:schemeClr val="tx1"/>
                          </a:solidFill>
                          <a:effectLst/>
                          <a:latin typeface="+mn-ea"/>
                          <a:ea typeface="+mn-ea"/>
                        </a:rPr>
                        <a:t>運用標準対応</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a:txBody>
                    <a:bodyPr/>
                    <a:lstStyle/>
                    <a:p>
                      <a:pPr rtl="0"/>
                      <a:r>
                        <a:rPr kumimoji="1" lang="en-US" altLang="ja-JP" sz="1100" b="0" i="0" u="none" strike="noStrike" cap="none" normalizeH="0" baseline="0" dirty="0">
                          <a:ln>
                            <a:noFill/>
                          </a:ln>
                          <a:solidFill>
                            <a:schemeClr val="tx1"/>
                          </a:solidFill>
                          <a:effectLst/>
                          <a:latin typeface="+mn-ea"/>
                          <a:ea typeface="+mn-ea"/>
                        </a:rPr>
                        <a:t>-</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rtl="0"/>
                      <a:r>
                        <a:rPr kumimoji="1" lang="en-US" altLang="ja-JP" sz="1100" b="0" i="0" u="none" strike="noStrike" cap="none" normalizeH="0" baseline="0" dirty="0">
                          <a:ln>
                            <a:noFill/>
                          </a:ln>
                          <a:solidFill>
                            <a:schemeClr val="tx1"/>
                          </a:solidFill>
                          <a:effectLst/>
                          <a:latin typeface="+mn-ea"/>
                          <a:ea typeface="+mn-ea"/>
                        </a:rPr>
                        <a:t>-</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rtl="0"/>
                      <a:r>
                        <a:rPr kumimoji="1" lang="ja-JP" altLang="en-US" sz="1100" b="0" i="0" u="none" strike="noStrike" kern="1200" cap="none" normalizeH="0" baseline="0" dirty="0">
                          <a:ln>
                            <a:noFill/>
                          </a:ln>
                          <a:solidFill>
                            <a:schemeClr val="tx1"/>
                          </a:solidFill>
                          <a:effectLst/>
                          <a:latin typeface="+mn-ea"/>
                          <a:ea typeface="+mn-ea"/>
                          <a:cs typeface="+mn-cs"/>
                        </a:rPr>
                        <a:t>運用標準対応</a:t>
                      </a:r>
                      <a:endParaRPr kumimoji="1" lang="en-US" altLang="ja-JP" sz="1100" b="0" i="0" u="none" strike="noStrike" cap="none" normalizeH="0" baseline="0" dirty="0">
                        <a:ln>
                          <a:noFill/>
                        </a:ln>
                        <a:solidFill>
                          <a:schemeClr val="tx1"/>
                        </a:solidFill>
                        <a:effectLst/>
                        <a:latin typeface="+mn-ea"/>
                        <a:ea typeface="+mn-ea"/>
                      </a:endParaRPr>
                    </a:p>
                  </a:txBody>
                  <a:tcPr marL="3600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15506668"/>
                  </a:ext>
                </a:extLst>
              </a:tr>
              <a:tr h="2639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100" b="0" dirty="0">
                          <a:solidFill>
                            <a:schemeClr val="tx1"/>
                          </a:solidFill>
                          <a:latin typeface="+mn-ea"/>
                          <a:ea typeface="+mn-ea"/>
                          <a:cs typeface="Meiryo UI" panose="020B0604030504040204" pitchFamily="50" charset="-128"/>
                        </a:rPr>
                        <a:t>6</a:t>
                      </a: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100" b="0" dirty="0">
                          <a:solidFill>
                            <a:schemeClr val="tx1"/>
                          </a:solidFill>
                          <a:latin typeface="+mn-ea"/>
                          <a:ea typeface="+mn-ea"/>
                          <a:cs typeface="Meiryo UI" panose="020B0604030504040204" pitchFamily="50" charset="-128"/>
                        </a:rPr>
                        <a:t>テスト方針</a:t>
                      </a:r>
                      <a:endParaRPr lang="en-US" altLang="ja-JP" sz="1100" b="0" dirty="0">
                        <a:solidFill>
                          <a:schemeClr val="tx1"/>
                        </a:solidFill>
                        <a:latin typeface="+mn-ea"/>
                        <a:ea typeface="+mn-ea"/>
                        <a:cs typeface="Meiryo UI" panose="020B060403050404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1200" b="0" dirty="0">
                        <a:solidFill>
                          <a:schemeClr val="tx1"/>
                        </a:solidFill>
                        <a:latin typeface="ＭＳ Ｐゴシック" panose="020B0600070205080204" pitchFamily="50" charset="-128"/>
                        <a:ea typeface="ＭＳ Ｐゴシック" panose="020B0600070205080204" pitchFamily="50" charset="-128"/>
                        <a:cs typeface="Meiryo UI" panose="020B060403050404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1200" b="0" dirty="0">
                        <a:solidFill>
                          <a:schemeClr val="tx1"/>
                        </a:solidFill>
                        <a:latin typeface="+mn-ea"/>
                        <a:ea typeface="+mn-ea"/>
                        <a:cs typeface="Meiryo UI" panose="020B060403050404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5">
                  <a:txBody>
                    <a:bodyPr/>
                    <a:lstStyle/>
                    <a:p>
                      <a:pPr rtl="0"/>
                      <a:r>
                        <a:rPr lang="ja-JP" altLang="en-US" sz="1100" dirty="0">
                          <a:solidFill>
                            <a:schemeClr val="tx1"/>
                          </a:solidFill>
                          <a:effectLst/>
                          <a:latin typeface="+mn-ea"/>
                          <a:ea typeface="+mn-ea"/>
                        </a:rPr>
                        <a:t>テスト環境、テスト内容について検討予定</a:t>
                      </a:r>
                      <a:endParaRPr lang="en-US" altLang="ja-JP" sz="1100" dirty="0">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lang="en-US" altLang="ja-JP" sz="1200" dirty="0">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lang="en-US" altLang="ja-JP" sz="1200" dirty="0">
                        <a:effectLst/>
                        <a:latin typeface="+mj-ea"/>
                        <a:ea typeface="+mj-ea"/>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lang="en-US" altLang="ja-JP" sz="1200" dirty="0">
                        <a:effectLst/>
                        <a:latin typeface="+mj-ea"/>
                        <a:ea typeface="+mj-ea"/>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lang="en-US" altLang="ja-JP" sz="1200" dirty="0">
                        <a:effectLst/>
                        <a:latin typeface="+mj-ea"/>
                        <a:ea typeface="+mj-ea"/>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263907">
                <a:tc>
                  <a:txBody>
                    <a:bodyPr/>
                    <a:lstStyle/>
                    <a:p>
                      <a:pPr marL="0" marR="0" lvl="0" indent="0" algn="ctr" defTabSz="914400" rtl="0" eaLnBrk="1" fontAlgn="base" latinLnBrk="0" hangingPunct="1">
                        <a:lnSpc>
                          <a:spcPct val="100000"/>
                        </a:lnSpc>
                        <a:spcBef>
                          <a:spcPct val="0"/>
                        </a:spcBef>
                        <a:spcAft>
                          <a:spcPct val="0"/>
                        </a:spcAft>
                        <a:buClr>
                          <a:srgbClr val="003C2C"/>
                        </a:buClr>
                        <a:buSzTx/>
                        <a:buFont typeface="Wingdings" pitchFamily="2" charset="2"/>
                        <a:buNone/>
                        <a:tabLst/>
                      </a:pPr>
                      <a:r>
                        <a:rPr kumimoji="1" lang="en-US" altLang="ja-JP" sz="1100" b="0" i="0" u="none" strike="noStrike" cap="none" normalizeH="0" baseline="0" dirty="0">
                          <a:ln>
                            <a:noFill/>
                          </a:ln>
                          <a:solidFill>
                            <a:schemeClr val="tx1"/>
                          </a:solidFill>
                          <a:effectLst/>
                          <a:latin typeface="+mn-ea"/>
                          <a:ea typeface="+mn-ea"/>
                        </a:rPr>
                        <a:t>7</a:t>
                      </a: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3">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pPr>
                      <a:r>
                        <a:rPr kumimoji="1" lang="ja-JP" altLang="en-US" sz="1100" b="0" i="0" u="none" strike="noStrike" cap="none" normalizeH="0" baseline="0" dirty="0">
                          <a:ln>
                            <a:noFill/>
                          </a:ln>
                          <a:solidFill>
                            <a:schemeClr val="tx1"/>
                          </a:solidFill>
                          <a:effectLst/>
                          <a:latin typeface="+mn-ea"/>
                          <a:ea typeface="+mn-ea"/>
                        </a:rPr>
                        <a:t>移行方針</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pPr>
                      <a:endParaRPr kumimoji="1" lang="en-US" altLang="ja-JP" sz="1200" b="0" i="0" u="none" strike="noStrike" cap="none" normalizeH="0" baseline="0" dirty="0">
                        <a:ln>
                          <a:noFill/>
                        </a:ln>
                        <a:solidFill>
                          <a:schemeClr val="tx1"/>
                        </a:solidFill>
                        <a:effectLst/>
                        <a:latin typeface="ＭＳ Ｐゴシック" panose="020B0600070205080204" pitchFamily="50" charset="-128"/>
                        <a:ea typeface="ＭＳ Ｐゴシック" panose="020B060007020508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pPr>
                      <a:endParaRPr kumimoji="1" lang="en-US" altLang="ja-JP" sz="12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5">
                  <a:txBody>
                    <a:bodyPr/>
                    <a:lstStyle/>
                    <a:p>
                      <a:pPr marL="85725" marR="0" lvl="0" indent="-85725" algn="l" defTabSz="914400" rtl="0" eaLnBrk="1" fontAlgn="base" latinLnBrk="0" hangingPunct="1">
                        <a:lnSpc>
                          <a:spcPct val="100000"/>
                        </a:lnSpc>
                        <a:spcBef>
                          <a:spcPct val="0"/>
                        </a:spcBef>
                        <a:spcAft>
                          <a:spcPct val="0"/>
                        </a:spcAft>
                        <a:buClr>
                          <a:srgbClr val="003C2C"/>
                        </a:buClr>
                        <a:buSzTx/>
                        <a:buFont typeface="Wingdings" pitchFamily="2" charset="2"/>
                        <a:buNone/>
                        <a:tabLst/>
                      </a:pPr>
                      <a:r>
                        <a:rPr kumimoji="1" lang="ja-JP" altLang="en-US" sz="1100" b="0" i="0" u="none" strike="noStrike" cap="none" normalizeH="0" baseline="0" dirty="0">
                          <a:ln>
                            <a:noFill/>
                          </a:ln>
                          <a:solidFill>
                            <a:schemeClr val="tx1"/>
                          </a:solidFill>
                          <a:effectLst/>
                          <a:latin typeface="+mn-ea"/>
                          <a:ea typeface="+mn-ea"/>
                        </a:rPr>
                        <a:t>移行ショットについて実現性検証を実施予定</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85725" marR="0" lvl="0" indent="-85725" algn="l" defTabSz="914400" rtl="0" eaLnBrk="1" fontAlgn="base" latinLnBrk="0" hangingPunct="1">
                        <a:lnSpc>
                          <a:spcPct val="100000"/>
                        </a:lnSpc>
                        <a:spcBef>
                          <a:spcPct val="0"/>
                        </a:spcBef>
                        <a:spcAft>
                          <a:spcPct val="0"/>
                        </a:spcAft>
                        <a:buClr>
                          <a:srgbClr val="003C2C"/>
                        </a:buClr>
                        <a:buSzTx/>
                        <a:buFont typeface="Wingdings" pitchFamily="2" charset="2"/>
                        <a:buNone/>
                        <a:tabLst/>
                      </a:pPr>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85725" marR="0" lvl="0" indent="-85725" algn="l" defTabSz="914400" rtl="0" eaLnBrk="1" fontAlgn="base" latinLnBrk="0" hangingPunct="1">
                        <a:lnSpc>
                          <a:spcPct val="100000"/>
                        </a:lnSpc>
                        <a:spcBef>
                          <a:spcPct val="0"/>
                        </a:spcBef>
                        <a:spcAft>
                          <a:spcPct val="0"/>
                        </a:spcAft>
                        <a:buClr>
                          <a:srgbClr val="003C2C"/>
                        </a:buClr>
                        <a:buSzTx/>
                        <a:buFont typeface="Wingdings" pitchFamily="2" charset="2"/>
                        <a:buNone/>
                        <a:tabLst/>
                      </a:pPr>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85725" marR="0" lvl="0" indent="-85725" algn="l" defTabSz="914400" rtl="0" eaLnBrk="1" fontAlgn="base" latinLnBrk="0" hangingPunct="1">
                        <a:lnSpc>
                          <a:spcPct val="100000"/>
                        </a:lnSpc>
                        <a:spcBef>
                          <a:spcPct val="0"/>
                        </a:spcBef>
                        <a:spcAft>
                          <a:spcPct val="0"/>
                        </a:spcAft>
                        <a:buClr>
                          <a:srgbClr val="003C2C"/>
                        </a:buClr>
                        <a:buSzTx/>
                        <a:buFont typeface="Wingdings" pitchFamily="2" charset="2"/>
                        <a:buNone/>
                        <a:tabLst/>
                      </a:pPr>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85725" marR="0" lvl="0" indent="-85725" algn="l" defTabSz="914400" rtl="0" eaLnBrk="1" fontAlgn="base" latinLnBrk="0" hangingPunct="1">
                        <a:lnSpc>
                          <a:spcPct val="100000"/>
                        </a:lnSpc>
                        <a:spcBef>
                          <a:spcPct val="0"/>
                        </a:spcBef>
                        <a:spcAft>
                          <a:spcPct val="0"/>
                        </a:spcAft>
                        <a:buClr>
                          <a:srgbClr val="003C2C"/>
                        </a:buClr>
                        <a:buSzTx/>
                        <a:buFont typeface="Wingdings" pitchFamily="2" charset="2"/>
                        <a:buNone/>
                        <a:tabLst/>
                      </a:pPr>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263907">
                <a:tc>
                  <a:txBody>
                    <a:bodyPr/>
                    <a:lstStyle/>
                    <a:p>
                      <a:pPr marL="0" marR="0" lvl="0" indent="0" algn="ctr"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cap="none" normalizeH="0" baseline="0" dirty="0">
                          <a:ln>
                            <a:noFill/>
                          </a:ln>
                          <a:solidFill>
                            <a:schemeClr val="tx1"/>
                          </a:solidFill>
                          <a:effectLst/>
                          <a:latin typeface="+mn-ea"/>
                          <a:ea typeface="+mn-ea"/>
                        </a:rPr>
                        <a:t>8</a:t>
                      </a: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3">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b="0" i="0" u="none" strike="noStrike" cap="none" normalizeH="0" baseline="0" dirty="0">
                          <a:ln>
                            <a:noFill/>
                          </a:ln>
                          <a:solidFill>
                            <a:schemeClr val="tx1"/>
                          </a:solidFill>
                          <a:effectLst/>
                          <a:latin typeface="+mn-ea"/>
                          <a:ea typeface="+mn-ea"/>
                        </a:rPr>
                        <a:t>関連案件整理</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endParaRPr kumimoji="1" lang="en-US" altLang="ja-JP" sz="1200" b="0" i="0" u="none" strike="noStrike" cap="none" normalizeH="0" baseline="0" dirty="0">
                        <a:ln>
                          <a:noFill/>
                        </a:ln>
                        <a:solidFill>
                          <a:schemeClr val="tx1"/>
                        </a:solidFill>
                        <a:effectLst/>
                        <a:latin typeface="ＭＳ Ｐゴシック" panose="020B0600070205080204" pitchFamily="50" charset="-128"/>
                        <a:ea typeface="ＭＳ Ｐゴシック" panose="020B060007020508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endParaRPr kumimoji="1" lang="en-US" altLang="ja-JP" sz="12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5">
                  <a:txBody>
                    <a:bodyPr/>
                    <a:lstStyle/>
                    <a:p>
                      <a:pPr rtl="0"/>
                      <a:r>
                        <a:rPr kumimoji="1" lang="en-US" altLang="ja-JP" sz="1100" kern="1200" dirty="0">
                          <a:solidFill>
                            <a:schemeClr val="tx1"/>
                          </a:solidFill>
                          <a:latin typeface="+mn-ea"/>
                          <a:ea typeface="+mn-ea"/>
                          <a:cs typeface="Meiryo UI" panose="020B0604030504040204" pitchFamily="50" charset="-128"/>
                        </a:rPr>
                        <a:t>Windows11</a:t>
                      </a:r>
                      <a:r>
                        <a:rPr kumimoji="1" lang="ja-JP" altLang="en-US" sz="1100" kern="1200" dirty="0">
                          <a:solidFill>
                            <a:schemeClr val="tx1"/>
                          </a:solidFill>
                          <a:latin typeface="+mn-ea"/>
                          <a:ea typeface="+mn-ea"/>
                          <a:cs typeface="Meiryo UI" panose="020B0604030504040204" pitchFamily="50" charset="-128"/>
                        </a:rPr>
                        <a:t>対応について整理済み</a:t>
                      </a:r>
                      <a:endParaRPr kumimoji="1" lang="en-US" altLang="ja-JP" sz="1100" kern="1200" dirty="0">
                        <a:solidFill>
                          <a:schemeClr val="tx1"/>
                        </a:solidFill>
                        <a:latin typeface="+mn-ea"/>
                        <a:ea typeface="+mn-ea"/>
                        <a:cs typeface="Meiryo UI" panose="020B0604030504040204" pitchFamily="50" charset="-128"/>
                      </a:endParaRPr>
                    </a:p>
                    <a:p>
                      <a:pPr rtl="0"/>
                      <a:r>
                        <a:rPr kumimoji="1" lang="ja-JP" altLang="en-US" sz="1100" kern="1200" dirty="0">
                          <a:solidFill>
                            <a:schemeClr val="tx1"/>
                          </a:solidFill>
                          <a:latin typeface="+mn-ea"/>
                          <a:ea typeface="+mn-ea"/>
                          <a:cs typeface="Meiryo UI" panose="020B0604030504040204" pitchFamily="50" charset="-128"/>
                        </a:rPr>
                        <a:t>（</a:t>
                      </a:r>
                      <a:r>
                        <a:rPr kumimoji="1" lang="en-US" altLang="ja-JP" sz="1100" kern="1200" dirty="0">
                          <a:solidFill>
                            <a:schemeClr val="tx1"/>
                          </a:solidFill>
                          <a:latin typeface="+mn-ea"/>
                          <a:ea typeface="+mn-ea"/>
                          <a:cs typeface="Meiryo UI" panose="020B0604030504040204" pitchFamily="50" charset="-128"/>
                        </a:rPr>
                        <a:t>CC</a:t>
                      </a:r>
                      <a:r>
                        <a:rPr kumimoji="1" lang="ja-JP" altLang="en-US" sz="1100" kern="1200" dirty="0">
                          <a:solidFill>
                            <a:schemeClr val="tx1"/>
                          </a:solidFill>
                          <a:latin typeface="+mn-ea"/>
                          <a:ea typeface="+mn-ea"/>
                          <a:cs typeface="Meiryo UI" panose="020B0604030504040204" pitchFamily="50" charset="-128"/>
                        </a:rPr>
                        <a:t>：</a:t>
                      </a:r>
                      <a:r>
                        <a:rPr kumimoji="1" lang="en-US" altLang="ja-JP" sz="1100" kern="1200" dirty="0">
                          <a:solidFill>
                            <a:schemeClr val="tx1"/>
                          </a:solidFill>
                          <a:latin typeface="+mn-ea"/>
                          <a:ea typeface="+mn-ea"/>
                          <a:cs typeface="Meiryo UI" panose="020B0604030504040204" pitchFamily="50" charset="-128"/>
                        </a:rPr>
                        <a:t>2026</a:t>
                      </a:r>
                      <a:r>
                        <a:rPr kumimoji="1" lang="ja-JP" altLang="en-US" sz="1100" kern="1200" dirty="0">
                          <a:solidFill>
                            <a:schemeClr val="tx1"/>
                          </a:solidFill>
                          <a:latin typeface="+mn-ea"/>
                          <a:ea typeface="+mn-ea"/>
                          <a:cs typeface="Meiryo UI" panose="020B0604030504040204" pitchFamily="50" charset="-128"/>
                        </a:rPr>
                        <a:t>下期、セディナ：</a:t>
                      </a:r>
                      <a:r>
                        <a:rPr kumimoji="1" lang="en-US" altLang="ja-JP" sz="1100" kern="1200" dirty="0">
                          <a:solidFill>
                            <a:schemeClr val="tx1"/>
                          </a:solidFill>
                          <a:latin typeface="+mn-ea"/>
                          <a:ea typeface="+mn-ea"/>
                          <a:cs typeface="Meiryo UI" panose="020B0604030504040204" pitchFamily="50" charset="-128"/>
                        </a:rPr>
                        <a:t>2027</a:t>
                      </a:r>
                      <a:r>
                        <a:rPr kumimoji="1" lang="ja-JP" altLang="en-US" sz="1100" kern="1200" dirty="0">
                          <a:solidFill>
                            <a:schemeClr val="tx1"/>
                          </a:solidFill>
                          <a:latin typeface="+mn-ea"/>
                          <a:ea typeface="+mn-ea"/>
                          <a:cs typeface="Meiryo UI" panose="020B0604030504040204" pitchFamily="50" charset="-128"/>
                        </a:rPr>
                        <a:t>下期）</a:t>
                      </a:r>
                      <a:endParaRPr kumimoji="1" lang="en-US" altLang="ja-JP" sz="1100" kern="1200" dirty="0">
                        <a:solidFill>
                          <a:schemeClr val="tx1"/>
                        </a:solidFill>
                        <a:latin typeface="+mn-ea"/>
                        <a:ea typeface="+mn-ea"/>
                        <a:cs typeface="Meiryo UI" panose="020B060403050404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ＭＳ Ｐゴシック" panose="020B0600070205080204" pitchFamily="50" charset="-128"/>
                        <a:ea typeface="ＭＳ Ｐゴシック" panose="020B060007020508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ＭＳ Ｐゴシック" panose="020B0600070205080204" pitchFamily="50" charset="-128"/>
                        <a:ea typeface="ＭＳ Ｐゴシック" panose="020B0600070205080204" pitchFamily="50" charset="-128"/>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endParaRPr kumimoji="1" lang="ja-JP" altLang="en-US"/>
                    </a:p>
                  </a:txBody>
                  <a:tcPr>
                    <a:lnT w="9525" cap="flat" cmpd="sng" algn="ctr">
                      <a:solidFill>
                        <a:schemeClr val="tx1">
                          <a:lumMod val="50000"/>
                          <a:lumOff val="50000"/>
                        </a:schemeClr>
                      </a:solidFill>
                      <a:prstDash val="solid"/>
                      <a:round/>
                      <a:headEnd type="none" w="med" len="med"/>
                      <a:tailEnd type="none" w="med" len="med"/>
                    </a:lnT>
                  </a:tcPr>
                </a:tc>
                <a:tc hMerge="1">
                  <a:txBody>
                    <a:bodyPr/>
                    <a:lstStyle/>
                    <a:p>
                      <a:pPr rtl="0"/>
                      <a:endParaRPr kumimoji="1" lang="ja-JP" altLang="en-US" sz="1200" b="0" i="0" u="none" strike="noStrike" cap="none" normalizeH="0" baseline="0" dirty="0">
                        <a:ln>
                          <a:noFill/>
                        </a:ln>
                        <a:solidFill>
                          <a:schemeClr val="tx1"/>
                        </a:solidFill>
                        <a:effectLst/>
                        <a:latin typeface="ＭＳ Ｐゴシック" panose="020B0600070205080204" pitchFamily="50" charset="-128"/>
                        <a:ea typeface="ＭＳ Ｐゴシック" panose="020B0600070205080204" pitchFamily="50" charset="-128"/>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r h="263892">
                <a:tc>
                  <a:txBody>
                    <a:bodyPr/>
                    <a:lstStyle/>
                    <a:p>
                      <a:pPr marL="0" marR="0" lvl="0" indent="0" algn="ctr"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cap="none" normalizeH="0" baseline="0" dirty="0">
                          <a:ln>
                            <a:noFill/>
                          </a:ln>
                          <a:solidFill>
                            <a:schemeClr val="tx1"/>
                          </a:solidFill>
                          <a:effectLst/>
                          <a:latin typeface="+mn-ea"/>
                          <a:ea typeface="+mn-ea"/>
                        </a:rPr>
                        <a:t>9</a:t>
                      </a: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3">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b="0" i="0" u="none" strike="noStrike" cap="none" normalizeH="0" baseline="0" dirty="0">
                          <a:ln>
                            <a:noFill/>
                          </a:ln>
                          <a:solidFill>
                            <a:schemeClr val="tx1"/>
                          </a:solidFill>
                          <a:effectLst/>
                          <a:latin typeface="+mn-ea"/>
                          <a:ea typeface="+mn-ea"/>
                        </a:rPr>
                        <a:t>端末要件</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endParaRPr kumimoji="1" lang="en-US" altLang="ja-JP" sz="1200" b="0" i="0" u="none" strike="noStrike" cap="none" normalizeH="0" baseline="0" dirty="0">
                        <a:ln>
                          <a:noFill/>
                        </a:ln>
                        <a:solidFill>
                          <a:schemeClr val="tx1"/>
                        </a:solidFill>
                        <a:effectLst/>
                        <a:latin typeface="ＭＳ Ｐゴシック" panose="020B0600070205080204" pitchFamily="50" charset="-128"/>
                        <a:ea typeface="ＭＳ Ｐゴシック" panose="020B060007020508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endParaRPr kumimoji="1" lang="en-US" altLang="ja-JP" sz="12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5">
                  <a:txBody>
                    <a:bodyPr/>
                    <a:lstStyle/>
                    <a:p>
                      <a:pPr rtl="0"/>
                      <a:r>
                        <a:rPr kumimoji="1" lang="en-US" altLang="ja-JP" sz="1100" b="0" i="0" u="none" strike="noStrike" cap="none" normalizeH="0" baseline="0" dirty="0">
                          <a:ln>
                            <a:noFill/>
                          </a:ln>
                          <a:solidFill>
                            <a:schemeClr val="tx1"/>
                          </a:solidFill>
                          <a:effectLst/>
                          <a:latin typeface="+mn-ea"/>
                          <a:ea typeface="+mn-ea"/>
                        </a:rPr>
                        <a:t>SMCC</a:t>
                      </a:r>
                      <a:r>
                        <a:rPr kumimoji="1" lang="ja-JP" altLang="en-US" sz="1100" b="0" i="0" u="none" strike="noStrike" cap="none" normalizeH="0" baseline="0" dirty="0">
                          <a:ln>
                            <a:noFill/>
                          </a:ln>
                          <a:solidFill>
                            <a:schemeClr val="tx1"/>
                          </a:solidFill>
                          <a:effectLst/>
                          <a:latin typeface="+mn-ea"/>
                          <a:ea typeface="+mn-ea"/>
                        </a:rPr>
                        <a:t>、セディナともに</a:t>
                      </a:r>
                      <a:r>
                        <a:rPr kumimoji="1" lang="en-US" altLang="ja-JP" sz="1100" b="0" i="0" u="none" strike="noStrike" cap="none" normalizeH="0" baseline="0" dirty="0">
                          <a:ln>
                            <a:noFill/>
                          </a:ln>
                          <a:solidFill>
                            <a:schemeClr val="tx1"/>
                          </a:solidFill>
                          <a:effectLst/>
                          <a:latin typeface="+mn-ea"/>
                          <a:ea typeface="+mn-ea"/>
                        </a:rPr>
                        <a:t>Win11</a:t>
                      </a:r>
                      <a:r>
                        <a:rPr kumimoji="1" lang="ja-JP" altLang="en-US" sz="1100" b="0" i="0" u="none" strike="noStrike" cap="none" normalizeH="0" baseline="0" dirty="0">
                          <a:ln>
                            <a:noFill/>
                          </a:ln>
                          <a:solidFill>
                            <a:schemeClr val="tx1"/>
                          </a:solidFill>
                          <a:effectLst/>
                          <a:latin typeface="+mn-ea"/>
                          <a:ea typeface="+mn-ea"/>
                        </a:rPr>
                        <a:t>化を完了</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57507216"/>
                  </a:ext>
                </a:extLst>
              </a:tr>
              <a:tr h="263907">
                <a:tc>
                  <a:txBody>
                    <a:bodyPr/>
                    <a:lstStyle/>
                    <a:p>
                      <a:pPr marL="0" marR="0" lvl="0" indent="0" algn="ctr"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cap="none" normalizeH="0" baseline="0" dirty="0">
                          <a:ln>
                            <a:noFill/>
                          </a:ln>
                          <a:solidFill>
                            <a:schemeClr val="tx1"/>
                          </a:solidFill>
                          <a:effectLst/>
                          <a:latin typeface="+mn-ea"/>
                          <a:ea typeface="+mn-ea"/>
                        </a:rPr>
                        <a:t>10</a:t>
                      </a: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rowSpan="4">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b="0" i="0" u="none" strike="noStrike" cap="none" normalizeH="0" baseline="0" dirty="0">
                          <a:ln>
                            <a:noFill/>
                          </a:ln>
                          <a:solidFill>
                            <a:schemeClr val="tx1"/>
                          </a:solidFill>
                          <a:effectLst/>
                          <a:latin typeface="+mn-ea"/>
                          <a:ea typeface="+mn-ea"/>
                        </a:rPr>
                        <a:t>個別</a:t>
                      </a:r>
                      <a:endParaRPr kumimoji="1" lang="en-US" altLang="ja-JP" sz="1100" b="0" i="0" u="none" strike="noStrike" cap="none" normalizeH="0" baseline="0" dirty="0">
                        <a:ln>
                          <a:noFill/>
                        </a:ln>
                        <a:solidFill>
                          <a:schemeClr val="tx1"/>
                        </a:solidFill>
                        <a:effectLst/>
                        <a:latin typeface="+mn-ea"/>
                        <a:ea typeface="+mn-ea"/>
                      </a:endParaRPr>
                    </a:p>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b="0" i="0" u="none" strike="noStrike" cap="none" normalizeH="0" baseline="0" dirty="0">
                          <a:ln>
                            <a:noFill/>
                          </a:ln>
                          <a:solidFill>
                            <a:schemeClr val="tx1"/>
                          </a:solidFill>
                          <a:effectLst/>
                          <a:latin typeface="+mn-ea"/>
                          <a:ea typeface="+mn-ea"/>
                        </a:rPr>
                        <a:t>検討</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2">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b="0" i="0" u="none" strike="noStrike" cap="none" normalizeH="0" baseline="0" dirty="0">
                          <a:ln>
                            <a:noFill/>
                          </a:ln>
                          <a:solidFill>
                            <a:schemeClr val="tx1"/>
                          </a:solidFill>
                          <a:effectLst/>
                          <a:latin typeface="+mn-ea"/>
                          <a:ea typeface="+mn-ea"/>
                        </a:rPr>
                        <a:t>システム構成の変更</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endParaRPr kumimoji="1" lang="en-US" altLang="ja-JP" sz="12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5">
                  <a:txBody>
                    <a:bodyPr/>
                    <a:lstStyle/>
                    <a:p>
                      <a:pPr rtl="0"/>
                      <a:r>
                        <a:rPr kumimoji="1" lang="en-US" altLang="ja-JP" sz="1100" b="0" i="0" u="none" strike="noStrike" cap="none" normalizeH="0" baseline="0" dirty="0">
                          <a:ln>
                            <a:noFill/>
                          </a:ln>
                          <a:solidFill>
                            <a:schemeClr val="tx1"/>
                          </a:solidFill>
                          <a:effectLst/>
                          <a:latin typeface="+mn-ea"/>
                          <a:ea typeface="+mn-ea"/>
                        </a:rPr>
                        <a:t>CTI</a:t>
                      </a:r>
                      <a:r>
                        <a:rPr kumimoji="1" lang="ja-JP" altLang="en-US" sz="1100" b="0" i="0" u="none" strike="noStrike" cap="none" normalizeH="0" baseline="0" dirty="0">
                          <a:ln>
                            <a:noFill/>
                          </a:ln>
                          <a:solidFill>
                            <a:schemeClr val="tx1"/>
                          </a:solidFill>
                          <a:effectLst/>
                          <a:latin typeface="+mn-ea"/>
                          <a:ea typeface="+mn-ea"/>
                        </a:rPr>
                        <a:t>基盤統合</a:t>
                      </a:r>
                      <a:r>
                        <a:rPr kumimoji="1" lang="en-US" altLang="ja-JP" sz="1100" b="0" i="0" u="none" strike="noStrike" cap="none" normalizeH="0" baseline="0" dirty="0">
                          <a:ln>
                            <a:noFill/>
                          </a:ln>
                          <a:solidFill>
                            <a:schemeClr val="tx1"/>
                          </a:solidFill>
                          <a:effectLst/>
                          <a:latin typeface="+mn-ea"/>
                          <a:ea typeface="+mn-ea"/>
                        </a:rPr>
                        <a:t>/DC</a:t>
                      </a:r>
                      <a:r>
                        <a:rPr kumimoji="1" lang="ja-JP" altLang="en-US" sz="1100" b="0" i="0" u="none" strike="noStrike" cap="none" normalizeH="0" baseline="0" dirty="0">
                          <a:ln>
                            <a:noFill/>
                          </a:ln>
                          <a:solidFill>
                            <a:schemeClr val="tx1"/>
                          </a:solidFill>
                          <a:effectLst/>
                          <a:latin typeface="+mn-ea"/>
                          <a:ea typeface="+mn-ea"/>
                        </a:rPr>
                        <a:t>機器集約に伴う構成変更</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3760841680"/>
                  </a:ext>
                </a:extLst>
              </a:tr>
              <a:tr h="263907">
                <a:tc>
                  <a:txBody>
                    <a:bodyPr/>
                    <a:lstStyle/>
                    <a:p>
                      <a:pPr marL="0" marR="0" lvl="0" indent="0" algn="ctr"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cap="none" normalizeH="0" baseline="0" dirty="0">
                          <a:ln>
                            <a:noFill/>
                          </a:ln>
                          <a:solidFill>
                            <a:schemeClr val="tx1"/>
                          </a:solidFill>
                          <a:effectLst/>
                          <a:latin typeface="+mn-ea"/>
                          <a:ea typeface="+mn-ea"/>
                        </a:rPr>
                        <a:t>11</a:t>
                      </a: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vMerge="1">
                  <a:txBody>
                    <a:bodyPr/>
                    <a:lstStyle/>
                    <a:p>
                      <a:endParaRPr kumimoji="1" lang="ja-JP" altLang="en-US"/>
                    </a:p>
                  </a:txBody>
                  <a:tcPr/>
                </a:tc>
                <a:tc gridSpan="2">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b="0" i="0" u="none" strike="noStrike" cap="none" normalizeH="0" baseline="0" dirty="0">
                          <a:ln>
                            <a:noFill/>
                          </a:ln>
                          <a:solidFill>
                            <a:schemeClr val="tx1"/>
                          </a:solidFill>
                          <a:effectLst/>
                          <a:latin typeface="+mn-ea"/>
                          <a:ea typeface="+mn-ea"/>
                        </a:rPr>
                        <a:t>番号計画の見直し</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endParaRPr kumimoji="1" lang="en-US" altLang="ja-JP" sz="12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5">
                  <a:txBody>
                    <a:bodyPr/>
                    <a:lstStyle/>
                    <a:p>
                      <a:pPr rtl="0"/>
                      <a:r>
                        <a:rPr kumimoji="1" lang="en-US" altLang="ja-JP" sz="1100" b="0" i="0" u="none" strike="noStrike" cap="none" normalizeH="0" baseline="0" dirty="0">
                          <a:ln>
                            <a:noFill/>
                          </a:ln>
                          <a:solidFill>
                            <a:schemeClr val="tx1"/>
                          </a:solidFill>
                          <a:effectLst/>
                          <a:latin typeface="+mn-ea"/>
                          <a:ea typeface="+mn-ea"/>
                        </a:rPr>
                        <a:t>CTI</a:t>
                      </a:r>
                      <a:r>
                        <a:rPr kumimoji="1" lang="ja-JP" altLang="en-US" sz="1100" b="0" i="0" u="none" strike="noStrike" cap="none" normalizeH="0" baseline="0" dirty="0">
                          <a:ln>
                            <a:noFill/>
                          </a:ln>
                          <a:solidFill>
                            <a:schemeClr val="tx1"/>
                          </a:solidFill>
                          <a:effectLst/>
                          <a:latin typeface="+mn-ea"/>
                          <a:ea typeface="+mn-ea"/>
                        </a:rPr>
                        <a:t>基盤統合に伴う番号計画の統一化</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rtl="0"/>
                      <a:endParaRPr kumimoji="1" lang="ja-JP" altLang="en-US" sz="1200" b="0" i="0" u="none" strike="noStrike" cap="none" normalizeH="0" baseline="0" dirty="0">
                        <a:ln>
                          <a:noFill/>
                        </a:ln>
                        <a:solidFill>
                          <a:schemeClr val="tx1"/>
                        </a:solidFill>
                        <a:effectLst/>
                        <a:latin typeface="+mj-ea"/>
                        <a:ea typeface="+mj-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323111448"/>
                  </a:ext>
                </a:extLst>
              </a:tr>
              <a:tr h="263907">
                <a:tc>
                  <a:txBody>
                    <a:bodyPr/>
                    <a:lstStyle/>
                    <a:p>
                      <a:pPr marL="0" marR="0" lvl="0" indent="0" algn="ctr"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cap="none" normalizeH="0" baseline="0" dirty="0">
                          <a:ln>
                            <a:noFill/>
                          </a:ln>
                          <a:solidFill>
                            <a:schemeClr val="tx1"/>
                          </a:solidFill>
                          <a:effectLst/>
                          <a:latin typeface="+mn-ea"/>
                          <a:ea typeface="+mn-ea"/>
                        </a:rPr>
                        <a:t>12</a:t>
                      </a: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vMerge="1">
                  <a:txBody>
                    <a:bodyPr/>
                    <a:lstStyle/>
                    <a:p>
                      <a:endParaRPr kumimoji="1" lang="ja-JP" altLang="en-US"/>
                    </a:p>
                  </a:txBody>
                  <a:tcPr/>
                </a:tc>
                <a:tc gridSpan="2">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cap="none" normalizeH="0" baseline="0" dirty="0">
                          <a:ln>
                            <a:noFill/>
                          </a:ln>
                          <a:solidFill>
                            <a:schemeClr val="tx1"/>
                          </a:solidFill>
                          <a:effectLst/>
                          <a:latin typeface="+mn-ea"/>
                          <a:ea typeface="+mn-ea"/>
                        </a:rPr>
                        <a:t>CTI</a:t>
                      </a:r>
                      <a:r>
                        <a:rPr kumimoji="1" lang="ja-JP" altLang="en-US" sz="1100" b="0" i="0" u="none" strike="noStrike" cap="none" normalizeH="0" baseline="0" dirty="0">
                          <a:ln>
                            <a:noFill/>
                          </a:ln>
                          <a:solidFill>
                            <a:schemeClr val="tx1"/>
                          </a:solidFill>
                          <a:effectLst/>
                          <a:latin typeface="+mn-ea"/>
                          <a:ea typeface="+mn-ea"/>
                        </a:rPr>
                        <a:t>アプリ製品の製品終了</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endParaRPr kumimoji="1" lang="en-US" altLang="ja-JP" sz="12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normalizeH="0" baseline="0" dirty="0">
                          <a:ln>
                            <a:noFill/>
                          </a:ln>
                          <a:solidFill>
                            <a:schemeClr val="tx1"/>
                          </a:solidFill>
                          <a:effectLst/>
                          <a:latin typeface="+mn-ea"/>
                          <a:ea typeface="+mn-ea"/>
                          <a:cs typeface="+mn-cs"/>
                        </a:rPr>
                        <a:t>-</a:t>
                      </a:r>
                      <a:endParaRPr kumimoji="1" lang="en-US" altLang="ja-JP" sz="1100" b="0" i="0" u="none" strike="noStrike" kern="1200" cap="none" spc="0" normalizeH="0" baseline="0" noProof="0" dirty="0">
                        <a:ln>
                          <a:noFill/>
                        </a:ln>
                        <a:solidFill>
                          <a:schemeClr val="tx1"/>
                        </a:solidFill>
                        <a:effectLst/>
                        <a:uLnTx/>
                        <a:uFillTx/>
                        <a:latin typeface="+mn-ea"/>
                        <a:ea typeface="+mn-ea"/>
                        <a:cs typeface="+mn-cs"/>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rtl="0"/>
                      <a:r>
                        <a:rPr kumimoji="1" lang="en-US" altLang="ja-JP" sz="1100" b="0" i="0" u="none" strike="noStrike" cap="none" normalizeH="0" baseline="0" dirty="0" err="1">
                          <a:ln>
                            <a:noFill/>
                          </a:ln>
                          <a:solidFill>
                            <a:schemeClr val="tx1"/>
                          </a:solidFill>
                          <a:effectLst/>
                          <a:latin typeface="+mn-ea"/>
                          <a:ea typeface="+mn-ea"/>
                        </a:rPr>
                        <a:t>StationLink</a:t>
                      </a:r>
                      <a:r>
                        <a:rPr kumimoji="1" lang="en-US" altLang="ja-JP" sz="1100" b="0" i="0" u="none" strike="noStrike" cap="none" normalizeH="0" baseline="0" dirty="0">
                          <a:ln>
                            <a:noFill/>
                          </a:ln>
                          <a:solidFill>
                            <a:schemeClr val="tx1"/>
                          </a:solidFill>
                          <a:effectLst/>
                          <a:latin typeface="+mn-ea"/>
                          <a:ea typeface="+mn-ea"/>
                        </a:rPr>
                        <a:t> SDK</a:t>
                      </a:r>
                      <a:r>
                        <a:rPr kumimoji="1" lang="ja-JP" altLang="en-US" sz="1100" b="0" i="0" u="none" strike="noStrike" cap="none" normalizeH="0" baseline="0" dirty="0">
                          <a:ln>
                            <a:noFill/>
                          </a:ln>
                          <a:solidFill>
                            <a:schemeClr val="tx1"/>
                          </a:solidFill>
                          <a:effectLst/>
                          <a:latin typeface="+mn-ea"/>
                          <a:ea typeface="+mn-ea"/>
                        </a:rPr>
                        <a:t>を利用想定</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a:txBody>
                    <a:bodyPr/>
                    <a:lstStyle/>
                    <a:p>
                      <a:pPr rtl="0"/>
                      <a:r>
                        <a:rPr kumimoji="1" lang="ja-JP" altLang="en-US" sz="1100" b="0" i="0" u="none" strike="noStrike" cap="none" normalizeH="0" baseline="0" dirty="0">
                          <a:ln>
                            <a:noFill/>
                          </a:ln>
                          <a:solidFill>
                            <a:schemeClr val="tx1"/>
                          </a:solidFill>
                          <a:effectLst/>
                          <a:latin typeface="+mn-ea"/>
                          <a:ea typeface="+mn-ea"/>
                        </a:rPr>
                        <a:t>影響確認中</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cap="none" normalizeH="0" baseline="0" dirty="0">
                          <a:ln>
                            <a:noFill/>
                          </a:ln>
                          <a:solidFill>
                            <a:schemeClr val="tx1"/>
                          </a:solidFill>
                          <a:effectLst/>
                          <a:latin typeface="+mn-ea"/>
                          <a:ea typeface="+mn-ea"/>
                        </a:rPr>
                        <a:t>影響確認中</a:t>
                      </a: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normalizeH="0" baseline="0" dirty="0">
                          <a:ln>
                            <a:noFill/>
                          </a:ln>
                          <a:solidFill>
                            <a:schemeClr val="tx1"/>
                          </a:solidFill>
                          <a:effectLst/>
                          <a:latin typeface="+mn-ea"/>
                          <a:ea typeface="+mn-ea"/>
                          <a:cs typeface="+mn-cs"/>
                        </a:rPr>
                        <a:t>-</a:t>
                      </a:r>
                      <a:endParaRPr kumimoji="1" lang="ja-JP" altLang="en-US" sz="1100" b="0" i="0" u="none" strike="noStrike" kern="1200" cap="none" normalizeH="0" baseline="0" dirty="0">
                        <a:ln>
                          <a:noFill/>
                        </a:ln>
                        <a:solidFill>
                          <a:schemeClr val="tx1"/>
                        </a:solidFill>
                        <a:effectLst/>
                        <a:latin typeface="+mn-ea"/>
                        <a:ea typeface="+mn-ea"/>
                        <a:cs typeface="+mn-cs"/>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562447692"/>
                  </a:ext>
                </a:extLst>
              </a:tr>
              <a:tr h="263907">
                <a:tc>
                  <a:txBody>
                    <a:bodyPr/>
                    <a:lstStyle/>
                    <a:p>
                      <a:pPr marL="0" marR="0" lvl="0" indent="0" algn="ctr"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cap="none" normalizeH="0" baseline="0" dirty="0">
                          <a:ln>
                            <a:noFill/>
                          </a:ln>
                          <a:solidFill>
                            <a:schemeClr val="tx1"/>
                          </a:solidFill>
                          <a:effectLst/>
                          <a:latin typeface="+mn-ea"/>
                          <a:ea typeface="+mn-ea"/>
                        </a:rPr>
                        <a:t>13</a:t>
                      </a:r>
                    </a:p>
                  </a:txBody>
                  <a:tcPr marL="0" marR="0"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v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endParaRPr kumimoji="1" lang="en-US" altLang="ja-JP" sz="1200" b="0" i="0" u="none" strike="noStrike" cap="none" normalizeH="0" baseline="0" dirty="0">
                        <a:ln>
                          <a:noFill/>
                        </a:ln>
                        <a:solidFill>
                          <a:schemeClr val="tx1"/>
                        </a:solidFill>
                        <a:effectLst/>
                        <a:latin typeface="ＭＳ Ｐゴシック" panose="020B0600070205080204" pitchFamily="50" charset="-128"/>
                        <a:ea typeface="ＭＳ Ｐゴシック" panose="020B0600070205080204" pitchFamily="50" charset="-128"/>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gridSpan="2">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b="0" i="0" u="none" strike="noStrike" cap="none" normalizeH="0" baseline="0" dirty="0">
                          <a:ln>
                            <a:noFill/>
                          </a:ln>
                          <a:solidFill>
                            <a:schemeClr val="tx1"/>
                          </a:solidFill>
                          <a:effectLst/>
                          <a:latin typeface="+mn-ea"/>
                          <a:ea typeface="+mn-ea"/>
                        </a:rPr>
                        <a:t>アウトバウンド製品の製品終了</a:t>
                      </a:r>
                      <a:endParaRPr kumimoji="1" lang="en-US" altLang="ja-JP"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hMerge="1">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endParaRPr kumimoji="1" lang="en-US" altLang="ja-JP" sz="12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b="0" i="0" u="none" strike="noStrike" kern="1200" cap="none" spc="0" normalizeH="0" baseline="0" noProof="0" dirty="0">
                          <a:ln>
                            <a:noFill/>
                          </a:ln>
                          <a:solidFill>
                            <a:schemeClr val="tx1"/>
                          </a:solidFill>
                          <a:effectLst/>
                          <a:uLnTx/>
                          <a:uFillTx/>
                          <a:latin typeface="+mn-ea"/>
                          <a:ea typeface="+mn-ea"/>
                          <a:cs typeface="+mn-cs"/>
                        </a:rPr>
                        <a:t>製品選定中</a:t>
                      </a:r>
                      <a:endParaRPr kumimoji="1" lang="en-US" altLang="ja-JP" sz="1100" b="0" i="0" u="none" strike="noStrike" kern="1200" cap="none" spc="0" normalizeH="0" baseline="0" noProof="0" dirty="0">
                        <a:ln>
                          <a:noFill/>
                        </a:ln>
                        <a:solidFill>
                          <a:schemeClr val="tx1"/>
                        </a:solidFill>
                        <a:effectLst/>
                        <a:uLnTx/>
                        <a:uFillTx/>
                        <a:latin typeface="+mn-ea"/>
                        <a:ea typeface="+mn-ea"/>
                        <a:cs typeface="+mn-cs"/>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en-US" altLang="ja-JP" sz="1100" b="0" i="0" u="none" strike="noStrike" kern="1200" cap="none" normalizeH="0" baseline="0" dirty="0">
                          <a:ln>
                            <a:noFill/>
                          </a:ln>
                          <a:solidFill>
                            <a:schemeClr val="tx1"/>
                          </a:solidFill>
                          <a:effectLst/>
                          <a:latin typeface="+mn-ea"/>
                          <a:ea typeface="+mn-ea"/>
                          <a:cs typeface="+mn-cs"/>
                        </a:rPr>
                        <a:t>-</a:t>
                      </a:r>
                      <a:endParaRPr kumimoji="1" lang="en-US" altLang="ja-JP" sz="1100" b="0" i="0" u="none" strike="noStrike" kern="1200" cap="none" spc="0" normalizeH="0" baseline="0" noProof="0" dirty="0">
                        <a:ln>
                          <a:noFill/>
                        </a:ln>
                        <a:solidFill>
                          <a:schemeClr val="tx1"/>
                        </a:solidFill>
                        <a:effectLst/>
                        <a:uLnTx/>
                        <a:uFillTx/>
                        <a:latin typeface="+mn-ea"/>
                        <a:ea typeface="+mn-ea"/>
                        <a:cs typeface="+mn-cs"/>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
                          <a:srgbClr val="003C2C"/>
                        </a:buClr>
                        <a:buSzTx/>
                        <a:buFont typeface="Wingdings" pitchFamily="2" charset="2"/>
                        <a:buNone/>
                        <a:tabLst/>
                        <a:defRPr/>
                      </a:pPr>
                      <a:r>
                        <a:rPr kumimoji="1" lang="ja-JP" altLang="en-US" sz="1100" b="0" i="0" u="none" strike="noStrike" kern="1200" cap="none" spc="0" normalizeH="0" baseline="0" noProof="0" dirty="0">
                          <a:ln>
                            <a:noFill/>
                          </a:ln>
                          <a:solidFill>
                            <a:schemeClr val="tx1"/>
                          </a:solidFill>
                          <a:effectLst/>
                          <a:uLnTx/>
                          <a:uFillTx/>
                          <a:latin typeface="+mn-ea"/>
                          <a:ea typeface="+mn-ea"/>
                          <a:cs typeface="+mn-cs"/>
                        </a:rPr>
                        <a:t>影響確認中</a:t>
                      </a:r>
                      <a:endParaRPr kumimoji="1" lang="en-US" altLang="ja-JP" sz="1100" b="0" i="0" u="none" strike="noStrike" kern="1200" cap="none" spc="0" normalizeH="0" baseline="0" noProof="0" dirty="0">
                        <a:ln>
                          <a:noFill/>
                        </a:ln>
                        <a:solidFill>
                          <a:schemeClr val="tx1"/>
                        </a:solidFill>
                        <a:effectLst/>
                        <a:uLnTx/>
                        <a:uFillTx/>
                        <a:latin typeface="+mn-ea"/>
                        <a:ea typeface="+mn-ea"/>
                        <a:cs typeface="+mn-cs"/>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FFFFCC"/>
                    </a:solidFill>
                  </a:tcPr>
                </a:tc>
                <a:tc>
                  <a:txBody>
                    <a:bodyPr/>
                    <a:lstStyle/>
                    <a:p>
                      <a:pPr rtl="0"/>
                      <a:endParaRPr kumimoji="1" lang="ja-JP" altLang="en-US"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rtl="0"/>
                      <a:r>
                        <a:rPr kumimoji="1" lang="en-US" altLang="ja-JP" sz="1100" b="0" i="0" u="none" strike="noStrike" cap="none" normalizeH="0" baseline="0" dirty="0">
                          <a:ln>
                            <a:noFill/>
                          </a:ln>
                          <a:solidFill>
                            <a:schemeClr val="tx1"/>
                          </a:solidFill>
                          <a:effectLst/>
                          <a:latin typeface="+mn-ea"/>
                          <a:ea typeface="+mn-ea"/>
                        </a:rPr>
                        <a:t>-</a:t>
                      </a:r>
                      <a:endParaRPr kumimoji="1" lang="ja-JP" altLang="en-US" sz="1100" b="0" i="0" u="none" strike="noStrike" cap="none" normalizeH="0" baseline="0" dirty="0">
                        <a:ln>
                          <a:noFill/>
                        </a:ln>
                        <a:solidFill>
                          <a:schemeClr val="tx1"/>
                        </a:solidFill>
                        <a:effectLst/>
                        <a:latin typeface="+mn-ea"/>
                        <a:ea typeface="+mn-ea"/>
                      </a:endParaRPr>
                    </a:p>
                  </a:txBody>
                  <a:tcPr marL="35998" marR="35998" marT="46801" marB="46801"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328717692"/>
                  </a:ext>
                </a:extLst>
              </a:tr>
            </a:tbl>
          </a:graphicData>
        </a:graphic>
      </p:graphicFrame>
      <p:sp>
        <p:nvSpPr>
          <p:cNvPr id="9" name="四角形: 角を丸くする 8">
            <a:extLst>
              <a:ext uri="{FF2B5EF4-FFF2-40B4-BE49-F238E27FC236}">
                <a16:creationId xmlns:a16="http://schemas.microsoft.com/office/drawing/2014/main" id="{4EEFC56D-F01E-F80C-3630-B28AEA7E227E}"/>
              </a:ext>
            </a:extLst>
          </p:cNvPr>
          <p:cNvSpPr/>
          <p:nvPr/>
        </p:nvSpPr>
        <p:spPr bwMode="auto">
          <a:xfrm>
            <a:off x="5675326" y="2000238"/>
            <a:ext cx="2712972" cy="4444625"/>
          </a:xfrm>
          <a:prstGeom prst="roundRect">
            <a:avLst>
              <a:gd name="adj" fmla="val 4982"/>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dirty="0">
              <a:ln>
                <a:noFill/>
              </a:ln>
              <a:solidFill>
                <a:schemeClr val="tx1"/>
              </a:solidFill>
              <a:effectLst/>
              <a:latin typeface="+mn-ea"/>
              <a:ea typeface="+mn-ea"/>
              <a:cs typeface="Meiryo UI" panose="020B0604030504040204" pitchFamily="50" charset="-128"/>
            </a:endParaRPr>
          </a:p>
        </p:txBody>
      </p:sp>
      <p:sp>
        <p:nvSpPr>
          <p:cNvPr id="10" name="四角形: 角を丸くする 9">
            <a:extLst>
              <a:ext uri="{FF2B5EF4-FFF2-40B4-BE49-F238E27FC236}">
                <a16:creationId xmlns:a16="http://schemas.microsoft.com/office/drawing/2014/main" id="{37ADD062-34CE-42A7-1554-BA3D3A041CC4}"/>
              </a:ext>
            </a:extLst>
          </p:cNvPr>
          <p:cNvSpPr/>
          <p:nvPr/>
        </p:nvSpPr>
        <p:spPr bwMode="auto">
          <a:xfrm>
            <a:off x="1080655" y="6444863"/>
            <a:ext cx="8652845" cy="273412"/>
          </a:xfrm>
          <a:prstGeom prst="roundRect">
            <a:avLst>
              <a:gd name="adj" fmla="val 21704"/>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dirty="0">
              <a:ln>
                <a:noFill/>
              </a:ln>
              <a:solidFill>
                <a:schemeClr val="tx1"/>
              </a:solidFill>
              <a:effectLst/>
              <a:latin typeface="+mn-ea"/>
              <a:ea typeface="+mn-ea"/>
              <a:cs typeface="Meiryo UI" panose="020B0604030504040204" pitchFamily="50" charset="-128"/>
            </a:endParaRPr>
          </a:p>
        </p:txBody>
      </p:sp>
      <p:sp>
        <p:nvSpPr>
          <p:cNvPr id="11" name="四角形: 角を丸くする 10">
            <a:extLst>
              <a:ext uri="{FF2B5EF4-FFF2-40B4-BE49-F238E27FC236}">
                <a16:creationId xmlns:a16="http://schemas.microsoft.com/office/drawing/2014/main" id="{8C51CE20-BA3E-B064-8131-2C55B549DC72}"/>
              </a:ext>
            </a:extLst>
          </p:cNvPr>
          <p:cNvSpPr/>
          <p:nvPr/>
        </p:nvSpPr>
        <p:spPr bwMode="auto">
          <a:xfrm>
            <a:off x="8077200" y="1663777"/>
            <a:ext cx="1656301" cy="273412"/>
          </a:xfrm>
          <a:prstGeom prst="roundRect">
            <a:avLst>
              <a:gd name="adj" fmla="val 21704"/>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kumimoji="1" lang="ja-JP" altLang="en-US" sz="1000" i="0" u="none" strike="noStrike" cap="none" normalizeH="0" baseline="0" dirty="0">
                <a:ln>
                  <a:noFill/>
                </a:ln>
                <a:solidFill>
                  <a:srgbClr val="FF0000"/>
                </a:solidFill>
                <a:effectLst/>
                <a:latin typeface="+mn-ea"/>
                <a:ea typeface="+mn-ea"/>
                <a:cs typeface="Meiryo UI" panose="020B0604030504040204" pitchFamily="50" charset="-128"/>
              </a:rPr>
              <a:t>フェーズを分けて検討を実施</a:t>
            </a:r>
          </a:p>
        </p:txBody>
      </p:sp>
    </p:spTree>
    <p:extLst>
      <p:ext uri="{BB962C8B-B14F-4D97-AF65-F5344CB8AC3E}">
        <p14:creationId xmlns:p14="http://schemas.microsoft.com/office/powerpoint/2010/main" val="3326351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タイトル 1">
            <a:extLst>
              <a:ext uri="{FF2B5EF4-FFF2-40B4-BE49-F238E27FC236}">
                <a16:creationId xmlns:a16="http://schemas.microsoft.com/office/drawing/2014/main" id="{84AA809F-2E64-60F8-39AA-396EE0F25F49}"/>
              </a:ext>
            </a:extLst>
          </p:cNvPr>
          <p:cNvSpPr txBox="1">
            <a:spLocks/>
          </p:cNvSpPr>
          <p:nvPr/>
        </p:nvSpPr>
        <p:spPr>
          <a:xfrm>
            <a:off x="674478" y="130545"/>
            <a:ext cx="9004300" cy="334962"/>
          </a:xfrm>
          <a:prstGeom prst="rect">
            <a:avLst/>
          </a:prstGeom>
        </p:spPr>
        <p:txBody>
          <a:bodyPr/>
          <a:lst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a:lstStyle>
          <a:p>
            <a:r>
              <a:rPr lang="ja-JP" altLang="en-US" kern="0" dirty="0"/>
              <a:t>３</a:t>
            </a:r>
            <a:r>
              <a:rPr lang="en-US" altLang="ja-JP" kern="0" dirty="0"/>
              <a:t>-</a:t>
            </a:r>
            <a:r>
              <a:rPr lang="ja-JP" altLang="en-US" kern="0" dirty="0"/>
              <a:t>１．</a:t>
            </a:r>
            <a:r>
              <a:rPr lang="en-US" altLang="ja-JP" kern="0" dirty="0"/>
              <a:t>【</a:t>
            </a:r>
            <a:r>
              <a:rPr lang="ja-JP" altLang="en-US" kern="0" dirty="0">
                <a:latin typeface="+mn-ea"/>
                <a:ea typeface="+mn-ea"/>
              </a:rPr>
              <a:t>推進体制</a:t>
            </a:r>
            <a:r>
              <a:rPr lang="en-US" altLang="ja-JP" kern="0" dirty="0"/>
              <a:t>】</a:t>
            </a:r>
            <a:r>
              <a:rPr lang="ja-JP" altLang="en-US" kern="0" dirty="0"/>
              <a:t>プロジェクト関連図</a:t>
            </a:r>
            <a:endParaRPr lang="en-US" altLang="ja-JP" kern="0" dirty="0">
              <a:latin typeface="Meiryo UI" panose="020B0604030504040204" pitchFamily="50" charset="-128"/>
              <a:ea typeface="Meiryo UI" panose="020B0604030504040204" pitchFamily="50" charset="-128"/>
            </a:endParaRPr>
          </a:p>
        </p:txBody>
      </p:sp>
      <p:sp>
        <p:nvSpPr>
          <p:cNvPr id="2" name="Rectangle 7">
            <a:extLst>
              <a:ext uri="{FF2B5EF4-FFF2-40B4-BE49-F238E27FC236}">
                <a16:creationId xmlns:a16="http://schemas.microsoft.com/office/drawing/2014/main" id="{FC06AEA7-B4F6-A438-3508-B8E72F758FF9}"/>
              </a:ext>
            </a:extLst>
          </p:cNvPr>
          <p:cNvSpPr>
            <a:spLocks noChangeArrowheads="1"/>
          </p:cNvSpPr>
          <p:nvPr/>
        </p:nvSpPr>
        <p:spPr bwMode="gray">
          <a:xfrm>
            <a:off x="405912" y="1119144"/>
            <a:ext cx="2103614" cy="5469239"/>
          </a:xfrm>
          <a:prstGeom prst="rect">
            <a:avLst/>
          </a:prstGeom>
          <a:solidFill>
            <a:srgbClr val="CCFFCC"/>
          </a:solidFill>
          <a:ln w="9525">
            <a:solidFill>
              <a:schemeClr val="tx1">
                <a:lumMod val="50000"/>
                <a:lumOff val="50000"/>
              </a:schemeClr>
            </a:solidFill>
            <a:prstDash val="solid"/>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400" b="1">
                <a:latin typeface="+mn-ea"/>
                <a:ea typeface="+mn-ea"/>
              </a:rPr>
              <a:t>ＳＭＣＣ</a:t>
            </a:r>
          </a:p>
        </p:txBody>
      </p:sp>
      <p:sp>
        <p:nvSpPr>
          <p:cNvPr id="3" name="Rectangle 8">
            <a:extLst>
              <a:ext uri="{FF2B5EF4-FFF2-40B4-BE49-F238E27FC236}">
                <a16:creationId xmlns:a16="http://schemas.microsoft.com/office/drawing/2014/main" id="{7FE3833A-B78B-E56F-73F7-3295EC0069D9}"/>
              </a:ext>
            </a:extLst>
          </p:cNvPr>
          <p:cNvSpPr>
            <a:spLocks noChangeArrowheads="1"/>
          </p:cNvSpPr>
          <p:nvPr/>
        </p:nvSpPr>
        <p:spPr bwMode="gray">
          <a:xfrm>
            <a:off x="2818583" y="1119144"/>
            <a:ext cx="2868641" cy="5469240"/>
          </a:xfrm>
          <a:prstGeom prst="rect">
            <a:avLst/>
          </a:prstGeom>
          <a:solidFill>
            <a:srgbClr val="DCF5FF"/>
          </a:solidFill>
          <a:ln w="9525">
            <a:solidFill>
              <a:schemeClr val="tx1">
                <a:lumMod val="50000"/>
                <a:lumOff val="50000"/>
              </a:schemeClr>
            </a:solidFill>
            <a:prstDash val="solid"/>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400" b="1">
                <a:latin typeface="+mn-ea"/>
                <a:ea typeface="+mn-ea"/>
              </a:rPr>
              <a:t>日本総研　</a:t>
            </a:r>
            <a:r>
              <a:rPr lang="en-US" altLang="ja-JP" sz="1400" b="1">
                <a:latin typeface="+mn-ea"/>
                <a:ea typeface="+mn-ea"/>
              </a:rPr>
              <a:t>PF</a:t>
            </a:r>
            <a:r>
              <a:rPr lang="ja-JP" altLang="en-US" sz="1400" b="1">
                <a:latin typeface="+mn-ea"/>
                <a:ea typeface="+mn-ea"/>
              </a:rPr>
              <a:t>基盤システム本</a:t>
            </a:r>
            <a:r>
              <a:rPr lang="ja-JP" altLang="en-US" sz="1400">
                <a:latin typeface="+mn-ea"/>
                <a:ea typeface="+mn-ea"/>
              </a:rPr>
              <a:t>部</a:t>
            </a:r>
            <a:endParaRPr lang="ja-JP" altLang="en-US" sz="1400" b="1">
              <a:latin typeface="+mn-ea"/>
              <a:ea typeface="+mn-ea"/>
            </a:endParaRPr>
          </a:p>
        </p:txBody>
      </p:sp>
      <p:sp>
        <p:nvSpPr>
          <p:cNvPr id="4" name="Text Box 10">
            <a:extLst>
              <a:ext uri="{FF2B5EF4-FFF2-40B4-BE49-F238E27FC236}">
                <a16:creationId xmlns:a16="http://schemas.microsoft.com/office/drawing/2014/main" id="{E12AF747-E226-A76F-FE22-81EAF6791D1B}"/>
              </a:ext>
            </a:extLst>
          </p:cNvPr>
          <p:cNvSpPr txBox="1">
            <a:spLocks noChangeArrowheads="1"/>
          </p:cNvSpPr>
          <p:nvPr/>
        </p:nvSpPr>
        <p:spPr bwMode="gray">
          <a:xfrm>
            <a:off x="2988395" y="1467345"/>
            <a:ext cx="1931322" cy="266562"/>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a:solidFill>
                  <a:schemeClr val="bg1">
                    <a:lumMod val="95000"/>
                  </a:schemeClr>
                </a:solidFill>
                <a:latin typeface="+mn-ea"/>
                <a:ea typeface="+mn-ea"/>
              </a:rPr>
              <a:t>プロジェクト責任者</a:t>
            </a:r>
          </a:p>
        </p:txBody>
      </p:sp>
      <p:sp>
        <p:nvSpPr>
          <p:cNvPr id="8" name="Text Box 25">
            <a:extLst>
              <a:ext uri="{FF2B5EF4-FFF2-40B4-BE49-F238E27FC236}">
                <a16:creationId xmlns:a16="http://schemas.microsoft.com/office/drawing/2014/main" id="{A7188A0C-EE40-704B-4667-C81C000E7B41}"/>
              </a:ext>
            </a:extLst>
          </p:cNvPr>
          <p:cNvSpPr txBox="1">
            <a:spLocks noChangeArrowheads="1"/>
          </p:cNvSpPr>
          <p:nvPr/>
        </p:nvSpPr>
        <p:spPr bwMode="gray">
          <a:xfrm>
            <a:off x="2988395" y="1733906"/>
            <a:ext cx="1931322" cy="407737"/>
          </a:xfrm>
          <a:prstGeom prst="rect">
            <a:avLst/>
          </a:prstGeom>
          <a:solidFill>
            <a:srgbClr val="FFFFFF"/>
          </a:solidFill>
          <a:ln w="9525">
            <a:solidFill>
              <a:schemeClr val="tx1">
                <a:lumMod val="50000"/>
                <a:lumOff val="50000"/>
              </a:schemeClr>
            </a:solidFill>
            <a:miter lim="800000"/>
            <a:headEnd/>
            <a:tailEnd/>
          </a:ln>
        </p:spPr>
        <p:txBody>
          <a:bodyPr tIns="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a:spcBef>
                <a:spcPct val="0"/>
              </a:spcBef>
            </a:pPr>
            <a:r>
              <a:rPr lang="ja-JP" altLang="en-US" sz="1100" b="0">
                <a:latin typeface="+mn-ea"/>
                <a:ea typeface="+mn-ea"/>
              </a:rPr>
              <a:t>クライアント運用基盤</a:t>
            </a:r>
            <a:endParaRPr lang="en-US" altLang="ja-JP" sz="1100" b="0">
              <a:latin typeface="+mn-ea"/>
              <a:ea typeface="+mn-ea"/>
            </a:endParaRPr>
          </a:p>
          <a:p>
            <a:pPr>
              <a:spcBef>
                <a:spcPct val="0"/>
              </a:spcBef>
            </a:pPr>
            <a:r>
              <a:rPr lang="ja-JP" altLang="en-US" sz="1100" b="0">
                <a:latin typeface="+mn-ea"/>
                <a:ea typeface="+mn-ea"/>
              </a:rPr>
              <a:t>三澤補佐、西村次長</a:t>
            </a:r>
          </a:p>
        </p:txBody>
      </p:sp>
      <p:sp>
        <p:nvSpPr>
          <p:cNvPr id="12" name="Text Box 25">
            <a:extLst>
              <a:ext uri="{FF2B5EF4-FFF2-40B4-BE49-F238E27FC236}">
                <a16:creationId xmlns:a16="http://schemas.microsoft.com/office/drawing/2014/main" id="{F57E94BD-FEB2-F4B8-D340-9789BDE5FB2B}"/>
              </a:ext>
            </a:extLst>
          </p:cNvPr>
          <p:cNvSpPr txBox="1">
            <a:spLocks noChangeArrowheads="1"/>
          </p:cNvSpPr>
          <p:nvPr/>
        </p:nvSpPr>
        <p:spPr bwMode="gray">
          <a:xfrm>
            <a:off x="3329000" y="3299306"/>
            <a:ext cx="2227712" cy="288000"/>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latin typeface="+mn-ea"/>
                <a:ea typeface="+mn-ea"/>
              </a:rPr>
              <a:t>コンタクト基盤Ｇ　大島・田中・</a:t>
            </a:r>
            <a:r>
              <a:rPr lang="en-US" altLang="ja-JP" sz="1100" b="0" dirty="0">
                <a:latin typeface="+mn-ea"/>
                <a:ea typeface="+mn-ea"/>
              </a:rPr>
              <a:t>CTC</a:t>
            </a:r>
            <a:endParaRPr lang="ja-JP" altLang="en-US" sz="1100" b="0" dirty="0">
              <a:latin typeface="+mn-ea"/>
              <a:ea typeface="+mn-ea"/>
            </a:endParaRPr>
          </a:p>
        </p:txBody>
      </p:sp>
      <p:sp>
        <p:nvSpPr>
          <p:cNvPr id="14" name="Text Box 10">
            <a:extLst>
              <a:ext uri="{FF2B5EF4-FFF2-40B4-BE49-F238E27FC236}">
                <a16:creationId xmlns:a16="http://schemas.microsoft.com/office/drawing/2014/main" id="{8ECBDC1C-1E93-BFEE-8341-FDD133858869}"/>
              </a:ext>
            </a:extLst>
          </p:cNvPr>
          <p:cNvSpPr txBox="1">
            <a:spLocks noChangeArrowheads="1"/>
          </p:cNvSpPr>
          <p:nvPr/>
        </p:nvSpPr>
        <p:spPr bwMode="gray">
          <a:xfrm>
            <a:off x="3329000" y="3011274"/>
            <a:ext cx="2227712"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en-US" altLang="ja-JP" sz="1100" b="0" dirty="0">
                <a:solidFill>
                  <a:schemeClr val="bg1">
                    <a:lumMod val="95000"/>
                  </a:schemeClr>
                </a:solidFill>
                <a:latin typeface="+mn-ea"/>
                <a:ea typeface="+mn-ea"/>
              </a:rPr>
              <a:t>CTI</a:t>
            </a:r>
            <a:r>
              <a:rPr lang="ja-JP" altLang="en-US" sz="1100" b="0" dirty="0">
                <a:solidFill>
                  <a:schemeClr val="bg1">
                    <a:lumMod val="95000"/>
                  </a:schemeClr>
                </a:solidFill>
                <a:latin typeface="+mn-ea"/>
                <a:ea typeface="+mn-ea"/>
              </a:rPr>
              <a:t>基盤・</a:t>
            </a:r>
            <a:r>
              <a:rPr lang="en-US" altLang="ja-JP" sz="1100" b="0" dirty="0">
                <a:solidFill>
                  <a:schemeClr val="bg1">
                    <a:lumMod val="95000"/>
                  </a:schemeClr>
                </a:solidFill>
                <a:latin typeface="+mn-ea"/>
                <a:ea typeface="+mn-ea"/>
              </a:rPr>
              <a:t>IVR</a:t>
            </a:r>
            <a:r>
              <a:rPr lang="ja-JP" altLang="en-US" sz="1100" b="0" dirty="0">
                <a:solidFill>
                  <a:schemeClr val="bg1">
                    <a:lumMod val="95000"/>
                  </a:schemeClr>
                </a:solidFill>
                <a:latin typeface="+mn-ea"/>
                <a:ea typeface="+mn-ea"/>
              </a:rPr>
              <a:t>基盤・インフラ</a:t>
            </a:r>
          </a:p>
        </p:txBody>
      </p:sp>
      <p:cxnSp>
        <p:nvCxnSpPr>
          <p:cNvPr id="24" name="AutoShape 14">
            <a:extLst>
              <a:ext uri="{FF2B5EF4-FFF2-40B4-BE49-F238E27FC236}">
                <a16:creationId xmlns:a16="http://schemas.microsoft.com/office/drawing/2014/main" id="{6E7BFDBE-A1EB-7561-6AAB-61A01D07AEC1}"/>
              </a:ext>
            </a:extLst>
          </p:cNvPr>
          <p:cNvCxnSpPr>
            <a:cxnSpLocks noChangeShapeType="1"/>
            <a:endCxn id="12" idx="1"/>
          </p:cNvCxnSpPr>
          <p:nvPr/>
        </p:nvCxnSpPr>
        <p:spPr bwMode="gray">
          <a:xfrm rot="16200000" flipH="1">
            <a:off x="2954098" y="3068403"/>
            <a:ext cx="588713" cy="161092"/>
          </a:xfrm>
          <a:prstGeom prst="bentConnector2">
            <a:avLst/>
          </a:prstGeom>
          <a:noFill/>
          <a:ln w="19050">
            <a:solidFill>
              <a:schemeClr val="tx1">
                <a:lumMod val="50000"/>
                <a:lumOff val="50000"/>
              </a:schemeClr>
            </a:solidFill>
            <a:miter lim="800000"/>
            <a:headEnd/>
            <a:tailEnd/>
          </a:ln>
          <a:extLst>
            <a:ext uri="{909E8E84-426E-40DD-AFC4-6F175D3DCCD1}">
              <a14:hiddenFill xmlns:a14="http://schemas.microsoft.com/office/drawing/2010/main">
                <a:noFill/>
              </a14:hiddenFill>
            </a:ext>
          </a:extLst>
        </p:spPr>
      </p:cxnSp>
      <p:sp>
        <p:nvSpPr>
          <p:cNvPr id="25" name="Text Box 25">
            <a:extLst>
              <a:ext uri="{FF2B5EF4-FFF2-40B4-BE49-F238E27FC236}">
                <a16:creationId xmlns:a16="http://schemas.microsoft.com/office/drawing/2014/main" id="{C14EA442-A6D8-70EF-FB8F-30DE89A5E9ED}"/>
              </a:ext>
            </a:extLst>
          </p:cNvPr>
          <p:cNvSpPr txBox="1">
            <a:spLocks noChangeArrowheads="1"/>
          </p:cNvSpPr>
          <p:nvPr/>
        </p:nvSpPr>
        <p:spPr bwMode="gray">
          <a:xfrm>
            <a:off x="3329000" y="6010541"/>
            <a:ext cx="2227712" cy="372689"/>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latin typeface="+mn-ea"/>
                <a:ea typeface="+mn-ea"/>
              </a:rPr>
              <a:t>コンタクト基盤Ｇ　山本・</a:t>
            </a:r>
            <a:r>
              <a:rPr lang="en-US" altLang="ja-JP" sz="1100" b="0" dirty="0">
                <a:latin typeface="+mn-ea"/>
                <a:ea typeface="+mn-ea"/>
              </a:rPr>
              <a:t>MSYS</a:t>
            </a:r>
          </a:p>
        </p:txBody>
      </p:sp>
      <p:sp>
        <p:nvSpPr>
          <p:cNvPr id="31" name="Text Box 10">
            <a:extLst>
              <a:ext uri="{FF2B5EF4-FFF2-40B4-BE49-F238E27FC236}">
                <a16:creationId xmlns:a16="http://schemas.microsoft.com/office/drawing/2014/main" id="{C2118AE7-545E-CC3B-62AF-5FC5EF492623}"/>
              </a:ext>
            </a:extLst>
          </p:cNvPr>
          <p:cNvSpPr txBox="1">
            <a:spLocks noChangeArrowheads="1"/>
          </p:cNvSpPr>
          <p:nvPr/>
        </p:nvSpPr>
        <p:spPr bwMode="gray">
          <a:xfrm>
            <a:off x="3329000" y="5722509"/>
            <a:ext cx="2227712"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a:solidFill>
                  <a:schemeClr val="bg1">
                    <a:lumMod val="95000"/>
                  </a:schemeClr>
                </a:solidFill>
                <a:latin typeface="+mn-ea"/>
                <a:ea typeface="+mn-ea"/>
              </a:rPr>
              <a:t>業務アプリ・自動音声システム</a:t>
            </a:r>
          </a:p>
        </p:txBody>
      </p:sp>
      <p:cxnSp>
        <p:nvCxnSpPr>
          <p:cNvPr id="32" name="AutoShape 14">
            <a:extLst>
              <a:ext uri="{FF2B5EF4-FFF2-40B4-BE49-F238E27FC236}">
                <a16:creationId xmlns:a16="http://schemas.microsoft.com/office/drawing/2014/main" id="{E1F71BDD-9632-F6CF-2FAE-80AE6EE4BC2C}"/>
              </a:ext>
            </a:extLst>
          </p:cNvPr>
          <p:cNvCxnSpPr>
            <a:cxnSpLocks noChangeShapeType="1"/>
            <a:endCxn id="25" idx="1"/>
          </p:cNvCxnSpPr>
          <p:nvPr/>
        </p:nvCxnSpPr>
        <p:spPr bwMode="gray">
          <a:xfrm rot="16200000" flipH="1">
            <a:off x="2271883" y="5139769"/>
            <a:ext cx="1953142" cy="161092"/>
          </a:xfrm>
          <a:prstGeom prst="bentConnector2">
            <a:avLst/>
          </a:prstGeom>
          <a:noFill/>
          <a:ln w="19050">
            <a:solidFill>
              <a:schemeClr val="tx1">
                <a:lumMod val="50000"/>
                <a:lumOff val="50000"/>
              </a:schemeClr>
            </a:solidFill>
            <a:miter lim="800000"/>
            <a:headEnd/>
            <a:tailEnd/>
          </a:ln>
          <a:extLst>
            <a:ext uri="{909E8E84-426E-40DD-AFC4-6F175D3DCCD1}">
              <a14:hiddenFill xmlns:a14="http://schemas.microsoft.com/office/drawing/2010/main">
                <a:noFill/>
              </a14:hiddenFill>
            </a:ext>
          </a:extLst>
        </p:spPr>
      </p:cxnSp>
      <p:sp>
        <p:nvSpPr>
          <p:cNvPr id="40" name="Text Box 10">
            <a:extLst>
              <a:ext uri="{FF2B5EF4-FFF2-40B4-BE49-F238E27FC236}">
                <a16:creationId xmlns:a16="http://schemas.microsoft.com/office/drawing/2014/main" id="{6A90E70B-FDB0-E6A7-A58E-D2EED26C501D}"/>
              </a:ext>
            </a:extLst>
          </p:cNvPr>
          <p:cNvSpPr txBox="1">
            <a:spLocks noChangeArrowheads="1"/>
          </p:cNvSpPr>
          <p:nvPr/>
        </p:nvSpPr>
        <p:spPr bwMode="gray">
          <a:xfrm>
            <a:off x="3001829" y="2278561"/>
            <a:ext cx="1917887"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a:solidFill>
                  <a:schemeClr val="bg1">
                    <a:lumMod val="95000"/>
                  </a:schemeClr>
                </a:solidFill>
                <a:latin typeface="+mn-ea"/>
                <a:ea typeface="+mn-ea"/>
              </a:rPr>
              <a:t>ＰＭ</a:t>
            </a:r>
          </a:p>
        </p:txBody>
      </p:sp>
      <p:sp>
        <p:nvSpPr>
          <p:cNvPr id="42" name="正方形/長方形 41">
            <a:extLst>
              <a:ext uri="{FF2B5EF4-FFF2-40B4-BE49-F238E27FC236}">
                <a16:creationId xmlns:a16="http://schemas.microsoft.com/office/drawing/2014/main" id="{0EACFD1B-EC8C-1050-495A-6A571030687E}"/>
              </a:ext>
            </a:extLst>
          </p:cNvPr>
          <p:cNvSpPr/>
          <p:nvPr/>
        </p:nvSpPr>
        <p:spPr bwMode="auto">
          <a:xfrm>
            <a:off x="464496" y="1407476"/>
            <a:ext cx="1973378" cy="510762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100" i="0" u="none" strike="noStrike" cap="none" normalizeH="0" baseline="0" dirty="0">
                <a:ln>
                  <a:noFill/>
                </a:ln>
                <a:solidFill>
                  <a:schemeClr val="tx1"/>
                </a:solidFill>
                <a:effectLst/>
                <a:latin typeface="+mn-ea"/>
                <a:ea typeface="+mn-ea"/>
                <a:cs typeface="Meiryo UI" panose="020B0604030504040204" pitchFamily="50" charset="-128"/>
              </a:rPr>
              <a:t>詳細は</a:t>
            </a:r>
            <a:endParaRPr kumimoji="1" lang="en-US" altLang="ja-JP" sz="1100" i="0" u="none" strike="noStrike" cap="none" normalizeH="0" baseline="0" dirty="0">
              <a:ln>
                <a:noFill/>
              </a:ln>
              <a:solidFill>
                <a:schemeClr val="tx1"/>
              </a:solidFill>
              <a:effectLst/>
              <a:latin typeface="+mn-ea"/>
              <a:ea typeface="+mn-ea"/>
              <a:cs typeface="Meiryo UI" panose="020B0604030504040204" pitchFamily="50" charset="-128"/>
            </a:endParaRPr>
          </a:p>
          <a:p>
            <a:pPr marL="0" marR="0" indent="0" algn="ctr" defTabSz="742950" rtl="0" eaLnBrk="1" fontAlgn="base" latinLnBrk="0" hangingPunct="1">
              <a:spcBef>
                <a:spcPct val="0"/>
              </a:spcBef>
              <a:spcAft>
                <a:spcPct val="0"/>
              </a:spcAft>
              <a:buClrTx/>
              <a:buSzTx/>
              <a:buFontTx/>
              <a:buNone/>
              <a:tabLst/>
            </a:pPr>
            <a:r>
              <a:rPr kumimoji="1" lang="ja-JP" altLang="en-US" sz="1100" i="0" u="none" strike="noStrike" cap="none" normalizeH="0" baseline="0" dirty="0">
                <a:ln>
                  <a:noFill/>
                </a:ln>
                <a:solidFill>
                  <a:schemeClr val="tx1"/>
                </a:solidFill>
                <a:effectLst/>
                <a:latin typeface="+mn-ea"/>
                <a:ea typeface="+mn-ea"/>
                <a:cs typeface="Meiryo UI" panose="020B0604030504040204" pitchFamily="50" charset="-128"/>
              </a:rPr>
              <a:t>後述（</a:t>
            </a:r>
            <a:r>
              <a:rPr lang="ja-JP" altLang="en-US" sz="1100" dirty="0">
                <a:latin typeface="+mn-ea"/>
                <a:ea typeface="+mn-ea"/>
                <a:cs typeface="Meiryo UI" panose="020B0604030504040204" pitchFamily="50" charset="-128"/>
              </a:rPr>
              <a:t>３</a:t>
            </a:r>
            <a:r>
              <a:rPr kumimoji="1" lang="ja-JP" altLang="en-US" sz="1100" i="0" u="none" strike="noStrike" cap="none" normalizeH="0" baseline="0" dirty="0">
                <a:ln>
                  <a:noFill/>
                </a:ln>
                <a:solidFill>
                  <a:schemeClr val="tx1"/>
                </a:solidFill>
                <a:effectLst/>
                <a:latin typeface="+mn-ea"/>
                <a:ea typeface="+mn-ea"/>
                <a:cs typeface="Meiryo UI" panose="020B0604030504040204" pitchFamily="50" charset="-128"/>
              </a:rPr>
              <a:t>）</a:t>
            </a:r>
            <a:r>
              <a:rPr kumimoji="1" lang="en-US" altLang="ja-JP" sz="1100" i="0" u="none" strike="noStrike" cap="none" normalizeH="0" baseline="0" dirty="0">
                <a:ln>
                  <a:noFill/>
                </a:ln>
                <a:solidFill>
                  <a:schemeClr val="tx1"/>
                </a:solidFill>
                <a:effectLst/>
                <a:latin typeface="+mn-ea"/>
                <a:ea typeface="+mn-ea"/>
                <a:cs typeface="Meiryo UI" panose="020B0604030504040204" pitchFamily="50" charset="-128"/>
              </a:rPr>
              <a:t>SMCC</a:t>
            </a:r>
            <a:r>
              <a:rPr kumimoji="1" lang="ja-JP" altLang="en-US" sz="1100" i="0" u="none" strike="noStrike" cap="none" normalizeH="0" baseline="0" dirty="0">
                <a:ln>
                  <a:noFill/>
                </a:ln>
                <a:solidFill>
                  <a:schemeClr val="tx1"/>
                </a:solidFill>
                <a:effectLst/>
                <a:latin typeface="+mn-ea"/>
                <a:ea typeface="+mn-ea"/>
                <a:cs typeface="Meiryo UI" panose="020B0604030504040204" pitchFamily="50" charset="-128"/>
              </a:rPr>
              <a:t>体制を参照</a:t>
            </a:r>
          </a:p>
        </p:txBody>
      </p:sp>
      <p:sp>
        <p:nvSpPr>
          <p:cNvPr id="43" name="テキスト プレースホルダー 12">
            <a:extLst>
              <a:ext uri="{FF2B5EF4-FFF2-40B4-BE49-F238E27FC236}">
                <a16:creationId xmlns:a16="http://schemas.microsoft.com/office/drawing/2014/main" id="{A69C4FDD-37F4-63D7-7BFF-BA7AB270C38B}"/>
              </a:ext>
            </a:extLst>
          </p:cNvPr>
          <p:cNvSpPr txBox="1">
            <a:spLocks/>
          </p:cNvSpPr>
          <p:nvPr/>
        </p:nvSpPr>
        <p:spPr>
          <a:xfrm>
            <a:off x="154648" y="573485"/>
            <a:ext cx="9686375" cy="456993"/>
          </a:xfrm>
          <a:prstGeom prst="rect">
            <a:avLst/>
          </a:prstGeom>
        </p:spPr>
        <p:txBody>
          <a:bodyPr/>
          <a:lstStyle>
            <a:lvl1pPr marL="180975" indent="-180975" algn="l" rtl="0" eaLnBrk="0" fontAlgn="base" hangingPunct="0">
              <a:lnSpc>
                <a:spcPct val="100000"/>
              </a:lnSpc>
              <a:spcBef>
                <a:spcPts val="300"/>
              </a:spcBef>
              <a:spcAft>
                <a:spcPct val="0"/>
              </a:spcAft>
              <a:buClr>
                <a:schemeClr val="tx1"/>
              </a:buClr>
              <a:buFont typeface="Wingdings" panose="05000000000000000000" pitchFamily="2" charset="2"/>
              <a:buChar char="l"/>
              <a:defRPr kumimoji="1" sz="1400">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a:lstStyle>
          <a:p>
            <a:pPr marL="0" indent="0">
              <a:spcBef>
                <a:spcPts val="600"/>
              </a:spcBef>
              <a:spcAft>
                <a:spcPts val="600"/>
              </a:spcAft>
              <a:buFont typeface="Wingdings" panose="05000000000000000000" pitchFamily="2" charset="2"/>
              <a:buNone/>
            </a:pPr>
            <a:r>
              <a:rPr lang="ja-JP" altLang="en-US" sz="1800" kern="0" dirty="0">
                <a:latin typeface="+mn-ea"/>
              </a:rPr>
              <a:t>（１）全体体制</a:t>
            </a:r>
            <a:endParaRPr lang="en-US" altLang="ja-JP" sz="1800" kern="0" dirty="0">
              <a:latin typeface="+mn-ea"/>
            </a:endParaRPr>
          </a:p>
        </p:txBody>
      </p:sp>
      <p:sp>
        <p:nvSpPr>
          <p:cNvPr id="44" name="正方形/長方形 43">
            <a:extLst>
              <a:ext uri="{FF2B5EF4-FFF2-40B4-BE49-F238E27FC236}">
                <a16:creationId xmlns:a16="http://schemas.microsoft.com/office/drawing/2014/main" id="{DB98DD5B-FBAD-2184-24B0-61EEE2273A09}"/>
              </a:ext>
            </a:extLst>
          </p:cNvPr>
          <p:cNvSpPr/>
          <p:nvPr/>
        </p:nvSpPr>
        <p:spPr bwMode="auto">
          <a:xfrm>
            <a:off x="5996280" y="1127761"/>
            <a:ext cx="3709455" cy="3910802"/>
          </a:xfrm>
          <a:prstGeom prst="rect">
            <a:avLst/>
          </a:prstGeom>
          <a:solidFill>
            <a:schemeClr val="accent5">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1" lang="ja-JP" altLang="en-US" sz="1400" b="1" i="0" u="none" strike="noStrike" kern="1200" cap="none" spc="0" normalizeH="0" baseline="0" noProof="0" dirty="0">
                <a:ln>
                  <a:noFill/>
                </a:ln>
                <a:solidFill>
                  <a:srgbClr val="292929"/>
                </a:solidFill>
                <a:effectLst/>
                <a:uLnTx/>
                <a:uFillTx/>
                <a:latin typeface="Meiryo UI"/>
                <a:ea typeface="Meiryo UI"/>
                <a:cs typeface="+mn-cs"/>
              </a:rPr>
              <a:t>開発ベンダー</a:t>
            </a:r>
            <a:endParaRPr kumimoji="1" lang="en-US" altLang="ja-JP" sz="1400" b="1" i="0" u="none" strike="noStrike" kern="1200" cap="none" spc="0" normalizeH="0" baseline="0" noProof="0" dirty="0">
              <a:ln>
                <a:noFill/>
              </a:ln>
              <a:solidFill>
                <a:srgbClr val="292929"/>
              </a:solidFill>
              <a:effectLst/>
              <a:uLnTx/>
              <a:uFillTx/>
              <a:latin typeface="Meiryo UI"/>
              <a:ea typeface="Meiryo UI"/>
              <a:cs typeface="+mn-cs"/>
            </a:endParaRPr>
          </a:p>
        </p:txBody>
      </p:sp>
      <p:sp>
        <p:nvSpPr>
          <p:cNvPr id="45" name="Text Box 10">
            <a:extLst>
              <a:ext uri="{FF2B5EF4-FFF2-40B4-BE49-F238E27FC236}">
                <a16:creationId xmlns:a16="http://schemas.microsoft.com/office/drawing/2014/main" id="{1C9FD3DA-1687-86FE-A9F3-CFC5A6B5F003}"/>
              </a:ext>
            </a:extLst>
          </p:cNvPr>
          <p:cNvSpPr txBox="1">
            <a:spLocks noChangeArrowheads="1"/>
          </p:cNvSpPr>
          <p:nvPr/>
        </p:nvSpPr>
        <p:spPr bwMode="gray">
          <a:xfrm>
            <a:off x="6277137" y="1464633"/>
            <a:ext cx="1917887"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a:solidFill>
                  <a:schemeClr val="bg1">
                    <a:lumMod val="95000"/>
                  </a:schemeClr>
                </a:solidFill>
                <a:latin typeface="+mn-ea"/>
                <a:ea typeface="+mn-ea"/>
              </a:rPr>
              <a:t>ＰＭ</a:t>
            </a:r>
          </a:p>
        </p:txBody>
      </p:sp>
      <p:sp>
        <p:nvSpPr>
          <p:cNvPr id="46" name="Text Box 25">
            <a:extLst>
              <a:ext uri="{FF2B5EF4-FFF2-40B4-BE49-F238E27FC236}">
                <a16:creationId xmlns:a16="http://schemas.microsoft.com/office/drawing/2014/main" id="{229B7B9E-8957-C8F5-883A-741B29774AD0}"/>
              </a:ext>
            </a:extLst>
          </p:cNvPr>
          <p:cNvSpPr txBox="1">
            <a:spLocks noChangeArrowheads="1"/>
          </p:cNvSpPr>
          <p:nvPr/>
        </p:nvSpPr>
        <p:spPr bwMode="gray">
          <a:xfrm>
            <a:off x="7646154" y="2566593"/>
            <a:ext cx="1917887" cy="288000"/>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latin typeface="+mn-ea"/>
                <a:ea typeface="+mn-ea"/>
              </a:rPr>
              <a:t>丸紅情報システムズ　森、平野</a:t>
            </a:r>
            <a:endParaRPr lang="en-US" altLang="ja-JP" sz="1100" b="0" dirty="0">
              <a:latin typeface="+mn-ea"/>
              <a:ea typeface="+mn-ea"/>
            </a:endParaRPr>
          </a:p>
        </p:txBody>
      </p:sp>
      <p:sp>
        <p:nvSpPr>
          <p:cNvPr id="49" name="Text Box 10">
            <a:extLst>
              <a:ext uri="{FF2B5EF4-FFF2-40B4-BE49-F238E27FC236}">
                <a16:creationId xmlns:a16="http://schemas.microsoft.com/office/drawing/2014/main" id="{81AA5513-050D-6228-3DEE-23905E132D20}"/>
              </a:ext>
            </a:extLst>
          </p:cNvPr>
          <p:cNvSpPr txBox="1">
            <a:spLocks noChangeArrowheads="1"/>
          </p:cNvSpPr>
          <p:nvPr/>
        </p:nvSpPr>
        <p:spPr bwMode="gray">
          <a:xfrm>
            <a:off x="7646154" y="2278561"/>
            <a:ext cx="1917887"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solidFill>
                  <a:schemeClr val="bg1">
                    <a:lumMod val="95000"/>
                  </a:schemeClr>
                </a:solidFill>
                <a:latin typeface="+mn-ea"/>
                <a:ea typeface="+mn-ea"/>
              </a:rPr>
              <a:t>ＰＭＯ</a:t>
            </a:r>
          </a:p>
        </p:txBody>
      </p:sp>
      <p:cxnSp>
        <p:nvCxnSpPr>
          <p:cNvPr id="50" name="AutoShape 14">
            <a:extLst>
              <a:ext uri="{FF2B5EF4-FFF2-40B4-BE49-F238E27FC236}">
                <a16:creationId xmlns:a16="http://schemas.microsoft.com/office/drawing/2014/main" id="{23B368EE-F9D7-5F77-E1E9-D60BBDA4D1A4}"/>
              </a:ext>
            </a:extLst>
          </p:cNvPr>
          <p:cNvCxnSpPr>
            <a:cxnSpLocks noChangeShapeType="1"/>
            <a:endCxn id="46" idx="1"/>
          </p:cNvCxnSpPr>
          <p:nvPr/>
        </p:nvCxnSpPr>
        <p:spPr bwMode="gray">
          <a:xfrm rot="16200000" flipH="1">
            <a:off x="7215455" y="2279894"/>
            <a:ext cx="669928" cy="191469"/>
          </a:xfrm>
          <a:prstGeom prst="bentConnector2">
            <a:avLst/>
          </a:prstGeom>
          <a:noFill/>
          <a:ln w="19050">
            <a:solidFill>
              <a:schemeClr val="tx1">
                <a:lumMod val="50000"/>
                <a:lumOff val="50000"/>
              </a:schemeClr>
            </a:solidFill>
            <a:miter lim="800000"/>
            <a:headEnd/>
            <a:tailEnd/>
          </a:ln>
          <a:extLst>
            <a:ext uri="{909E8E84-426E-40DD-AFC4-6F175D3DCCD1}">
              <a14:hiddenFill xmlns:a14="http://schemas.microsoft.com/office/drawing/2010/main">
                <a:noFill/>
              </a14:hiddenFill>
            </a:ext>
          </a:extLst>
        </p:spPr>
      </p:cxnSp>
      <p:sp>
        <p:nvSpPr>
          <p:cNvPr id="51" name="Text Box 25">
            <a:extLst>
              <a:ext uri="{FF2B5EF4-FFF2-40B4-BE49-F238E27FC236}">
                <a16:creationId xmlns:a16="http://schemas.microsoft.com/office/drawing/2014/main" id="{501DC3D8-9DB8-2A13-041E-D1BA1145E0BB}"/>
              </a:ext>
            </a:extLst>
          </p:cNvPr>
          <p:cNvSpPr txBox="1">
            <a:spLocks noChangeArrowheads="1"/>
          </p:cNvSpPr>
          <p:nvPr/>
        </p:nvSpPr>
        <p:spPr bwMode="gray">
          <a:xfrm>
            <a:off x="3328999" y="4644227"/>
            <a:ext cx="2227712" cy="288000"/>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latin typeface="+mn-ea"/>
                <a:ea typeface="+mn-ea"/>
              </a:rPr>
              <a:t>コンタクト基盤Ｇ　田中・松本</a:t>
            </a:r>
          </a:p>
        </p:txBody>
      </p:sp>
      <p:sp>
        <p:nvSpPr>
          <p:cNvPr id="52" name="Text Box 10">
            <a:extLst>
              <a:ext uri="{FF2B5EF4-FFF2-40B4-BE49-F238E27FC236}">
                <a16:creationId xmlns:a16="http://schemas.microsoft.com/office/drawing/2014/main" id="{596ADD34-0DCB-6A9E-763D-EB721560F5BD}"/>
              </a:ext>
            </a:extLst>
          </p:cNvPr>
          <p:cNvSpPr txBox="1">
            <a:spLocks noChangeArrowheads="1"/>
          </p:cNvSpPr>
          <p:nvPr/>
        </p:nvSpPr>
        <p:spPr bwMode="gray">
          <a:xfrm>
            <a:off x="3328999" y="4356195"/>
            <a:ext cx="2227712"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solidFill>
                  <a:schemeClr val="bg1">
                    <a:lumMod val="95000"/>
                  </a:schemeClr>
                </a:solidFill>
                <a:latin typeface="+mn-ea"/>
                <a:ea typeface="+mn-ea"/>
              </a:rPr>
              <a:t>通話録音</a:t>
            </a:r>
          </a:p>
        </p:txBody>
      </p:sp>
      <p:cxnSp>
        <p:nvCxnSpPr>
          <p:cNvPr id="53" name="AutoShape 14">
            <a:extLst>
              <a:ext uri="{FF2B5EF4-FFF2-40B4-BE49-F238E27FC236}">
                <a16:creationId xmlns:a16="http://schemas.microsoft.com/office/drawing/2014/main" id="{30F5A6C7-3E14-EEC5-F9CA-9FA95E82BE33}"/>
              </a:ext>
            </a:extLst>
          </p:cNvPr>
          <p:cNvCxnSpPr>
            <a:cxnSpLocks noChangeShapeType="1"/>
            <a:endCxn id="51" idx="1"/>
          </p:cNvCxnSpPr>
          <p:nvPr/>
        </p:nvCxnSpPr>
        <p:spPr bwMode="gray">
          <a:xfrm rot="16200000" flipH="1">
            <a:off x="2503443" y="3962671"/>
            <a:ext cx="1490022" cy="161089"/>
          </a:xfrm>
          <a:prstGeom prst="bentConnector2">
            <a:avLst/>
          </a:prstGeom>
          <a:noFill/>
          <a:ln w="19050">
            <a:solidFill>
              <a:schemeClr val="tx1">
                <a:lumMod val="50000"/>
                <a:lumOff val="50000"/>
              </a:schemeClr>
            </a:solidFill>
            <a:miter lim="800000"/>
            <a:headEnd/>
            <a:tailEnd/>
          </a:ln>
          <a:extLst>
            <a:ext uri="{909E8E84-426E-40DD-AFC4-6F175D3DCCD1}">
              <a14:hiddenFill xmlns:a14="http://schemas.microsoft.com/office/drawing/2010/main">
                <a:noFill/>
              </a14:hiddenFill>
            </a:ext>
          </a:extLst>
        </p:spPr>
      </p:cxnSp>
      <p:sp>
        <p:nvSpPr>
          <p:cNvPr id="54" name="Text Box 25">
            <a:extLst>
              <a:ext uri="{FF2B5EF4-FFF2-40B4-BE49-F238E27FC236}">
                <a16:creationId xmlns:a16="http://schemas.microsoft.com/office/drawing/2014/main" id="{5D2439AB-8A03-C67C-78E8-0ADE517B7B40}"/>
              </a:ext>
            </a:extLst>
          </p:cNvPr>
          <p:cNvSpPr txBox="1">
            <a:spLocks noChangeArrowheads="1"/>
          </p:cNvSpPr>
          <p:nvPr/>
        </p:nvSpPr>
        <p:spPr bwMode="gray">
          <a:xfrm>
            <a:off x="6277136" y="4644227"/>
            <a:ext cx="1472016" cy="288000"/>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latin typeface="+mn-ea"/>
                <a:ea typeface="+mn-ea"/>
              </a:rPr>
              <a:t>丸紅情報システムズ</a:t>
            </a:r>
          </a:p>
        </p:txBody>
      </p:sp>
      <p:sp>
        <p:nvSpPr>
          <p:cNvPr id="55" name="Text Box 10">
            <a:extLst>
              <a:ext uri="{FF2B5EF4-FFF2-40B4-BE49-F238E27FC236}">
                <a16:creationId xmlns:a16="http://schemas.microsoft.com/office/drawing/2014/main" id="{0AEE2092-72D6-084F-3FF4-020C33049BDA}"/>
              </a:ext>
            </a:extLst>
          </p:cNvPr>
          <p:cNvSpPr txBox="1">
            <a:spLocks noChangeArrowheads="1"/>
          </p:cNvSpPr>
          <p:nvPr/>
        </p:nvSpPr>
        <p:spPr bwMode="gray">
          <a:xfrm>
            <a:off x="6277136" y="4356195"/>
            <a:ext cx="1472016"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solidFill>
                  <a:schemeClr val="bg1">
                    <a:lumMod val="95000"/>
                  </a:schemeClr>
                </a:solidFill>
                <a:latin typeface="+mn-ea"/>
                <a:ea typeface="+mn-ea"/>
              </a:rPr>
              <a:t>通話録音</a:t>
            </a:r>
          </a:p>
        </p:txBody>
      </p:sp>
      <p:sp>
        <p:nvSpPr>
          <p:cNvPr id="59" name="Text Box 25">
            <a:extLst>
              <a:ext uri="{FF2B5EF4-FFF2-40B4-BE49-F238E27FC236}">
                <a16:creationId xmlns:a16="http://schemas.microsoft.com/office/drawing/2014/main" id="{BA081AD1-5A1E-2865-F835-021DCA099789}"/>
              </a:ext>
            </a:extLst>
          </p:cNvPr>
          <p:cNvSpPr txBox="1">
            <a:spLocks noChangeArrowheads="1"/>
          </p:cNvSpPr>
          <p:nvPr/>
        </p:nvSpPr>
        <p:spPr bwMode="gray">
          <a:xfrm>
            <a:off x="8092025" y="3291780"/>
            <a:ext cx="1472016" cy="288000"/>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latin typeface="+mn-ea"/>
                <a:ea typeface="+mn-ea"/>
              </a:rPr>
              <a:t>丸紅情報システムズ</a:t>
            </a:r>
          </a:p>
        </p:txBody>
      </p:sp>
      <p:sp>
        <p:nvSpPr>
          <p:cNvPr id="60" name="Text Box 10">
            <a:extLst>
              <a:ext uri="{FF2B5EF4-FFF2-40B4-BE49-F238E27FC236}">
                <a16:creationId xmlns:a16="http://schemas.microsoft.com/office/drawing/2014/main" id="{286479E7-4ABD-C0AE-DEB0-73058FAF7270}"/>
              </a:ext>
            </a:extLst>
          </p:cNvPr>
          <p:cNvSpPr txBox="1">
            <a:spLocks noChangeArrowheads="1"/>
          </p:cNvSpPr>
          <p:nvPr/>
        </p:nvSpPr>
        <p:spPr bwMode="gray">
          <a:xfrm>
            <a:off x="8092025" y="3003748"/>
            <a:ext cx="1472016"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en-US" altLang="ja-JP" sz="1100" b="0" dirty="0">
                <a:solidFill>
                  <a:schemeClr val="bg1">
                    <a:lumMod val="95000"/>
                  </a:schemeClr>
                </a:solidFill>
                <a:latin typeface="+mn-ea"/>
                <a:ea typeface="+mn-ea"/>
              </a:rPr>
              <a:t>IVR</a:t>
            </a:r>
            <a:r>
              <a:rPr lang="ja-JP" altLang="en-US" sz="1100" b="0" dirty="0">
                <a:solidFill>
                  <a:schemeClr val="bg1">
                    <a:lumMod val="95000"/>
                  </a:schemeClr>
                </a:solidFill>
                <a:latin typeface="+mn-ea"/>
                <a:ea typeface="+mn-ea"/>
              </a:rPr>
              <a:t>基盤</a:t>
            </a:r>
          </a:p>
        </p:txBody>
      </p:sp>
      <p:cxnSp>
        <p:nvCxnSpPr>
          <p:cNvPr id="61" name="AutoShape 14">
            <a:extLst>
              <a:ext uri="{FF2B5EF4-FFF2-40B4-BE49-F238E27FC236}">
                <a16:creationId xmlns:a16="http://schemas.microsoft.com/office/drawing/2014/main" id="{A69F17A7-CC31-92B9-DAC5-F402C1377964}"/>
              </a:ext>
            </a:extLst>
          </p:cNvPr>
          <p:cNvCxnSpPr>
            <a:cxnSpLocks noChangeShapeType="1"/>
            <a:endCxn id="59" idx="1"/>
          </p:cNvCxnSpPr>
          <p:nvPr/>
        </p:nvCxnSpPr>
        <p:spPr bwMode="gray">
          <a:xfrm>
            <a:off x="6586193" y="2040664"/>
            <a:ext cx="1505832" cy="1395116"/>
          </a:xfrm>
          <a:prstGeom prst="bentConnector3">
            <a:avLst>
              <a:gd name="adj1" fmla="val 4714"/>
            </a:avLst>
          </a:prstGeom>
          <a:noFill/>
          <a:ln w="19050">
            <a:solidFill>
              <a:schemeClr val="tx1">
                <a:lumMod val="50000"/>
                <a:lumOff val="50000"/>
              </a:schemeClr>
            </a:solidFill>
            <a:miter lim="800000"/>
            <a:headEnd/>
            <a:tailEnd/>
          </a:ln>
          <a:extLst>
            <a:ext uri="{909E8E84-426E-40DD-AFC4-6F175D3DCCD1}">
              <a14:hiddenFill xmlns:a14="http://schemas.microsoft.com/office/drawing/2010/main">
                <a:noFill/>
              </a14:hiddenFill>
            </a:ext>
          </a:extLst>
        </p:spPr>
      </p:cxnSp>
      <p:cxnSp>
        <p:nvCxnSpPr>
          <p:cNvPr id="62" name="AutoShape 14">
            <a:extLst>
              <a:ext uri="{FF2B5EF4-FFF2-40B4-BE49-F238E27FC236}">
                <a16:creationId xmlns:a16="http://schemas.microsoft.com/office/drawing/2014/main" id="{65C28D1C-3AA0-0D1F-B308-5CCB567946D5}"/>
              </a:ext>
            </a:extLst>
          </p:cNvPr>
          <p:cNvCxnSpPr>
            <a:cxnSpLocks noChangeShapeType="1"/>
          </p:cNvCxnSpPr>
          <p:nvPr/>
        </p:nvCxnSpPr>
        <p:spPr bwMode="gray">
          <a:xfrm rot="16200000" flipH="1">
            <a:off x="6507324" y="3578794"/>
            <a:ext cx="554440" cy="214717"/>
          </a:xfrm>
          <a:prstGeom prst="bentConnector2">
            <a:avLst/>
          </a:prstGeom>
          <a:noFill/>
          <a:ln w="19050">
            <a:solidFill>
              <a:schemeClr val="tx1">
                <a:lumMod val="50000"/>
                <a:lumOff val="50000"/>
              </a:schemeClr>
            </a:solidFill>
            <a:miter lim="800000"/>
            <a:headEnd/>
            <a:tailEnd/>
          </a:ln>
          <a:extLst>
            <a:ext uri="{909E8E84-426E-40DD-AFC4-6F175D3DCCD1}">
              <a14:hiddenFill xmlns:a14="http://schemas.microsoft.com/office/drawing/2010/main">
                <a:noFill/>
              </a14:hiddenFill>
            </a:ext>
          </a:extLst>
        </p:spPr>
      </p:cxnSp>
      <p:sp>
        <p:nvSpPr>
          <p:cNvPr id="65" name="Text Box 25">
            <a:extLst>
              <a:ext uri="{FF2B5EF4-FFF2-40B4-BE49-F238E27FC236}">
                <a16:creationId xmlns:a16="http://schemas.microsoft.com/office/drawing/2014/main" id="{E0D3EE82-3E6C-1C6D-87A3-610BC52E8EFA}"/>
              </a:ext>
            </a:extLst>
          </p:cNvPr>
          <p:cNvSpPr txBox="1">
            <a:spLocks noChangeArrowheads="1"/>
          </p:cNvSpPr>
          <p:nvPr/>
        </p:nvSpPr>
        <p:spPr bwMode="gray">
          <a:xfrm>
            <a:off x="6277137" y="3945392"/>
            <a:ext cx="1472016" cy="288000"/>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latin typeface="+mn-ea"/>
                <a:ea typeface="+mn-ea"/>
              </a:rPr>
              <a:t>丸紅情報システムズ</a:t>
            </a:r>
          </a:p>
        </p:txBody>
      </p:sp>
      <p:sp>
        <p:nvSpPr>
          <p:cNvPr id="67" name="Text Box 10">
            <a:extLst>
              <a:ext uri="{FF2B5EF4-FFF2-40B4-BE49-F238E27FC236}">
                <a16:creationId xmlns:a16="http://schemas.microsoft.com/office/drawing/2014/main" id="{B2C6379A-CB7E-3BA2-8581-683EC17DF351}"/>
              </a:ext>
            </a:extLst>
          </p:cNvPr>
          <p:cNvSpPr txBox="1">
            <a:spLocks noChangeArrowheads="1"/>
          </p:cNvSpPr>
          <p:nvPr/>
        </p:nvSpPr>
        <p:spPr bwMode="gray">
          <a:xfrm>
            <a:off x="6277137" y="3657360"/>
            <a:ext cx="1472016"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solidFill>
                  <a:schemeClr val="bg1">
                    <a:lumMod val="95000"/>
                  </a:schemeClr>
                </a:solidFill>
                <a:latin typeface="+mn-ea"/>
                <a:ea typeface="+mn-ea"/>
              </a:rPr>
              <a:t>インフラ</a:t>
            </a:r>
          </a:p>
        </p:txBody>
      </p:sp>
      <p:sp>
        <p:nvSpPr>
          <p:cNvPr id="68" name="Text Box 25">
            <a:extLst>
              <a:ext uri="{FF2B5EF4-FFF2-40B4-BE49-F238E27FC236}">
                <a16:creationId xmlns:a16="http://schemas.microsoft.com/office/drawing/2014/main" id="{2BC6DC93-826E-6440-4533-034FA81A6502}"/>
              </a:ext>
            </a:extLst>
          </p:cNvPr>
          <p:cNvSpPr txBox="1">
            <a:spLocks noChangeArrowheads="1"/>
          </p:cNvSpPr>
          <p:nvPr/>
        </p:nvSpPr>
        <p:spPr bwMode="gray">
          <a:xfrm>
            <a:off x="6277137" y="3295971"/>
            <a:ext cx="1472016" cy="288000"/>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latin typeface="+mn-ea"/>
                <a:ea typeface="+mn-ea"/>
              </a:rPr>
              <a:t>丸紅情報システムズ</a:t>
            </a:r>
          </a:p>
        </p:txBody>
      </p:sp>
      <p:sp>
        <p:nvSpPr>
          <p:cNvPr id="69" name="Text Box 10">
            <a:extLst>
              <a:ext uri="{FF2B5EF4-FFF2-40B4-BE49-F238E27FC236}">
                <a16:creationId xmlns:a16="http://schemas.microsoft.com/office/drawing/2014/main" id="{5B7F89B1-967C-C45E-C90F-F73615AC52F7}"/>
              </a:ext>
            </a:extLst>
          </p:cNvPr>
          <p:cNvSpPr txBox="1">
            <a:spLocks noChangeArrowheads="1"/>
          </p:cNvSpPr>
          <p:nvPr/>
        </p:nvSpPr>
        <p:spPr bwMode="gray">
          <a:xfrm>
            <a:off x="6277137" y="3007939"/>
            <a:ext cx="1472016"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en-US" altLang="ja-JP" sz="1100" b="0" dirty="0">
                <a:solidFill>
                  <a:schemeClr val="bg1">
                    <a:lumMod val="95000"/>
                  </a:schemeClr>
                </a:solidFill>
                <a:latin typeface="+mn-ea"/>
                <a:ea typeface="+mn-ea"/>
              </a:rPr>
              <a:t>CTI</a:t>
            </a:r>
            <a:r>
              <a:rPr lang="ja-JP" altLang="en-US" sz="1100" b="0" dirty="0">
                <a:solidFill>
                  <a:schemeClr val="bg1">
                    <a:lumMod val="95000"/>
                  </a:schemeClr>
                </a:solidFill>
                <a:latin typeface="+mn-ea"/>
                <a:ea typeface="+mn-ea"/>
              </a:rPr>
              <a:t>基盤</a:t>
            </a:r>
          </a:p>
        </p:txBody>
      </p:sp>
      <p:cxnSp>
        <p:nvCxnSpPr>
          <p:cNvPr id="77" name="直線コネクタ 76">
            <a:extLst>
              <a:ext uri="{FF2B5EF4-FFF2-40B4-BE49-F238E27FC236}">
                <a16:creationId xmlns:a16="http://schemas.microsoft.com/office/drawing/2014/main" id="{23879188-6905-783B-C577-2315CF6B7BC9}"/>
              </a:ext>
            </a:extLst>
          </p:cNvPr>
          <p:cNvCxnSpPr>
            <a:stCxn id="12" idx="3"/>
            <a:endCxn id="68" idx="1"/>
          </p:cNvCxnSpPr>
          <p:nvPr/>
        </p:nvCxnSpPr>
        <p:spPr bwMode="auto">
          <a:xfrm flipV="1">
            <a:off x="5556712" y="3439971"/>
            <a:ext cx="720425" cy="3335"/>
          </a:xfrm>
          <a:prstGeom prst="line">
            <a:avLst/>
          </a:pr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Text Box 25">
            <a:extLst>
              <a:ext uri="{FF2B5EF4-FFF2-40B4-BE49-F238E27FC236}">
                <a16:creationId xmlns:a16="http://schemas.microsoft.com/office/drawing/2014/main" id="{6C56D70A-BAC2-7876-4731-69361DCB5F14}"/>
              </a:ext>
            </a:extLst>
          </p:cNvPr>
          <p:cNvSpPr txBox="1">
            <a:spLocks noChangeArrowheads="1"/>
          </p:cNvSpPr>
          <p:nvPr/>
        </p:nvSpPr>
        <p:spPr bwMode="gray">
          <a:xfrm>
            <a:off x="3001829" y="2566593"/>
            <a:ext cx="1917887" cy="288000"/>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a:latin typeface="+mn-ea"/>
                <a:ea typeface="+mn-ea"/>
              </a:rPr>
              <a:t>コンタクト基盤Ｇ　溝口</a:t>
            </a:r>
            <a:r>
              <a:rPr lang="en-US" altLang="ja-JP" sz="1100" b="0">
                <a:latin typeface="+mn-ea"/>
                <a:ea typeface="+mn-ea"/>
              </a:rPr>
              <a:t>T</a:t>
            </a:r>
            <a:r>
              <a:rPr lang="ja-JP" altLang="en-US" sz="1100" b="0">
                <a:latin typeface="+mn-ea"/>
                <a:ea typeface="+mn-ea"/>
              </a:rPr>
              <a:t>長</a:t>
            </a:r>
            <a:endParaRPr lang="en-US" altLang="ja-JP" sz="1100" b="0">
              <a:latin typeface="+mn-ea"/>
              <a:ea typeface="+mn-ea"/>
            </a:endParaRPr>
          </a:p>
        </p:txBody>
      </p:sp>
      <p:cxnSp>
        <p:nvCxnSpPr>
          <p:cNvPr id="79" name="直線コネクタ 78">
            <a:extLst>
              <a:ext uri="{FF2B5EF4-FFF2-40B4-BE49-F238E27FC236}">
                <a16:creationId xmlns:a16="http://schemas.microsoft.com/office/drawing/2014/main" id="{B4648C66-3DDE-4682-0222-2D1A90BA2A73}"/>
              </a:ext>
            </a:extLst>
          </p:cNvPr>
          <p:cNvCxnSpPr>
            <a:cxnSpLocks/>
            <a:stCxn id="51" idx="3"/>
            <a:endCxn id="54" idx="1"/>
          </p:cNvCxnSpPr>
          <p:nvPr/>
        </p:nvCxnSpPr>
        <p:spPr bwMode="auto">
          <a:xfrm>
            <a:off x="5556711" y="4788227"/>
            <a:ext cx="720425" cy="0"/>
          </a:xfrm>
          <a:prstGeom prst="line">
            <a:avLst/>
          </a:pr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Text Box 25">
            <a:extLst>
              <a:ext uri="{FF2B5EF4-FFF2-40B4-BE49-F238E27FC236}">
                <a16:creationId xmlns:a16="http://schemas.microsoft.com/office/drawing/2014/main" id="{F3B0EF48-4FAE-0A82-3CE3-ECBFCAE45FD1}"/>
              </a:ext>
            </a:extLst>
          </p:cNvPr>
          <p:cNvSpPr txBox="1">
            <a:spLocks noChangeArrowheads="1"/>
          </p:cNvSpPr>
          <p:nvPr/>
        </p:nvSpPr>
        <p:spPr bwMode="gray">
          <a:xfrm>
            <a:off x="6277137" y="1752665"/>
            <a:ext cx="1917887" cy="288000"/>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latin typeface="+mn-ea"/>
                <a:ea typeface="+mn-ea"/>
              </a:rPr>
              <a:t>丸紅情報システムズ　水野課長</a:t>
            </a:r>
            <a:endParaRPr lang="en-US" altLang="ja-JP" sz="1100" b="0" dirty="0">
              <a:latin typeface="+mn-ea"/>
              <a:ea typeface="+mn-ea"/>
            </a:endParaRPr>
          </a:p>
        </p:txBody>
      </p:sp>
      <p:cxnSp>
        <p:nvCxnSpPr>
          <p:cNvPr id="83" name="AutoShape 14">
            <a:extLst>
              <a:ext uri="{FF2B5EF4-FFF2-40B4-BE49-F238E27FC236}">
                <a16:creationId xmlns:a16="http://schemas.microsoft.com/office/drawing/2014/main" id="{81F39EC0-29AF-2E3B-B080-66CD8AA03717}"/>
              </a:ext>
            </a:extLst>
          </p:cNvPr>
          <p:cNvCxnSpPr>
            <a:cxnSpLocks noChangeShapeType="1"/>
            <a:stCxn id="78" idx="3"/>
            <a:endCxn id="80" idx="1"/>
          </p:cNvCxnSpPr>
          <p:nvPr/>
        </p:nvCxnSpPr>
        <p:spPr bwMode="gray">
          <a:xfrm flipV="1">
            <a:off x="4919716" y="1896665"/>
            <a:ext cx="1357421" cy="813928"/>
          </a:xfrm>
          <a:prstGeom prst="bentConnector3">
            <a:avLst>
              <a:gd name="adj1" fmla="val 69410"/>
            </a:avLst>
          </a:prstGeom>
          <a:noFill/>
          <a:ln w="19050">
            <a:solidFill>
              <a:schemeClr val="tx1">
                <a:lumMod val="50000"/>
                <a:lumOff val="50000"/>
              </a:schemeClr>
            </a:solidFill>
            <a:miter lim="800000"/>
            <a:headEnd/>
            <a:tailEnd/>
          </a:ln>
          <a:extLst>
            <a:ext uri="{909E8E84-426E-40DD-AFC4-6F175D3DCCD1}">
              <a14:hiddenFill xmlns:a14="http://schemas.microsoft.com/office/drawing/2010/main">
                <a:noFill/>
              </a14:hiddenFill>
            </a:ext>
          </a:extLst>
        </p:spPr>
      </p:cxnSp>
      <p:sp>
        <p:nvSpPr>
          <p:cNvPr id="84" name="Rectangle 8">
            <a:extLst>
              <a:ext uri="{FF2B5EF4-FFF2-40B4-BE49-F238E27FC236}">
                <a16:creationId xmlns:a16="http://schemas.microsoft.com/office/drawing/2014/main" id="{D24EF2C9-380B-E8CC-036D-D70EDC314848}"/>
              </a:ext>
            </a:extLst>
          </p:cNvPr>
          <p:cNvSpPr>
            <a:spLocks noChangeArrowheads="1"/>
          </p:cNvSpPr>
          <p:nvPr/>
        </p:nvSpPr>
        <p:spPr bwMode="gray">
          <a:xfrm>
            <a:off x="5996280" y="5179228"/>
            <a:ext cx="3709455" cy="1409156"/>
          </a:xfrm>
          <a:prstGeom prst="rect">
            <a:avLst/>
          </a:prstGeom>
          <a:solidFill>
            <a:srgbClr val="DCF5FF"/>
          </a:solidFill>
          <a:ln w="9525">
            <a:solidFill>
              <a:schemeClr val="tx1">
                <a:lumMod val="50000"/>
                <a:lumOff val="50000"/>
              </a:schemeClr>
            </a:solidFill>
            <a:prstDash val="solid"/>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400" b="1" dirty="0">
                <a:latin typeface="+mn-ea"/>
                <a:ea typeface="+mn-ea"/>
              </a:rPr>
              <a:t>日本総研　関連システム</a:t>
            </a:r>
          </a:p>
        </p:txBody>
      </p:sp>
      <p:sp>
        <p:nvSpPr>
          <p:cNvPr id="85" name="Text Box 25">
            <a:extLst>
              <a:ext uri="{FF2B5EF4-FFF2-40B4-BE49-F238E27FC236}">
                <a16:creationId xmlns:a16="http://schemas.microsoft.com/office/drawing/2014/main" id="{27529F76-3CA0-4A23-77EA-3B2F90C3119B}"/>
              </a:ext>
            </a:extLst>
          </p:cNvPr>
          <p:cNvSpPr txBox="1">
            <a:spLocks noChangeArrowheads="1"/>
          </p:cNvSpPr>
          <p:nvPr/>
        </p:nvSpPr>
        <p:spPr bwMode="gray">
          <a:xfrm>
            <a:off x="8092025" y="6003018"/>
            <a:ext cx="1472016" cy="372689"/>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latin typeface="+mn-ea"/>
                <a:ea typeface="+mn-ea"/>
              </a:rPr>
              <a:t>カード業務</a:t>
            </a:r>
            <a:endParaRPr lang="en-US" altLang="ja-JP" sz="1100" b="0" dirty="0">
              <a:latin typeface="+mn-ea"/>
              <a:ea typeface="+mn-ea"/>
            </a:endParaRPr>
          </a:p>
        </p:txBody>
      </p:sp>
      <p:sp>
        <p:nvSpPr>
          <p:cNvPr id="86" name="Text Box 10">
            <a:extLst>
              <a:ext uri="{FF2B5EF4-FFF2-40B4-BE49-F238E27FC236}">
                <a16:creationId xmlns:a16="http://schemas.microsoft.com/office/drawing/2014/main" id="{ACDF02DC-F92E-3982-6DC9-56314B2EB9D5}"/>
              </a:ext>
            </a:extLst>
          </p:cNvPr>
          <p:cNvSpPr txBox="1">
            <a:spLocks noChangeArrowheads="1"/>
          </p:cNvSpPr>
          <p:nvPr/>
        </p:nvSpPr>
        <p:spPr bwMode="gray">
          <a:xfrm>
            <a:off x="8092025" y="5714986"/>
            <a:ext cx="1472016"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solidFill>
                  <a:schemeClr val="bg1">
                    <a:lumMod val="95000"/>
                  </a:schemeClr>
                </a:solidFill>
                <a:latin typeface="+mn-ea"/>
                <a:ea typeface="+mn-ea"/>
              </a:rPr>
              <a:t>延滞管理</a:t>
            </a:r>
          </a:p>
        </p:txBody>
      </p:sp>
      <p:cxnSp>
        <p:nvCxnSpPr>
          <p:cNvPr id="87" name="直線コネクタ 86">
            <a:extLst>
              <a:ext uri="{FF2B5EF4-FFF2-40B4-BE49-F238E27FC236}">
                <a16:creationId xmlns:a16="http://schemas.microsoft.com/office/drawing/2014/main" id="{DF9A5111-5D06-BBAC-737F-9EA8E8587040}"/>
              </a:ext>
            </a:extLst>
          </p:cNvPr>
          <p:cNvCxnSpPr>
            <a:cxnSpLocks/>
            <a:stCxn id="25" idx="3"/>
            <a:endCxn id="88" idx="1"/>
          </p:cNvCxnSpPr>
          <p:nvPr/>
        </p:nvCxnSpPr>
        <p:spPr bwMode="auto">
          <a:xfrm flipV="1">
            <a:off x="5556712" y="6192182"/>
            <a:ext cx="720424" cy="4704"/>
          </a:xfrm>
          <a:prstGeom prst="line">
            <a:avLst/>
          </a:pr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Text Box 25">
            <a:extLst>
              <a:ext uri="{FF2B5EF4-FFF2-40B4-BE49-F238E27FC236}">
                <a16:creationId xmlns:a16="http://schemas.microsoft.com/office/drawing/2014/main" id="{1B4FE740-AAC2-326F-0509-146652320DB6}"/>
              </a:ext>
            </a:extLst>
          </p:cNvPr>
          <p:cNvSpPr txBox="1">
            <a:spLocks noChangeArrowheads="1"/>
          </p:cNvSpPr>
          <p:nvPr/>
        </p:nvSpPr>
        <p:spPr bwMode="gray">
          <a:xfrm>
            <a:off x="6277136" y="6005837"/>
            <a:ext cx="1472016" cy="372689"/>
          </a:xfrm>
          <a:prstGeom prst="rect">
            <a:avLst/>
          </a:prstGeom>
          <a:solidFill>
            <a:srgbClr val="FFFFFF"/>
          </a:solidFill>
          <a:ln w="9525">
            <a:solidFill>
              <a:schemeClr val="tx1">
                <a:lumMod val="50000"/>
                <a:lumOff val="50000"/>
              </a:schemeClr>
            </a:solidFill>
            <a:miter lim="800000"/>
            <a:headEnd/>
            <a:tailEnd/>
          </a:ln>
        </p:spPr>
        <p:txBody>
          <a:bodyPr lIns="36000" tIns="0" rIns="3600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ja-JP" altLang="en-US" sz="1100" b="0" dirty="0">
                <a:latin typeface="+mn-ea"/>
                <a:ea typeface="+mn-ea"/>
              </a:rPr>
              <a:t>カード業務</a:t>
            </a:r>
            <a:endParaRPr lang="en-US" altLang="ja-JP" sz="1100" b="0" dirty="0">
              <a:latin typeface="+mn-ea"/>
              <a:ea typeface="+mn-ea"/>
            </a:endParaRPr>
          </a:p>
        </p:txBody>
      </p:sp>
      <p:sp>
        <p:nvSpPr>
          <p:cNvPr id="89" name="Text Box 10">
            <a:extLst>
              <a:ext uri="{FF2B5EF4-FFF2-40B4-BE49-F238E27FC236}">
                <a16:creationId xmlns:a16="http://schemas.microsoft.com/office/drawing/2014/main" id="{4F6B75BC-7C54-2D86-EC50-49088F67713A}"/>
              </a:ext>
            </a:extLst>
          </p:cNvPr>
          <p:cNvSpPr txBox="1">
            <a:spLocks noChangeArrowheads="1"/>
          </p:cNvSpPr>
          <p:nvPr/>
        </p:nvSpPr>
        <p:spPr bwMode="gray">
          <a:xfrm>
            <a:off x="6277136" y="5717805"/>
            <a:ext cx="1472016" cy="288000"/>
          </a:xfrm>
          <a:prstGeom prst="rect">
            <a:avLst/>
          </a:prstGeom>
          <a:solidFill>
            <a:srgbClr val="0072CF"/>
          </a:solidFill>
          <a:ln w="9525">
            <a:solidFill>
              <a:schemeClr val="tx1">
                <a:lumMod val="50000"/>
                <a:lumOff val="50000"/>
              </a:schemeClr>
            </a:solidFill>
            <a:miter lim="800000"/>
            <a:headEnd/>
            <a:tailEnd/>
          </a:ln>
        </p:spPr>
        <p:txBody>
          <a:bodyP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eaLnBrk="1" hangingPunct="1">
              <a:spcBef>
                <a:spcPct val="0"/>
              </a:spcBef>
              <a:buFontTx/>
              <a:buNone/>
            </a:pPr>
            <a:r>
              <a:rPr lang="en-US" altLang="ja-JP" sz="1100" b="0" dirty="0" err="1">
                <a:solidFill>
                  <a:schemeClr val="bg1">
                    <a:lumMod val="95000"/>
                  </a:schemeClr>
                </a:solidFill>
                <a:latin typeface="+mn-ea"/>
                <a:ea typeface="+mn-ea"/>
              </a:rPr>
              <a:t>CuSIS</a:t>
            </a:r>
            <a:endParaRPr lang="ja-JP" altLang="en-US" sz="1100" b="0" dirty="0">
              <a:solidFill>
                <a:schemeClr val="bg1">
                  <a:lumMod val="95000"/>
                </a:schemeClr>
              </a:solidFill>
              <a:latin typeface="+mn-ea"/>
              <a:ea typeface="+mn-ea"/>
            </a:endParaRPr>
          </a:p>
        </p:txBody>
      </p:sp>
      <p:cxnSp>
        <p:nvCxnSpPr>
          <p:cNvPr id="90" name="直線コネクタ 89">
            <a:extLst>
              <a:ext uri="{FF2B5EF4-FFF2-40B4-BE49-F238E27FC236}">
                <a16:creationId xmlns:a16="http://schemas.microsoft.com/office/drawing/2014/main" id="{E63F27F2-B6C1-F331-FBC7-2AED641686F8}"/>
              </a:ext>
            </a:extLst>
          </p:cNvPr>
          <p:cNvCxnSpPr>
            <a:stCxn id="2" idx="3"/>
            <a:endCxn id="3" idx="1"/>
          </p:cNvCxnSpPr>
          <p:nvPr/>
        </p:nvCxnSpPr>
        <p:spPr bwMode="auto">
          <a:xfrm>
            <a:off x="2509526" y="3853764"/>
            <a:ext cx="309057" cy="0"/>
          </a:xfrm>
          <a:prstGeom prst="line">
            <a:avLst/>
          </a:pr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AutoShape 14">
            <a:extLst>
              <a:ext uri="{FF2B5EF4-FFF2-40B4-BE49-F238E27FC236}">
                <a16:creationId xmlns:a16="http://schemas.microsoft.com/office/drawing/2014/main" id="{8020FC4C-3FA7-A198-D08C-0106478D0A7D}"/>
              </a:ext>
            </a:extLst>
          </p:cNvPr>
          <p:cNvCxnSpPr>
            <a:cxnSpLocks noChangeShapeType="1"/>
            <a:stCxn id="25" idx="2"/>
            <a:endCxn id="85" idx="1"/>
          </p:cNvCxnSpPr>
          <p:nvPr/>
        </p:nvCxnSpPr>
        <p:spPr bwMode="gray">
          <a:xfrm rot="5400000" flipH="1" flipV="1">
            <a:off x="6170506" y="4461712"/>
            <a:ext cx="193867" cy="3649169"/>
          </a:xfrm>
          <a:prstGeom prst="bentConnector4">
            <a:avLst>
              <a:gd name="adj1" fmla="val -62888"/>
              <a:gd name="adj2" fmla="val 95123"/>
            </a:avLst>
          </a:prstGeom>
          <a:noFill/>
          <a:ln w="19050">
            <a:solidFill>
              <a:schemeClr val="tx1">
                <a:lumMod val="50000"/>
                <a:lumOff val="50000"/>
              </a:schemeClr>
            </a:solidFill>
            <a:miter lim="800000"/>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021061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2386F-6DC6-3466-835F-8FA7300362A3}"/>
            </a:ext>
          </a:extLst>
        </p:cNvPr>
        <p:cNvGrpSpPr/>
        <p:nvPr/>
      </p:nvGrpSpPr>
      <p:grpSpPr>
        <a:xfrm>
          <a:off x="0" y="0"/>
          <a:ext cx="0" cy="0"/>
          <a:chOff x="0" y="0"/>
          <a:chExt cx="0" cy="0"/>
        </a:xfrm>
      </p:grpSpPr>
      <p:sp>
        <p:nvSpPr>
          <p:cNvPr id="20" name="タイトル 1">
            <a:extLst>
              <a:ext uri="{FF2B5EF4-FFF2-40B4-BE49-F238E27FC236}">
                <a16:creationId xmlns:a16="http://schemas.microsoft.com/office/drawing/2014/main" id="{BC5CDE26-9799-842E-50C2-F6B462ABFBFC}"/>
              </a:ext>
            </a:extLst>
          </p:cNvPr>
          <p:cNvSpPr txBox="1">
            <a:spLocks/>
          </p:cNvSpPr>
          <p:nvPr/>
        </p:nvSpPr>
        <p:spPr>
          <a:xfrm>
            <a:off x="674478" y="130545"/>
            <a:ext cx="9004300" cy="334962"/>
          </a:xfrm>
          <a:prstGeom prst="rect">
            <a:avLst/>
          </a:prstGeom>
        </p:spPr>
        <p:txBody>
          <a:bodyPr/>
          <a:lst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a:lstStyle>
          <a:p>
            <a:r>
              <a:rPr lang="ja-JP" altLang="en-US" kern="0" dirty="0"/>
              <a:t>３</a:t>
            </a:r>
            <a:r>
              <a:rPr lang="en-US" altLang="ja-JP" kern="0" dirty="0"/>
              <a:t>-</a:t>
            </a:r>
            <a:r>
              <a:rPr lang="ja-JP" altLang="en-US" kern="0" dirty="0"/>
              <a:t>１．</a:t>
            </a:r>
            <a:r>
              <a:rPr lang="en-US" altLang="ja-JP" kern="0" dirty="0"/>
              <a:t>【</a:t>
            </a:r>
            <a:r>
              <a:rPr lang="ja-JP" altLang="en-US" kern="0" dirty="0">
                <a:latin typeface="+mn-ea"/>
                <a:ea typeface="+mn-ea"/>
              </a:rPr>
              <a:t>推進体制</a:t>
            </a:r>
            <a:r>
              <a:rPr lang="en-US" altLang="ja-JP" kern="0" dirty="0"/>
              <a:t>】</a:t>
            </a:r>
            <a:r>
              <a:rPr lang="ja-JP" altLang="en-US" kern="0" dirty="0"/>
              <a:t>プロジェクト関連図</a:t>
            </a:r>
            <a:endParaRPr lang="en-US" altLang="ja-JP" kern="0" dirty="0">
              <a:latin typeface="Meiryo UI" panose="020B0604030504040204" pitchFamily="50" charset="-128"/>
              <a:ea typeface="Meiryo UI" panose="020B0604030504040204" pitchFamily="50" charset="-128"/>
            </a:endParaRPr>
          </a:p>
        </p:txBody>
      </p:sp>
      <p:grpSp>
        <p:nvGrpSpPr>
          <p:cNvPr id="21" name="グループ化 20">
            <a:extLst>
              <a:ext uri="{FF2B5EF4-FFF2-40B4-BE49-F238E27FC236}">
                <a16:creationId xmlns:a16="http://schemas.microsoft.com/office/drawing/2014/main" id="{0D49C086-A6C5-E444-1AB6-BC2527CFC6D7}"/>
              </a:ext>
            </a:extLst>
          </p:cNvPr>
          <p:cNvGrpSpPr/>
          <p:nvPr/>
        </p:nvGrpSpPr>
        <p:grpSpPr>
          <a:xfrm>
            <a:off x="3893544" y="1417324"/>
            <a:ext cx="978012" cy="641370"/>
            <a:chOff x="3440123" y="880774"/>
            <a:chExt cx="978012" cy="641370"/>
          </a:xfrm>
        </p:grpSpPr>
        <p:sp>
          <p:nvSpPr>
            <p:cNvPr id="49" name="Text Box 10">
              <a:extLst>
                <a:ext uri="{FF2B5EF4-FFF2-40B4-BE49-F238E27FC236}">
                  <a16:creationId xmlns:a16="http://schemas.microsoft.com/office/drawing/2014/main" id="{3349E315-472B-55CC-50E7-A93C8A680CF9}"/>
                </a:ext>
              </a:extLst>
            </p:cNvPr>
            <p:cNvSpPr txBox="1">
              <a:spLocks noChangeArrowheads="1"/>
            </p:cNvSpPr>
            <p:nvPr/>
          </p:nvSpPr>
          <p:spPr bwMode="gray">
            <a:xfrm>
              <a:off x="3440123" y="880774"/>
              <a:ext cx="978011" cy="197226"/>
            </a:xfrm>
            <a:prstGeom prst="rect">
              <a:avLst/>
            </a:prstGeom>
            <a:solidFill>
              <a:srgbClr val="92D050"/>
            </a:solidFill>
            <a:ln w="9525">
              <a:solidFill>
                <a:srgbClr val="292929">
                  <a:lumMod val="50000"/>
                  <a:lumOff val="50000"/>
                </a:srgbClr>
              </a:solidFill>
              <a:miter lim="800000"/>
              <a:headEnd/>
              <a:tailEnd/>
            </a:ln>
          </p:spPr>
          <p:txBody>
            <a:bodyPr anchor="ctr" anchorCtr="0">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292929"/>
                  </a:solidFill>
                  <a:effectLst/>
                  <a:uLnTx/>
                  <a:uFillTx/>
                  <a:latin typeface="Meiryo UI"/>
                  <a:ea typeface="Meiryo UI"/>
                  <a:cs typeface="+mn-cs"/>
                </a:rPr>
                <a:t>SMCC PO</a:t>
              </a:r>
            </a:p>
          </p:txBody>
        </p:sp>
        <p:sp>
          <p:nvSpPr>
            <p:cNvPr id="50" name="Text Box 10">
              <a:extLst>
                <a:ext uri="{FF2B5EF4-FFF2-40B4-BE49-F238E27FC236}">
                  <a16:creationId xmlns:a16="http://schemas.microsoft.com/office/drawing/2014/main" id="{4F744FE7-5597-86BA-3F82-924FA8AA990C}"/>
                </a:ext>
              </a:extLst>
            </p:cNvPr>
            <p:cNvSpPr txBox="1">
              <a:spLocks noChangeArrowheads="1"/>
            </p:cNvSpPr>
            <p:nvPr/>
          </p:nvSpPr>
          <p:spPr bwMode="gray">
            <a:xfrm>
              <a:off x="3440123" y="1069235"/>
              <a:ext cx="978012" cy="452909"/>
            </a:xfrm>
            <a:prstGeom prst="rect">
              <a:avLst/>
            </a:prstGeom>
            <a:solidFill>
              <a:srgbClr val="FFFFFF"/>
            </a:solidFill>
            <a:ln w="9525">
              <a:solidFill>
                <a:srgbClr val="292929">
                  <a:lumMod val="50000"/>
                  <a:lumOff val="50000"/>
                </a:srgbClr>
              </a:solidFill>
              <a:miter lim="800000"/>
              <a:headEnd/>
              <a:tailEnd/>
            </a:ln>
          </p:spPr>
          <p:txBody>
            <a:bodyPr tIns="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シス開一東</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　上坂</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grpSp>
      <p:cxnSp>
        <p:nvCxnSpPr>
          <p:cNvPr id="51" name="直線コネクタ 50">
            <a:extLst>
              <a:ext uri="{FF2B5EF4-FFF2-40B4-BE49-F238E27FC236}">
                <a16:creationId xmlns:a16="http://schemas.microsoft.com/office/drawing/2014/main" id="{CFF4ED31-08EE-2BB8-FC84-D045CA380BCB}"/>
              </a:ext>
            </a:extLst>
          </p:cNvPr>
          <p:cNvCxnSpPr>
            <a:cxnSpLocks/>
            <a:stCxn id="50" idx="2"/>
            <a:endCxn id="130" idx="0"/>
          </p:cNvCxnSpPr>
          <p:nvPr/>
        </p:nvCxnSpPr>
        <p:spPr bwMode="auto">
          <a:xfrm flipH="1">
            <a:off x="4382547" y="2058694"/>
            <a:ext cx="3" cy="20523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線コネクタ 51">
            <a:extLst>
              <a:ext uri="{FF2B5EF4-FFF2-40B4-BE49-F238E27FC236}">
                <a16:creationId xmlns:a16="http://schemas.microsoft.com/office/drawing/2014/main" id="{4E98DF6C-443A-9991-CB4C-D4AE49D8C763}"/>
              </a:ext>
            </a:extLst>
          </p:cNvPr>
          <p:cNvCxnSpPr>
            <a:cxnSpLocks/>
            <a:stCxn id="134" idx="2"/>
            <a:endCxn id="139" idx="0"/>
          </p:cNvCxnSpPr>
          <p:nvPr/>
        </p:nvCxnSpPr>
        <p:spPr bwMode="auto">
          <a:xfrm>
            <a:off x="4382547" y="2925486"/>
            <a:ext cx="1" cy="121404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コネクタ: カギ線 52">
            <a:extLst>
              <a:ext uri="{FF2B5EF4-FFF2-40B4-BE49-F238E27FC236}">
                <a16:creationId xmlns:a16="http://schemas.microsoft.com/office/drawing/2014/main" id="{CD284F0A-DCD6-762D-F86E-83B136C8461F}"/>
              </a:ext>
            </a:extLst>
          </p:cNvPr>
          <p:cNvCxnSpPr>
            <a:cxnSpLocks/>
            <a:stCxn id="134" idx="2"/>
            <a:endCxn id="137" idx="3"/>
          </p:cNvCxnSpPr>
          <p:nvPr/>
        </p:nvCxnSpPr>
        <p:spPr bwMode="auto">
          <a:xfrm rot="5400000">
            <a:off x="3782199" y="2528352"/>
            <a:ext cx="203215" cy="99748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コネクタ: カギ線 70">
            <a:extLst>
              <a:ext uri="{FF2B5EF4-FFF2-40B4-BE49-F238E27FC236}">
                <a16:creationId xmlns:a16="http://schemas.microsoft.com/office/drawing/2014/main" id="{0297CFD6-BEE1-0A8F-DC31-5DB77AD5982D}"/>
              </a:ext>
            </a:extLst>
          </p:cNvPr>
          <p:cNvCxnSpPr>
            <a:cxnSpLocks/>
            <a:stCxn id="134" idx="2"/>
            <a:endCxn id="153" idx="0"/>
          </p:cNvCxnSpPr>
          <p:nvPr/>
        </p:nvCxnSpPr>
        <p:spPr bwMode="auto">
          <a:xfrm rot="5400000">
            <a:off x="3020299" y="2777282"/>
            <a:ext cx="1214044" cy="1510453"/>
          </a:xfrm>
          <a:prstGeom prst="bentConnector3">
            <a:avLst>
              <a:gd name="adj1" fmla="val 5078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コネクタ: カギ線 72">
            <a:extLst>
              <a:ext uri="{FF2B5EF4-FFF2-40B4-BE49-F238E27FC236}">
                <a16:creationId xmlns:a16="http://schemas.microsoft.com/office/drawing/2014/main" id="{07266196-9BBD-D4C9-02EB-FB7AD0CB2A29}"/>
              </a:ext>
            </a:extLst>
          </p:cNvPr>
          <p:cNvCxnSpPr>
            <a:cxnSpLocks/>
            <a:stCxn id="134" idx="2"/>
            <a:endCxn id="145" idx="0"/>
          </p:cNvCxnSpPr>
          <p:nvPr/>
        </p:nvCxnSpPr>
        <p:spPr bwMode="auto">
          <a:xfrm rot="16200000" flipH="1">
            <a:off x="4458003" y="2850030"/>
            <a:ext cx="1222808" cy="137372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8" name="コネクタ: カギ線 127">
            <a:extLst>
              <a:ext uri="{FF2B5EF4-FFF2-40B4-BE49-F238E27FC236}">
                <a16:creationId xmlns:a16="http://schemas.microsoft.com/office/drawing/2014/main" id="{A558D144-1325-1D07-B317-97ADEB25571E}"/>
              </a:ext>
            </a:extLst>
          </p:cNvPr>
          <p:cNvCxnSpPr>
            <a:cxnSpLocks/>
            <a:stCxn id="134" idx="2"/>
            <a:endCxn id="148" idx="0"/>
          </p:cNvCxnSpPr>
          <p:nvPr/>
        </p:nvCxnSpPr>
        <p:spPr bwMode="auto">
          <a:xfrm rot="16200000" flipH="1">
            <a:off x="5179621" y="2128411"/>
            <a:ext cx="1222808" cy="281695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29" name="グループ化 128">
            <a:extLst>
              <a:ext uri="{FF2B5EF4-FFF2-40B4-BE49-F238E27FC236}">
                <a16:creationId xmlns:a16="http://schemas.microsoft.com/office/drawing/2014/main" id="{94ACB642-ECC8-EA93-A38B-05058865202C}"/>
              </a:ext>
            </a:extLst>
          </p:cNvPr>
          <p:cNvGrpSpPr/>
          <p:nvPr/>
        </p:nvGrpSpPr>
        <p:grpSpPr>
          <a:xfrm>
            <a:off x="3893541" y="2263929"/>
            <a:ext cx="978012" cy="661557"/>
            <a:chOff x="3440123" y="1878364"/>
            <a:chExt cx="978012" cy="661557"/>
          </a:xfrm>
        </p:grpSpPr>
        <p:sp>
          <p:nvSpPr>
            <p:cNvPr id="130" name="Text Box 10">
              <a:extLst>
                <a:ext uri="{FF2B5EF4-FFF2-40B4-BE49-F238E27FC236}">
                  <a16:creationId xmlns:a16="http://schemas.microsoft.com/office/drawing/2014/main" id="{21A9F6A2-530F-25A6-2537-027573D8CA44}"/>
                </a:ext>
              </a:extLst>
            </p:cNvPr>
            <p:cNvSpPr txBox="1">
              <a:spLocks noChangeArrowheads="1"/>
            </p:cNvSpPr>
            <p:nvPr/>
          </p:nvSpPr>
          <p:spPr bwMode="gray">
            <a:xfrm>
              <a:off x="3440123" y="1878364"/>
              <a:ext cx="978011" cy="197226"/>
            </a:xfrm>
            <a:prstGeom prst="rect">
              <a:avLst/>
            </a:prstGeom>
            <a:solidFill>
              <a:srgbClr val="92D050"/>
            </a:solidFill>
            <a:ln w="9525">
              <a:solidFill>
                <a:srgbClr val="292929">
                  <a:lumMod val="50000"/>
                  <a:lumOff val="50000"/>
                </a:srgbClr>
              </a:solidFill>
              <a:miter lim="800000"/>
              <a:headEnd/>
              <a:tailEnd/>
            </a:ln>
          </p:spPr>
          <p:txBody>
            <a:bodyPr anchor="ctr" anchorCtr="0">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292929"/>
                  </a:solidFill>
                  <a:effectLst/>
                  <a:uLnTx/>
                  <a:uFillTx/>
                  <a:latin typeface="Meiryo UI"/>
                  <a:ea typeface="Meiryo UI"/>
                  <a:cs typeface="+mn-cs"/>
                </a:rPr>
                <a:t>PM</a:t>
              </a:r>
            </a:p>
          </p:txBody>
        </p:sp>
        <p:sp>
          <p:nvSpPr>
            <p:cNvPr id="134" name="Text Box 10">
              <a:extLst>
                <a:ext uri="{FF2B5EF4-FFF2-40B4-BE49-F238E27FC236}">
                  <a16:creationId xmlns:a16="http://schemas.microsoft.com/office/drawing/2014/main" id="{8DD9A6B6-B440-75C2-7B86-66076EC40AA1}"/>
                </a:ext>
              </a:extLst>
            </p:cNvPr>
            <p:cNvSpPr txBox="1">
              <a:spLocks noChangeArrowheads="1"/>
            </p:cNvSpPr>
            <p:nvPr/>
          </p:nvSpPr>
          <p:spPr bwMode="gray">
            <a:xfrm>
              <a:off x="3440123" y="2072927"/>
              <a:ext cx="978012" cy="466994"/>
            </a:xfrm>
            <a:prstGeom prst="rect">
              <a:avLst/>
            </a:prstGeom>
            <a:solidFill>
              <a:srgbClr val="FFFFFF"/>
            </a:solidFill>
            <a:ln w="9525">
              <a:solidFill>
                <a:srgbClr val="292929">
                  <a:lumMod val="50000"/>
                  <a:lumOff val="50000"/>
                </a:srgbClr>
              </a:solidFill>
              <a:miter lim="800000"/>
              <a:headEnd/>
              <a:tailEnd/>
            </a:ln>
          </p:spPr>
          <p:txBody>
            <a:bodyPr tIns="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シス開一東</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岡野</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grpSp>
      <p:grpSp>
        <p:nvGrpSpPr>
          <p:cNvPr id="135" name="グループ化 134">
            <a:extLst>
              <a:ext uri="{FF2B5EF4-FFF2-40B4-BE49-F238E27FC236}">
                <a16:creationId xmlns:a16="http://schemas.microsoft.com/office/drawing/2014/main" id="{1B650AB9-249B-5997-D0F9-A1318CBB59C7}"/>
              </a:ext>
            </a:extLst>
          </p:cNvPr>
          <p:cNvGrpSpPr/>
          <p:nvPr/>
        </p:nvGrpSpPr>
        <p:grpSpPr>
          <a:xfrm>
            <a:off x="2407053" y="2682970"/>
            <a:ext cx="978012" cy="694236"/>
            <a:chOff x="1951385" y="2450409"/>
            <a:chExt cx="978012" cy="694236"/>
          </a:xfrm>
        </p:grpSpPr>
        <p:sp>
          <p:nvSpPr>
            <p:cNvPr id="136" name="Text Box 10">
              <a:extLst>
                <a:ext uri="{FF2B5EF4-FFF2-40B4-BE49-F238E27FC236}">
                  <a16:creationId xmlns:a16="http://schemas.microsoft.com/office/drawing/2014/main" id="{DBA21DC8-BD34-A433-F277-4DD257B6B34D}"/>
                </a:ext>
              </a:extLst>
            </p:cNvPr>
            <p:cNvSpPr txBox="1">
              <a:spLocks noChangeArrowheads="1"/>
            </p:cNvSpPr>
            <p:nvPr/>
          </p:nvSpPr>
          <p:spPr bwMode="gray">
            <a:xfrm>
              <a:off x="1951385" y="2450409"/>
              <a:ext cx="978011" cy="197226"/>
            </a:xfrm>
            <a:prstGeom prst="rect">
              <a:avLst/>
            </a:prstGeom>
            <a:solidFill>
              <a:srgbClr val="92D050"/>
            </a:solidFill>
            <a:ln w="9525">
              <a:solidFill>
                <a:srgbClr val="292929">
                  <a:lumMod val="50000"/>
                  <a:lumOff val="50000"/>
                </a:srgbClr>
              </a:solidFill>
              <a:miter lim="800000"/>
              <a:headEnd/>
              <a:tailEnd/>
            </a:ln>
          </p:spPr>
          <p:txBody>
            <a:bodyPr anchor="ctr" anchorCtr="0">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ja-JP" sz="900" b="0">
                  <a:solidFill>
                    <a:srgbClr val="292929"/>
                  </a:solidFill>
                  <a:latin typeface="Meiryo UI"/>
                  <a:ea typeface="Meiryo UI"/>
                </a:rPr>
                <a:t>PMO</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137" name="Text Box 10">
              <a:extLst>
                <a:ext uri="{FF2B5EF4-FFF2-40B4-BE49-F238E27FC236}">
                  <a16:creationId xmlns:a16="http://schemas.microsoft.com/office/drawing/2014/main" id="{54AD8FF7-D8A0-FB7C-100B-FB7CF2B9CF1A}"/>
                </a:ext>
              </a:extLst>
            </p:cNvPr>
            <p:cNvSpPr txBox="1">
              <a:spLocks noChangeArrowheads="1"/>
            </p:cNvSpPr>
            <p:nvPr/>
          </p:nvSpPr>
          <p:spPr bwMode="gray">
            <a:xfrm>
              <a:off x="1951385" y="2647635"/>
              <a:ext cx="978012" cy="497010"/>
            </a:xfrm>
            <a:prstGeom prst="rect">
              <a:avLst/>
            </a:prstGeom>
            <a:solidFill>
              <a:srgbClr val="FFFFFF"/>
            </a:solidFill>
            <a:ln w="9525">
              <a:solidFill>
                <a:srgbClr val="292929">
                  <a:lumMod val="50000"/>
                  <a:lumOff val="50000"/>
                </a:srgbClr>
              </a:solidFill>
              <a:miter lim="800000"/>
              <a:headEnd/>
              <a:tailEnd/>
            </a:ln>
          </p:spPr>
          <p:txBody>
            <a:bodyPr tIns="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シス統</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櫻井・藤岡</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grpSp>
      <p:grpSp>
        <p:nvGrpSpPr>
          <p:cNvPr id="138" name="グループ化 137">
            <a:extLst>
              <a:ext uri="{FF2B5EF4-FFF2-40B4-BE49-F238E27FC236}">
                <a16:creationId xmlns:a16="http://schemas.microsoft.com/office/drawing/2014/main" id="{9C93FE98-AFE5-3CB1-01E5-52401D10B506}"/>
              </a:ext>
            </a:extLst>
          </p:cNvPr>
          <p:cNvGrpSpPr/>
          <p:nvPr/>
        </p:nvGrpSpPr>
        <p:grpSpPr>
          <a:xfrm>
            <a:off x="3893541" y="4139530"/>
            <a:ext cx="978012" cy="677881"/>
            <a:chOff x="3440120" y="3602980"/>
            <a:chExt cx="978012" cy="677881"/>
          </a:xfrm>
        </p:grpSpPr>
        <p:sp>
          <p:nvSpPr>
            <p:cNvPr id="139" name="Text Box 10">
              <a:extLst>
                <a:ext uri="{FF2B5EF4-FFF2-40B4-BE49-F238E27FC236}">
                  <a16:creationId xmlns:a16="http://schemas.microsoft.com/office/drawing/2014/main" id="{B1A9B81E-C169-A257-F601-89430A58275C}"/>
                </a:ext>
              </a:extLst>
            </p:cNvPr>
            <p:cNvSpPr txBox="1">
              <a:spLocks noChangeArrowheads="1"/>
            </p:cNvSpPr>
            <p:nvPr/>
          </p:nvSpPr>
          <p:spPr bwMode="gray">
            <a:xfrm>
              <a:off x="3440121" y="3602980"/>
              <a:ext cx="978011" cy="197226"/>
            </a:xfrm>
            <a:prstGeom prst="rect">
              <a:avLst/>
            </a:prstGeom>
            <a:solidFill>
              <a:srgbClr val="92D050"/>
            </a:solidFill>
            <a:ln w="9525">
              <a:solidFill>
                <a:srgbClr val="292929">
                  <a:lumMod val="50000"/>
                  <a:lumOff val="50000"/>
                </a:srgbClr>
              </a:solidFill>
              <a:miter lim="800000"/>
              <a:headEnd/>
              <a:tailEnd/>
            </a:ln>
          </p:spPr>
          <p:txBody>
            <a:bodyPr anchor="ctr" anchorCtr="0">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ja-JP" sz="900" b="0">
                  <a:solidFill>
                    <a:srgbClr val="292929"/>
                  </a:solidFill>
                  <a:latin typeface="Meiryo UI"/>
                  <a:ea typeface="Meiryo UI"/>
                </a:rPr>
                <a:t>CTI</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142" name="Text Box 10">
              <a:extLst>
                <a:ext uri="{FF2B5EF4-FFF2-40B4-BE49-F238E27FC236}">
                  <a16:creationId xmlns:a16="http://schemas.microsoft.com/office/drawing/2014/main" id="{95899EE1-2BC8-E06A-3473-584FC4F48879}"/>
                </a:ext>
              </a:extLst>
            </p:cNvPr>
            <p:cNvSpPr txBox="1">
              <a:spLocks noChangeArrowheads="1"/>
            </p:cNvSpPr>
            <p:nvPr/>
          </p:nvSpPr>
          <p:spPr bwMode="gray">
            <a:xfrm>
              <a:off x="3440120" y="3808971"/>
              <a:ext cx="978012" cy="471890"/>
            </a:xfrm>
            <a:prstGeom prst="rect">
              <a:avLst/>
            </a:prstGeom>
            <a:solidFill>
              <a:srgbClr val="FFFFFF"/>
            </a:solidFill>
            <a:ln w="9525">
              <a:solidFill>
                <a:srgbClr val="292929">
                  <a:lumMod val="50000"/>
                  <a:lumOff val="50000"/>
                </a:srgbClr>
              </a:solidFill>
              <a:miter lim="800000"/>
              <a:headEnd/>
              <a:tailEnd/>
            </a:ln>
          </p:spPr>
          <p:txBody>
            <a:bodyPr tIns="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シス開一東</a:t>
              </a:r>
              <a:endParaRPr lang="en-US" altLang="ja-JP" sz="900" b="0">
                <a:solidFill>
                  <a:srgbClr val="292929"/>
                </a:solidFill>
                <a:latin typeface="Meiryo UI"/>
                <a:ea typeface="Meiryo UI"/>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廣野・橋本</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grpSp>
      <p:grpSp>
        <p:nvGrpSpPr>
          <p:cNvPr id="143" name="グループ化 142">
            <a:extLst>
              <a:ext uri="{FF2B5EF4-FFF2-40B4-BE49-F238E27FC236}">
                <a16:creationId xmlns:a16="http://schemas.microsoft.com/office/drawing/2014/main" id="{9F6B5F94-C13B-21A0-0272-9FB7F822579F}"/>
              </a:ext>
            </a:extLst>
          </p:cNvPr>
          <p:cNvGrpSpPr/>
          <p:nvPr/>
        </p:nvGrpSpPr>
        <p:grpSpPr>
          <a:xfrm>
            <a:off x="5267261" y="4148294"/>
            <a:ext cx="978012" cy="655454"/>
            <a:chOff x="4813840" y="3611744"/>
            <a:chExt cx="978012" cy="655454"/>
          </a:xfrm>
        </p:grpSpPr>
        <p:sp>
          <p:nvSpPr>
            <p:cNvPr id="145" name="Text Box 10">
              <a:extLst>
                <a:ext uri="{FF2B5EF4-FFF2-40B4-BE49-F238E27FC236}">
                  <a16:creationId xmlns:a16="http://schemas.microsoft.com/office/drawing/2014/main" id="{EC4F7EE6-6F41-0F25-AC9C-C8ED39FD387B}"/>
                </a:ext>
              </a:extLst>
            </p:cNvPr>
            <p:cNvSpPr txBox="1">
              <a:spLocks noChangeArrowheads="1"/>
            </p:cNvSpPr>
            <p:nvPr/>
          </p:nvSpPr>
          <p:spPr bwMode="gray">
            <a:xfrm>
              <a:off x="4813840" y="3611744"/>
              <a:ext cx="978011" cy="197226"/>
            </a:xfrm>
            <a:prstGeom prst="rect">
              <a:avLst/>
            </a:prstGeom>
            <a:solidFill>
              <a:srgbClr val="92D050"/>
            </a:solidFill>
            <a:ln w="9525">
              <a:solidFill>
                <a:srgbClr val="292929">
                  <a:lumMod val="50000"/>
                  <a:lumOff val="50000"/>
                </a:srgbClr>
              </a:solidFill>
              <a:miter lim="800000"/>
              <a:headEnd/>
              <a:tailEnd/>
            </a:ln>
          </p:spPr>
          <p:txBody>
            <a:bodyPr anchor="ctr" anchorCtr="0">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アプリ</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146" name="Text Box 10">
              <a:extLst>
                <a:ext uri="{FF2B5EF4-FFF2-40B4-BE49-F238E27FC236}">
                  <a16:creationId xmlns:a16="http://schemas.microsoft.com/office/drawing/2014/main" id="{4E6FCF36-CF55-17ED-70E0-EA95F6AC11B4}"/>
                </a:ext>
              </a:extLst>
            </p:cNvPr>
            <p:cNvSpPr txBox="1">
              <a:spLocks noChangeArrowheads="1"/>
            </p:cNvSpPr>
            <p:nvPr/>
          </p:nvSpPr>
          <p:spPr bwMode="gray">
            <a:xfrm>
              <a:off x="4813840" y="3800205"/>
              <a:ext cx="978012" cy="466993"/>
            </a:xfrm>
            <a:prstGeom prst="rect">
              <a:avLst/>
            </a:prstGeom>
            <a:solidFill>
              <a:srgbClr val="FFFFFF"/>
            </a:solidFill>
            <a:ln w="9525">
              <a:solidFill>
                <a:srgbClr val="292929">
                  <a:lumMod val="50000"/>
                  <a:lumOff val="50000"/>
                </a:srgbClr>
              </a:solidFill>
              <a:miter lim="800000"/>
              <a:headEnd/>
              <a:tailEnd/>
            </a:ln>
          </p:spPr>
          <p:txBody>
            <a:bodyPr tIns="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シス開一東</a:t>
              </a:r>
              <a:endParaRPr lang="en-US" altLang="ja-JP" sz="900" b="0">
                <a:solidFill>
                  <a:srgbClr val="292929"/>
                </a:solidFill>
                <a:latin typeface="Meiryo UI"/>
                <a:ea typeface="Meiryo UI"/>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堀込</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grpSp>
      <p:grpSp>
        <p:nvGrpSpPr>
          <p:cNvPr id="147" name="グループ化 146">
            <a:extLst>
              <a:ext uri="{FF2B5EF4-FFF2-40B4-BE49-F238E27FC236}">
                <a16:creationId xmlns:a16="http://schemas.microsoft.com/office/drawing/2014/main" id="{18B7B317-9B69-9033-8D92-94E56F82C28F}"/>
              </a:ext>
            </a:extLst>
          </p:cNvPr>
          <p:cNvGrpSpPr/>
          <p:nvPr/>
        </p:nvGrpSpPr>
        <p:grpSpPr>
          <a:xfrm>
            <a:off x="6710498" y="4148294"/>
            <a:ext cx="978012" cy="655456"/>
            <a:chOff x="6257077" y="3611744"/>
            <a:chExt cx="978012" cy="655456"/>
          </a:xfrm>
        </p:grpSpPr>
        <p:sp>
          <p:nvSpPr>
            <p:cNvPr id="148" name="Text Box 10">
              <a:extLst>
                <a:ext uri="{FF2B5EF4-FFF2-40B4-BE49-F238E27FC236}">
                  <a16:creationId xmlns:a16="http://schemas.microsoft.com/office/drawing/2014/main" id="{62A96114-FC8F-92A5-2040-A2A31CCE5B66}"/>
                </a:ext>
              </a:extLst>
            </p:cNvPr>
            <p:cNvSpPr txBox="1">
              <a:spLocks noChangeArrowheads="1"/>
            </p:cNvSpPr>
            <p:nvPr/>
          </p:nvSpPr>
          <p:spPr bwMode="gray">
            <a:xfrm>
              <a:off x="6257077" y="3611744"/>
              <a:ext cx="978011" cy="197226"/>
            </a:xfrm>
            <a:prstGeom prst="rect">
              <a:avLst/>
            </a:prstGeom>
            <a:solidFill>
              <a:srgbClr val="92D050"/>
            </a:solidFill>
            <a:ln w="9525">
              <a:solidFill>
                <a:srgbClr val="292929">
                  <a:lumMod val="50000"/>
                  <a:lumOff val="50000"/>
                </a:srgbClr>
              </a:solidFill>
              <a:miter lim="800000"/>
              <a:headEnd/>
              <a:tailEnd/>
            </a:ln>
          </p:spPr>
          <p:txBody>
            <a:bodyPr anchor="ctr" anchorCtr="0">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延滞</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150" name="Text Box 10">
              <a:extLst>
                <a:ext uri="{FF2B5EF4-FFF2-40B4-BE49-F238E27FC236}">
                  <a16:creationId xmlns:a16="http://schemas.microsoft.com/office/drawing/2014/main" id="{2574C244-AE82-7F4B-2F54-ACD4511574DA}"/>
                </a:ext>
              </a:extLst>
            </p:cNvPr>
            <p:cNvSpPr txBox="1">
              <a:spLocks noChangeArrowheads="1"/>
            </p:cNvSpPr>
            <p:nvPr/>
          </p:nvSpPr>
          <p:spPr bwMode="gray">
            <a:xfrm>
              <a:off x="6257077" y="3800206"/>
              <a:ext cx="978012" cy="466994"/>
            </a:xfrm>
            <a:prstGeom prst="rect">
              <a:avLst/>
            </a:prstGeom>
            <a:solidFill>
              <a:srgbClr val="FFFFFF"/>
            </a:solidFill>
            <a:ln w="9525">
              <a:solidFill>
                <a:srgbClr val="292929">
                  <a:lumMod val="50000"/>
                  <a:lumOff val="50000"/>
                </a:srgbClr>
              </a:solidFill>
              <a:miter lim="800000"/>
              <a:headEnd/>
              <a:tailEnd/>
            </a:ln>
          </p:spPr>
          <p:txBody>
            <a:bodyPr tIns="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シス開二</a:t>
              </a:r>
              <a:endParaRPr lang="en-US" altLang="ja-JP" sz="900" b="0">
                <a:solidFill>
                  <a:srgbClr val="292929"/>
                </a:solidFill>
                <a:latin typeface="Meiryo UI"/>
                <a:ea typeface="Meiryo UI"/>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森下・阿部</a:t>
              </a:r>
              <a:endParaRPr lang="en-US" altLang="ja-JP" sz="900" b="0">
                <a:solidFill>
                  <a:srgbClr val="292929"/>
                </a:solidFill>
                <a:latin typeface="Meiryo UI"/>
                <a:ea typeface="Meiryo UI"/>
              </a:endParaRPr>
            </a:p>
          </p:txBody>
        </p:sp>
      </p:grpSp>
      <p:grpSp>
        <p:nvGrpSpPr>
          <p:cNvPr id="152" name="グループ化 151">
            <a:extLst>
              <a:ext uri="{FF2B5EF4-FFF2-40B4-BE49-F238E27FC236}">
                <a16:creationId xmlns:a16="http://schemas.microsoft.com/office/drawing/2014/main" id="{22E9E741-5B7D-52A9-699A-1848BA9482D1}"/>
              </a:ext>
            </a:extLst>
          </p:cNvPr>
          <p:cNvGrpSpPr/>
          <p:nvPr/>
        </p:nvGrpSpPr>
        <p:grpSpPr>
          <a:xfrm>
            <a:off x="2383089" y="4139530"/>
            <a:ext cx="978011" cy="653154"/>
            <a:chOff x="1929668" y="3602980"/>
            <a:chExt cx="978011" cy="653154"/>
          </a:xfrm>
        </p:grpSpPr>
        <p:sp>
          <p:nvSpPr>
            <p:cNvPr id="153" name="Text Box 10">
              <a:extLst>
                <a:ext uri="{FF2B5EF4-FFF2-40B4-BE49-F238E27FC236}">
                  <a16:creationId xmlns:a16="http://schemas.microsoft.com/office/drawing/2014/main" id="{EF574366-F46F-55F7-2717-2987B5E5AA74}"/>
                </a:ext>
              </a:extLst>
            </p:cNvPr>
            <p:cNvSpPr txBox="1">
              <a:spLocks noChangeArrowheads="1"/>
            </p:cNvSpPr>
            <p:nvPr/>
          </p:nvSpPr>
          <p:spPr bwMode="gray">
            <a:xfrm>
              <a:off x="1929668" y="3602980"/>
              <a:ext cx="978010" cy="194819"/>
            </a:xfrm>
            <a:prstGeom prst="rect">
              <a:avLst/>
            </a:prstGeom>
            <a:solidFill>
              <a:srgbClr val="92D050"/>
            </a:solidFill>
            <a:ln w="9525">
              <a:solidFill>
                <a:srgbClr val="292929">
                  <a:lumMod val="50000"/>
                  <a:lumOff val="50000"/>
                </a:srgbClr>
              </a:solidFill>
              <a:miter lim="800000"/>
              <a:headEnd/>
              <a:tailEnd/>
            </a:ln>
          </p:spPr>
          <p:txBody>
            <a:bodyPr anchor="ctr" anchorCtr="0">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800" b="0" i="0" u="none" strike="noStrike" kern="1200" cap="none" spc="0" normalizeH="0" baseline="0" noProof="0">
                  <a:ln>
                    <a:noFill/>
                  </a:ln>
                  <a:solidFill>
                    <a:srgbClr val="292929"/>
                  </a:solidFill>
                  <a:effectLst/>
                  <a:uLnTx/>
                  <a:uFillTx/>
                  <a:latin typeface="Meiryo UI"/>
                  <a:ea typeface="Meiryo UI"/>
                  <a:cs typeface="+mn-cs"/>
                </a:rPr>
                <a:t>ユーザ部門リーダー</a:t>
              </a:r>
              <a:endParaRPr kumimoji="1" lang="en-US" altLang="ja-JP" sz="800" b="0" i="0" u="none" strike="noStrike" kern="1200" cap="none" spc="0" normalizeH="0" baseline="0" noProof="0">
                <a:ln>
                  <a:noFill/>
                </a:ln>
                <a:solidFill>
                  <a:srgbClr val="292929"/>
                </a:solidFill>
                <a:effectLst/>
                <a:uLnTx/>
                <a:uFillTx/>
                <a:latin typeface="Meiryo UI"/>
                <a:ea typeface="Meiryo UI"/>
                <a:cs typeface="+mn-cs"/>
              </a:endParaRPr>
            </a:p>
          </p:txBody>
        </p:sp>
        <p:sp>
          <p:nvSpPr>
            <p:cNvPr id="154" name="Text Box 10">
              <a:extLst>
                <a:ext uri="{FF2B5EF4-FFF2-40B4-BE49-F238E27FC236}">
                  <a16:creationId xmlns:a16="http://schemas.microsoft.com/office/drawing/2014/main" id="{C09E7258-D658-125F-158E-EC7F4042598F}"/>
                </a:ext>
              </a:extLst>
            </p:cNvPr>
            <p:cNvSpPr txBox="1">
              <a:spLocks noChangeArrowheads="1"/>
            </p:cNvSpPr>
            <p:nvPr/>
          </p:nvSpPr>
          <p:spPr bwMode="gray">
            <a:xfrm>
              <a:off x="1929668" y="3789141"/>
              <a:ext cx="978011" cy="466993"/>
            </a:xfrm>
            <a:prstGeom prst="rect">
              <a:avLst/>
            </a:prstGeom>
            <a:solidFill>
              <a:srgbClr val="FFFFFF"/>
            </a:solidFill>
            <a:ln w="9525">
              <a:solidFill>
                <a:srgbClr val="292929">
                  <a:lumMod val="50000"/>
                  <a:lumOff val="50000"/>
                </a:srgbClr>
              </a:solidFill>
              <a:miter lim="800000"/>
              <a:headEnd/>
              <a:tailEnd/>
            </a:ln>
          </p:spPr>
          <p:txBody>
            <a:bodyPr tIns="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オペ統東</a:t>
              </a:r>
              <a:endParaRPr lang="en-US" altLang="ja-JP" sz="900" b="0">
                <a:solidFill>
                  <a:srgbClr val="292929"/>
                </a:solidFill>
                <a:latin typeface="Meiryo UI"/>
                <a:ea typeface="Meiryo UI"/>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800" b="0" i="0" u="none" strike="noStrike" kern="1200" cap="none" spc="0" normalizeH="0" baseline="0" noProof="0">
                  <a:ln>
                    <a:noFill/>
                  </a:ln>
                  <a:solidFill>
                    <a:srgbClr val="292929"/>
                  </a:solidFill>
                  <a:effectLst/>
                  <a:uLnTx/>
                  <a:uFillTx/>
                  <a:latin typeface="Meiryo UI"/>
                  <a:ea typeface="Meiryo UI"/>
                  <a:cs typeface="+mn-cs"/>
                </a:rPr>
                <a:t>大保・藤田・茂呂</a:t>
              </a:r>
              <a:endParaRPr kumimoji="1" lang="en-US" altLang="ja-JP" sz="800" b="0" i="0" u="none" strike="noStrike" kern="1200" cap="none" spc="0" normalizeH="0" baseline="0" noProof="0">
                <a:ln>
                  <a:noFill/>
                </a:ln>
                <a:solidFill>
                  <a:srgbClr val="292929"/>
                </a:solidFill>
                <a:effectLst/>
                <a:uLnTx/>
                <a:uFillTx/>
                <a:latin typeface="Meiryo UI"/>
                <a:ea typeface="Meiryo UI"/>
                <a:cs typeface="+mn-cs"/>
              </a:endParaRPr>
            </a:p>
          </p:txBody>
        </p:sp>
      </p:grpSp>
      <p:grpSp>
        <p:nvGrpSpPr>
          <p:cNvPr id="155" name="グループ化 154">
            <a:extLst>
              <a:ext uri="{FF2B5EF4-FFF2-40B4-BE49-F238E27FC236}">
                <a16:creationId xmlns:a16="http://schemas.microsoft.com/office/drawing/2014/main" id="{136A8A35-78E1-CE0B-7DA8-A60F138EC32C}"/>
              </a:ext>
            </a:extLst>
          </p:cNvPr>
          <p:cNvGrpSpPr/>
          <p:nvPr/>
        </p:nvGrpSpPr>
        <p:grpSpPr>
          <a:xfrm>
            <a:off x="939852" y="4141948"/>
            <a:ext cx="978011" cy="659382"/>
            <a:chOff x="486431" y="3605398"/>
            <a:chExt cx="978011" cy="659382"/>
          </a:xfrm>
        </p:grpSpPr>
        <p:sp>
          <p:nvSpPr>
            <p:cNvPr id="157" name="Text Box 10">
              <a:extLst>
                <a:ext uri="{FF2B5EF4-FFF2-40B4-BE49-F238E27FC236}">
                  <a16:creationId xmlns:a16="http://schemas.microsoft.com/office/drawing/2014/main" id="{6F578357-0A88-8B32-0ABE-9B5D15F32FF7}"/>
                </a:ext>
              </a:extLst>
            </p:cNvPr>
            <p:cNvSpPr txBox="1">
              <a:spLocks noChangeArrowheads="1"/>
            </p:cNvSpPr>
            <p:nvPr/>
          </p:nvSpPr>
          <p:spPr bwMode="gray">
            <a:xfrm>
              <a:off x="486431" y="3605398"/>
              <a:ext cx="978010" cy="194819"/>
            </a:xfrm>
            <a:prstGeom prst="rect">
              <a:avLst/>
            </a:prstGeom>
            <a:solidFill>
              <a:srgbClr val="92D050"/>
            </a:solidFill>
            <a:ln w="9525">
              <a:solidFill>
                <a:srgbClr val="292929">
                  <a:lumMod val="50000"/>
                  <a:lumOff val="50000"/>
                </a:srgbClr>
              </a:solidFill>
              <a:miter lim="800000"/>
              <a:headEnd/>
              <a:tailEnd/>
            </a:ln>
          </p:spPr>
          <p:txBody>
            <a:bodyPr anchor="ctr" anchorCtr="0">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ユーザ</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158" name="Text Box 10">
              <a:extLst>
                <a:ext uri="{FF2B5EF4-FFF2-40B4-BE49-F238E27FC236}">
                  <a16:creationId xmlns:a16="http://schemas.microsoft.com/office/drawing/2014/main" id="{3A024AC1-A810-1032-6D83-66EB038ABBB1}"/>
                </a:ext>
              </a:extLst>
            </p:cNvPr>
            <p:cNvSpPr txBox="1">
              <a:spLocks noChangeArrowheads="1"/>
            </p:cNvSpPr>
            <p:nvPr/>
          </p:nvSpPr>
          <p:spPr bwMode="gray">
            <a:xfrm>
              <a:off x="486431" y="3791560"/>
              <a:ext cx="978011" cy="473220"/>
            </a:xfrm>
            <a:prstGeom prst="rect">
              <a:avLst/>
            </a:prstGeom>
            <a:solidFill>
              <a:srgbClr val="FFFFFF"/>
            </a:solidFill>
            <a:ln w="9525">
              <a:solidFill>
                <a:srgbClr val="292929">
                  <a:lumMod val="50000"/>
                  <a:lumOff val="50000"/>
                </a:srgbClr>
              </a:solidFill>
              <a:miter lim="800000"/>
              <a:headEnd/>
              <a:tailEnd/>
            </a:ln>
          </p:spPr>
          <p:txBody>
            <a:bodyPr tIns="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800" b="0" i="0" u="none" strike="noStrike" kern="1200" cap="none" spc="0" normalizeH="0" baseline="0" noProof="0">
                  <a:ln>
                    <a:noFill/>
                  </a:ln>
                  <a:solidFill>
                    <a:srgbClr val="292929"/>
                  </a:solidFill>
                  <a:effectLst/>
                  <a:uLnTx/>
                  <a:uFillTx/>
                  <a:latin typeface="Meiryo UI"/>
                  <a:ea typeface="Meiryo UI"/>
                  <a:cs typeface="+mn-cs"/>
                </a:rPr>
                <a:t>大</a:t>
              </a:r>
              <a:r>
                <a:rPr kumimoji="1" lang="en-US" altLang="ja-JP" sz="800" b="0" i="0" u="none" strike="noStrike" kern="1200" cap="none" spc="0" normalizeH="0" baseline="0" noProof="0">
                  <a:ln>
                    <a:noFill/>
                  </a:ln>
                  <a:solidFill>
                    <a:srgbClr val="292929"/>
                  </a:solidFill>
                  <a:effectLst/>
                  <a:uLnTx/>
                  <a:uFillTx/>
                  <a:latin typeface="Meiryo UI"/>
                  <a:ea typeface="Meiryo UI"/>
                  <a:cs typeface="+mn-cs"/>
                </a:rPr>
                <a:t>CC</a:t>
              </a:r>
              <a:r>
                <a:rPr kumimoji="1" lang="ja-JP" altLang="en-US" sz="800" b="0" i="0" u="none" strike="noStrike" kern="1200" cap="none" spc="0" normalizeH="0" baseline="0" noProof="0">
                  <a:ln>
                    <a:noFill/>
                  </a:ln>
                  <a:solidFill>
                    <a:srgbClr val="292929"/>
                  </a:solidFill>
                  <a:effectLst/>
                  <a:uLnTx/>
                  <a:uFillTx/>
                  <a:latin typeface="Meiryo UI"/>
                  <a:ea typeface="Meiryo UI"/>
                  <a:cs typeface="+mn-cs"/>
                </a:rPr>
                <a:t>・東</a:t>
              </a:r>
              <a:r>
                <a:rPr kumimoji="1" lang="en-US" altLang="ja-JP" sz="800" b="0" i="0" u="none" strike="noStrike" kern="1200" cap="none" spc="0" normalizeH="0" baseline="0" noProof="0">
                  <a:ln>
                    <a:noFill/>
                  </a:ln>
                  <a:solidFill>
                    <a:srgbClr val="292929"/>
                  </a:solidFill>
                  <a:effectLst/>
                  <a:uLnTx/>
                  <a:uFillTx/>
                  <a:latin typeface="Meiryo UI"/>
                  <a:ea typeface="Meiryo UI"/>
                  <a:cs typeface="+mn-cs"/>
                </a:rPr>
                <a:t>CC</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800" b="0" i="0" u="none" strike="noStrike" kern="1200" cap="none" spc="0" normalizeH="0" baseline="0" noProof="0">
                  <a:ln>
                    <a:noFill/>
                  </a:ln>
                  <a:solidFill>
                    <a:srgbClr val="292929"/>
                  </a:solidFill>
                  <a:effectLst/>
                  <a:uLnTx/>
                  <a:uFillTx/>
                  <a:latin typeface="Meiryo UI"/>
                  <a:ea typeface="Meiryo UI"/>
                  <a:cs typeface="+mn-cs"/>
                </a:rPr>
                <a:t>・名</a:t>
              </a:r>
              <a:r>
                <a:rPr kumimoji="1" lang="en-US" altLang="ja-JP" sz="800" b="0" i="0" u="none" strike="noStrike" kern="1200" cap="none" spc="0" normalizeH="0" baseline="0" noProof="0">
                  <a:ln>
                    <a:noFill/>
                  </a:ln>
                  <a:solidFill>
                    <a:srgbClr val="292929"/>
                  </a:solidFill>
                  <a:effectLst/>
                  <a:uLnTx/>
                  <a:uFillTx/>
                  <a:latin typeface="Meiryo UI"/>
                  <a:ea typeface="Meiryo UI"/>
                  <a:cs typeface="+mn-cs"/>
                </a:rPr>
                <a:t>CC</a:t>
              </a:r>
            </a:p>
          </p:txBody>
        </p:sp>
      </p:grpSp>
      <p:cxnSp>
        <p:nvCxnSpPr>
          <p:cNvPr id="160" name="直線コネクタ 159">
            <a:extLst>
              <a:ext uri="{FF2B5EF4-FFF2-40B4-BE49-F238E27FC236}">
                <a16:creationId xmlns:a16="http://schemas.microsoft.com/office/drawing/2014/main" id="{02F19FA3-A187-1071-5021-E479457E76A7}"/>
              </a:ext>
            </a:extLst>
          </p:cNvPr>
          <p:cNvCxnSpPr>
            <a:cxnSpLocks/>
          </p:cNvCxnSpPr>
          <p:nvPr/>
        </p:nvCxnSpPr>
        <p:spPr bwMode="auto">
          <a:xfrm flipV="1">
            <a:off x="1917864" y="4478117"/>
            <a:ext cx="465226" cy="24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1" name="グループ化 160">
            <a:extLst>
              <a:ext uri="{FF2B5EF4-FFF2-40B4-BE49-F238E27FC236}">
                <a16:creationId xmlns:a16="http://schemas.microsoft.com/office/drawing/2014/main" id="{05DCB6BB-C6BC-5B91-CD13-E13408CD32A5}"/>
              </a:ext>
            </a:extLst>
          </p:cNvPr>
          <p:cNvGrpSpPr/>
          <p:nvPr/>
        </p:nvGrpSpPr>
        <p:grpSpPr>
          <a:xfrm>
            <a:off x="7921021" y="4148293"/>
            <a:ext cx="1114425" cy="644391"/>
            <a:chOff x="3555453" y="793246"/>
            <a:chExt cx="1587041" cy="480462"/>
          </a:xfrm>
        </p:grpSpPr>
        <p:sp>
          <p:nvSpPr>
            <p:cNvPr id="162" name="Text Box 10">
              <a:extLst>
                <a:ext uri="{FF2B5EF4-FFF2-40B4-BE49-F238E27FC236}">
                  <a16:creationId xmlns:a16="http://schemas.microsoft.com/office/drawing/2014/main" id="{CE90BFF6-A00B-E4A3-6BE8-707FE34DECD1}"/>
                </a:ext>
              </a:extLst>
            </p:cNvPr>
            <p:cNvSpPr txBox="1">
              <a:spLocks noChangeArrowheads="1"/>
            </p:cNvSpPr>
            <p:nvPr/>
          </p:nvSpPr>
          <p:spPr bwMode="gray">
            <a:xfrm>
              <a:off x="3555453" y="793246"/>
              <a:ext cx="1587040" cy="132269"/>
            </a:xfrm>
            <a:prstGeom prst="rect">
              <a:avLst/>
            </a:prstGeom>
            <a:solidFill>
              <a:srgbClr val="92D050"/>
            </a:solidFill>
            <a:ln w="9525">
              <a:solidFill>
                <a:srgbClr val="292929">
                  <a:lumMod val="50000"/>
                  <a:lumOff val="50000"/>
                </a:srgbClr>
              </a:solidFill>
              <a:miter lim="800000"/>
              <a:headEnd/>
              <a:tailEnd/>
            </a:ln>
          </p:spPr>
          <p:txBody>
            <a:bodyPr anchor="ctr" anchorCtr="0">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基盤</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163" name="Text Box 10">
              <a:extLst>
                <a:ext uri="{FF2B5EF4-FFF2-40B4-BE49-F238E27FC236}">
                  <a16:creationId xmlns:a16="http://schemas.microsoft.com/office/drawing/2014/main" id="{860540FF-1E16-6A5A-206C-3CBBA29A4546}"/>
                </a:ext>
              </a:extLst>
            </p:cNvPr>
            <p:cNvSpPr txBox="1">
              <a:spLocks noChangeArrowheads="1"/>
            </p:cNvSpPr>
            <p:nvPr/>
          </p:nvSpPr>
          <p:spPr bwMode="gray">
            <a:xfrm>
              <a:off x="3555453" y="925516"/>
              <a:ext cx="1587041" cy="348192"/>
            </a:xfrm>
            <a:prstGeom prst="rect">
              <a:avLst/>
            </a:prstGeom>
            <a:solidFill>
              <a:srgbClr val="FFFFFF"/>
            </a:solidFill>
            <a:ln w="9525">
              <a:solidFill>
                <a:srgbClr val="292929">
                  <a:lumMod val="50000"/>
                  <a:lumOff val="50000"/>
                </a:srgbClr>
              </a:solidFill>
              <a:miter lim="800000"/>
              <a:headEnd/>
              <a:tailEnd/>
            </a:ln>
          </p:spPr>
          <p:txBody>
            <a:bodyPr tIns="0" bIns="0" anchor="ctr">
              <a:noAutofit/>
            </a:bodyP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dirty="0">
                  <a:solidFill>
                    <a:srgbClr val="292929"/>
                  </a:solidFill>
                  <a:latin typeface="Meiryo UI"/>
                  <a:ea typeface="Meiryo UI"/>
                </a:rPr>
                <a:t>シス統・技術統括</a:t>
              </a:r>
              <a:endParaRPr lang="en-US" altLang="ja-JP" sz="900" b="0" dirty="0">
                <a:solidFill>
                  <a:srgbClr val="292929"/>
                </a:solidFill>
                <a:latin typeface="Meiryo UI"/>
                <a:ea typeface="Meiryo UI"/>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zh-TW" altLang="en-US" sz="900" b="0" dirty="0">
                  <a:solidFill>
                    <a:srgbClr val="292929"/>
                  </a:solidFill>
                  <a:latin typeface="Meiryo UI"/>
                  <a:ea typeface="Meiryo UI"/>
                </a:rPr>
                <a:t>石井次長</a:t>
              </a:r>
              <a:r>
                <a:rPr lang="ja-JP" altLang="en-US" sz="900" b="0" dirty="0">
                  <a:solidFill>
                    <a:srgbClr val="292929"/>
                  </a:solidFill>
                  <a:latin typeface="Meiryo UI"/>
                  <a:ea typeface="Meiryo UI"/>
                </a:rPr>
                <a:t>・</a:t>
              </a:r>
              <a:r>
                <a:rPr lang="zh-TW" altLang="en-US" sz="900" b="0" dirty="0">
                  <a:solidFill>
                    <a:srgbClr val="292929"/>
                  </a:solidFill>
                  <a:latin typeface="Meiryo UI"/>
                  <a:ea typeface="Meiryo UI"/>
                </a:rPr>
                <a:t>青田</a:t>
              </a:r>
              <a:endParaRPr lang="en-US" altLang="zh-TW" sz="900" b="0" dirty="0">
                <a:solidFill>
                  <a:srgbClr val="292929"/>
                </a:solidFill>
                <a:latin typeface="Meiryo UI"/>
                <a:ea typeface="Meiryo UI"/>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dirty="0">
                  <a:solidFill>
                    <a:srgbClr val="292929"/>
                  </a:solidFill>
                  <a:latin typeface="Meiryo UI"/>
                  <a:ea typeface="Meiryo UI"/>
                </a:rPr>
                <a:t>・</a:t>
              </a:r>
              <a:r>
                <a:rPr lang="zh-TW" altLang="en-US" sz="900" b="0" dirty="0">
                  <a:solidFill>
                    <a:srgbClr val="292929"/>
                  </a:solidFill>
                  <a:latin typeface="Meiryo UI"/>
                  <a:ea typeface="Meiryo UI"/>
                </a:rPr>
                <a:t>松宮</a:t>
              </a:r>
              <a:r>
                <a:rPr lang="ja-JP" altLang="en-US" sz="900" b="0" dirty="0">
                  <a:solidFill>
                    <a:srgbClr val="292929"/>
                  </a:solidFill>
                  <a:latin typeface="Meiryo UI"/>
                  <a:ea typeface="Meiryo UI"/>
                </a:rPr>
                <a:t>・</a:t>
              </a:r>
              <a:r>
                <a:rPr lang="zh-TW" altLang="en-US" sz="900" b="0" dirty="0">
                  <a:solidFill>
                    <a:srgbClr val="292929"/>
                  </a:solidFill>
                  <a:latin typeface="Meiryo UI"/>
                  <a:ea typeface="Meiryo UI"/>
                </a:rPr>
                <a:t>菅原</a:t>
              </a:r>
              <a:r>
                <a:rPr lang="ja-JP" altLang="en-US" sz="900" b="0" dirty="0">
                  <a:solidFill>
                    <a:srgbClr val="292929"/>
                  </a:solidFill>
                  <a:latin typeface="Meiryo UI"/>
                  <a:ea typeface="Meiryo UI"/>
                </a:rPr>
                <a:t>・</a:t>
              </a:r>
              <a:endParaRPr lang="en-US" altLang="ja-JP" sz="900" b="0" dirty="0">
                <a:solidFill>
                  <a:srgbClr val="292929"/>
                </a:solidFill>
                <a:latin typeface="Meiryo UI"/>
                <a:ea typeface="Meiryo UI"/>
              </a:endParaRPr>
            </a:p>
          </p:txBody>
        </p:sp>
      </p:grpSp>
      <p:cxnSp>
        <p:nvCxnSpPr>
          <p:cNvPr id="165" name="コネクタ: カギ線 164">
            <a:extLst>
              <a:ext uri="{FF2B5EF4-FFF2-40B4-BE49-F238E27FC236}">
                <a16:creationId xmlns:a16="http://schemas.microsoft.com/office/drawing/2014/main" id="{F15A94C1-8BFF-EAE4-CE42-4BF1B8F86ED0}"/>
              </a:ext>
            </a:extLst>
          </p:cNvPr>
          <p:cNvCxnSpPr>
            <a:cxnSpLocks/>
            <a:stCxn id="134" idx="2"/>
            <a:endCxn id="162" idx="0"/>
          </p:cNvCxnSpPr>
          <p:nvPr/>
        </p:nvCxnSpPr>
        <p:spPr bwMode="auto">
          <a:xfrm rot="16200000" flipH="1">
            <a:off x="5818987" y="1489046"/>
            <a:ext cx="1222807" cy="4095686"/>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6" name="テキスト プレースホルダー 12">
            <a:extLst>
              <a:ext uri="{FF2B5EF4-FFF2-40B4-BE49-F238E27FC236}">
                <a16:creationId xmlns:a16="http://schemas.microsoft.com/office/drawing/2014/main" id="{C487874E-473A-FE24-6B1E-AD097F3CBA3F}"/>
              </a:ext>
            </a:extLst>
          </p:cNvPr>
          <p:cNvSpPr txBox="1">
            <a:spLocks/>
          </p:cNvSpPr>
          <p:nvPr/>
        </p:nvSpPr>
        <p:spPr>
          <a:xfrm>
            <a:off x="154648" y="573485"/>
            <a:ext cx="9686375" cy="456993"/>
          </a:xfrm>
          <a:prstGeom prst="rect">
            <a:avLst/>
          </a:prstGeom>
        </p:spPr>
        <p:txBody>
          <a:bodyPr/>
          <a:lstStyle>
            <a:lvl1pPr marL="180975" indent="-180975" algn="l" rtl="0" eaLnBrk="0" fontAlgn="base" hangingPunct="0">
              <a:lnSpc>
                <a:spcPct val="100000"/>
              </a:lnSpc>
              <a:spcBef>
                <a:spcPts val="300"/>
              </a:spcBef>
              <a:spcAft>
                <a:spcPct val="0"/>
              </a:spcAft>
              <a:buClr>
                <a:schemeClr val="tx1"/>
              </a:buClr>
              <a:buFont typeface="Wingdings" panose="05000000000000000000" pitchFamily="2" charset="2"/>
              <a:buChar char="l"/>
              <a:defRPr kumimoji="1" sz="1400">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a:lstStyle>
          <a:p>
            <a:pPr marL="0" indent="0">
              <a:spcBef>
                <a:spcPts val="600"/>
              </a:spcBef>
              <a:spcAft>
                <a:spcPts val="600"/>
              </a:spcAft>
              <a:buFont typeface="Wingdings" panose="05000000000000000000" pitchFamily="2" charset="2"/>
              <a:buNone/>
            </a:pPr>
            <a:r>
              <a:rPr lang="ja-JP" altLang="en-US" sz="1800" kern="0" dirty="0">
                <a:latin typeface="+mn-ea"/>
              </a:rPr>
              <a:t>（２）</a:t>
            </a:r>
            <a:r>
              <a:rPr lang="en-US" altLang="ja-JP" sz="1800" kern="0" dirty="0">
                <a:latin typeface="+mn-ea"/>
              </a:rPr>
              <a:t>SMCC</a:t>
            </a:r>
            <a:r>
              <a:rPr lang="ja-JP" altLang="en-US" sz="1800" kern="0" dirty="0">
                <a:latin typeface="+mn-ea"/>
              </a:rPr>
              <a:t>検討体制</a:t>
            </a:r>
            <a:endParaRPr lang="en-US" altLang="ja-JP" sz="1800" kern="0" dirty="0">
              <a:latin typeface="+mn-ea"/>
            </a:endParaRPr>
          </a:p>
        </p:txBody>
      </p:sp>
    </p:spTree>
    <p:extLst>
      <p:ext uri="{BB962C8B-B14F-4D97-AF65-F5344CB8AC3E}">
        <p14:creationId xmlns:p14="http://schemas.microsoft.com/office/powerpoint/2010/main" val="2017368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B091E-3EA8-4226-916B-379EF743BFAA}"/>
            </a:ext>
          </a:extLst>
        </p:cNvPr>
        <p:cNvGrpSpPr/>
        <p:nvPr/>
      </p:nvGrpSpPr>
      <p:grpSpPr>
        <a:xfrm>
          <a:off x="0" y="0"/>
          <a:ext cx="0" cy="0"/>
          <a:chOff x="0" y="0"/>
          <a:chExt cx="0" cy="0"/>
        </a:xfrm>
      </p:grpSpPr>
      <p:sp>
        <p:nvSpPr>
          <p:cNvPr id="20" name="タイトル 1">
            <a:extLst>
              <a:ext uri="{FF2B5EF4-FFF2-40B4-BE49-F238E27FC236}">
                <a16:creationId xmlns:a16="http://schemas.microsoft.com/office/drawing/2014/main" id="{4EFDEF20-0B94-A0FD-5C1B-283AB8A1570F}"/>
              </a:ext>
            </a:extLst>
          </p:cNvPr>
          <p:cNvSpPr txBox="1">
            <a:spLocks/>
          </p:cNvSpPr>
          <p:nvPr/>
        </p:nvSpPr>
        <p:spPr>
          <a:xfrm>
            <a:off x="674478" y="130545"/>
            <a:ext cx="9004300" cy="334962"/>
          </a:xfrm>
          <a:prstGeom prst="rect">
            <a:avLst/>
          </a:prstGeom>
        </p:spPr>
        <p:txBody>
          <a:bodyPr/>
          <a:lst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a:lstStyle>
          <a:p>
            <a:r>
              <a:rPr lang="ja-JP" altLang="en-US" kern="0" dirty="0"/>
              <a:t>３</a:t>
            </a:r>
            <a:r>
              <a:rPr lang="en-US" altLang="ja-JP" kern="0" dirty="0"/>
              <a:t>-</a:t>
            </a:r>
            <a:r>
              <a:rPr lang="ja-JP" altLang="en-US" kern="0" dirty="0"/>
              <a:t>１．</a:t>
            </a:r>
            <a:r>
              <a:rPr lang="en-US" altLang="ja-JP" kern="0" dirty="0"/>
              <a:t>【</a:t>
            </a:r>
            <a:r>
              <a:rPr lang="ja-JP" altLang="en-US" kern="0" dirty="0">
                <a:latin typeface="+mn-ea"/>
                <a:ea typeface="+mn-ea"/>
              </a:rPr>
              <a:t>推進体制</a:t>
            </a:r>
            <a:r>
              <a:rPr lang="en-US" altLang="ja-JP" kern="0" dirty="0"/>
              <a:t>】</a:t>
            </a:r>
            <a:r>
              <a:rPr lang="ja-JP" altLang="en-US" kern="0" dirty="0"/>
              <a:t>プロジェクト関連図</a:t>
            </a:r>
            <a:endParaRPr lang="en-US" altLang="ja-JP" kern="0" dirty="0">
              <a:latin typeface="Meiryo UI" panose="020B0604030504040204" pitchFamily="50" charset="-128"/>
              <a:ea typeface="Meiryo UI" panose="020B0604030504040204" pitchFamily="50" charset="-128"/>
            </a:endParaRPr>
          </a:p>
        </p:txBody>
      </p:sp>
      <p:sp>
        <p:nvSpPr>
          <p:cNvPr id="2" name="テキスト プレースホルダー 12">
            <a:extLst>
              <a:ext uri="{FF2B5EF4-FFF2-40B4-BE49-F238E27FC236}">
                <a16:creationId xmlns:a16="http://schemas.microsoft.com/office/drawing/2014/main" id="{59B9464D-B3E0-5A72-E6BE-AB96D798B475}"/>
              </a:ext>
            </a:extLst>
          </p:cNvPr>
          <p:cNvSpPr txBox="1">
            <a:spLocks/>
          </p:cNvSpPr>
          <p:nvPr/>
        </p:nvSpPr>
        <p:spPr>
          <a:xfrm>
            <a:off x="154648" y="573485"/>
            <a:ext cx="9686375" cy="456993"/>
          </a:xfrm>
          <a:prstGeom prst="rect">
            <a:avLst/>
          </a:prstGeom>
        </p:spPr>
        <p:txBody>
          <a:bodyPr/>
          <a:lstStyle>
            <a:lvl1pPr marL="180975" indent="-180975" algn="l" rtl="0" eaLnBrk="0" fontAlgn="base" hangingPunct="0">
              <a:lnSpc>
                <a:spcPct val="100000"/>
              </a:lnSpc>
              <a:spcBef>
                <a:spcPts val="300"/>
              </a:spcBef>
              <a:spcAft>
                <a:spcPct val="0"/>
              </a:spcAft>
              <a:buClr>
                <a:schemeClr val="tx1"/>
              </a:buClr>
              <a:buFont typeface="Wingdings" panose="05000000000000000000" pitchFamily="2" charset="2"/>
              <a:buChar char="l"/>
              <a:defRPr kumimoji="1" sz="1400">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a:lstStyle>
          <a:p>
            <a:pPr marL="0" indent="0">
              <a:spcBef>
                <a:spcPts val="600"/>
              </a:spcBef>
              <a:spcAft>
                <a:spcPts val="600"/>
              </a:spcAft>
              <a:buFont typeface="Wingdings" panose="05000000000000000000" pitchFamily="2" charset="2"/>
              <a:buNone/>
            </a:pPr>
            <a:r>
              <a:rPr lang="ja-JP" altLang="en-US" sz="1800" kern="0" dirty="0">
                <a:latin typeface="+mn-ea"/>
              </a:rPr>
              <a:t>（３）要員山積み</a:t>
            </a:r>
            <a:endParaRPr lang="en-US" altLang="ja-JP" sz="1800" kern="0" dirty="0">
              <a:latin typeface="+mn-ea"/>
            </a:endParaRPr>
          </a:p>
        </p:txBody>
      </p:sp>
      <p:graphicFrame>
        <p:nvGraphicFramePr>
          <p:cNvPr id="3" name="表 2">
            <a:extLst>
              <a:ext uri="{FF2B5EF4-FFF2-40B4-BE49-F238E27FC236}">
                <a16:creationId xmlns:a16="http://schemas.microsoft.com/office/drawing/2014/main" id="{5E8B1A2F-BAE1-42D7-B136-31D426183009}"/>
              </a:ext>
            </a:extLst>
          </p:cNvPr>
          <p:cNvGraphicFramePr>
            <a:graphicFrameLocks noGrp="1"/>
          </p:cNvGraphicFramePr>
          <p:nvPr>
            <p:extLst>
              <p:ext uri="{D42A27DB-BD31-4B8C-83A1-F6EECF244321}">
                <p14:modId xmlns:p14="http://schemas.microsoft.com/office/powerpoint/2010/main" val="2697641450"/>
              </p:ext>
            </p:extLst>
          </p:nvPr>
        </p:nvGraphicFramePr>
        <p:xfrm>
          <a:off x="158872" y="930966"/>
          <a:ext cx="9569206" cy="5862240"/>
        </p:xfrm>
        <a:graphic>
          <a:graphicData uri="http://schemas.openxmlformats.org/drawingml/2006/table">
            <a:tbl>
              <a:tblPr firstRow="1" bandRow="1"/>
              <a:tblGrid>
                <a:gridCol w="606185">
                  <a:extLst>
                    <a:ext uri="{9D8B030D-6E8A-4147-A177-3AD203B41FA5}">
                      <a16:colId xmlns:a16="http://schemas.microsoft.com/office/drawing/2014/main" val="116094207"/>
                    </a:ext>
                  </a:extLst>
                </a:gridCol>
                <a:gridCol w="1077330">
                  <a:extLst>
                    <a:ext uri="{9D8B030D-6E8A-4147-A177-3AD203B41FA5}">
                      <a16:colId xmlns:a16="http://schemas.microsoft.com/office/drawing/2014/main" val="2583275011"/>
                    </a:ext>
                  </a:extLst>
                </a:gridCol>
                <a:gridCol w="697432">
                  <a:extLst>
                    <a:ext uri="{9D8B030D-6E8A-4147-A177-3AD203B41FA5}">
                      <a16:colId xmlns:a16="http://schemas.microsoft.com/office/drawing/2014/main" val="1104600613"/>
                    </a:ext>
                  </a:extLst>
                </a:gridCol>
                <a:gridCol w="697432">
                  <a:extLst>
                    <a:ext uri="{9D8B030D-6E8A-4147-A177-3AD203B41FA5}">
                      <a16:colId xmlns:a16="http://schemas.microsoft.com/office/drawing/2014/main" val="2733462323"/>
                    </a:ext>
                  </a:extLst>
                </a:gridCol>
                <a:gridCol w="964351">
                  <a:extLst>
                    <a:ext uri="{9D8B030D-6E8A-4147-A177-3AD203B41FA5}">
                      <a16:colId xmlns:a16="http://schemas.microsoft.com/office/drawing/2014/main" val="1156616487"/>
                    </a:ext>
                  </a:extLst>
                </a:gridCol>
                <a:gridCol w="922266">
                  <a:extLst>
                    <a:ext uri="{9D8B030D-6E8A-4147-A177-3AD203B41FA5}">
                      <a16:colId xmlns:a16="http://schemas.microsoft.com/office/drawing/2014/main" val="1946367976"/>
                    </a:ext>
                  </a:extLst>
                </a:gridCol>
                <a:gridCol w="922266">
                  <a:extLst>
                    <a:ext uri="{9D8B030D-6E8A-4147-A177-3AD203B41FA5}">
                      <a16:colId xmlns:a16="http://schemas.microsoft.com/office/drawing/2014/main" val="2181222865"/>
                    </a:ext>
                  </a:extLst>
                </a:gridCol>
                <a:gridCol w="920486">
                  <a:extLst>
                    <a:ext uri="{9D8B030D-6E8A-4147-A177-3AD203B41FA5}">
                      <a16:colId xmlns:a16="http://schemas.microsoft.com/office/drawing/2014/main" val="513778579"/>
                    </a:ext>
                  </a:extLst>
                </a:gridCol>
                <a:gridCol w="920486">
                  <a:extLst>
                    <a:ext uri="{9D8B030D-6E8A-4147-A177-3AD203B41FA5}">
                      <a16:colId xmlns:a16="http://schemas.microsoft.com/office/drawing/2014/main" val="2466928866"/>
                    </a:ext>
                  </a:extLst>
                </a:gridCol>
                <a:gridCol w="920486">
                  <a:extLst>
                    <a:ext uri="{9D8B030D-6E8A-4147-A177-3AD203B41FA5}">
                      <a16:colId xmlns:a16="http://schemas.microsoft.com/office/drawing/2014/main" val="3915138592"/>
                    </a:ext>
                  </a:extLst>
                </a:gridCol>
                <a:gridCol w="920486">
                  <a:extLst>
                    <a:ext uri="{9D8B030D-6E8A-4147-A177-3AD203B41FA5}">
                      <a16:colId xmlns:a16="http://schemas.microsoft.com/office/drawing/2014/main" val="4137780213"/>
                    </a:ext>
                  </a:extLst>
                </a:gridCol>
              </a:tblGrid>
              <a:tr h="130133">
                <a:tc rowSpan="2" gridSpan="4">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体制</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rowSpan="2" hMerge="1">
                  <a:txBody>
                    <a:bodyPr/>
                    <a:lstStyle/>
                    <a:p>
                      <a:endParaRPr kumimoji="1" lang="ja-JP" altLang="en-US"/>
                    </a:p>
                  </a:txBody>
                  <a:tcPr/>
                </a:tc>
                <a:tc rowSpan="2" hMerge="1">
                  <a:txBody>
                    <a:bodyPr/>
                    <a:lstStyle/>
                    <a:p>
                      <a:pPr algn="ctr"/>
                      <a:endPar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rowSpan="2" hMerge="1">
                  <a:txBody>
                    <a:bodyPr/>
                    <a:lstStyle/>
                    <a:p>
                      <a:pPr algn="ctr"/>
                      <a:endPar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gridSpan="3">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en-US" altLang="ja-JP"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25</a:t>
                      </a: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年度</a:t>
                      </a: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hMerge="1">
                  <a:txBody>
                    <a:bodyPr/>
                    <a:lstStyle/>
                    <a:p>
                      <a:endParaRPr kumimoji="1" lang="ja-JP" altLang="en-US"/>
                    </a:p>
                  </a:txBody>
                  <a:tcPr/>
                </a:tc>
                <a:tc hMerge="1">
                  <a:txBody>
                    <a:bodyPr/>
                    <a:lstStyle/>
                    <a:p>
                      <a:pPr algn="ctr"/>
                      <a:endPar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gridSpan="3">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en-US" altLang="ja-JP"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26</a:t>
                      </a: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年度</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hMerge="1">
                  <a:txBody>
                    <a:bodyPr/>
                    <a:lstStyle/>
                    <a:p>
                      <a:pPr algn="ctr"/>
                      <a:endPar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72CE"/>
                    </a:solidFill>
                  </a:tcPr>
                </a:tc>
                <a:tc hMerge="1">
                  <a:txBody>
                    <a:bodyPr/>
                    <a:lstStyle/>
                    <a:p>
                      <a:pPr algn="ctr"/>
                      <a:endPar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72CE"/>
                    </a:solidFill>
                  </a:tcPr>
                </a:tc>
                <a:tc rowSpan="2">
                  <a:txBody>
                    <a:bodyPr/>
                    <a:lstStyle/>
                    <a:p>
                      <a:pPr algn="ct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合計</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extLst>
                  <a:ext uri="{0D108BD9-81ED-4DB2-BD59-A6C34878D82A}">
                    <a16:rowId xmlns:a16="http://schemas.microsoft.com/office/drawing/2014/main" val="2594716179"/>
                  </a:ext>
                </a:extLst>
              </a:tr>
              <a:tr h="100766">
                <a:tc gridSpan="4" vMerge="1">
                  <a:txBody>
                    <a:bodyPr/>
                    <a:lstStyle/>
                    <a:p>
                      <a:pPr algn="ct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72CE"/>
                    </a:solid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10</a:t>
                      </a: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p>
                      <a:pPr algn="ctr"/>
                      <a:r>
                        <a:rPr kumimoji="1" lang="en-US" altLang="ja-JP"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11</a:t>
                      </a: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p>
                      <a:pPr algn="ctr"/>
                      <a:r>
                        <a:rPr kumimoji="1" lang="en-US" altLang="ja-JP"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12</a:t>
                      </a: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a:t>
                      </a: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vMerge="1">
                  <a:txBody>
                    <a:bodyPr/>
                    <a:lstStyle/>
                    <a:p>
                      <a:pPr algn="ctr"/>
                      <a:endParaRPr kumimoji="1" lang="ja-JP" altLang="en-US" sz="12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extLst>
                  <a:ext uri="{0D108BD9-81ED-4DB2-BD59-A6C34878D82A}">
                    <a16:rowId xmlns:a16="http://schemas.microsoft.com/office/drawing/2014/main" val="3120691387"/>
                  </a:ext>
                </a:extLst>
              </a:tr>
              <a:tr h="188707">
                <a:tc rowSpan="8">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JRI</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CTI</a:t>
                      </a: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基盤</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/PJ</a:t>
                      </a: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管理</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PM</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溝口</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15.0</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2929114"/>
                  </a:ext>
                </a:extLst>
              </a:tr>
              <a:tr h="152651">
                <a:tc vMerge="1">
                  <a:txBody>
                    <a:bodyPr/>
                    <a:lstStyle/>
                    <a:p>
                      <a:endParaRPr kumimoji="1" lang="ja-JP" altLang="en-US"/>
                    </a:p>
                  </a:txBody>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TL</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大島</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77008508"/>
                  </a:ext>
                </a:extLst>
              </a:tr>
              <a:tr h="0">
                <a:tc vMerge="1">
                  <a:txBody>
                    <a:bodyPr/>
                    <a:lstStyle/>
                    <a:p>
                      <a:pPr algn="ct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担当</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田中</a:t>
                      </a: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MKI</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80084061"/>
                  </a:ext>
                </a:extLst>
              </a:tr>
              <a:tr h="183270">
                <a:tc vMerge="1">
                  <a:txBody>
                    <a:bodyPr/>
                    <a:lstStyle/>
                    <a:p>
                      <a:endParaRPr kumimoji="1" lang="ja-JP" altLang="en-US"/>
                    </a:p>
                  </a:txBody>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担当</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CTC</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72393555"/>
                  </a:ext>
                </a:extLst>
              </a:tr>
              <a:tr h="178586">
                <a:tc vMerge="1">
                  <a:txBody>
                    <a:bodyPr/>
                    <a:lstStyle/>
                    <a:p>
                      <a:endParaRPr kumimoji="1" lang="ja-JP" altLang="en-US"/>
                    </a:p>
                  </a:txBody>
                  <a:tcPr/>
                </a:tc>
                <a:tc rowSpan="2">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CTI/IVR</a:t>
                      </a: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アプリ</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TL</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山本</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15.0</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854550582"/>
                  </a:ext>
                </a:extLst>
              </a:tr>
              <a:tr h="190406">
                <a:tc vMerge="1">
                  <a:txBody>
                    <a:bodyPr/>
                    <a:lstStyle/>
                    <a:p>
                      <a:pPr algn="ct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担当</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78777017"/>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通話録音</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TL</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田中</a:t>
                      </a: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MKI</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6.0</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2701374"/>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担当</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松本</a:t>
                      </a: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MKI</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49072062"/>
                  </a:ext>
                </a:extLst>
              </a:tr>
              <a:tr h="190406">
                <a:tc rowSpan="13">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全体管理</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PM</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水野</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18.0</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8257308"/>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PM</a:t>
                      </a: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補佐</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森</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17755489"/>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PMO</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平野</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46873271"/>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CTI</a:t>
                      </a: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基盤</a:t>
                      </a: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/PBX</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TL</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16.0</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3965624"/>
                  </a:ext>
                </a:extLst>
              </a:tr>
              <a:tr h="190406">
                <a:tc vMerge="1">
                  <a:txBody>
                    <a:bodyPr/>
                    <a:lstStyle/>
                    <a:p>
                      <a:pPr algn="ct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担当</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47236712"/>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インフラ</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TL</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26.0</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99677207"/>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担当</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40666062"/>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IVR</a:t>
                      </a: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基盤</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TL</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36896838"/>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担当</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55554662"/>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運用ツール</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TL</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24779206"/>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担当</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49716441"/>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通話録音</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TL</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0.5</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6.0</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47443113"/>
                  </a:ext>
                </a:extLst>
              </a:tr>
              <a:tr h="190406">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200" b="0" dirty="0">
                          <a:latin typeface="Meiryo UI" panose="020B0604030504040204" pitchFamily="50" charset="-128"/>
                          <a:ea typeface="Meiryo UI" panose="020B0604030504040204" pitchFamily="50" charset="-128"/>
                          <a:cs typeface="Meiryo UI" panose="020B0604030504040204" pitchFamily="50" charset="-128"/>
                        </a:rPr>
                        <a:t>担当</a:t>
                      </a:r>
                      <a:endParaRPr kumimoji="1" lang="en-US" altLang="ja-JP" sz="12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latin typeface="Meiryo UI" panose="020B0604030504040204" pitchFamily="50" charset="-128"/>
                          <a:ea typeface="Meiryo UI" panose="020B0604030504040204" pitchFamily="50" charset="-128"/>
                          <a:cs typeface="Meiryo UI" panose="020B0604030504040204" pitchFamily="50" charset="-128"/>
                        </a:rPr>
                        <a:t>MSYS</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43686845"/>
                  </a:ext>
                </a:extLst>
              </a:tr>
            </a:tbl>
          </a:graphicData>
        </a:graphic>
      </p:graphicFrame>
      <p:sp>
        <p:nvSpPr>
          <p:cNvPr id="4" name="正方形/長方形 3">
            <a:extLst>
              <a:ext uri="{FF2B5EF4-FFF2-40B4-BE49-F238E27FC236}">
                <a16:creationId xmlns:a16="http://schemas.microsoft.com/office/drawing/2014/main" id="{FB0F4DAB-6358-C20E-FD54-A7E02D3BF055}"/>
              </a:ext>
            </a:extLst>
          </p:cNvPr>
          <p:cNvSpPr/>
          <p:nvPr/>
        </p:nvSpPr>
        <p:spPr bwMode="auto">
          <a:xfrm>
            <a:off x="762000" y="1437288"/>
            <a:ext cx="8953496" cy="1531398"/>
          </a:xfrm>
          <a:prstGeom prst="rect">
            <a:avLst/>
          </a:prstGeom>
          <a:noFill/>
          <a:ln w="28575" cap="flat" cmpd="sng" algn="ctr">
            <a:solidFill>
              <a:srgbClr val="FF0000"/>
            </a:solidFill>
            <a:prstDash val="sys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r" defTabSz="742950" rtl="0" eaLnBrk="1" fontAlgn="base" latinLnBrk="0" hangingPunct="1">
              <a:spcBef>
                <a:spcPct val="0"/>
              </a:spcBef>
              <a:spcAft>
                <a:spcPct val="0"/>
              </a:spcAft>
              <a:buClrTx/>
              <a:buSzTx/>
              <a:buFontTx/>
              <a:buNone/>
              <a:tabLst/>
            </a:pPr>
            <a:r>
              <a:rPr kumimoji="1" lang="ja-JP" altLang="en-US" sz="1400" b="1" i="0" u="none" strike="noStrike" cap="none" normalizeH="0" baseline="0">
                <a:ln>
                  <a:noFill/>
                </a:ln>
                <a:solidFill>
                  <a:srgbClr val="FF0000"/>
                </a:solidFill>
                <a:effectLst/>
                <a:latin typeface="+mn-ea"/>
                <a:ea typeface="+mn-ea"/>
                <a:cs typeface="Meiryo UI" panose="020B0604030504040204" pitchFamily="50" charset="-128"/>
              </a:rPr>
              <a:t>今回契約</a:t>
            </a:r>
          </a:p>
        </p:txBody>
      </p:sp>
      <p:sp>
        <p:nvSpPr>
          <p:cNvPr id="5" name="正方形/長方形 4">
            <a:extLst>
              <a:ext uri="{FF2B5EF4-FFF2-40B4-BE49-F238E27FC236}">
                <a16:creationId xmlns:a16="http://schemas.microsoft.com/office/drawing/2014/main" id="{70724DCF-15E7-27AE-2A6E-717CBEC082C7}"/>
              </a:ext>
            </a:extLst>
          </p:cNvPr>
          <p:cNvSpPr/>
          <p:nvPr/>
        </p:nvSpPr>
        <p:spPr bwMode="auto">
          <a:xfrm>
            <a:off x="762000" y="3488357"/>
            <a:ext cx="8953496" cy="1251979"/>
          </a:xfrm>
          <a:prstGeom prst="rect">
            <a:avLst/>
          </a:prstGeom>
          <a:noFill/>
          <a:ln w="28575" cap="flat" cmpd="sng" algn="ctr">
            <a:solidFill>
              <a:srgbClr val="FF0000"/>
            </a:solidFill>
            <a:prstDash val="sys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r" defTabSz="742950" rtl="0" eaLnBrk="1" fontAlgn="base" latinLnBrk="0" hangingPunct="1">
              <a:spcBef>
                <a:spcPct val="0"/>
              </a:spcBef>
              <a:spcAft>
                <a:spcPct val="0"/>
              </a:spcAft>
              <a:buClrTx/>
              <a:buSzTx/>
              <a:buFontTx/>
              <a:buNone/>
              <a:tabLst/>
            </a:pPr>
            <a:r>
              <a:rPr kumimoji="1" lang="ja-JP" altLang="en-US" sz="1400" b="1" i="0" u="none" strike="noStrike" cap="none" normalizeH="0" baseline="0">
                <a:ln>
                  <a:noFill/>
                </a:ln>
                <a:solidFill>
                  <a:srgbClr val="FF0000"/>
                </a:solidFill>
                <a:effectLst/>
                <a:latin typeface="+mn-ea"/>
                <a:ea typeface="+mn-ea"/>
                <a:cs typeface="Meiryo UI" panose="020B0604030504040204" pitchFamily="50" charset="-128"/>
              </a:rPr>
              <a:t>今回契約</a:t>
            </a:r>
          </a:p>
        </p:txBody>
      </p:sp>
    </p:spTree>
    <p:extLst>
      <p:ext uri="{BB962C8B-B14F-4D97-AF65-F5344CB8AC3E}">
        <p14:creationId xmlns:p14="http://schemas.microsoft.com/office/powerpoint/2010/main" val="3836156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タイトル 1">
            <a:extLst>
              <a:ext uri="{FF2B5EF4-FFF2-40B4-BE49-F238E27FC236}">
                <a16:creationId xmlns:a16="http://schemas.microsoft.com/office/drawing/2014/main" id="{0E80364F-EEE4-4C9D-B1A5-F4C5CDC682C5}"/>
              </a:ext>
            </a:extLst>
          </p:cNvPr>
          <p:cNvSpPr txBox="1">
            <a:spLocks/>
          </p:cNvSpPr>
          <p:nvPr/>
        </p:nvSpPr>
        <p:spPr>
          <a:xfrm>
            <a:off x="641023" y="158285"/>
            <a:ext cx="9004300" cy="334962"/>
          </a:xfrm>
          <a:prstGeom prst="rect">
            <a:avLst/>
          </a:prstGeom>
        </p:spPr>
        <p:txBody>
          <a:bodyPr/>
          <a:lstStyle>
            <a:lvl1pPr eaLnBrk="0" hangingPunct="0">
              <a:defRPr sz="2200" b="1">
                <a:solidFill>
                  <a:schemeClr val="tx2"/>
                </a:solidFill>
                <a:latin typeface="+mj-lt"/>
                <a:ea typeface="+mj-ea"/>
                <a:cs typeface="+mj-cs"/>
              </a:defRPr>
            </a:lvl1pPr>
            <a:lvl2pPr eaLnBrk="0" hangingPunct="0">
              <a:defRPr sz="2200" b="1">
                <a:solidFill>
                  <a:schemeClr val="tx2"/>
                </a:solidFill>
                <a:latin typeface="ＭＳ Ｐゴシック" pitchFamily="50" charset="-128"/>
                <a:ea typeface="ＭＳ Ｐゴシック" pitchFamily="50" charset="-128"/>
              </a:defRPr>
            </a:lvl2pPr>
            <a:lvl3pPr eaLnBrk="0" hangingPunct="0">
              <a:defRPr sz="2200" b="1">
                <a:solidFill>
                  <a:schemeClr val="tx2"/>
                </a:solidFill>
                <a:latin typeface="ＭＳ Ｐゴシック" pitchFamily="50" charset="-128"/>
                <a:ea typeface="ＭＳ Ｐゴシック" pitchFamily="50" charset="-128"/>
              </a:defRPr>
            </a:lvl3pPr>
            <a:lvl4pPr eaLnBrk="0" hangingPunct="0">
              <a:defRPr sz="2200" b="1">
                <a:solidFill>
                  <a:schemeClr val="tx2"/>
                </a:solidFill>
                <a:latin typeface="ＭＳ Ｐゴシック" pitchFamily="50" charset="-128"/>
                <a:ea typeface="ＭＳ Ｐゴシック" pitchFamily="50" charset="-128"/>
              </a:defRPr>
            </a:lvl4pPr>
            <a:lvl5pPr eaLnBrk="0" hangingPunct="0">
              <a:defRPr sz="2200" b="1">
                <a:solidFill>
                  <a:schemeClr val="tx2"/>
                </a:solidFill>
                <a:latin typeface="ＭＳ Ｐゴシック" pitchFamily="50" charset="-128"/>
                <a:ea typeface="ＭＳ Ｐゴシック" pitchFamily="50" charset="-128"/>
              </a:defRPr>
            </a:lvl5pPr>
            <a:lvl6pPr marL="457200" fontAlgn="base">
              <a:spcBef>
                <a:spcPct val="0"/>
              </a:spcBef>
              <a:spcAft>
                <a:spcPct val="0"/>
              </a:spcAft>
              <a:defRPr sz="2200" b="1">
                <a:solidFill>
                  <a:schemeClr val="tx2"/>
                </a:solidFill>
                <a:latin typeface="ＭＳ Ｐゴシック" pitchFamily="50" charset="-128"/>
                <a:ea typeface="ＭＳ Ｐゴシック" pitchFamily="50" charset="-128"/>
              </a:defRPr>
            </a:lvl6pPr>
            <a:lvl7pPr marL="914400" fontAlgn="base">
              <a:spcBef>
                <a:spcPct val="0"/>
              </a:spcBef>
              <a:spcAft>
                <a:spcPct val="0"/>
              </a:spcAft>
              <a:defRPr sz="2200" b="1">
                <a:solidFill>
                  <a:schemeClr val="tx2"/>
                </a:solidFill>
                <a:latin typeface="ＭＳ Ｐゴシック" pitchFamily="50" charset="-128"/>
                <a:ea typeface="ＭＳ Ｐゴシック" pitchFamily="50" charset="-128"/>
              </a:defRPr>
            </a:lvl7pPr>
            <a:lvl8pPr marL="1371600" fontAlgn="base">
              <a:spcBef>
                <a:spcPct val="0"/>
              </a:spcBef>
              <a:spcAft>
                <a:spcPct val="0"/>
              </a:spcAft>
              <a:defRPr sz="2200" b="1">
                <a:solidFill>
                  <a:schemeClr val="tx2"/>
                </a:solidFill>
                <a:latin typeface="ＭＳ Ｐゴシック" pitchFamily="50" charset="-128"/>
                <a:ea typeface="ＭＳ Ｐゴシック" pitchFamily="50" charset="-128"/>
              </a:defRPr>
            </a:lvl8pPr>
            <a:lvl9pPr marL="1828800" fontAlgn="base">
              <a:spcBef>
                <a:spcPct val="0"/>
              </a:spcBef>
              <a:spcAft>
                <a:spcPct val="0"/>
              </a:spcAft>
              <a:defRPr sz="2200" b="1">
                <a:solidFill>
                  <a:schemeClr val="tx2"/>
                </a:solidFill>
                <a:latin typeface="ＭＳ Ｐゴシック" pitchFamily="50" charset="-128"/>
                <a:ea typeface="ＭＳ Ｐゴシック" pitchFamily="50" charset="-128"/>
              </a:defRPr>
            </a:lvl9pPr>
          </a:lstStyle>
          <a:p>
            <a:r>
              <a:rPr lang="ja-JP" altLang="en-US"/>
              <a:t>３</a:t>
            </a:r>
            <a:r>
              <a:rPr lang="en-US" altLang="ja-JP"/>
              <a:t>-</a:t>
            </a:r>
            <a:r>
              <a:rPr lang="ja-JP" altLang="en-US"/>
              <a:t>２．</a:t>
            </a:r>
            <a:r>
              <a:rPr lang="en-US" altLang="ja-JP"/>
              <a:t>【</a:t>
            </a:r>
            <a:r>
              <a:rPr lang="ja-JP" altLang="en-US"/>
              <a:t>推進体制</a:t>
            </a:r>
            <a:r>
              <a:rPr lang="en-US" altLang="ja-JP"/>
              <a:t>】</a:t>
            </a:r>
            <a:r>
              <a:rPr lang="ja-JP" altLang="en-US"/>
              <a:t>役割</a:t>
            </a:r>
          </a:p>
        </p:txBody>
      </p:sp>
      <p:graphicFrame>
        <p:nvGraphicFramePr>
          <p:cNvPr id="3" name="表 5">
            <a:extLst>
              <a:ext uri="{FF2B5EF4-FFF2-40B4-BE49-F238E27FC236}">
                <a16:creationId xmlns:a16="http://schemas.microsoft.com/office/drawing/2014/main" id="{D1FF846A-8C5B-AC8E-4A75-CFB7958EAD3A}"/>
              </a:ext>
            </a:extLst>
          </p:cNvPr>
          <p:cNvGraphicFramePr>
            <a:graphicFrameLocks noGrp="1"/>
          </p:cNvGraphicFramePr>
          <p:nvPr>
            <p:extLst>
              <p:ext uri="{D42A27DB-BD31-4B8C-83A1-F6EECF244321}">
                <p14:modId xmlns:p14="http://schemas.microsoft.com/office/powerpoint/2010/main" val="302958578"/>
              </p:ext>
            </p:extLst>
          </p:nvPr>
        </p:nvGraphicFramePr>
        <p:xfrm>
          <a:off x="213360" y="792232"/>
          <a:ext cx="9567443" cy="5273535"/>
        </p:xfrm>
        <a:graphic>
          <a:graphicData uri="http://schemas.openxmlformats.org/drawingml/2006/table">
            <a:tbl>
              <a:tblPr firstRow="1" bandRow="1">
                <a:tableStyleId>{5C22544A-7EE6-4342-B048-85BDC9FD1C3A}</a:tableStyleId>
              </a:tblPr>
              <a:tblGrid>
                <a:gridCol w="502954">
                  <a:extLst>
                    <a:ext uri="{9D8B030D-6E8A-4147-A177-3AD203B41FA5}">
                      <a16:colId xmlns:a16="http://schemas.microsoft.com/office/drawing/2014/main" val="3626445143"/>
                    </a:ext>
                  </a:extLst>
                </a:gridCol>
                <a:gridCol w="4241454">
                  <a:extLst>
                    <a:ext uri="{9D8B030D-6E8A-4147-A177-3AD203B41FA5}">
                      <a16:colId xmlns:a16="http://schemas.microsoft.com/office/drawing/2014/main" val="3821579811"/>
                    </a:ext>
                  </a:extLst>
                </a:gridCol>
                <a:gridCol w="803839">
                  <a:extLst>
                    <a:ext uri="{9D8B030D-6E8A-4147-A177-3AD203B41FA5}">
                      <a16:colId xmlns:a16="http://schemas.microsoft.com/office/drawing/2014/main" val="3825582750"/>
                    </a:ext>
                  </a:extLst>
                </a:gridCol>
                <a:gridCol w="803840">
                  <a:extLst>
                    <a:ext uri="{9D8B030D-6E8A-4147-A177-3AD203B41FA5}">
                      <a16:colId xmlns:a16="http://schemas.microsoft.com/office/drawing/2014/main" val="1577756682"/>
                    </a:ext>
                  </a:extLst>
                </a:gridCol>
                <a:gridCol w="803839">
                  <a:extLst>
                    <a:ext uri="{9D8B030D-6E8A-4147-A177-3AD203B41FA5}">
                      <a16:colId xmlns:a16="http://schemas.microsoft.com/office/drawing/2014/main" val="2793329319"/>
                    </a:ext>
                  </a:extLst>
                </a:gridCol>
                <a:gridCol w="803839">
                  <a:extLst>
                    <a:ext uri="{9D8B030D-6E8A-4147-A177-3AD203B41FA5}">
                      <a16:colId xmlns:a16="http://schemas.microsoft.com/office/drawing/2014/main" val="3485699450"/>
                    </a:ext>
                  </a:extLst>
                </a:gridCol>
                <a:gridCol w="803839">
                  <a:extLst>
                    <a:ext uri="{9D8B030D-6E8A-4147-A177-3AD203B41FA5}">
                      <a16:colId xmlns:a16="http://schemas.microsoft.com/office/drawing/2014/main" val="1968024586"/>
                    </a:ext>
                  </a:extLst>
                </a:gridCol>
                <a:gridCol w="803839">
                  <a:extLst>
                    <a:ext uri="{9D8B030D-6E8A-4147-A177-3AD203B41FA5}">
                      <a16:colId xmlns:a16="http://schemas.microsoft.com/office/drawing/2014/main" val="304464858"/>
                    </a:ext>
                  </a:extLst>
                </a:gridCol>
              </a:tblGrid>
              <a:tr h="232742">
                <a:tc rowSpan="3">
                  <a:txBody>
                    <a:bodyPr/>
                    <a:lstStyle/>
                    <a:p>
                      <a:pPr algn="ctr"/>
                      <a:r>
                        <a:rPr kumimoji="1" lang="ja-JP" altLang="en-US" sz="1050" b="1" dirty="0">
                          <a:solidFill>
                            <a:schemeClr val="bg1"/>
                          </a:solidFill>
                          <a:latin typeface="+mn-ea"/>
                          <a:ea typeface="+mn-ea"/>
                        </a:rPr>
                        <a:t>区分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rowSpan="3">
                  <a:txBody>
                    <a:bodyPr/>
                    <a:lstStyle/>
                    <a:p>
                      <a:pPr algn="ctr"/>
                      <a:r>
                        <a:rPr kumimoji="1" lang="ja-JP" altLang="en-US" sz="1050" b="1" dirty="0">
                          <a:solidFill>
                            <a:schemeClr val="bg1"/>
                          </a:solidFill>
                          <a:latin typeface="+mn-ea"/>
                          <a:ea typeface="+mn-ea"/>
                        </a:rPr>
                        <a:t>役割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gridSpan="6">
                  <a:txBody>
                    <a:bodyPr/>
                    <a:lstStyle/>
                    <a:p>
                      <a:pPr algn="ctr"/>
                      <a:r>
                        <a:rPr kumimoji="1" lang="ja-JP" altLang="en-US" sz="1050" dirty="0"/>
                        <a:t>役割分担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hMerge="1">
                  <a:txBody>
                    <a:bodyPr/>
                    <a:lstStyle/>
                    <a:p>
                      <a:endParaRPr kumimoji="1" lang="ja-JP" altLang="en-US"/>
                    </a:p>
                  </a:txBody>
                  <a:tcPr/>
                </a:tc>
                <a:tc hMerge="1">
                  <a:txBody>
                    <a:bodyPr/>
                    <a:lstStyle/>
                    <a:p>
                      <a:endParaRPr kumimoji="1" lang="ja-JP" altLang="en-US" sz="1200" b="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588F"/>
                    </a:solidFill>
                  </a:tcPr>
                </a:tc>
                <a:tc hMerge="1">
                  <a:txBody>
                    <a:bodyPr/>
                    <a:lstStyle/>
                    <a:p>
                      <a:endParaRPr kumimoji="1" lang="ja-JP" altLang="en-US"/>
                    </a:p>
                  </a:txBody>
                  <a:tcPr>
                    <a:lnL w="12700" cap="flat" cmpd="sng" algn="ctr">
                      <a:solidFill>
                        <a:schemeClr val="bg2"/>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987386169"/>
                  </a:ext>
                </a:extLst>
              </a:tr>
              <a:tr h="239795">
                <a:tc v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tc v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tc gridSpan="2">
                  <a:txBody>
                    <a:bodyPr/>
                    <a:lstStyle/>
                    <a:p>
                      <a:pPr algn="ctr"/>
                      <a:r>
                        <a:rPr kumimoji="1" lang="en-US" altLang="ja-JP" sz="1050" b="1" dirty="0">
                          <a:solidFill>
                            <a:schemeClr val="bg1"/>
                          </a:solidFill>
                          <a:latin typeface="+mn-ea"/>
                          <a:ea typeface="+mn-ea"/>
                        </a:rPr>
                        <a:t>SMCC</a:t>
                      </a:r>
                      <a:endParaRPr kumimoji="1" lang="ja-JP" altLang="en-US" sz="1050" b="1" dirty="0">
                        <a:solidFill>
                          <a:schemeClr val="bg1"/>
                        </a:solidFill>
                        <a:latin typeface="+mn-ea"/>
                        <a:ea typeface="+mn-ea"/>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hMerge="1">
                  <a:txBody>
                    <a:bodyPr/>
                    <a:lstStyle/>
                    <a:p>
                      <a:endParaRPr kumimoji="1" lang="ja-JP" altLang="en-US" sz="1050" b="1">
                        <a:solidFill>
                          <a:schemeClr val="bg1"/>
                        </a:solidFill>
                        <a:latin typeface="+mn-ea"/>
                        <a:ea typeface="+mn-ea"/>
                      </a:endParaRPr>
                    </a:p>
                  </a:txBody>
                  <a:tcPr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588F"/>
                    </a:solidFill>
                  </a:tcPr>
                </a:tc>
                <a:tc gridSpan="3">
                  <a:txBody>
                    <a:bodyPr/>
                    <a:lstStyle/>
                    <a:p>
                      <a:pPr algn="ctr"/>
                      <a:r>
                        <a:rPr kumimoji="1" lang="en-US" altLang="ja-JP" sz="1050" b="1" dirty="0">
                          <a:solidFill>
                            <a:schemeClr val="bg1"/>
                          </a:solidFill>
                          <a:latin typeface="+mn-ea"/>
                          <a:ea typeface="+mn-ea"/>
                        </a:rPr>
                        <a:t>JRI</a:t>
                      </a:r>
                      <a:endParaRPr kumimoji="1" lang="ja-JP" altLang="en-US" sz="1050" b="1" dirty="0">
                        <a:solidFill>
                          <a:schemeClr val="bg1"/>
                        </a:solidFill>
                        <a:latin typeface="+mn-ea"/>
                        <a:ea typeface="+mn-ea"/>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hMerge="1">
                  <a:txBody>
                    <a:bodyPr/>
                    <a:lstStyle/>
                    <a:p>
                      <a:endParaRPr kumimoji="1" lang="ja-JP" alt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kumimoji="1" lang="ja-JP" altLang="en-US"/>
                    </a:p>
                  </a:txBody>
                  <a:tcPr/>
                </a:tc>
                <a:tc rowSpan="2">
                  <a:txBody>
                    <a:bodyPr/>
                    <a:lstStyle/>
                    <a:p>
                      <a:pPr algn="ctr"/>
                      <a:r>
                        <a:rPr kumimoji="1" lang="en-US" altLang="ja-JP" sz="1050" b="1" dirty="0">
                          <a:solidFill>
                            <a:schemeClr val="bg1"/>
                          </a:solidFill>
                          <a:latin typeface="+mn-ea"/>
                          <a:ea typeface="+mn-ea"/>
                        </a:rPr>
                        <a:t>MSYS</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extLst>
                  <a:ext uri="{0D108BD9-81ED-4DB2-BD59-A6C34878D82A}">
                    <a16:rowId xmlns:a16="http://schemas.microsoft.com/office/drawing/2014/main" val="2094974220"/>
                  </a:ext>
                </a:extLst>
              </a:tr>
              <a:tr h="366745">
                <a:tc v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tc v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tc>
                  <a:txBody>
                    <a:bodyPr/>
                    <a:lstStyle/>
                    <a:p>
                      <a:pPr algn="ctr"/>
                      <a:r>
                        <a:rPr kumimoji="1" lang="ja-JP" altLang="en-US" sz="1050" b="1">
                          <a:solidFill>
                            <a:schemeClr val="bg1"/>
                          </a:solidFill>
                          <a:latin typeface="+mn-ea"/>
                          <a:ea typeface="+mn-ea"/>
                        </a:rPr>
                        <a:t>オペ統</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ja-JP" altLang="en-US" sz="1050" b="1">
                          <a:solidFill>
                            <a:schemeClr val="bg1"/>
                          </a:solidFill>
                          <a:latin typeface="+mn-ea"/>
                          <a:ea typeface="+mn-ea"/>
                        </a:rPr>
                        <a:t>シス統</a:t>
                      </a:r>
                      <a:endParaRPr kumimoji="1" lang="en-US" altLang="ja-JP" sz="1050" b="1">
                        <a:solidFill>
                          <a:schemeClr val="bg1"/>
                        </a:solidFill>
                        <a:latin typeface="+mn-ea"/>
                        <a:ea typeface="+mn-ea"/>
                      </a:endParaRPr>
                    </a:p>
                    <a:p>
                      <a:pPr algn="ctr"/>
                      <a:r>
                        <a:rPr kumimoji="1" lang="ja-JP" altLang="en-US" sz="1050" b="1">
                          <a:solidFill>
                            <a:schemeClr val="bg1"/>
                          </a:solidFill>
                          <a:latin typeface="+mn-ea"/>
                          <a:ea typeface="+mn-ea"/>
                        </a:rPr>
                        <a:t>シス開</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en-US" altLang="ja-JP" sz="1050" b="1" dirty="0">
                          <a:solidFill>
                            <a:schemeClr val="bg1"/>
                          </a:solidFill>
                          <a:latin typeface="+mn-ea"/>
                          <a:ea typeface="+mn-ea"/>
                        </a:rPr>
                        <a:t>PF</a:t>
                      </a:r>
                      <a:r>
                        <a:rPr kumimoji="1" lang="ja-JP" altLang="en-US" sz="1050" b="1" dirty="0">
                          <a:solidFill>
                            <a:schemeClr val="bg1"/>
                          </a:solidFill>
                          <a:latin typeface="+mn-ea"/>
                          <a:ea typeface="+mn-ea"/>
                        </a:rPr>
                        <a:t>基盤</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marL="0" algn="ctr" defTabSz="914400" rtl="0" eaLnBrk="1" latinLnBrk="0" hangingPunct="1"/>
                      <a:r>
                        <a:rPr kumimoji="1" lang="ja-JP" altLang="en-US" sz="1050" b="1" kern="1200" dirty="0">
                          <a:solidFill>
                            <a:schemeClr val="bg1"/>
                          </a:solidFill>
                          <a:latin typeface="+mn-ea"/>
                          <a:ea typeface="+mn-ea"/>
                          <a:cs typeface="+mn-cs"/>
                        </a:rPr>
                        <a:t>関連</a:t>
                      </a:r>
                      <a:endParaRPr kumimoji="1" lang="en-US" altLang="ja-JP" sz="1050" b="1" kern="1200" dirty="0">
                        <a:solidFill>
                          <a:schemeClr val="bg1"/>
                        </a:solidFill>
                        <a:latin typeface="+mn-ea"/>
                        <a:ea typeface="+mn-ea"/>
                        <a:cs typeface="+mn-cs"/>
                      </a:endParaRPr>
                    </a:p>
                    <a:p>
                      <a:pPr marL="0" algn="ctr" defTabSz="914400" rtl="0" eaLnBrk="1" latinLnBrk="0" hangingPunct="1"/>
                      <a:r>
                        <a:rPr kumimoji="1" lang="ja-JP" altLang="en-US" sz="1050" b="1" kern="1200" dirty="0">
                          <a:solidFill>
                            <a:schemeClr val="bg1"/>
                          </a:solidFill>
                          <a:latin typeface="+mn-ea"/>
                          <a:ea typeface="+mn-ea"/>
                          <a:cs typeface="+mn-cs"/>
                        </a:rPr>
                        <a:t>各部</a:t>
                      </a:r>
                      <a:endParaRPr kumimoji="1" lang="en-US" altLang="ja-JP" sz="1050" b="1" kern="1200" dirty="0">
                        <a:solidFill>
                          <a:schemeClr val="bg1"/>
                        </a:solidFill>
                        <a:latin typeface="+mn-ea"/>
                        <a:ea typeface="+mn-ea"/>
                        <a:cs typeface="+mn-cs"/>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marL="0" algn="ctr" defTabSz="914400" rtl="0" eaLnBrk="1" latinLnBrk="0" hangingPunct="1"/>
                      <a:r>
                        <a:rPr kumimoji="1" lang="en-US" altLang="ja-JP" sz="1050" b="1" kern="1200" dirty="0">
                          <a:solidFill>
                            <a:schemeClr val="bg1"/>
                          </a:solidFill>
                          <a:latin typeface="+mn-ea"/>
                          <a:ea typeface="+mn-ea"/>
                          <a:cs typeface="+mn-cs"/>
                        </a:rPr>
                        <a:t>JAIS</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v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212241924"/>
                  </a:ext>
                </a:extLst>
              </a:tr>
              <a:tr h="274390">
                <a:tc rowSpan="5">
                  <a:txBody>
                    <a:bodyPr/>
                    <a:lstStyle/>
                    <a:p>
                      <a:pPr algn="ctr"/>
                      <a:r>
                        <a:rPr kumimoji="1" lang="ja-JP" altLang="en-US" sz="1200" b="0">
                          <a:solidFill>
                            <a:schemeClr val="tx1"/>
                          </a:solidFill>
                          <a:latin typeface="+mn-ea"/>
                          <a:ea typeface="+mn-ea"/>
                        </a:rPr>
                        <a:t>全工程共通</a:t>
                      </a:r>
                      <a:endParaRPr kumimoji="1" lang="en-US" altLang="ja-JP" sz="1200" b="0">
                        <a:solidFill>
                          <a:schemeClr val="tx1"/>
                        </a:solidFill>
                        <a:latin typeface="+mn-ea"/>
                        <a:ea typeface="+mn-ea"/>
                      </a:endParaRP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kern="1200">
                          <a:solidFill>
                            <a:schemeClr val="dk1"/>
                          </a:solidFill>
                          <a:latin typeface="+mn-ea"/>
                          <a:ea typeface="+mn-ea"/>
                          <a:cs typeface="+mn-cs"/>
                        </a:rPr>
                        <a:t>重要な実施方針の合意、承認</a:t>
                      </a:r>
                      <a:endParaRPr kumimoji="1" lang="en-US" altLang="ja-JP" sz="1000" kern="1200">
                        <a:solidFill>
                          <a:schemeClr val="dk1"/>
                        </a:solidFill>
                        <a:latin typeface="+mn-ea"/>
                        <a:ea typeface="+mn-ea"/>
                        <a:cs typeface="+mn-cs"/>
                      </a:endParaRP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1862979"/>
                  </a:ext>
                </a:extLst>
              </a:tr>
              <a:tr h="274390">
                <a:tc vMerge="1">
                  <a:txBody>
                    <a:bodyPr/>
                    <a:lstStyle/>
                    <a:p>
                      <a:endParaRPr kumimoji="1" lang="ja-JP" altLang="en-US"/>
                    </a:p>
                  </a:txBody>
                  <a:tcPr>
                    <a:lnT w="12700" cap="flat" cmpd="sng" algn="ctr">
                      <a:solidFill>
                        <a:schemeClr val="bg2"/>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n-ea"/>
                          <a:ea typeface="+mn-ea"/>
                          <a:cs typeface="+mn-cs"/>
                        </a:rPr>
                        <a:t>プロジェクトの全体管理、会議体運営</a:t>
                      </a:r>
                      <a:endParaRPr kumimoji="1" lang="en-US" altLang="ja-JP" sz="1000" kern="1200" dirty="0">
                        <a:solidFill>
                          <a:schemeClr val="dk1"/>
                        </a:solidFill>
                        <a:latin typeface="+mn-ea"/>
                        <a:ea typeface="+mn-ea"/>
                        <a:cs typeface="+mn-cs"/>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20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20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200">
                        <a:latin typeface="+mn-ea"/>
                        <a:ea typeface="+mn-ea"/>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0430353"/>
                  </a:ext>
                </a:extLst>
              </a:tr>
              <a:tr h="27439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kern="1200">
                          <a:solidFill>
                            <a:schemeClr val="dk1"/>
                          </a:solidFill>
                          <a:latin typeface="+mn-ea"/>
                          <a:ea typeface="+mn-ea"/>
                          <a:cs typeface="+mn-cs"/>
                        </a:rPr>
                        <a:t>プロジェクト管理・推進（開発）</a:t>
                      </a:r>
                      <a:endParaRPr kumimoji="1" lang="en-US" altLang="ja-JP" sz="1000" kern="1200">
                        <a:solidFill>
                          <a:schemeClr val="dk1"/>
                        </a:solidFill>
                        <a:latin typeface="+mn-ea"/>
                        <a:ea typeface="+mn-ea"/>
                        <a:cs typeface="+mn-cs"/>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6664101"/>
                  </a:ext>
                </a:extLst>
              </a:tr>
              <a:tr h="27439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kern="1200">
                          <a:solidFill>
                            <a:schemeClr val="dk1"/>
                          </a:solidFill>
                          <a:latin typeface="+mn-ea"/>
                          <a:ea typeface="+mn-ea"/>
                          <a:cs typeface="+mn-cs"/>
                        </a:rPr>
                        <a:t>各工程での実施方針取り纏め、変更管理</a:t>
                      </a:r>
                      <a:endParaRPr kumimoji="1" lang="en-US" altLang="ja-JP" sz="1000" kern="1200">
                        <a:solidFill>
                          <a:schemeClr val="dk1"/>
                        </a:solidFill>
                        <a:latin typeface="+mn-ea"/>
                        <a:ea typeface="+mn-ea"/>
                        <a:cs typeface="+mn-cs"/>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6180187"/>
                  </a:ext>
                </a:extLst>
              </a:tr>
              <a:tr h="27439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kern="1200">
                          <a:solidFill>
                            <a:schemeClr val="dk1"/>
                          </a:solidFill>
                          <a:latin typeface="+mn-ea"/>
                          <a:ea typeface="+mn-ea"/>
                          <a:cs typeface="+mn-cs"/>
                        </a:rPr>
                        <a:t>組織間のコミュニケーション調整</a:t>
                      </a:r>
                      <a:endParaRPr kumimoji="1" lang="en-US" altLang="ja-JP" sz="1000" kern="1200">
                        <a:solidFill>
                          <a:schemeClr val="dk1"/>
                        </a:solidFill>
                        <a:latin typeface="+mn-ea"/>
                        <a:ea typeface="+mn-ea"/>
                        <a:cs typeface="+mn-cs"/>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292929"/>
                        </a:solidFill>
                        <a:effectLst/>
                        <a:uLnTx/>
                        <a:uFillTx/>
                        <a:latin typeface="Meiryo UI"/>
                        <a:ea typeface="Meiryo UI"/>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292929"/>
                        </a:solidFill>
                        <a:effectLst/>
                        <a:uLnTx/>
                        <a:uFillTx/>
                        <a:latin typeface="Meiryo UI"/>
                        <a:ea typeface="Meiryo UI"/>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1300468"/>
                  </a:ext>
                </a:extLst>
              </a:tr>
              <a:tr h="274390">
                <a:tc rowSpan="5">
                  <a:txBody>
                    <a:bodyPr/>
                    <a:lstStyle/>
                    <a:p>
                      <a:pPr algn="ctr"/>
                      <a:r>
                        <a:rPr kumimoji="1" lang="ja-JP" altLang="en-US" sz="1200" b="0">
                          <a:solidFill>
                            <a:schemeClr val="tx1"/>
                          </a:solidFill>
                          <a:latin typeface="+mn-ea"/>
                          <a:ea typeface="+mn-ea"/>
                        </a:rPr>
                        <a:t>要件定義工程</a:t>
                      </a: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kern="1200">
                          <a:solidFill>
                            <a:schemeClr val="dk1"/>
                          </a:solidFill>
                          <a:latin typeface="+mn-ea"/>
                          <a:ea typeface="+mn-ea"/>
                          <a:cs typeface="+mn-cs"/>
                        </a:rPr>
                        <a:t>要件の確定、承認</a:t>
                      </a:r>
                      <a:endParaRPr kumimoji="1" lang="en-US" altLang="ja-JP" sz="1000" kern="1200">
                        <a:solidFill>
                          <a:schemeClr val="dk1"/>
                        </a:solidFill>
                        <a:latin typeface="+mn-ea"/>
                        <a:ea typeface="+mn-ea"/>
                        <a:cs typeface="+mn-cs"/>
                      </a:endParaRP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25892445"/>
                  </a:ext>
                </a:extLst>
              </a:tr>
              <a:tr h="274390">
                <a:tc vMerge="1">
                  <a:txBody>
                    <a:bodyPr/>
                    <a:lstStyle/>
                    <a:p>
                      <a:endParaRPr kumimoji="1" lang="ja-JP" altLang="en-US"/>
                    </a:p>
                  </a:txBody>
                  <a:tcPr>
                    <a:lnT w="12700" cap="flat" cmpd="sng" algn="ctr">
                      <a:solidFill>
                        <a:schemeClr val="tx1">
                          <a:lumMod val="75000"/>
                          <a:lumOff val="25000"/>
                        </a:schemeClr>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kern="0" dirty="0">
                          <a:solidFill>
                            <a:srgbClr val="292929"/>
                          </a:solidFill>
                          <a:latin typeface="+mn-ea"/>
                          <a:ea typeface="+mn-ea"/>
                        </a:rPr>
                        <a:t>セキュリティレビュー</a:t>
                      </a:r>
                      <a:endParaRPr kumimoji="1" lang="en-US" altLang="ja-JP" sz="1000" b="0" kern="0" dirty="0">
                        <a:solidFill>
                          <a:prstClr val="black"/>
                        </a:solidFill>
                        <a:latin typeface="+mn-ea"/>
                        <a:ea typeface="+mn-ea"/>
                      </a:endParaRP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6463040"/>
                  </a:ext>
                </a:extLst>
              </a:tr>
              <a:tr h="27439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n-ea"/>
                          <a:ea typeface="+mn-ea"/>
                          <a:cs typeface="+mn-cs"/>
                        </a:rPr>
                        <a:t>セキュリティ面でのシステム要求提示</a:t>
                      </a:r>
                      <a:endParaRPr kumimoji="1" lang="en-US" altLang="ja-JP" sz="1000" kern="1200" dirty="0">
                        <a:solidFill>
                          <a:schemeClr val="dk1"/>
                        </a:solidFill>
                        <a:latin typeface="+mn-ea"/>
                        <a:ea typeface="+mn-ea"/>
                        <a:cs typeface="+mn-cs"/>
                      </a:endParaRP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1494776"/>
                  </a:ext>
                </a:extLst>
              </a:tr>
              <a:tr h="27439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n-ea"/>
                          <a:ea typeface="+mn-ea"/>
                          <a:cs typeface="+mn-cs"/>
                        </a:rPr>
                        <a:t>運用面でのシステム要求提示</a:t>
                      </a:r>
                      <a:endParaRPr kumimoji="1" lang="en-US" altLang="ja-JP" sz="1000" kern="1200" dirty="0">
                        <a:solidFill>
                          <a:schemeClr val="dk1"/>
                        </a:solidFill>
                        <a:latin typeface="+mn-ea"/>
                        <a:ea typeface="+mn-ea"/>
                        <a:cs typeface="+mn-cs"/>
                      </a:endParaRP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3053450"/>
                  </a:ext>
                </a:extLst>
              </a:tr>
              <a:tr h="274390">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n-ea"/>
                          <a:ea typeface="+mn-ea"/>
                          <a:cs typeface="+mn-cs"/>
                        </a:rPr>
                        <a:t>要求事項の取り纏め、要件整理・要件定義書作成</a:t>
                      </a:r>
                      <a:endParaRPr kumimoji="1" lang="en-US" altLang="ja-JP" sz="1000" kern="1200" dirty="0">
                        <a:solidFill>
                          <a:schemeClr val="dk1"/>
                        </a:solidFill>
                        <a:latin typeface="+mn-ea"/>
                        <a:ea typeface="+mn-ea"/>
                        <a:cs typeface="+mn-cs"/>
                      </a:endParaRP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76835632"/>
                  </a:ext>
                </a:extLst>
              </a:tr>
              <a:tr h="274390">
                <a:tc rowSpan="6">
                  <a:txBody>
                    <a:bodyPr/>
                    <a:lstStyle/>
                    <a:p>
                      <a:pPr algn="ctr"/>
                      <a:r>
                        <a:rPr kumimoji="1" lang="ja-JP" altLang="en-US" sz="1200" b="0">
                          <a:solidFill>
                            <a:schemeClr val="tx1"/>
                          </a:solidFill>
                          <a:latin typeface="+mn-ea"/>
                          <a:ea typeface="+mn-ea"/>
                        </a:rPr>
                        <a:t>設計～導入工程</a:t>
                      </a: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b="0" dirty="0">
                          <a:solidFill>
                            <a:schemeClr val="tx1"/>
                          </a:solidFill>
                          <a:latin typeface="+mn-ea"/>
                          <a:ea typeface="+mn-ea"/>
                        </a:rPr>
                        <a:t>要件変更実施の合意、予算変更の承認</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3213996"/>
                  </a:ext>
                </a:extLst>
              </a:tr>
              <a:tr h="274390">
                <a:tc vMerge="1">
                  <a:txBody>
                    <a:bodyPr/>
                    <a:lstStyle/>
                    <a:p>
                      <a:pPr algn="ctr"/>
                      <a:endParaRPr kumimoji="1" lang="ja-JP" altLang="en-US" sz="1200" b="0">
                        <a:solidFill>
                          <a:schemeClr val="tx1"/>
                        </a:solidFill>
                      </a:endParaRPr>
                    </a:p>
                  </a:txBody>
                  <a:tcPr vert="eaVert"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r>
                        <a:rPr kumimoji="1" lang="ja-JP" altLang="en-US" sz="1000" b="0">
                          <a:solidFill>
                            <a:schemeClr val="tx1"/>
                          </a:solidFill>
                          <a:latin typeface="+mn-ea"/>
                          <a:ea typeface="+mn-ea"/>
                        </a:rPr>
                        <a:t>各種成果物の合意</a:t>
                      </a:r>
                      <a:endParaRPr kumimoji="1" lang="en-US" altLang="ja-JP" sz="1000" b="0">
                        <a:solidFill>
                          <a:schemeClr val="tx1"/>
                        </a:solidFill>
                        <a:latin typeface="+mn-ea"/>
                        <a:ea typeface="+mn-ea"/>
                      </a:endParaRP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1305751"/>
                  </a:ext>
                </a:extLst>
              </a:tr>
              <a:tr h="274390">
                <a:tc vMerge="1">
                  <a:txBody>
                    <a:bodyPr/>
                    <a:lstStyle/>
                    <a:p>
                      <a:endParaRPr kumimoji="1" lang="ja-JP" altLang="en-US"/>
                    </a:p>
                  </a:txBody>
                  <a:tcPr>
                    <a:lnT w="12700" cap="flat" cmpd="sng" algn="ctr">
                      <a:solidFill>
                        <a:schemeClr val="tx1">
                          <a:lumMod val="75000"/>
                          <a:lumOff val="25000"/>
                        </a:schemeClr>
                      </a:solidFill>
                      <a:prstDash val="solid"/>
                      <a:round/>
                      <a:headEnd type="none" w="med" len="med"/>
                      <a:tailEnd type="none" w="med" len="med"/>
                    </a:lnT>
                  </a:tcPr>
                </a:tc>
                <a:tc>
                  <a:txBody>
                    <a:bodyPr/>
                    <a:lstStyle/>
                    <a:p>
                      <a:r>
                        <a:rPr kumimoji="1" lang="en-US" altLang="ja-JP" sz="1000" b="0">
                          <a:solidFill>
                            <a:schemeClr val="tx1"/>
                          </a:solidFill>
                          <a:latin typeface="+mn-ea"/>
                          <a:ea typeface="+mn-ea"/>
                        </a:rPr>
                        <a:t>SOC</a:t>
                      </a:r>
                      <a:r>
                        <a:rPr kumimoji="1" lang="ja-JP" altLang="en-US" sz="1000" b="0">
                          <a:solidFill>
                            <a:schemeClr val="tx1"/>
                          </a:solidFill>
                          <a:latin typeface="+mn-ea"/>
                          <a:ea typeface="+mn-ea"/>
                        </a:rPr>
                        <a:t>連携についての調整</a:t>
                      </a:r>
                      <a:endParaRPr kumimoji="1" lang="en-US" altLang="ja-JP" sz="1000" b="0">
                        <a:solidFill>
                          <a:schemeClr val="tx1"/>
                        </a:solidFill>
                        <a:latin typeface="+mn-ea"/>
                        <a:ea typeface="+mn-ea"/>
                      </a:endParaRP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7273724"/>
                  </a:ext>
                </a:extLst>
              </a:tr>
              <a:tr h="274390">
                <a:tc vMerge="1">
                  <a:txBody>
                    <a:bodyPr/>
                    <a:lstStyle/>
                    <a:p>
                      <a:endParaRPr kumimoji="1" lang="ja-JP" altLang="en-US"/>
                    </a:p>
                  </a:txBody>
                  <a:tcPr/>
                </a:tc>
                <a:tc>
                  <a:txBody>
                    <a:bodyPr/>
                    <a:lstStyle/>
                    <a:p>
                      <a:r>
                        <a:rPr kumimoji="1" lang="ja-JP" altLang="en-US" sz="1000" b="0">
                          <a:solidFill>
                            <a:schemeClr val="tx1"/>
                          </a:solidFill>
                          <a:latin typeface="+mn-ea"/>
                          <a:ea typeface="+mn-ea"/>
                        </a:rPr>
                        <a:t>運用設計支援</a:t>
                      </a:r>
                      <a:r>
                        <a:rPr kumimoji="1" lang="en-US" altLang="ja-JP" sz="1000" b="0">
                          <a:solidFill>
                            <a:schemeClr val="tx1"/>
                          </a:solidFill>
                          <a:latin typeface="+mn-ea"/>
                          <a:ea typeface="+mn-ea"/>
                        </a:rPr>
                        <a:t>/</a:t>
                      </a:r>
                      <a:r>
                        <a:rPr kumimoji="1" lang="ja-JP" altLang="en-US" sz="1000" b="0">
                          <a:solidFill>
                            <a:schemeClr val="tx1"/>
                          </a:solidFill>
                          <a:latin typeface="+mn-ea"/>
                          <a:ea typeface="+mn-ea"/>
                        </a:rPr>
                        <a:t>運用引継ぎ</a:t>
                      </a:r>
                      <a:endParaRPr kumimoji="1" lang="en-US" altLang="ja-JP" sz="1000" b="0">
                        <a:solidFill>
                          <a:schemeClr val="tx1"/>
                        </a:solidFill>
                        <a:latin typeface="+mn-ea"/>
                        <a:ea typeface="+mn-ea"/>
                      </a:endParaRP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1431548"/>
                  </a:ext>
                </a:extLst>
              </a:tr>
              <a:tr h="274390">
                <a:tc vMerge="1">
                  <a:txBody>
                    <a:bodyPr/>
                    <a:lstStyle/>
                    <a:p>
                      <a:endParaRPr kumimoji="1" lang="ja-JP" altLang="en-US"/>
                    </a:p>
                  </a:txBody>
                  <a:tcPr/>
                </a:tc>
                <a:tc>
                  <a:txBody>
                    <a:bodyPr/>
                    <a:lstStyle/>
                    <a:p>
                      <a:r>
                        <a:rPr kumimoji="1" lang="ja-JP" altLang="en-US" sz="1000" b="0">
                          <a:solidFill>
                            <a:schemeClr val="tx1"/>
                          </a:solidFill>
                          <a:latin typeface="+mn-ea"/>
                          <a:ea typeface="+mn-ea"/>
                        </a:rPr>
                        <a:t>設計</a:t>
                      </a:r>
                      <a:r>
                        <a:rPr kumimoji="1" lang="en-US" altLang="ja-JP" sz="1000" b="0">
                          <a:solidFill>
                            <a:schemeClr val="tx1"/>
                          </a:solidFill>
                          <a:latin typeface="+mn-ea"/>
                          <a:ea typeface="+mn-ea"/>
                        </a:rPr>
                        <a:t>/</a:t>
                      </a:r>
                      <a:r>
                        <a:rPr kumimoji="1" lang="ja-JP" altLang="en-US" sz="1000" b="0">
                          <a:solidFill>
                            <a:schemeClr val="tx1"/>
                          </a:solidFill>
                          <a:latin typeface="+mn-ea"/>
                          <a:ea typeface="+mn-ea"/>
                        </a:rPr>
                        <a:t>構築</a:t>
                      </a:r>
                      <a:r>
                        <a:rPr kumimoji="1" lang="en-US" altLang="ja-JP" sz="1000" b="0">
                          <a:solidFill>
                            <a:schemeClr val="tx1"/>
                          </a:solidFill>
                          <a:latin typeface="+mn-ea"/>
                          <a:ea typeface="+mn-ea"/>
                        </a:rPr>
                        <a:t>/</a:t>
                      </a:r>
                      <a:r>
                        <a:rPr kumimoji="1" lang="ja-JP" altLang="en-US" sz="1000" b="0">
                          <a:solidFill>
                            <a:schemeClr val="tx1"/>
                          </a:solidFill>
                          <a:latin typeface="+mn-ea"/>
                          <a:ea typeface="+mn-ea"/>
                        </a:rPr>
                        <a:t>テスト</a:t>
                      </a:r>
                      <a:r>
                        <a:rPr kumimoji="1" lang="en-US" altLang="ja-JP" sz="1000" b="0">
                          <a:solidFill>
                            <a:schemeClr val="tx1"/>
                          </a:solidFill>
                          <a:latin typeface="+mn-ea"/>
                          <a:ea typeface="+mn-ea"/>
                        </a:rPr>
                        <a:t>/</a:t>
                      </a:r>
                      <a:r>
                        <a:rPr kumimoji="1" lang="ja-JP" altLang="en-US" sz="1000" b="0">
                          <a:solidFill>
                            <a:schemeClr val="tx1"/>
                          </a:solidFill>
                          <a:latin typeface="+mn-ea"/>
                          <a:ea typeface="+mn-ea"/>
                        </a:rPr>
                        <a:t>移行・導入支援</a:t>
                      </a:r>
                      <a:endParaRPr kumimoji="1" lang="en-US" altLang="ja-JP" sz="1000" b="0">
                        <a:solidFill>
                          <a:schemeClr val="tx1"/>
                        </a:solidFill>
                        <a:latin typeface="+mn-ea"/>
                        <a:ea typeface="+mn-ea"/>
                      </a:endParaRP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6221906"/>
                  </a:ext>
                </a:extLst>
              </a:tr>
              <a:tr h="274390">
                <a:tc vMerge="1">
                  <a:txBody>
                    <a:bodyPr/>
                    <a:lstStyle/>
                    <a:p>
                      <a:pPr algn="ctr"/>
                      <a:endParaRPr kumimoji="1" lang="ja-JP" altLang="en-US" sz="1200" b="0">
                        <a:solidFill>
                          <a:schemeClr val="tx1"/>
                        </a:solidFill>
                      </a:endParaRPr>
                    </a:p>
                  </a:txBody>
                  <a:tcPr vert="eaVert"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r>
                        <a:rPr kumimoji="1" lang="ja-JP" altLang="en-US" sz="1000" b="0">
                          <a:solidFill>
                            <a:schemeClr val="tx1"/>
                          </a:solidFill>
                          <a:latin typeface="+mn-ea"/>
                          <a:ea typeface="+mn-ea"/>
                        </a:rPr>
                        <a:t>ユーザ受け入れテストの計画</a:t>
                      </a:r>
                      <a:r>
                        <a:rPr kumimoji="1" lang="en-US" altLang="ja-JP" sz="1000" b="0">
                          <a:solidFill>
                            <a:schemeClr val="tx1"/>
                          </a:solidFill>
                          <a:latin typeface="+mn-ea"/>
                          <a:ea typeface="+mn-ea"/>
                        </a:rPr>
                        <a:t>/</a:t>
                      </a:r>
                      <a:r>
                        <a:rPr kumimoji="1" lang="ja-JP" altLang="en-US" sz="1000" b="0">
                          <a:solidFill>
                            <a:schemeClr val="tx1"/>
                          </a:solidFill>
                          <a:latin typeface="+mn-ea"/>
                          <a:ea typeface="+mn-ea"/>
                        </a:rPr>
                        <a:t>実施</a:t>
                      </a:r>
                      <a:endParaRPr kumimoji="1" lang="en-US" altLang="ja-JP" sz="1000" b="0">
                        <a:solidFill>
                          <a:schemeClr val="tx1"/>
                        </a:solidFill>
                        <a:latin typeface="+mn-ea"/>
                        <a:ea typeface="+mn-ea"/>
                      </a:endParaRP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200" b="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9771242"/>
                  </a:ext>
                </a:extLst>
              </a:tr>
            </a:tbl>
          </a:graphicData>
        </a:graphic>
      </p:graphicFrame>
      <p:sp>
        <p:nvSpPr>
          <p:cNvPr id="2" name="テキスト ボックス 1">
            <a:extLst>
              <a:ext uri="{FF2B5EF4-FFF2-40B4-BE49-F238E27FC236}">
                <a16:creationId xmlns:a16="http://schemas.microsoft.com/office/drawing/2014/main" id="{4A9FC153-1F80-0837-E893-3BDE194F1324}"/>
              </a:ext>
            </a:extLst>
          </p:cNvPr>
          <p:cNvSpPr txBox="1"/>
          <p:nvPr/>
        </p:nvSpPr>
        <p:spPr>
          <a:xfrm>
            <a:off x="5811210" y="247026"/>
            <a:ext cx="1871635" cy="246221"/>
          </a:xfrm>
          <a:prstGeom prst="rect">
            <a:avLst/>
          </a:prstGeom>
          <a:solidFill>
            <a:schemeClr val="bg1"/>
          </a:solidFill>
          <a:ln>
            <a:solidFill>
              <a:schemeClr val="tx1"/>
            </a:solidFill>
          </a:ln>
        </p:spPr>
        <p:txBody>
          <a:bodyPr wrap="square" rtlCol="0">
            <a:spAutoFit/>
          </a:bodyPr>
          <a:lstStyle/>
          <a:p>
            <a:r>
              <a:rPr kumimoji="1" lang="ja-JP" altLang="en-US" sz="1000"/>
              <a:t>●：主幹</a:t>
            </a:r>
            <a:r>
              <a:rPr lang="ja-JP" altLang="en-US" sz="1000"/>
              <a:t>　▲：支援　</a:t>
            </a:r>
            <a:r>
              <a:rPr lang="en-US" altLang="ja-JP" sz="1000"/>
              <a:t>‐</a:t>
            </a:r>
            <a:r>
              <a:rPr lang="ja-JP" altLang="en-US" sz="1000"/>
              <a:t>：対象外</a:t>
            </a:r>
            <a:endParaRPr kumimoji="1" lang="ja-JP" altLang="en-US" sz="1000"/>
          </a:p>
        </p:txBody>
      </p:sp>
      <p:sp>
        <p:nvSpPr>
          <p:cNvPr id="4" name="テキスト ボックス 3">
            <a:extLst>
              <a:ext uri="{FF2B5EF4-FFF2-40B4-BE49-F238E27FC236}">
                <a16:creationId xmlns:a16="http://schemas.microsoft.com/office/drawing/2014/main" id="{4778AB32-711D-5504-BAFA-4349251600D3}"/>
              </a:ext>
            </a:extLst>
          </p:cNvPr>
          <p:cNvSpPr txBox="1"/>
          <p:nvPr/>
        </p:nvSpPr>
        <p:spPr>
          <a:xfrm>
            <a:off x="749048" y="4468320"/>
            <a:ext cx="9031756" cy="1534915"/>
          </a:xfrm>
          <a:prstGeom prst="rect">
            <a:avLst/>
          </a:prstGeom>
          <a:solidFill>
            <a:schemeClr val="accent4">
              <a:alpha val="19000"/>
            </a:schemeClr>
          </a:solidFill>
        </p:spPr>
        <p:txBody>
          <a:bodyPr wrap="square" rtlCol="0" anchor="ctr">
            <a:noAutofit/>
          </a:bodyPr>
          <a:lstStyle/>
          <a:p>
            <a:pPr algn="ctr"/>
            <a:r>
              <a:rPr lang="ja-JP" altLang="en-US" sz="2400" b="1">
                <a:latin typeface="+mn-ea"/>
                <a:ea typeface="+mn-ea"/>
              </a:rPr>
              <a:t>要件定義工程にて詳細化</a:t>
            </a:r>
            <a:endParaRPr kumimoji="1" lang="ja-JP" altLang="en-US" sz="2400" b="1">
              <a:latin typeface="+mn-ea"/>
              <a:ea typeface="+mn-ea"/>
            </a:endParaRPr>
          </a:p>
        </p:txBody>
      </p:sp>
    </p:spTree>
    <p:extLst>
      <p:ext uri="{BB962C8B-B14F-4D97-AF65-F5344CB8AC3E}">
        <p14:creationId xmlns:p14="http://schemas.microsoft.com/office/powerpoint/2010/main" val="3309911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タイトル 1">
            <a:extLst>
              <a:ext uri="{FF2B5EF4-FFF2-40B4-BE49-F238E27FC236}">
                <a16:creationId xmlns:a16="http://schemas.microsoft.com/office/drawing/2014/main" id="{9087BE23-3394-43AD-982C-6030C27F6654}"/>
              </a:ext>
            </a:extLst>
          </p:cNvPr>
          <p:cNvSpPr>
            <a:spLocks noGrp="1"/>
          </p:cNvSpPr>
          <p:nvPr>
            <p:ph type="title" idx="4294967295"/>
          </p:nvPr>
        </p:nvSpPr>
        <p:spPr>
          <a:xfrm>
            <a:off x="630401" y="149069"/>
            <a:ext cx="9004300" cy="334962"/>
          </a:xfrm>
          <a:prstGeom prst="rect">
            <a:avLst/>
          </a:prstGeom>
        </p:spPr>
        <p:txBody>
          <a:bodyPr/>
          <a:lstStyle/>
          <a:p>
            <a:r>
              <a:rPr lang="ja-JP" altLang="en-US" kern="1200" dirty="0"/>
              <a:t>４</a:t>
            </a:r>
            <a:r>
              <a:rPr lang="en-US" altLang="ja-JP" kern="1200" dirty="0"/>
              <a:t>-</a:t>
            </a:r>
            <a:r>
              <a:rPr lang="ja-JP" altLang="en-US" kern="1200" dirty="0"/>
              <a:t>１．</a:t>
            </a:r>
            <a:r>
              <a:rPr lang="en-US" altLang="ja-JP" kern="1200" dirty="0"/>
              <a:t>【</a:t>
            </a:r>
            <a:r>
              <a:rPr lang="ja-JP" altLang="en-US" kern="1200" dirty="0"/>
              <a:t>スケジュール管理</a:t>
            </a:r>
            <a:r>
              <a:rPr lang="en-US" altLang="ja-JP" kern="1200" dirty="0"/>
              <a:t>】</a:t>
            </a:r>
            <a:r>
              <a:rPr lang="ja-JP" altLang="en-US" kern="1200" dirty="0"/>
              <a:t>マスタスケジュール</a:t>
            </a:r>
          </a:p>
        </p:txBody>
      </p:sp>
      <p:graphicFrame>
        <p:nvGraphicFramePr>
          <p:cNvPr id="15" name="表 14">
            <a:extLst>
              <a:ext uri="{FF2B5EF4-FFF2-40B4-BE49-F238E27FC236}">
                <a16:creationId xmlns:a16="http://schemas.microsoft.com/office/drawing/2014/main" id="{5AE40089-3AB7-66C5-D9E7-88861889BB32}"/>
              </a:ext>
            </a:extLst>
          </p:cNvPr>
          <p:cNvGraphicFramePr>
            <a:graphicFrameLocks noGrp="1"/>
          </p:cNvGraphicFramePr>
          <p:nvPr>
            <p:extLst>
              <p:ext uri="{D42A27DB-BD31-4B8C-83A1-F6EECF244321}">
                <p14:modId xmlns:p14="http://schemas.microsoft.com/office/powerpoint/2010/main" val="2161607679"/>
              </p:ext>
            </p:extLst>
          </p:nvPr>
        </p:nvGraphicFramePr>
        <p:xfrm>
          <a:off x="146290" y="1416031"/>
          <a:ext cx="9625927" cy="5328552"/>
        </p:xfrm>
        <a:graphic>
          <a:graphicData uri="http://schemas.openxmlformats.org/drawingml/2006/table">
            <a:tbl>
              <a:tblPr firstRow="1" bandRow="1"/>
              <a:tblGrid>
                <a:gridCol w="389150">
                  <a:extLst>
                    <a:ext uri="{9D8B030D-6E8A-4147-A177-3AD203B41FA5}">
                      <a16:colId xmlns:a16="http://schemas.microsoft.com/office/drawing/2014/main" val="116094207"/>
                    </a:ext>
                  </a:extLst>
                </a:gridCol>
                <a:gridCol w="828431">
                  <a:extLst>
                    <a:ext uri="{9D8B030D-6E8A-4147-A177-3AD203B41FA5}">
                      <a16:colId xmlns:a16="http://schemas.microsoft.com/office/drawing/2014/main" val="2583275011"/>
                    </a:ext>
                  </a:extLst>
                </a:gridCol>
                <a:gridCol w="765470">
                  <a:extLst>
                    <a:ext uri="{9D8B030D-6E8A-4147-A177-3AD203B41FA5}">
                      <a16:colId xmlns:a16="http://schemas.microsoft.com/office/drawing/2014/main" val="1156616487"/>
                    </a:ext>
                  </a:extLst>
                </a:gridCol>
                <a:gridCol w="765470">
                  <a:extLst>
                    <a:ext uri="{9D8B030D-6E8A-4147-A177-3AD203B41FA5}">
                      <a16:colId xmlns:a16="http://schemas.microsoft.com/office/drawing/2014/main" val="1946367976"/>
                    </a:ext>
                  </a:extLst>
                </a:gridCol>
                <a:gridCol w="765470">
                  <a:extLst>
                    <a:ext uri="{9D8B030D-6E8A-4147-A177-3AD203B41FA5}">
                      <a16:colId xmlns:a16="http://schemas.microsoft.com/office/drawing/2014/main" val="2181222865"/>
                    </a:ext>
                  </a:extLst>
                </a:gridCol>
                <a:gridCol w="763992">
                  <a:extLst>
                    <a:ext uri="{9D8B030D-6E8A-4147-A177-3AD203B41FA5}">
                      <a16:colId xmlns:a16="http://schemas.microsoft.com/office/drawing/2014/main" val="513778579"/>
                    </a:ext>
                  </a:extLst>
                </a:gridCol>
                <a:gridCol w="763992">
                  <a:extLst>
                    <a:ext uri="{9D8B030D-6E8A-4147-A177-3AD203B41FA5}">
                      <a16:colId xmlns:a16="http://schemas.microsoft.com/office/drawing/2014/main" val="2466928866"/>
                    </a:ext>
                  </a:extLst>
                </a:gridCol>
                <a:gridCol w="763992">
                  <a:extLst>
                    <a:ext uri="{9D8B030D-6E8A-4147-A177-3AD203B41FA5}">
                      <a16:colId xmlns:a16="http://schemas.microsoft.com/office/drawing/2014/main" val="3915138592"/>
                    </a:ext>
                  </a:extLst>
                </a:gridCol>
                <a:gridCol w="763992">
                  <a:extLst>
                    <a:ext uri="{9D8B030D-6E8A-4147-A177-3AD203B41FA5}">
                      <a16:colId xmlns:a16="http://schemas.microsoft.com/office/drawing/2014/main" val="1008225471"/>
                    </a:ext>
                  </a:extLst>
                </a:gridCol>
                <a:gridCol w="763992">
                  <a:extLst>
                    <a:ext uri="{9D8B030D-6E8A-4147-A177-3AD203B41FA5}">
                      <a16:colId xmlns:a16="http://schemas.microsoft.com/office/drawing/2014/main" val="2591123244"/>
                    </a:ext>
                  </a:extLst>
                </a:gridCol>
                <a:gridCol w="763992">
                  <a:extLst>
                    <a:ext uri="{9D8B030D-6E8A-4147-A177-3AD203B41FA5}">
                      <a16:colId xmlns:a16="http://schemas.microsoft.com/office/drawing/2014/main" val="1058596570"/>
                    </a:ext>
                  </a:extLst>
                </a:gridCol>
                <a:gridCol w="763992">
                  <a:extLst>
                    <a:ext uri="{9D8B030D-6E8A-4147-A177-3AD203B41FA5}">
                      <a16:colId xmlns:a16="http://schemas.microsoft.com/office/drawing/2014/main" val="1522514606"/>
                    </a:ext>
                  </a:extLst>
                </a:gridCol>
                <a:gridCol w="763992">
                  <a:extLst>
                    <a:ext uri="{9D8B030D-6E8A-4147-A177-3AD203B41FA5}">
                      <a16:colId xmlns:a16="http://schemas.microsoft.com/office/drawing/2014/main" val="3549863493"/>
                    </a:ext>
                  </a:extLst>
                </a:gridCol>
              </a:tblGrid>
              <a:tr h="269298">
                <a:tc rowSpan="2" gridSpan="2">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ja-JP" altLang="en-US"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スケジュール</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rowSpan="2" hMerge="1">
                  <a:txBody>
                    <a:bodyPr/>
                    <a:lstStyle/>
                    <a:p>
                      <a:endParaRPr kumimoji="1" lang="ja-JP" altLang="en-US"/>
                    </a:p>
                  </a:txBody>
                  <a:tcPr/>
                </a:tc>
                <a:tc gridSpan="3">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en-US" altLang="ja-JP"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25</a:t>
                      </a:r>
                      <a:r>
                        <a:rPr kumimoji="1" lang="ja-JP" altLang="en-US"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年度</a:t>
                      </a: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hMerge="1">
                  <a:txBody>
                    <a:bodyPr/>
                    <a:lstStyle/>
                    <a:p>
                      <a:endParaRPr kumimoji="1" lang="ja-JP" altLang="en-US"/>
                    </a:p>
                  </a:txBody>
                  <a:tcPr/>
                </a:tc>
                <a:tc hMerge="1">
                  <a:txBody>
                    <a:bodyPr/>
                    <a:lstStyle/>
                    <a:p>
                      <a:pPr algn="ctr"/>
                      <a:endPar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gridSpan="4">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en-US" altLang="ja-JP"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26</a:t>
                      </a:r>
                      <a:r>
                        <a:rPr kumimoji="1" lang="ja-JP" altLang="en-US"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年度</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hMerge="1">
                  <a:txBody>
                    <a:bodyPr/>
                    <a:lstStyle/>
                    <a:p>
                      <a:pPr algn="ctr"/>
                      <a:endPar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72CE"/>
                    </a:solidFill>
                  </a:tcPr>
                </a:tc>
                <a:tc hMerge="1">
                  <a:txBody>
                    <a:bodyPr/>
                    <a:lstStyle/>
                    <a:p>
                      <a:pPr algn="ctr"/>
                      <a:endPar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72CE"/>
                    </a:solidFill>
                  </a:tcPr>
                </a:tc>
                <a:tc hMerge="1">
                  <a:txBody>
                    <a:bodyPr/>
                    <a:lstStyle/>
                    <a:p>
                      <a:pPr algn="ctr"/>
                      <a:endPar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72CE"/>
                    </a:solidFill>
                  </a:tcPr>
                </a:tc>
                <a:tc gridSpan="4">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en-US" altLang="ja-JP"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27</a:t>
                      </a:r>
                      <a:r>
                        <a:rPr kumimoji="1" lang="ja-JP" altLang="en-US"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年度</a:t>
                      </a: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hMerge="1">
                  <a:txBody>
                    <a:bodyPr/>
                    <a:lstStyle/>
                    <a:p>
                      <a:pPr algn="ctr"/>
                      <a:endPar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72CE"/>
                    </a:solidFill>
                  </a:tcPr>
                </a:tc>
                <a:tc hMerge="1">
                  <a:txBody>
                    <a:bodyPr/>
                    <a:lstStyle/>
                    <a:p>
                      <a:pPr algn="ctr"/>
                      <a:endPar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72CE"/>
                    </a:solidFill>
                  </a:tcPr>
                </a:tc>
                <a:tc hMerge="1">
                  <a:txBody>
                    <a:bodyPr/>
                    <a:lstStyle/>
                    <a:p>
                      <a:pPr algn="ctr"/>
                      <a:endPar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072CE"/>
                    </a:solidFill>
                  </a:tcPr>
                </a:tc>
                <a:extLst>
                  <a:ext uri="{0D108BD9-81ED-4DB2-BD59-A6C34878D82A}">
                    <a16:rowId xmlns:a16="http://schemas.microsoft.com/office/drawing/2014/main" val="2594716179"/>
                  </a:ext>
                </a:extLst>
              </a:tr>
              <a:tr h="269298">
                <a:tc gridSpan="2" vMerge="1">
                  <a:txBody>
                    <a:bodyPr/>
                    <a:lstStyle/>
                    <a:p>
                      <a:pPr algn="ct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72CE"/>
                    </a:solidFill>
                  </a:tcPr>
                </a:tc>
                <a:tc hMerge="1" vMerge="1">
                  <a:txBody>
                    <a:bodyPr/>
                    <a:lstStyle/>
                    <a:p>
                      <a:endParaRPr kumimoji="1" lang="ja-JP" altLang="en-US"/>
                    </a:p>
                  </a:txBody>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2Q</a:t>
                      </a:r>
                      <a:endParaRPr kumimoji="1" lang="ja-JP" altLang="en-US"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p>
                      <a:pPr algn="ctr"/>
                      <a:r>
                        <a:rPr kumimoji="1" lang="en-US" altLang="ja-JP"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3Q</a:t>
                      </a:r>
                      <a:endParaRPr kumimoji="1" lang="ja-JP" altLang="en-US"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p>
                      <a:pPr algn="ctr"/>
                      <a:r>
                        <a:rPr kumimoji="1" lang="en-US" altLang="ja-JP"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4Q</a:t>
                      </a:r>
                      <a:endParaRPr kumimoji="1" lang="ja-JP" altLang="en-US"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1Q</a:t>
                      </a:r>
                      <a:endParaRPr kumimoji="1" lang="ja-JP" altLang="en-US"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2Q</a:t>
                      </a:r>
                      <a:endParaRPr kumimoji="1" lang="ja-JP" altLang="en-US"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3Q</a:t>
                      </a:r>
                      <a:endParaRPr kumimoji="1" lang="ja-JP" altLang="en-US"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4Q</a:t>
                      </a:r>
                      <a:endParaRPr kumimoji="1" lang="ja-JP" altLang="en-US"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1Q</a:t>
                      </a:r>
                      <a:endParaRPr kumimoji="1" lang="ja-JP" altLang="en-US" sz="1000" b="0" dirty="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2Q</a:t>
                      </a:r>
                      <a:endParaRPr kumimoji="1" lang="ja-JP" altLang="en-US"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3Q</a:t>
                      </a:r>
                      <a:endParaRPr kumimoji="1" lang="ja-JP" altLang="en-US"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4Q</a:t>
                      </a:r>
                      <a:endParaRPr kumimoji="1" lang="ja-JP" altLang="en-US" sz="10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0072CE"/>
                    </a:solidFill>
                  </a:tcPr>
                </a:tc>
                <a:extLst>
                  <a:ext uri="{0D108BD9-81ED-4DB2-BD59-A6C34878D82A}">
                    <a16:rowId xmlns:a16="http://schemas.microsoft.com/office/drawing/2014/main" val="3120691387"/>
                  </a:ext>
                </a:extLst>
              </a:tr>
              <a:tr h="858483">
                <a:tc gridSpan="2">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ja-JP" altLang="en-US" sz="1000" b="0">
                          <a:latin typeface="Meiryo UI" panose="020B0604030504040204" pitchFamily="50" charset="-128"/>
                          <a:ea typeface="Meiryo UI" panose="020B0604030504040204" pitchFamily="50" charset="-128"/>
                          <a:cs typeface="Meiryo UI" panose="020B0604030504040204" pitchFamily="50" charset="-128"/>
                        </a:rPr>
                        <a:t>マイルストーン</a:t>
                      </a:r>
                      <a:endParaRPr kumimoji="1" lang="en-US" altLang="ja-JP" sz="10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kumimoji="1" lang="ja-JP" altLang="en-US"/>
                    </a:p>
                  </a:txBody>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7998671"/>
                  </a:ext>
                </a:extLst>
              </a:tr>
              <a:tr h="518436">
                <a:tc gridSpan="2">
                  <a:txBody>
                    <a:bodyPr/>
                    <a:lstStyle/>
                    <a:p>
                      <a:pPr algn="ctr"/>
                      <a:r>
                        <a:rPr kumimoji="1" lang="ja-JP" altLang="en-US" sz="1000" b="0">
                          <a:latin typeface="Meiryo UI" panose="020B0604030504040204" pitchFamily="50" charset="-128"/>
                          <a:ea typeface="Meiryo UI" panose="020B0604030504040204" pitchFamily="50" charset="-128"/>
                          <a:cs typeface="Meiryo UI" panose="020B0604030504040204" pitchFamily="50" charset="-128"/>
                        </a:rPr>
                        <a:t>全体</a:t>
                      </a:r>
                      <a:endParaRPr kumimoji="1" lang="en-US" altLang="ja-JP" sz="10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kumimoji="1" lang="ja-JP" altLang="en-US"/>
                    </a:p>
                  </a:txBody>
                  <a:tcPr/>
                </a:tc>
                <a:tc>
                  <a:txBody>
                    <a:bodyPr/>
                    <a:lstStyle/>
                    <a:p>
                      <a:pPr algn="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94665898"/>
                  </a:ext>
                </a:extLst>
              </a:tr>
              <a:tr h="648045">
                <a:tc rowSpan="6">
                  <a:txBody>
                    <a:bodyPr/>
                    <a:lstStyle/>
                    <a:p>
                      <a:pPr algn="ctr"/>
                      <a:r>
                        <a:rPr kumimoji="1" lang="en-US" altLang="ja-JP" sz="1000" b="0">
                          <a:latin typeface="Meiryo UI" panose="020B0604030504040204" pitchFamily="50" charset="-128"/>
                          <a:ea typeface="Meiryo UI" panose="020B0604030504040204" pitchFamily="50" charset="-128"/>
                          <a:cs typeface="Meiryo UI" panose="020B0604030504040204" pitchFamily="50" charset="-128"/>
                        </a:rPr>
                        <a:t>JRI</a:t>
                      </a: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000" b="0" dirty="0">
                          <a:latin typeface="Meiryo UI" panose="020B0604030504040204" pitchFamily="50" charset="-128"/>
                          <a:ea typeface="Meiryo UI" panose="020B0604030504040204" pitchFamily="50" charset="-128"/>
                          <a:cs typeface="Meiryo UI" panose="020B0604030504040204" pitchFamily="50" charset="-128"/>
                        </a:rPr>
                        <a:t>CTI</a:t>
                      </a:r>
                      <a:r>
                        <a:rPr kumimoji="1" lang="ja-JP" altLang="en-US" sz="1000" b="0" dirty="0">
                          <a:latin typeface="Meiryo UI" panose="020B0604030504040204" pitchFamily="50" charset="-128"/>
                          <a:ea typeface="Meiryo UI" panose="020B0604030504040204" pitchFamily="50" charset="-128"/>
                          <a:cs typeface="Meiryo UI" panose="020B0604030504040204" pitchFamily="50" charset="-128"/>
                        </a:rPr>
                        <a:t>基盤</a:t>
                      </a:r>
                      <a:endParaRPr kumimoji="1" lang="en-US" altLang="ja-JP" sz="10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2929114"/>
                  </a:ext>
                </a:extLst>
              </a:tr>
              <a:tr h="648045">
                <a:tc vMerge="1">
                  <a:txBody>
                    <a:bodyPr/>
                    <a:lstStyle/>
                    <a:p>
                      <a:endParaRPr kumimoji="1" lang="ja-JP" altLang="en-US"/>
                    </a:p>
                  </a:txBody>
                  <a:tcPr/>
                </a:tc>
                <a:tc>
                  <a:txBody>
                    <a:bodyPr/>
                    <a:lstStyle/>
                    <a:p>
                      <a:pPr algn="ctr"/>
                      <a:r>
                        <a:rPr kumimoji="1" lang="en-US" altLang="ja-JP" sz="1000" b="0" dirty="0">
                          <a:latin typeface="Meiryo UI" panose="020B0604030504040204" pitchFamily="50" charset="-128"/>
                          <a:ea typeface="Meiryo UI" panose="020B0604030504040204" pitchFamily="50" charset="-128"/>
                          <a:cs typeface="Meiryo UI" panose="020B0604030504040204" pitchFamily="50" charset="-128"/>
                        </a:rPr>
                        <a:t>CTI</a:t>
                      </a:r>
                      <a:r>
                        <a:rPr kumimoji="1" lang="ja-JP" altLang="en-US" sz="1000" b="0" dirty="0">
                          <a:latin typeface="Meiryo UI" panose="020B0604030504040204" pitchFamily="50" charset="-128"/>
                          <a:ea typeface="Meiryo UI" panose="020B0604030504040204" pitchFamily="50" charset="-128"/>
                          <a:cs typeface="Meiryo UI" panose="020B0604030504040204" pitchFamily="50" charset="-128"/>
                        </a:rPr>
                        <a:t>アプリ</a:t>
                      </a:r>
                      <a:endParaRPr kumimoji="1" lang="en-US" altLang="ja-JP" sz="10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77008508"/>
                  </a:ext>
                </a:extLst>
              </a:tr>
              <a:tr h="518436">
                <a:tc vMerge="1">
                  <a:txBody>
                    <a:bodyPr/>
                    <a:lstStyle/>
                    <a:p>
                      <a:pPr algn="ct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000" b="0" dirty="0">
                          <a:latin typeface="Meiryo UI" panose="020B0604030504040204" pitchFamily="50" charset="-128"/>
                          <a:ea typeface="Meiryo UI" panose="020B0604030504040204" pitchFamily="50" charset="-128"/>
                          <a:cs typeface="Meiryo UI" panose="020B0604030504040204" pitchFamily="50" charset="-128"/>
                        </a:rPr>
                        <a:t>IVR</a:t>
                      </a:r>
                    </a:p>
                    <a:p>
                      <a:pPr algn="ctr"/>
                      <a:r>
                        <a:rPr kumimoji="1" lang="ja-JP" altLang="en-US" sz="1000" b="0" dirty="0">
                          <a:latin typeface="Meiryo UI" panose="020B0604030504040204" pitchFamily="50" charset="-128"/>
                          <a:ea typeface="Meiryo UI" panose="020B0604030504040204" pitchFamily="50" charset="-128"/>
                          <a:cs typeface="Meiryo UI" panose="020B0604030504040204" pitchFamily="50" charset="-128"/>
                        </a:rPr>
                        <a:t>基盤</a:t>
                      </a:r>
                      <a:r>
                        <a:rPr kumimoji="1" lang="en-US" altLang="ja-JP" sz="1000" b="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dirty="0">
                          <a:latin typeface="Meiryo UI" panose="020B0604030504040204" pitchFamily="50" charset="-128"/>
                          <a:ea typeface="Meiryo UI" panose="020B0604030504040204" pitchFamily="50" charset="-128"/>
                          <a:cs typeface="Meiryo UI" panose="020B0604030504040204" pitchFamily="50" charset="-128"/>
                        </a:rPr>
                        <a:t>アプリ</a:t>
                      </a:r>
                      <a:endParaRPr kumimoji="1" lang="en-US" altLang="ja-JP" sz="10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80084061"/>
                  </a:ext>
                </a:extLst>
              </a:tr>
              <a:tr h="518436">
                <a:tc vMerge="1">
                  <a:txBody>
                    <a:bodyPr/>
                    <a:lstStyle/>
                    <a:p>
                      <a:endParaRPr kumimoji="1" lang="ja-JP" altLang="en-US"/>
                    </a:p>
                  </a:txBody>
                  <a:tcPr/>
                </a:tc>
                <a:tc>
                  <a:txBody>
                    <a:bodyPr/>
                    <a:lstStyle/>
                    <a:p>
                      <a:pPr algn="ctr"/>
                      <a:r>
                        <a:rPr kumimoji="1" lang="ja-JP" altLang="en-US" sz="1000" b="0" dirty="0">
                          <a:latin typeface="Meiryo UI" panose="020B0604030504040204" pitchFamily="50" charset="-128"/>
                          <a:ea typeface="Meiryo UI" panose="020B0604030504040204" pitchFamily="50" charset="-128"/>
                          <a:cs typeface="Meiryo UI" panose="020B0604030504040204" pitchFamily="50" charset="-128"/>
                        </a:rPr>
                        <a:t>アウトバウンド</a:t>
                      </a:r>
                      <a:endParaRPr kumimoji="1" lang="en-US" altLang="ja-JP" sz="10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72393555"/>
                  </a:ext>
                </a:extLst>
              </a:tr>
              <a:tr h="518436">
                <a:tc vMerge="1">
                  <a:txBody>
                    <a:bodyPr/>
                    <a:lstStyle/>
                    <a:p>
                      <a:endParaRPr kumimoji="1" lang="ja-JP" altLang="en-US"/>
                    </a:p>
                  </a:txBody>
                  <a:tcPr/>
                </a:tc>
                <a:tc>
                  <a:txBody>
                    <a:bodyPr/>
                    <a:lstStyle/>
                    <a:p>
                      <a:pPr algn="ctr"/>
                      <a:r>
                        <a:rPr kumimoji="1" lang="ja-JP" altLang="en-US" sz="1000" b="0" dirty="0">
                          <a:latin typeface="Meiryo UI" panose="020B0604030504040204" pitchFamily="50" charset="-128"/>
                          <a:ea typeface="Meiryo UI" panose="020B0604030504040204" pitchFamily="50" charset="-128"/>
                          <a:cs typeface="Meiryo UI" panose="020B0604030504040204" pitchFamily="50" charset="-128"/>
                        </a:rPr>
                        <a:t>延滞管理</a:t>
                      </a:r>
                      <a:endParaRPr kumimoji="1" lang="en-US" altLang="ja-JP" sz="10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854550582"/>
                  </a:ext>
                </a:extLst>
              </a:tr>
              <a:tr h="561639">
                <a:tc vMerge="1">
                  <a:txBody>
                    <a:bodyPr/>
                    <a:lstStyle/>
                    <a:p>
                      <a:pPr algn="ct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000" b="0" dirty="0" err="1">
                          <a:latin typeface="Meiryo UI" panose="020B0604030504040204" pitchFamily="50" charset="-128"/>
                          <a:ea typeface="Meiryo UI" panose="020B0604030504040204" pitchFamily="50" charset="-128"/>
                          <a:cs typeface="Meiryo UI" panose="020B0604030504040204" pitchFamily="50" charset="-128"/>
                        </a:rPr>
                        <a:t>CuSIS</a:t>
                      </a:r>
                      <a:endParaRPr kumimoji="1" lang="en-US" altLang="ja-JP" sz="1000" b="0" dirty="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9525" cap="flat" cmpd="sng" algn="ctr">
                      <a:solidFill>
                        <a:srgbClr val="FFFFFF">
                          <a:lumMod val="50000"/>
                        </a:srgbClr>
                      </a:solidFill>
                      <a:prstDash val="solid"/>
                      <a:round/>
                      <a:headEnd type="none" w="med" len="med"/>
                      <a:tailEnd type="none" w="med" len="med"/>
                    </a:lnL>
                    <a:lnR w="9525" cap="flat" cmpd="sng" algn="ctr">
                      <a:solidFill>
                        <a:srgbClr val="FFFFFF">
                          <a:lumMod val="50000"/>
                        </a:srgbClr>
                      </a:solidFill>
                      <a:prstDash val="solid"/>
                      <a:round/>
                      <a:headEnd type="none" w="med" len="med"/>
                      <a:tailEnd type="none" w="med" len="med"/>
                    </a:lnR>
                    <a:lnT w="9525" cap="flat" cmpd="sng" algn="ctr">
                      <a:solidFill>
                        <a:srgbClr val="FFFFFF">
                          <a:lumMod val="50000"/>
                        </a:srgbClr>
                      </a:solidFill>
                      <a:prstDash val="solid"/>
                      <a:round/>
                      <a:headEnd type="none" w="med" len="med"/>
                      <a:tailEnd type="none" w="med" len="med"/>
                    </a:lnT>
                    <a:lnB w="9525"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78777017"/>
                  </a:ext>
                </a:extLst>
              </a:tr>
            </a:tbl>
          </a:graphicData>
        </a:graphic>
      </p:graphicFrame>
      <p:sp>
        <p:nvSpPr>
          <p:cNvPr id="16" name="テキスト ボックス 15">
            <a:extLst>
              <a:ext uri="{FF2B5EF4-FFF2-40B4-BE49-F238E27FC236}">
                <a16:creationId xmlns:a16="http://schemas.microsoft.com/office/drawing/2014/main" id="{F364C6F4-CF85-9040-B1C9-8963F4934A97}"/>
              </a:ext>
            </a:extLst>
          </p:cNvPr>
          <p:cNvSpPr txBox="1"/>
          <p:nvPr/>
        </p:nvSpPr>
        <p:spPr>
          <a:xfrm flipH="1">
            <a:off x="2162838" y="2015255"/>
            <a:ext cx="1437894" cy="123111"/>
          </a:xfrm>
          <a:prstGeom prst="rect">
            <a:avLst/>
          </a:prstGeom>
          <a:solidFill>
            <a:srgbClr val="FFFFFF"/>
          </a:solidFill>
        </p:spPr>
        <p:txBody>
          <a:bodyPr wrap="none" lIns="0" tIns="0" rIns="0" bIns="0"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a:t>
            </a:r>
            <a:r>
              <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rPr>
              <a:t>25/10 </a:t>
            </a:r>
            <a:r>
              <a:rPr kumimoji="0" lang="ja-JP" altLang="en-US" sz="800" kern="0" dirty="0">
                <a:latin typeface="Meiryo UI"/>
                <a:ea typeface="Meiryo UI"/>
                <a:cs typeface="Meiryo UI" panose="020B0604030504040204" pitchFamily="50" charset="-128"/>
              </a:rPr>
              <a:t>要件定義着手（</a:t>
            </a:r>
            <a:r>
              <a:rPr kumimoji="0" lang="en-US" altLang="ja-JP" sz="800" kern="0" dirty="0">
                <a:latin typeface="Meiryo UI"/>
                <a:ea typeface="Meiryo UI"/>
                <a:cs typeface="Meiryo UI" panose="020B0604030504040204" pitchFamily="50" charset="-128"/>
              </a:rPr>
              <a:t>CTI</a:t>
            </a:r>
            <a:r>
              <a:rPr kumimoji="0" lang="ja-JP" altLang="en-US" sz="800" kern="0" dirty="0">
                <a:latin typeface="Meiryo UI"/>
                <a:ea typeface="Meiryo UI"/>
                <a:cs typeface="Meiryo UI" panose="020B0604030504040204" pitchFamily="50" charset="-128"/>
              </a:rPr>
              <a:t>）</a:t>
            </a:r>
            <a:endPar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endParaRPr>
          </a:p>
        </p:txBody>
      </p:sp>
      <p:sp>
        <p:nvSpPr>
          <p:cNvPr id="18" name="テキスト ボックス 17">
            <a:extLst>
              <a:ext uri="{FF2B5EF4-FFF2-40B4-BE49-F238E27FC236}">
                <a16:creationId xmlns:a16="http://schemas.microsoft.com/office/drawing/2014/main" id="{FB8298C4-3069-D9CA-6966-C7F55DC801E4}"/>
              </a:ext>
            </a:extLst>
          </p:cNvPr>
          <p:cNvSpPr txBox="1"/>
          <p:nvPr/>
        </p:nvSpPr>
        <p:spPr>
          <a:xfrm flipH="1">
            <a:off x="2357431" y="2186530"/>
            <a:ext cx="843180" cy="123111"/>
          </a:xfrm>
          <a:prstGeom prst="rect">
            <a:avLst/>
          </a:prstGeom>
          <a:solidFill>
            <a:srgbClr val="FFFFFF"/>
          </a:solidFill>
        </p:spPr>
        <p:txBody>
          <a:bodyPr wrap="none" lIns="0" tIns="0" rIns="0" bIns="0"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a:t>
            </a:r>
            <a:r>
              <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rPr>
              <a:t>25/11 CC</a:t>
            </a: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シス戦</a:t>
            </a:r>
            <a:endPar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endParaRPr>
          </a:p>
        </p:txBody>
      </p:sp>
      <p:sp>
        <p:nvSpPr>
          <p:cNvPr id="19" name="テキスト ボックス 18">
            <a:extLst>
              <a:ext uri="{FF2B5EF4-FFF2-40B4-BE49-F238E27FC236}">
                <a16:creationId xmlns:a16="http://schemas.microsoft.com/office/drawing/2014/main" id="{65CE6106-7D8E-0380-7A3A-CE7C082986C0}"/>
              </a:ext>
            </a:extLst>
          </p:cNvPr>
          <p:cNvSpPr txBox="1"/>
          <p:nvPr/>
        </p:nvSpPr>
        <p:spPr>
          <a:xfrm flipH="1">
            <a:off x="3167374" y="2504414"/>
            <a:ext cx="944169" cy="123111"/>
          </a:xfrm>
          <a:prstGeom prst="rect">
            <a:avLst/>
          </a:prstGeom>
          <a:solidFill>
            <a:srgbClr val="FFFFFF"/>
          </a:solidFill>
        </p:spPr>
        <p:txBody>
          <a:bodyPr wrap="none" lIns="0" tIns="0" rIns="0" bIns="0"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a:t>
            </a:r>
            <a:r>
              <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rPr>
              <a:t>26/2</a:t>
            </a:r>
            <a:r>
              <a:rPr kumimoji="0" lang="ja-JP" altLang="en-US" sz="800" kern="0" dirty="0">
                <a:latin typeface="Meiryo UI"/>
                <a:ea typeface="Meiryo UI"/>
                <a:cs typeface="Meiryo UI" panose="020B0604030504040204" pitchFamily="50" charset="-128"/>
              </a:rPr>
              <a:t> </a:t>
            </a:r>
            <a:r>
              <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rPr>
              <a:t>JRI</a:t>
            </a: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経営会議</a:t>
            </a:r>
            <a:endPar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endParaRPr>
          </a:p>
        </p:txBody>
      </p:sp>
      <p:sp>
        <p:nvSpPr>
          <p:cNvPr id="20" name="AutoShape 175">
            <a:extLst>
              <a:ext uri="{FF2B5EF4-FFF2-40B4-BE49-F238E27FC236}">
                <a16:creationId xmlns:a16="http://schemas.microsoft.com/office/drawing/2014/main" id="{086D277D-2B62-A51E-AC19-F033B4E573B8}"/>
              </a:ext>
            </a:extLst>
          </p:cNvPr>
          <p:cNvSpPr>
            <a:spLocks noChangeArrowheads="1"/>
          </p:cNvSpPr>
          <p:nvPr/>
        </p:nvSpPr>
        <p:spPr bwMode="gray">
          <a:xfrm>
            <a:off x="2130724" y="2931222"/>
            <a:ext cx="1524638" cy="288000"/>
          </a:xfrm>
          <a:prstGeom prst="homePlate">
            <a:avLst>
              <a:gd name="adj" fmla="val 51114"/>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要件定義</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21" name="AutoShape 175">
            <a:extLst>
              <a:ext uri="{FF2B5EF4-FFF2-40B4-BE49-F238E27FC236}">
                <a16:creationId xmlns:a16="http://schemas.microsoft.com/office/drawing/2014/main" id="{2EECE5D4-2E55-8015-7BEF-E38D1DFDF8BD}"/>
              </a:ext>
            </a:extLst>
          </p:cNvPr>
          <p:cNvSpPr>
            <a:spLocks noChangeArrowheads="1"/>
          </p:cNvSpPr>
          <p:nvPr/>
        </p:nvSpPr>
        <p:spPr bwMode="gray">
          <a:xfrm>
            <a:off x="8245621" y="2931953"/>
            <a:ext cx="970065" cy="288000"/>
          </a:xfrm>
          <a:prstGeom prst="homePlate">
            <a:avLst>
              <a:gd name="adj" fmla="val 43176"/>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dirty="0">
                <a:ln>
                  <a:noFill/>
                </a:ln>
                <a:solidFill>
                  <a:srgbClr val="292929"/>
                </a:solidFill>
                <a:effectLst/>
                <a:uLnTx/>
                <a:uFillTx/>
                <a:latin typeface="Meiryo UI"/>
                <a:ea typeface="Meiryo UI"/>
                <a:cs typeface="+mn-cs"/>
              </a:rPr>
              <a:t>本番移行</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p:txBody>
      </p:sp>
      <p:sp>
        <p:nvSpPr>
          <p:cNvPr id="22" name="AutoShape 175">
            <a:extLst>
              <a:ext uri="{FF2B5EF4-FFF2-40B4-BE49-F238E27FC236}">
                <a16:creationId xmlns:a16="http://schemas.microsoft.com/office/drawing/2014/main" id="{36F916FC-19DD-98E1-9BA7-C8A68DC0BB43}"/>
              </a:ext>
            </a:extLst>
          </p:cNvPr>
          <p:cNvSpPr>
            <a:spLocks noChangeArrowheads="1"/>
          </p:cNvSpPr>
          <p:nvPr/>
        </p:nvSpPr>
        <p:spPr bwMode="gray">
          <a:xfrm>
            <a:off x="3666002" y="2933007"/>
            <a:ext cx="751360"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基本設計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23" name="AutoShape 175">
            <a:extLst>
              <a:ext uri="{FF2B5EF4-FFF2-40B4-BE49-F238E27FC236}">
                <a16:creationId xmlns:a16="http://schemas.microsoft.com/office/drawing/2014/main" id="{0F982EC9-B901-6903-B7CB-21F3E3673B88}"/>
              </a:ext>
            </a:extLst>
          </p:cNvPr>
          <p:cNvSpPr>
            <a:spLocks noChangeArrowheads="1"/>
          </p:cNvSpPr>
          <p:nvPr/>
        </p:nvSpPr>
        <p:spPr bwMode="gray">
          <a:xfrm>
            <a:off x="4432916" y="2931222"/>
            <a:ext cx="751361"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詳細</a:t>
            </a: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25" name="AutoShape 175">
            <a:extLst>
              <a:ext uri="{FF2B5EF4-FFF2-40B4-BE49-F238E27FC236}">
                <a16:creationId xmlns:a16="http://schemas.microsoft.com/office/drawing/2014/main" id="{71422136-5CE4-C587-E3E4-EDF9C26C0248}"/>
              </a:ext>
            </a:extLst>
          </p:cNvPr>
          <p:cNvSpPr>
            <a:spLocks noChangeArrowheads="1"/>
          </p:cNvSpPr>
          <p:nvPr/>
        </p:nvSpPr>
        <p:spPr bwMode="gray">
          <a:xfrm>
            <a:off x="7208028" y="2931222"/>
            <a:ext cx="1031858" cy="288000"/>
          </a:xfrm>
          <a:prstGeom prst="homePlate">
            <a:avLst>
              <a:gd name="adj" fmla="val 51114"/>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dirty="0">
                <a:ln>
                  <a:noFill/>
                </a:ln>
                <a:solidFill>
                  <a:srgbClr val="292929"/>
                </a:solidFill>
                <a:effectLst/>
                <a:uLnTx/>
                <a:uFillTx/>
                <a:latin typeface="Meiryo UI"/>
                <a:ea typeface="Meiryo UI"/>
                <a:cs typeface="+mn-cs"/>
              </a:rPr>
              <a:t>システムテスト</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p:txBody>
      </p:sp>
      <p:sp>
        <p:nvSpPr>
          <p:cNvPr id="27" name="AutoShape 175">
            <a:extLst>
              <a:ext uri="{FF2B5EF4-FFF2-40B4-BE49-F238E27FC236}">
                <a16:creationId xmlns:a16="http://schemas.microsoft.com/office/drawing/2014/main" id="{910470FA-BBF7-5BEB-B4D4-631927CBAB9F}"/>
              </a:ext>
            </a:extLst>
          </p:cNvPr>
          <p:cNvSpPr>
            <a:spLocks noChangeArrowheads="1"/>
          </p:cNvSpPr>
          <p:nvPr/>
        </p:nvSpPr>
        <p:spPr bwMode="gray">
          <a:xfrm>
            <a:off x="6237963" y="2931222"/>
            <a:ext cx="970065" cy="288000"/>
          </a:xfrm>
          <a:prstGeom prst="homePlate">
            <a:avLst>
              <a:gd name="adj" fmla="val 43176"/>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dirty="0">
                <a:ln>
                  <a:noFill/>
                </a:ln>
                <a:solidFill>
                  <a:srgbClr val="292929"/>
                </a:solidFill>
                <a:effectLst/>
                <a:uLnTx/>
                <a:uFillTx/>
                <a:latin typeface="Meiryo UI"/>
                <a:ea typeface="Meiryo UI"/>
                <a:cs typeface="+mn-cs"/>
              </a:rPr>
              <a:t>結合テスト</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p:txBody>
      </p:sp>
      <p:sp>
        <p:nvSpPr>
          <p:cNvPr id="29" name="AutoShape 175">
            <a:extLst>
              <a:ext uri="{FF2B5EF4-FFF2-40B4-BE49-F238E27FC236}">
                <a16:creationId xmlns:a16="http://schemas.microsoft.com/office/drawing/2014/main" id="{91F6641D-BA46-BB0A-D07C-C48B46025196}"/>
              </a:ext>
            </a:extLst>
          </p:cNvPr>
          <p:cNvSpPr>
            <a:spLocks noChangeArrowheads="1"/>
          </p:cNvSpPr>
          <p:nvPr/>
        </p:nvSpPr>
        <p:spPr bwMode="gray">
          <a:xfrm>
            <a:off x="5184277" y="2931222"/>
            <a:ext cx="1037593" cy="288000"/>
          </a:xfrm>
          <a:prstGeom prst="homePlate">
            <a:avLst>
              <a:gd name="adj" fmla="val 35239"/>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製造</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30" name="AutoShape 175">
            <a:extLst>
              <a:ext uri="{FF2B5EF4-FFF2-40B4-BE49-F238E27FC236}">
                <a16:creationId xmlns:a16="http://schemas.microsoft.com/office/drawing/2014/main" id="{152EC765-A491-3F2D-B57D-8B23D539B2AF}"/>
              </a:ext>
            </a:extLst>
          </p:cNvPr>
          <p:cNvSpPr>
            <a:spLocks noChangeArrowheads="1"/>
          </p:cNvSpPr>
          <p:nvPr/>
        </p:nvSpPr>
        <p:spPr bwMode="gray">
          <a:xfrm>
            <a:off x="2130724" y="3485419"/>
            <a:ext cx="1535277" cy="1507547"/>
          </a:xfrm>
          <a:prstGeom prst="homePlate">
            <a:avLst>
              <a:gd name="adj" fmla="val 14566"/>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要件定義</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31" name="AutoShape 175">
            <a:extLst>
              <a:ext uri="{FF2B5EF4-FFF2-40B4-BE49-F238E27FC236}">
                <a16:creationId xmlns:a16="http://schemas.microsoft.com/office/drawing/2014/main" id="{03D906F4-1274-E541-D238-54FFBC6C5E2E}"/>
              </a:ext>
            </a:extLst>
          </p:cNvPr>
          <p:cNvSpPr>
            <a:spLocks noChangeArrowheads="1"/>
          </p:cNvSpPr>
          <p:nvPr/>
        </p:nvSpPr>
        <p:spPr bwMode="gray">
          <a:xfrm>
            <a:off x="8245620" y="3486150"/>
            <a:ext cx="970066" cy="288000"/>
          </a:xfrm>
          <a:prstGeom prst="homePlate">
            <a:avLst>
              <a:gd name="adj" fmla="val 43176"/>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dirty="0">
                <a:ln>
                  <a:noFill/>
                </a:ln>
                <a:solidFill>
                  <a:srgbClr val="292929"/>
                </a:solidFill>
                <a:effectLst/>
                <a:uLnTx/>
                <a:uFillTx/>
                <a:latin typeface="Meiryo UI"/>
                <a:ea typeface="Meiryo UI"/>
                <a:cs typeface="+mn-cs"/>
              </a:rPr>
              <a:t>拠点リリース</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p:txBody>
      </p:sp>
      <p:sp>
        <p:nvSpPr>
          <p:cNvPr id="33" name="AutoShape 175">
            <a:extLst>
              <a:ext uri="{FF2B5EF4-FFF2-40B4-BE49-F238E27FC236}">
                <a16:creationId xmlns:a16="http://schemas.microsoft.com/office/drawing/2014/main" id="{7AAD5A92-12F7-DC31-2F88-A86A174DFC29}"/>
              </a:ext>
            </a:extLst>
          </p:cNvPr>
          <p:cNvSpPr>
            <a:spLocks noChangeArrowheads="1"/>
          </p:cNvSpPr>
          <p:nvPr/>
        </p:nvSpPr>
        <p:spPr bwMode="gray">
          <a:xfrm>
            <a:off x="3673621" y="3487204"/>
            <a:ext cx="751360"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基本設計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34" name="AutoShape 175">
            <a:extLst>
              <a:ext uri="{FF2B5EF4-FFF2-40B4-BE49-F238E27FC236}">
                <a16:creationId xmlns:a16="http://schemas.microsoft.com/office/drawing/2014/main" id="{59255EDE-FBFC-7CC9-9DD1-E95E9B876FFD}"/>
              </a:ext>
            </a:extLst>
          </p:cNvPr>
          <p:cNvSpPr>
            <a:spLocks noChangeArrowheads="1"/>
          </p:cNvSpPr>
          <p:nvPr/>
        </p:nvSpPr>
        <p:spPr bwMode="gray">
          <a:xfrm>
            <a:off x="4432601" y="3485419"/>
            <a:ext cx="759296"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dirty="0">
                <a:solidFill>
                  <a:srgbClr val="292929"/>
                </a:solidFill>
                <a:latin typeface="Meiryo UI"/>
                <a:ea typeface="Meiryo UI"/>
              </a:rPr>
              <a:t>詳細</a:t>
            </a:r>
            <a:r>
              <a:rPr kumimoji="1" lang="ja-JP" altLang="en-US" sz="900" b="0" i="0" u="none" strike="noStrike" kern="1200" cap="none" spc="0" normalizeH="0" baseline="0" noProof="0" dirty="0">
                <a:ln>
                  <a:noFill/>
                </a:ln>
                <a:solidFill>
                  <a:srgbClr val="292929"/>
                </a:solidFill>
                <a:effectLst/>
                <a:uLnTx/>
                <a:uFillTx/>
                <a:latin typeface="Meiryo UI"/>
                <a:ea typeface="Meiryo UI"/>
                <a:cs typeface="+mn-cs"/>
              </a:rPr>
              <a:t>設計</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p:txBody>
      </p:sp>
      <p:sp>
        <p:nvSpPr>
          <p:cNvPr id="35" name="AutoShape 175">
            <a:extLst>
              <a:ext uri="{FF2B5EF4-FFF2-40B4-BE49-F238E27FC236}">
                <a16:creationId xmlns:a16="http://schemas.microsoft.com/office/drawing/2014/main" id="{D19EA4EB-AE2D-F11D-5692-1A60EDB64673}"/>
              </a:ext>
            </a:extLst>
          </p:cNvPr>
          <p:cNvSpPr>
            <a:spLocks noChangeArrowheads="1"/>
          </p:cNvSpPr>
          <p:nvPr/>
        </p:nvSpPr>
        <p:spPr bwMode="gray">
          <a:xfrm>
            <a:off x="7215647" y="3485419"/>
            <a:ext cx="1031858" cy="288000"/>
          </a:xfrm>
          <a:prstGeom prst="homePlate">
            <a:avLst>
              <a:gd name="adj" fmla="val 51114"/>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dirty="0">
                <a:ln>
                  <a:noFill/>
                </a:ln>
                <a:solidFill>
                  <a:srgbClr val="292929"/>
                </a:solidFill>
                <a:effectLst/>
                <a:uLnTx/>
                <a:uFillTx/>
                <a:latin typeface="Meiryo UI"/>
                <a:ea typeface="Meiryo UI"/>
                <a:cs typeface="+mn-cs"/>
              </a:rPr>
              <a:t>拠点構築</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a:p>
            <a:pPr marL="0" marR="0" lvl="0" indent="0" defTabSz="914400" rtl="0" eaLnBrk="1" fontAlgn="base" latinLnBrk="0" hangingPunct="1">
              <a:lnSpc>
                <a:spcPct val="100000"/>
              </a:lnSpc>
              <a:spcBef>
                <a:spcPct val="0"/>
              </a:spcBef>
              <a:spcAft>
                <a:spcPct val="0"/>
              </a:spcAft>
              <a:buClrTx/>
              <a:buSzTx/>
              <a:buFontTx/>
              <a:buNone/>
              <a:tabLst/>
              <a:defRPr/>
            </a:pPr>
            <a:r>
              <a:rPr lang="ja-JP" altLang="en-US" sz="900" b="0" dirty="0">
                <a:solidFill>
                  <a:srgbClr val="292929"/>
                </a:solidFill>
                <a:latin typeface="Meiryo UI"/>
                <a:ea typeface="Meiryo UI"/>
              </a:rPr>
              <a:t>テスト</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p:txBody>
      </p:sp>
      <p:sp>
        <p:nvSpPr>
          <p:cNvPr id="36" name="AutoShape 175">
            <a:extLst>
              <a:ext uri="{FF2B5EF4-FFF2-40B4-BE49-F238E27FC236}">
                <a16:creationId xmlns:a16="http://schemas.microsoft.com/office/drawing/2014/main" id="{5DEAF8DF-E466-D7CE-2115-66F32FC690AE}"/>
              </a:ext>
            </a:extLst>
          </p:cNvPr>
          <p:cNvSpPr>
            <a:spLocks noChangeArrowheads="1"/>
          </p:cNvSpPr>
          <p:nvPr/>
        </p:nvSpPr>
        <p:spPr bwMode="gray">
          <a:xfrm>
            <a:off x="6255412" y="3485419"/>
            <a:ext cx="960236" cy="288000"/>
          </a:xfrm>
          <a:prstGeom prst="homePlate">
            <a:avLst>
              <a:gd name="adj" fmla="val 35239"/>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dirty="0">
                <a:ln>
                  <a:noFill/>
                </a:ln>
                <a:solidFill>
                  <a:srgbClr val="292929"/>
                </a:solidFill>
                <a:effectLst/>
                <a:uLnTx/>
                <a:uFillTx/>
                <a:latin typeface="Meiryo UI"/>
                <a:ea typeface="Meiryo UI"/>
                <a:cs typeface="+mn-cs"/>
              </a:rPr>
              <a:t>基盤構築</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dirty="0">
                <a:solidFill>
                  <a:srgbClr val="292929"/>
                </a:solidFill>
                <a:latin typeface="Meiryo UI"/>
                <a:ea typeface="Meiryo UI"/>
              </a:rPr>
              <a:t>（本番）</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p:txBody>
      </p:sp>
      <p:sp>
        <p:nvSpPr>
          <p:cNvPr id="37" name="AutoShape 175">
            <a:extLst>
              <a:ext uri="{FF2B5EF4-FFF2-40B4-BE49-F238E27FC236}">
                <a16:creationId xmlns:a16="http://schemas.microsoft.com/office/drawing/2014/main" id="{87F4E452-1C58-220A-E114-3070D54893E8}"/>
              </a:ext>
            </a:extLst>
          </p:cNvPr>
          <p:cNvSpPr>
            <a:spLocks noChangeArrowheads="1"/>
          </p:cNvSpPr>
          <p:nvPr/>
        </p:nvSpPr>
        <p:spPr bwMode="gray">
          <a:xfrm>
            <a:off x="3673669" y="4105050"/>
            <a:ext cx="751360"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基本設計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38" name="AutoShape 175">
            <a:extLst>
              <a:ext uri="{FF2B5EF4-FFF2-40B4-BE49-F238E27FC236}">
                <a16:creationId xmlns:a16="http://schemas.microsoft.com/office/drawing/2014/main" id="{3A9B9EF7-B787-AFFA-78E5-FBD2C82C1AEF}"/>
              </a:ext>
            </a:extLst>
          </p:cNvPr>
          <p:cNvSpPr>
            <a:spLocks noChangeArrowheads="1"/>
          </p:cNvSpPr>
          <p:nvPr/>
        </p:nvSpPr>
        <p:spPr bwMode="gray">
          <a:xfrm>
            <a:off x="4432649" y="4103265"/>
            <a:ext cx="759296"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詳細</a:t>
            </a: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39" name="AutoShape 175">
            <a:extLst>
              <a:ext uri="{FF2B5EF4-FFF2-40B4-BE49-F238E27FC236}">
                <a16:creationId xmlns:a16="http://schemas.microsoft.com/office/drawing/2014/main" id="{6B526B65-60FE-9707-E39E-CC73FC182C1C}"/>
              </a:ext>
            </a:extLst>
          </p:cNvPr>
          <p:cNvSpPr>
            <a:spLocks noChangeArrowheads="1"/>
          </p:cNvSpPr>
          <p:nvPr/>
        </p:nvSpPr>
        <p:spPr bwMode="gray">
          <a:xfrm>
            <a:off x="7261559" y="4103265"/>
            <a:ext cx="985946" cy="2518659"/>
          </a:xfrm>
          <a:prstGeom prst="homePlate">
            <a:avLst>
              <a:gd name="adj" fmla="val 25267"/>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dirty="0">
                <a:ln>
                  <a:noFill/>
                </a:ln>
                <a:solidFill>
                  <a:srgbClr val="292929"/>
                </a:solidFill>
                <a:effectLst/>
                <a:uLnTx/>
                <a:uFillTx/>
                <a:latin typeface="Meiryo UI"/>
                <a:ea typeface="Meiryo UI"/>
                <a:cs typeface="+mn-cs"/>
              </a:rPr>
              <a:t>システムテスト</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p:txBody>
      </p:sp>
      <p:sp>
        <p:nvSpPr>
          <p:cNvPr id="40" name="AutoShape 175">
            <a:extLst>
              <a:ext uri="{FF2B5EF4-FFF2-40B4-BE49-F238E27FC236}">
                <a16:creationId xmlns:a16="http://schemas.microsoft.com/office/drawing/2014/main" id="{CAC544D8-E3B4-E6BC-88FF-DBC4B5A3B435}"/>
              </a:ext>
            </a:extLst>
          </p:cNvPr>
          <p:cNvSpPr>
            <a:spLocks noChangeArrowheads="1"/>
          </p:cNvSpPr>
          <p:nvPr/>
        </p:nvSpPr>
        <p:spPr bwMode="gray">
          <a:xfrm>
            <a:off x="6278151" y="4103265"/>
            <a:ext cx="960236" cy="2518659"/>
          </a:xfrm>
          <a:prstGeom prst="homePlate">
            <a:avLst>
              <a:gd name="adj" fmla="val 21182"/>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dirty="0">
                <a:ln>
                  <a:noFill/>
                </a:ln>
                <a:solidFill>
                  <a:srgbClr val="292929"/>
                </a:solidFill>
                <a:effectLst/>
                <a:uLnTx/>
                <a:uFillTx/>
                <a:latin typeface="Meiryo UI"/>
                <a:ea typeface="Meiryo UI"/>
                <a:cs typeface="+mn-cs"/>
              </a:rPr>
              <a:t>結合テスト</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p:txBody>
      </p:sp>
      <p:sp>
        <p:nvSpPr>
          <p:cNvPr id="46" name="AutoShape 175">
            <a:extLst>
              <a:ext uri="{FF2B5EF4-FFF2-40B4-BE49-F238E27FC236}">
                <a16:creationId xmlns:a16="http://schemas.microsoft.com/office/drawing/2014/main" id="{9825FBF9-2FB3-D88E-B87E-90CA1613B6D6}"/>
              </a:ext>
            </a:extLst>
          </p:cNvPr>
          <p:cNvSpPr>
            <a:spLocks noChangeArrowheads="1"/>
          </p:cNvSpPr>
          <p:nvPr/>
        </p:nvSpPr>
        <p:spPr bwMode="gray">
          <a:xfrm>
            <a:off x="5191944" y="4103265"/>
            <a:ext cx="1085717" cy="288000"/>
          </a:xfrm>
          <a:prstGeom prst="homePlate">
            <a:avLst>
              <a:gd name="adj" fmla="val 35239"/>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製造</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47" name="AutoShape 175">
            <a:extLst>
              <a:ext uri="{FF2B5EF4-FFF2-40B4-BE49-F238E27FC236}">
                <a16:creationId xmlns:a16="http://schemas.microsoft.com/office/drawing/2014/main" id="{5A4A0B54-D4CA-2F50-4F61-CF08DCAAF22D}"/>
              </a:ext>
            </a:extLst>
          </p:cNvPr>
          <p:cNvSpPr>
            <a:spLocks noChangeArrowheads="1"/>
          </p:cNvSpPr>
          <p:nvPr/>
        </p:nvSpPr>
        <p:spPr bwMode="gray">
          <a:xfrm>
            <a:off x="3674159" y="4708354"/>
            <a:ext cx="751360"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基本設計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49" name="AutoShape 175">
            <a:extLst>
              <a:ext uri="{FF2B5EF4-FFF2-40B4-BE49-F238E27FC236}">
                <a16:creationId xmlns:a16="http://schemas.microsoft.com/office/drawing/2014/main" id="{7A245250-9615-F435-8F10-D75E70FA2779}"/>
              </a:ext>
            </a:extLst>
          </p:cNvPr>
          <p:cNvSpPr>
            <a:spLocks noChangeArrowheads="1"/>
          </p:cNvSpPr>
          <p:nvPr/>
        </p:nvSpPr>
        <p:spPr bwMode="gray">
          <a:xfrm>
            <a:off x="4433139" y="4706569"/>
            <a:ext cx="759296"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詳細</a:t>
            </a: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50" name="AutoShape 175">
            <a:extLst>
              <a:ext uri="{FF2B5EF4-FFF2-40B4-BE49-F238E27FC236}">
                <a16:creationId xmlns:a16="http://schemas.microsoft.com/office/drawing/2014/main" id="{9A20C468-41FE-7B9A-4482-10DFAEF0D5FD}"/>
              </a:ext>
            </a:extLst>
          </p:cNvPr>
          <p:cNvSpPr>
            <a:spLocks noChangeArrowheads="1"/>
          </p:cNvSpPr>
          <p:nvPr/>
        </p:nvSpPr>
        <p:spPr bwMode="gray">
          <a:xfrm>
            <a:off x="5192434" y="4706569"/>
            <a:ext cx="1085717" cy="288000"/>
          </a:xfrm>
          <a:prstGeom prst="homePlate">
            <a:avLst>
              <a:gd name="adj" fmla="val 35239"/>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製造</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51" name="AutoShape 175">
            <a:extLst>
              <a:ext uri="{FF2B5EF4-FFF2-40B4-BE49-F238E27FC236}">
                <a16:creationId xmlns:a16="http://schemas.microsoft.com/office/drawing/2014/main" id="{4DBA5F77-E6B1-1DAE-AD6A-6B8EEE055166}"/>
              </a:ext>
            </a:extLst>
          </p:cNvPr>
          <p:cNvSpPr>
            <a:spLocks noChangeArrowheads="1"/>
          </p:cNvSpPr>
          <p:nvPr/>
        </p:nvSpPr>
        <p:spPr bwMode="gray">
          <a:xfrm>
            <a:off x="3666002" y="5255338"/>
            <a:ext cx="751360"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基本設計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54" name="AutoShape 175">
            <a:extLst>
              <a:ext uri="{FF2B5EF4-FFF2-40B4-BE49-F238E27FC236}">
                <a16:creationId xmlns:a16="http://schemas.microsoft.com/office/drawing/2014/main" id="{15D3DAD7-F7E6-7BEE-8399-EB4CEFDD9910}"/>
              </a:ext>
            </a:extLst>
          </p:cNvPr>
          <p:cNvSpPr>
            <a:spLocks noChangeArrowheads="1"/>
          </p:cNvSpPr>
          <p:nvPr/>
        </p:nvSpPr>
        <p:spPr bwMode="gray">
          <a:xfrm>
            <a:off x="4424982" y="5253553"/>
            <a:ext cx="759296"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詳細</a:t>
            </a: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56" name="AutoShape 175">
            <a:extLst>
              <a:ext uri="{FF2B5EF4-FFF2-40B4-BE49-F238E27FC236}">
                <a16:creationId xmlns:a16="http://schemas.microsoft.com/office/drawing/2014/main" id="{07E323C3-551F-1C50-A33F-012446C2D087}"/>
              </a:ext>
            </a:extLst>
          </p:cNvPr>
          <p:cNvSpPr>
            <a:spLocks noChangeArrowheads="1"/>
          </p:cNvSpPr>
          <p:nvPr/>
        </p:nvSpPr>
        <p:spPr bwMode="gray">
          <a:xfrm>
            <a:off x="5184277" y="5253553"/>
            <a:ext cx="1085717" cy="288000"/>
          </a:xfrm>
          <a:prstGeom prst="homePlate">
            <a:avLst>
              <a:gd name="adj" fmla="val 35239"/>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製造</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57" name="AutoShape 175">
            <a:extLst>
              <a:ext uri="{FF2B5EF4-FFF2-40B4-BE49-F238E27FC236}">
                <a16:creationId xmlns:a16="http://schemas.microsoft.com/office/drawing/2014/main" id="{1E9591EB-BD98-DBC8-BA86-B913FEA6D177}"/>
              </a:ext>
            </a:extLst>
          </p:cNvPr>
          <p:cNvSpPr>
            <a:spLocks noChangeArrowheads="1"/>
          </p:cNvSpPr>
          <p:nvPr/>
        </p:nvSpPr>
        <p:spPr bwMode="gray">
          <a:xfrm>
            <a:off x="2665326" y="5251950"/>
            <a:ext cx="1000675" cy="1361203"/>
          </a:xfrm>
          <a:prstGeom prst="homePlate">
            <a:avLst>
              <a:gd name="adj" fmla="val 2217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要件定義</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59" name="AutoShape 175">
            <a:extLst>
              <a:ext uri="{FF2B5EF4-FFF2-40B4-BE49-F238E27FC236}">
                <a16:creationId xmlns:a16="http://schemas.microsoft.com/office/drawing/2014/main" id="{911C3914-A1A0-14F3-CA5A-77601C301A3A}"/>
              </a:ext>
            </a:extLst>
          </p:cNvPr>
          <p:cNvSpPr>
            <a:spLocks noChangeArrowheads="1"/>
          </p:cNvSpPr>
          <p:nvPr/>
        </p:nvSpPr>
        <p:spPr bwMode="gray">
          <a:xfrm>
            <a:off x="3666002" y="5781189"/>
            <a:ext cx="751360"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基本設計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60" name="AutoShape 175">
            <a:extLst>
              <a:ext uri="{FF2B5EF4-FFF2-40B4-BE49-F238E27FC236}">
                <a16:creationId xmlns:a16="http://schemas.microsoft.com/office/drawing/2014/main" id="{60A3CEB0-30E6-922F-F1A7-886EC7082FEC}"/>
              </a:ext>
            </a:extLst>
          </p:cNvPr>
          <p:cNvSpPr>
            <a:spLocks noChangeArrowheads="1"/>
          </p:cNvSpPr>
          <p:nvPr/>
        </p:nvSpPr>
        <p:spPr bwMode="gray">
          <a:xfrm>
            <a:off x="4424982" y="5779404"/>
            <a:ext cx="759296"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詳細</a:t>
            </a: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61" name="AutoShape 175">
            <a:extLst>
              <a:ext uri="{FF2B5EF4-FFF2-40B4-BE49-F238E27FC236}">
                <a16:creationId xmlns:a16="http://schemas.microsoft.com/office/drawing/2014/main" id="{6509323F-E2FA-FA32-AC12-FB00F4016A6B}"/>
              </a:ext>
            </a:extLst>
          </p:cNvPr>
          <p:cNvSpPr>
            <a:spLocks noChangeArrowheads="1"/>
          </p:cNvSpPr>
          <p:nvPr/>
        </p:nvSpPr>
        <p:spPr bwMode="gray">
          <a:xfrm>
            <a:off x="5184277" y="5779404"/>
            <a:ext cx="1085717" cy="288000"/>
          </a:xfrm>
          <a:prstGeom prst="homePlate">
            <a:avLst>
              <a:gd name="adj" fmla="val 35239"/>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製造</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65" name="AutoShape 175">
            <a:extLst>
              <a:ext uri="{FF2B5EF4-FFF2-40B4-BE49-F238E27FC236}">
                <a16:creationId xmlns:a16="http://schemas.microsoft.com/office/drawing/2014/main" id="{6DAD1AD9-58B3-DE2A-1D7D-81603390E6CB}"/>
              </a:ext>
            </a:extLst>
          </p:cNvPr>
          <p:cNvSpPr>
            <a:spLocks noChangeArrowheads="1"/>
          </p:cNvSpPr>
          <p:nvPr/>
        </p:nvSpPr>
        <p:spPr bwMode="gray">
          <a:xfrm>
            <a:off x="3673622" y="6335709"/>
            <a:ext cx="751360"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基本設計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70" name="AutoShape 175">
            <a:extLst>
              <a:ext uri="{FF2B5EF4-FFF2-40B4-BE49-F238E27FC236}">
                <a16:creationId xmlns:a16="http://schemas.microsoft.com/office/drawing/2014/main" id="{262CBD7E-21D1-C539-DD02-8AD7C61D626F}"/>
              </a:ext>
            </a:extLst>
          </p:cNvPr>
          <p:cNvSpPr>
            <a:spLocks noChangeArrowheads="1"/>
          </p:cNvSpPr>
          <p:nvPr/>
        </p:nvSpPr>
        <p:spPr bwMode="gray">
          <a:xfrm>
            <a:off x="4432602" y="6333924"/>
            <a:ext cx="759296" cy="288000"/>
          </a:xfrm>
          <a:prstGeom prst="homePlate">
            <a:avLst>
              <a:gd name="adj" fmla="val 48468"/>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a:solidFill>
                  <a:srgbClr val="292929"/>
                </a:solidFill>
                <a:latin typeface="Meiryo UI"/>
                <a:ea typeface="Meiryo UI"/>
              </a:rPr>
              <a:t>詳細</a:t>
            </a: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設計</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94" name="AutoShape 175">
            <a:extLst>
              <a:ext uri="{FF2B5EF4-FFF2-40B4-BE49-F238E27FC236}">
                <a16:creationId xmlns:a16="http://schemas.microsoft.com/office/drawing/2014/main" id="{23077887-985C-3F92-74F1-985E18B8B6BA}"/>
              </a:ext>
            </a:extLst>
          </p:cNvPr>
          <p:cNvSpPr>
            <a:spLocks noChangeArrowheads="1"/>
          </p:cNvSpPr>
          <p:nvPr/>
        </p:nvSpPr>
        <p:spPr bwMode="gray">
          <a:xfrm>
            <a:off x="5191897" y="6333924"/>
            <a:ext cx="1085717" cy="288000"/>
          </a:xfrm>
          <a:prstGeom prst="homePlate">
            <a:avLst>
              <a:gd name="adj" fmla="val 35239"/>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292929"/>
                </a:solidFill>
                <a:effectLst/>
                <a:uLnTx/>
                <a:uFillTx/>
                <a:latin typeface="Meiryo UI"/>
                <a:ea typeface="Meiryo UI"/>
                <a:cs typeface="+mn-cs"/>
              </a:rPr>
              <a:t>製造</a:t>
            </a:r>
            <a:endParaRPr kumimoji="1" lang="en-US" altLang="ja-JP" sz="900" b="0" i="0" u="none" strike="noStrike" kern="1200" cap="none" spc="0" normalizeH="0" baseline="0" noProof="0">
              <a:ln>
                <a:noFill/>
              </a:ln>
              <a:solidFill>
                <a:srgbClr val="292929"/>
              </a:solidFill>
              <a:effectLst/>
              <a:uLnTx/>
              <a:uFillTx/>
              <a:latin typeface="Meiryo UI"/>
              <a:ea typeface="Meiryo UI"/>
              <a:cs typeface="+mn-cs"/>
            </a:endParaRPr>
          </a:p>
        </p:txBody>
      </p:sp>
      <p:sp>
        <p:nvSpPr>
          <p:cNvPr id="95" name="テキスト ボックス 94">
            <a:extLst>
              <a:ext uri="{FF2B5EF4-FFF2-40B4-BE49-F238E27FC236}">
                <a16:creationId xmlns:a16="http://schemas.microsoft.com/office/drawing/2014/main" id="{399080A5-BA17-ECF8-769E-AE59E2D92733}"/>
              </a:ext>
            </a:extLst>
          </p:cNvPr>
          <p:cNvSpPr txBox="1"/>
          <p:nvPr/>
        </p:nvSpPr>
        <p:spPr>
          <a:xfrm flipH="1">
            <a:off x="6013130" y="2002420"/>
            <a:ext cx="992259" cy="123111"/>
          </a:xfrm>
          <a:prstGeom prst="rect">
            <a:avLst/>
          </a:prstGeom>
          <a:solidFill>
            <a:srgbClr val="FFFFFF"/>
          </a:solidFill>
        </p:spPr>
        <p:txBody>
          <a:bodyPr wrap="none" lIns="0" tIns="0" rIns="0" bIns="0"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a:t>
            </a:r>
            <a:r>
              <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rPr>
              <a:t>27/1 </a:t>
            </a: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開発環境開放</a:t>
            </a:r>
            <a:endPar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endParaRPr>
          </a:p>
        </p:txBody>
      </p:sp>
      <p:sp>
        <p:nvSpPr>
          <p:cNvPr id="96" name="テキスト ボックス 95">
            <a:extLst>
              <a:ext uri="{FF2B5EF4-FFF2-40B4-BE49-F238E27FC236}">
                <a16:creationId xmlns:a16="http://schemas.microsoft.com/office/drawing/2014/main" id="{FBCBC00C-7CB1-7834-64C5-052C43135EA7}"/>
              </a:ext>
            </a:extLst>
          </p:cNvPr>
          <p:cNvSpPr txBox="1"/>
          <p:nvPr/>
        </p:nvSpPr>
        <p:spPr>
          <a:xfrm flipH="1">
            <a:off x="6942951" y="2148073"/>
            <a:ext cx="1324080" cy="123111"/>
          </a:xfrm>
          <a:prstGeom prst="rect">
            <a:avLst/>
          </a:prstGeom>
          <a:solidFill>
            <a:srgbClr val="FFFFFF"/>
          </a:solidFill>
        </p:spPr>
        <p:txBody>
          <a:bodyPr wrap="none" lIns="0" tIns="0" rIns="0" bIns="0"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a:t>
            </a:r>
            <a:r>
              <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rPr>
              <a:t>27/5 </a:t>
            </a: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本番テスト用環境開放</a:t>
            </a:r>
            <a:endPar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endParaRPr>
          </a:p>
        </p:txBody>
      </p:sp>
      <p:sp>
        <p:nvSpPr>
          <p:cNvPr id="97" name="テキスト ボックス 96">
            <a:extLst>
              <a:ext uri="{FF2B5EF4-FFF2-40B4-BE49-F238E27FC236}">
                <a16:creationId xmlns:a16="http://schemas.microsoft.com/office/drawing/2014/main" id="{C3A056B4-91A4-3B91-DB27-4EEDB721D463}"/>
              </a:ext>
            </a:extLst>
          </p:cNvPr>
          <p:cNvSpPr txBox="1"/>
          <p:nvPr/>
        </p:nvSpPr>
        <p:spPr>
          <a:xfrm flipH="1">
            <a:off x="8280073" y="2337507"/>
            <a:ext cx="851195" cy="123111"/>
          </a:xfrm>
          <a:prstGeom prst="rect">
            <a:avLst/>
          </a:prstGeom>
          <a:solidFill>
            <a:srgbClr val="FFFFFF"/>
          </a:solidFill>
        </p:spPr>
        <p:txBody>
          <a:bodyPr wrap="none" lIns="0" tIns="0" rIns="0" bIns="0"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a:t>
            </a:r>
            <a:r>
              <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rPr>
              <a:t>27/10 </a:t>
            </a: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移行開始</a:t>
            </a:r>
            <a:endPar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endParaRPr>
          </a:p>
        </p:txBody>
      </p:sp>
      <p:sp>
        <p:nvSpPr>
          <p:cNvPr id="98" name="テキスト ボックス 97">
            <a:extLst>
              <a:ext uri="{FF2B5EF4-FFF2-40B4-BE49-F238E27FC236}">
                <a16:creationId xmlns:a16="http://schemas.microsoft.com/office/drawing/2014/main" id="{4F700D0A-82FC-4B5E-8E80-38222D082CFA}"/>
              </a:ext>
            </a:extLst>
          </p:cNvPr>
          <p:cNvSpPr txBox="1"/>
          <p:nvPr/>
        </p:nvSpPr>
        <p:spPr>
          <a:xfrm flipH="1">
            <a:off x="9045707" y="2504414"/>
            <a:ext cx="787075" cy="123111"/>
          </a:xfrm>
          <a:prstGeom prst="rect">
            <a:avLst/>
          </a:prstGeom>
          <a:solidFill>
            <a:srgbClr val="FFFFFF"/>
          </a:solidFill>
        </p:spPr>
        <p:txBody>
          <a:bodyPr wrap="none" lIns="0" tIns="0" rIns="0" bIns="0"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a:t>
            </a:r>
            <a:r>
              <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rPr>
              <a:t>28/1 </a:t>
            </a: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移行完了</a:t>
            </a:r>
            <a:endPar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endParaRPr>
          </a:p>
        </p:txBody>
      </p:sp>
      <p:sp>
        <p:nvSpPr>
          <p:cNvPr id="99" name="テキスト ボックス 98">
            <a:extLst>
              <a:ext uri="{FF2B5EF4-FFF2-40B4-BE49-F238E27FC236}">
                <a16:creationId xmlns:a16="http://schemas.microsoft.com/office/drawing/2014/main" id="{50339980-2DDB-8E9A-8D7F-55805DE0E941}"/>
              </a:ext>
            </a:extLst>
          </p:cNvPr>
          <p:cNvSpPr txBox="1"/>
          <p:nvPr/>
        </p:nvSpPr>
        <p:spPr>
          <a:xfrm flipH="1">
            <a:off x="2588898" y="2337507"/>
            <a:ext cx="2067874" cy="123111"/>
          </a:xfrm>
          <a:prstGeom prst="rect">
            <a:avLst/>
          </a:prstGeom>
          <a:solidFill>
            <a:srgbClr val="FFFFFF"/>
          </a:solidFill>
        </p:spPr>
        <p:txBody>
          <a:bodyPr wrap="none" lIns="0" tIns="0" rIns="0" bIns="0"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a:t>
            </a:r>
            <a:r>
              <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rPr>
              <a:t>25/12 </a:t>
            </a:r>
            <a:r>
              <a:rPr kumimoji="0" lang="ja-JP" altLang="en-US" sz="800" kern="0" dirty="0">
                <a:latin typeface="Meiryo UI"/>
                <a:ea typeface="Meiryo UI"/>
                <a:cs typeface="Meiryo UI" panose="020B0604030504040204" pitchFamily="50" charset="-128"/>
              </a:rPr>
              <a:t>要件定義着手（アウト・関連システム）</a:t>
            </a:r>
            <a:endPar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endParaRPr>
          </a:p>
        </p:txBody>
      </p:sp>
      <p:sp>
        <p:nvSpPr>
          <p:cNvPr id="100" name="テキスト ボックス 99">
            <a:extLst>
              <a:ext uri="{FF2B5EF4-FFF2-40B4-BE49-F238E27FC236}">
                <a16:creationId xmlns:a16="http://schemas.microsoft.com/office/drawing/2014/main" id="{D1F0F6B9-60C0-61D6-E7B9-6764879A59FA}"/>
              </a:ext>
            </a:extLst>
          </p:cNvPr>
          <p:cNvSpPr txBox="1"/>
          <p:nvPr/>
        </p:nvSpPr>
        <p:spPr>
          <a:xfrm flipH="1">
            <a:off x="3375446" y="2648865"/>
            <a:ext cx="779059" cy="123111"/>
          </a:xfrm>
          <a:prstGeom prst="rect">
            <a:avLst/>
          </a:prstGeom>
          <a:solidFill>
            <a:srgbClr val="FFFFFF"/>
          </a:solidFill>
        </p:spPr>
        <p:txBody>
          <a:bodyPr wrap="none" lIns="0" tIns="0" rIns="0" bIns="0"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a:t>
            </a:r>
            <a:r>
              <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rPr>
              <a:t>26/3</a:t>
            </a:r>
            <a:r>
              <a:rPr kumimoji="0" lang="ja-JP" altLang="en-US" sz="800" kern="0" dirty="0">
                <a:latin typeface="Meiryo UI"/>
                <a:ea typeface="Meiryo UI"/>
                <a:cs typeface="Meiryo UI" panose="020B0604030504040204" pitchFamily="50" charset="-128"/>
              </a:rPr>
              <a:t> </a:t>
            </a:r>
            <a:r>
              <a:rPr kumimoji="0" lang="en-US" altLang="ja-JP" sz="800" kern="0" dirty="0">
                <a:latin typeface="Meiryo UI"/>
                <a:ea typeface="Meiryo UI"/>
                <a:cs typeface="Meiryo UI" panose="020B0604030504040204" pitchFamily="50" charset="-128"/>
              </a:rPr>
              <a:t>CC</a:t>
            </a:r>
            <a:r>
              <a:rPr kumimoji="0" lang="ja-JP" altLang="en-US" sz="800" kern="0" dirty="0">
                <a:latin typeface="Meiryo UI"/>
                <a:ea typeface="Meiryo UI"/>
                <a:cs typeface="Meiryo UI" panose="020B0604030504040204" pitchFamily="50" charset="-128"/>
              </a:rPr>
              <a:t>シス戦</a:t>
            </a:r>
            <a:endPar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endParaRPr>
          </a:p>
        </p:txBody>
      </p:sp>
      <p:sp>
        <p:nvSpPr>
          <p:cNvPr id="101" name="テキスト ボックス 100">
            <a:extLst>
              <a:ext uri="{FF2B5EF4-FFF2-40B4-BE49-F238E27FC236}">
                <a16:creationId xmlns:a16="http://schemas.microsoft.com/office/drawing/2014/main" id="{858B579A-2B5D-24A7-849E-A787DEF8DF11}"/>
              </a:ext>
            </a:extLst>
          </p:cNvPr>
          <p:cNvSpPr txBox="1"/>
          <p:nvPr/>
        </p:nvSpPr>
        <p:spPr>
          <a:xfrm flipH="1">
            <a:off x="3721824" y="2000779"/>
            <a:ext cx="787075" cy="123111"/>
          </a:xfrm>
          <a:prstGeom prst="rect">
            <a:avLst/>
          </a:prstGeom>
          <a:solidFill>
            <a:srgbClr val="FFFFFF"/>
          </a:solidFill>
        </p:spPr>
        <p:txBody>
          <a:bodyPr wrap="none" lIns="0" tIns="0" rIns="0" bIns="0"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a:t>
            </a:r>
            <a:r>
              <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rPr>
              <a:t>26/4 </a:t>
            </a:r>
            <a:r>
              <a:rPr kumimoji="0" lang="ja-JP" altLang="en-US" sz="800" i="0" u="none" strike="noStrike" kern="0" cap="none" spc="0" normalizeH="0" baseline="0" noProof="0" dirty="0">
                <a:ln>
                  <a:noFill/>
                </a:ln>
                <a:effectLst/>
                <a:uLnTx/>
                <a:uFillTx/>
                <a:latin typeface="Meiryo UI"/>
                <a:ea typeface="Meiryo UI"/>
                <a:cs typeface="Meiryo UI" panose="020B0604030504040204" pitchFamily="50" charset="-128"/>
              </a:rPr>
              <a:t>開発</a:t>
            </a:r>
            <a:r>
              <a:rPr kumimoji="0" lang="ja-JP" altLang="en-US" sz="800" kern="0" dirty="0">
                <a:latin typeface="Meiryo UI"/>
                <a:ea typeface="Meiryo UI"/>
                <a:cs typeface="Meiryo UI" panose="020B0604030504040204" pitchFamily="50" charset="-128"/>
              </a:rPr>
              <a:t>着手</a:t>
            </a:r>
            <a:endParaRPr kumimoji="0" lang="en-US" altLang="ja-JP" sz="800" i="0" u="none" strike="noStrike" kern="0" cap="none" spc="0" normalizeH="0" baseline="0" noProof="0" dirty="0">
              <a:ln>
                <a:noFill/>
              </a:ln>
              <a:effectLst/>
              <a:uLnTx/>
              <a:uFillTx/>
              <a:latin typeface="Meiryo UI"/>
              <a:ea typeface="Meiryo UI"/>
              <a:cs typeface="Meiryo UI" panose="020B0604030504040204" pitchFamily="50" charset="-128"/>
            </a:endParaRPr>
          </a:p>
        </p:txBody>
      </p:sp>
      <p:sp>
        <p:nvSpPr>
          <p:cNvPr id="102" name="AutoShape 175">
            <a:extLst>
              <a:ext uri="{FF2B5EF4-FFF2-40B4-BE49-F238E27FC236}">
                <a16:creationId xmlns:a16="http://schemas.microsoft.com/office/drawing/2014/main" id="{CF8DE3D4-5EB9-2004-1BD9-A51F2AB6C6E0}"/>
              </a:ext>
            </a:extLst>
          </p:cNvPr>
          <p:cNvSpPr>
            <a:spLocks noChangeArrowheads="1"/>
          </p:cNvSpPr>
          <p:nvPr/>
        </p:nvSpPr>
        <p:spPr bwMode="gray">
          <a:xfrm>
            <a:off x="5199272" y="3485419"/>
            <a:ext cx="1048193" cy="288000"/>
          </a:xfrm>
          <a:prstGeom prst="homePlate">
            <a:avLst>
              <a:gd name="adj" fmla="val 35239"/>
            </a:avLst>
          </a:prstGeom>
          <a:solidFill>
            <a:srgbClr val="D4ECF6"/>
          </a:solidFill>
          <a:ln w="12700" algn="ctr">
            <a:solidFill>
              <a:srgbClr val="0072CE"/>
            </a:solidFill>
            <a:miter lim="800000"/>
            <a:headEnd/>
            <a:tailEnd/>
          </a:ln>
          <a:effectLst/>
        </p:spPr>
        <p:txBody>
          <a:bodyPr wrap="none" lIns="36000" tIns="36000" rIns="36000" bIns="36000" anchor="ctr"/>
          <a:lstStyle>
            <a:defPPr>
              <a:defRPr lang="ja-JP"/>
            </a:defPPr>
            <a:lvl1pPr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1pPr>
            <a:lvl2pPr marL="4572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2pPr>
            <a:lvl3pPr marL="9144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3pPr>
            <a:lvl4pPr marL="13716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4pPr>
            <a:lvl5pPr marL="1828800" algn="ctr" rtl="0" fontAlgn="base">
              <a:spcBef>
                <a:spcPct val="20000"/>
              </a:spcBef>
              <a:spcAft>
                <a:spcPct val="0"/>
              </a:spcAft>
              <a:defRPr kumimoji="1" sz="12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2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2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2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200" b="1"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900" b="0" i="0" u="none" strike="noStrike" kern="1200" cap="none" spc="0" normalizeH="0" baseline="0" noProof="0" dirty="0">
                <a:ln>
                  <a:noFill/>
                </a:ln>
                <a:solidFill>
                  <a:srgbClr val="292929"/>
                </a:solidFill>
                <a:effectLst/>
                <a:uLnTx/>
                <a:uFillTx/>
                <a:latin typeface="Meiryo UI"/>
                <a:ea typeface="Meiryo UI"/>
                <a:cs typeface="+mn-cs"/>
              </a:rPr>
              <a:t>基盤構築</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900" b="0" dirty="0">
                <a:solidFill>
                  <a:srgbClr val="292929"/>
                </a:solidFill>
                <a:latin typeface="Meiryo UI"/>
                <a:ea typeface="Meiryo UI"/>
              </a:rPr>
              <a:t>（開発）</a:t>
            </a:r>
            <a:endParaRPr kumimoji="1" lang="en-US" altLang="ja-JP" sz="900" b="0" i="0" u="none" strike="noStrike" kern="1200" cap="none" spc="0" normalizeH="0" baseline="0" noProof="0" dirty="0">
              <a:ln>
                <a:noFill/>
              </a:ln>
              <a:solidFill>
                <a:srgbClr val="292929"/>
              </a:solidFill>
              <a:effectLst/>
              <a:uLnTx/>
              <a:uFillTx/>
              <a:latin typeface="Meiryo UI"/>
              <a:ea typeface="Meiryo UI"/>
              <a:cs typeface="+mn-cs"/>
            </a:endParaRPr>
          </a:p>
        </p:txBody>
      </p:sp>
      <p:sp>
        <p:nvSpPr>
          <p:cNvPr id="104" name="Text Box 3">
            <a:extLst>
              <a:ext uri="{FF2B5EF4-FFF2-40B4-BE49-F238E27FC236}">
                <a16:creationId xmlns:a16="http://schemas.microsoft.com/office/drawing/2014/main" id="{B07358E9-FA2D-0CD0-5BCE-76332EA71316}"/>
              </a:ext>
            </a:extLst>
          </p:cNvPr>
          <p:cNvSpPr txBox="1">
            <a:spLocks noChangeArrowheads="1"/>
          </p:cNvSpPr>
          <p:nvPr/>
        </p:nvSpPr>
        <p:spPr bwMode="auto">
          <a:xfrm>
            <a:off x="118642" y="587080"/>
            <a:ext cx="9668716" cy="744897"/>
          </a:xfrm>
          <a:prstGeom prst="rect">
            <a:avLst/>
          </a:prstGeom>
          <a:noFill/>
          <a:ln w="9525">
            <a:noFill/>
            <a:miter lim="800000"/>
            <a:headEnd/>
            <a:tailEnd/>
          </a:ln>
        </p:spPr>
        <p:txBody>
          <a:bodyPr lIns="108000" tIns="0" bIns="0" anchor="ctr" anchorCtr="0"/>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285750" indent="-285750">
              <a:spcBef>
                <a:spcPts val="100"/>
              </a:spcBef>
              <a:buFont typeface="Wingdings" panose="05000000000000000000" pitchFamily="2" charset="2"/>
              <a:buChar char="l"/>
            </a:pPr>
            <a:r>
              <a:rPr kumimoji="1" lang="ja-JP" altLang="en-US" sz="1400" dirty="0">
                <a:solidFill>
                  <a:schemeClr val="tx1"/>
                </a:solidFill>
                <a:latin typeface="+mn-ea"/>
                <a:ea typeface="+mn-ea"/>
              </a:rPr>
              <a:t>現時点の開発規模を前提とした場合、開発期間は設計～本番移行まで約</a:t>
            </a:r>
            <a:r>
              <a:rPr kumimoji="1" lang="en-US" altLang="ja-JP" sz="1400" dirty="0">
                <a:solidFill>
                  <a:schemeClr val="tx1"/>
                </a:solidFill>
                <a:latin typeface="+mn-ea"/>
                <a:ea typeface="+mn-ea"/>
              </a:rPr>
              <a:t>22</a:t>
            </a:r>
            <a:r>
              <a:rPr kumimoji="1" lang="ja-JP" altLang="en-US" sz="1400" dirty="0">
                <a:solidFill>
                  <a:schemeClr val="tx1"/>
                </a:solidFill>
                <a:latin typeface="+mn-ea"/>
                <a:ea typeface="+mn-ea"/>
              </a:rPr>
              <a:t>ヶ月と試算</a:t>
            </a:r>
          </a:p>
          <a:p>
            <a:pPr marL="285750" indent="-285750">
              <a:spcBef>
                <a:spcPts val="100"/>
              </a:spcBef>
              <a:buFont typeface="Wingdings" panose="05000000000000000000" pitchFamily="2" charset="2"/>
              <a:buChar char="l"/>
            </a:pPr>
            <a:r>
              <a:rPr kumimoji="1" lang="ja-JP" altLang="en-US" sz="1400" dirty="0">
                <a:solidFill>
                  <a:schemeClr val="tx1"/>
                </a:solidFill>
                <a:latin typeface="+mn-ea"/>
                <a:ea typeface="+mn-ea"/>
              </a:rPr>
              <a:t>インテル共通基盤の保守期限が</a:t>
            </a:r>
            <a:r>
              <a:rPr kumimoji="1" lang="en-US" altLang="ja-JP" sz="1400" dirty="0">
                <a:solidFill>
                  <a:schemeClr val="tx1"/>
                </a:solidFill>
                <a:latin typeface="+mn-ea"/>
                <a:ea typeface="+mn-ea"/>
              </a:rPr>
              <a:t>2028/1</a:t>
            </a:r>
            <a:r>
              <a:rPr kumimoji="1" lang="ja-JP" altLang="en-US" sz="1400" dirty="0">
                <a:solidFill>
                  <a:schemeClr val="tx1"/>
                </a:solidFill>
                <a:latin typeface="+mn-ea"/>
                <a:ea typeface="+mn-ea"/>
              </a:rPr>
              <a:t>であることから、移行期間の短縮を目標設定しているが、移行ショットの実現性検討が必要</a:t>
            </a:r>
          </a:p>
          <a:p>
            <a:pPr marL="285750" indent="-285750">
              <a:spcBef>
                <a:spcPts val="100"/>
              </a:spcBef>
              <a:buFont typeface="Wingdings" panose="05000000000000000000" pitchFamily="2" charset="2"/>
              <a:buChar char="l"/>
            </a:pPr>
            <a:r>
              <a:rPr kumimoji="1" lang="ja-JP" altLang="en-US" sz="1400" dirty="0">
                <a:solidFill>
                  <a:schemeClr val="tx1"/>
                </a:solidFill>
                <a:latin typeface="+mn-ea"/>
                <a:ea typeface="+mn-ea"/>
              </a:rPr>
              <a:t>要件定義にて、その実現性を検証の上、開発計画を詳細化を行う予定</a:t>
            </a:r>
          </a:p>
        </p:txBody>
      </p:sp>
    </p:spTree>
    <p:extLst>
      <p:ext uri="{BB962C8B-B14F-4D97-AF65-F5344CB8AC3E}">
        <p14:creationId xmlns:p14="http://schemas.microsoft.com/office/powerpoint/2010/main" val="3317482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695FBE-C3B4-4C77-9231-568B96B4DB95}"/>
              </a:ext>
            </a:extLst>
          </p:cNvPr>
          <p:cNvSpPr>
            <a:spLocks noGrp="1"/>
          </p:cNvSpPr>
          <p:nvPr>
            <p:ph type="title" idx="4294967295"/>
          </p:nvPr>
        </p:nvSpPr>
        <p:spPr>
          <a:xfrm>
            <a:off x="603801" y="133040"/>
            <a:ext cx="9004300" cy="334962"/>
          </a:xfrm>
          <a:prstGeom prst="rect">
            <a:avLst/>
          </a:prstGeom>
        </p:spPr>
        <p:txBody>
          <a:bodyPr/>
          <a:lstStyle/>
          <a:p>
            <a:r>
              <a:rPr kumimoji="1" lang="ja-JP" altLang="en-US">
                <a:latin typeface="+mj-lt"/>
              </a:rPr>
              <a:t>４</a:t>
            </a:r>
            <a:r>
              <a:rPr kumimoji="1" lang="en-US" altLang="ja-JP">
                <a:latin typeface="+mj-lt"/>
              </a:rPr>
              <a:t>-</a:t>
            </a:r>
            <a:r>
              <a:rPr kumimoji="1" lang="ja-JP" altLang="en-US">
                <a:latin typeface="+mj-lt"/>
              </a:rPr>
              <a:t>２．</a:t>
            </a:r>
            <a:r>
              <a:rPr kumimoji="1" lang="en-US" altLang="ja-JP">
                <a:latin typeface="+mj-lt"/>
              </a:rPr>
              <a:t>【</a:t>
            </a:r>
            <a:r>
              <a:rPr kumimoji="1" lang="ja-JP" altLang="en-US">
                <a:latin typeface="+mj-lt"/>
              </a:rPr>
              <a:t>スケジュール管理</a:t>
            </a:r>
            <a:r>
              <a:rPr kumimoji="1" lang="en-US" altLang="ja-JP">
                <a:latin typeface="+mj-lt"/>
              </a:rPr>
              <a:t>】</a:t>
            </a:r>
            <a:r>
              <a:rPr kumimoji="1" lang="ja-JP" altLang="en-US">
                <a:latin typeface="+mj-lt"/>
              </a:rPr>
              <a:t>決裁予定</a:t>
            </a:r>
            <a:endParaRPr kumimoji="1" lang="ja-JP" altLang="en-US"/>
          </a:p>
        </p:txBody>
      </p:sp>
      <p:graphicFrame>
        <p:nvGraphicFramePr>
          <p:cNvPr id="39" name="表 38">
            <a:extLst>
              <a:ext uri="{FF2B5EF4-FFF2-40B4-BE49-F238E27FC236}">
                <a16:creationId xmlns:a16="http://schemas.microsoft.com/office/drawing/2014/main" id="{F97FBDD1-E9DC-4914-91A1-6FC0F1E885C2}"/>
              </a:ext>
            </a:extLst>
          </p:cNvPr>
          <p:cNvGraphicFramePr>
            <a:graphicFrameLocks noGrp="1"/>
          </p:cNvGraphicFramePr>
          <p:nvPr>
            <p:extLst>
              <p:ext uri="{D42A27DB-BD31-4B8C-83A1-F6EECF244321}">
                <p14:modId xmlns:p14="http://schemas.microsoft.com/office/powerpoint/2010/main" val="2722501153"/>
              </p:ext>
            </p:extLst>
          </p:nvPr>
        </p:nvGraphicFramePr>
        <p:xfrm>
          <a:off x="154215" y="670479"/>
          <a:ext cx="9570230" cy="3687596"/>
        </p:xfrm>
        <a:graphic>
          <a:graphicData uri="http://schemas.openxmlformats.org/drawingml/2006/table">
            <a:tbl>
              <a:tblPr firstRow="1" bandRow="1">
                <a:tableStyleId>{5940675A-B579-460E-94D1-54222C63F5DA}</a:tableStyleId>
              </a:tblPr>
              <a:tblGrid>
                <a:gridCol w="423908">
                  <a:extLst>
                    <a:ext uri="{9D8B030D-6E8A-4147-A177-3AD203B41FA5}">
                      <a16:colId xmlns:a16="http://schemas.microsoft.com/office/drawing/2014/main" val="1931433691"/>
                    </a:ext>
                  </a:extLst>
                </a:gridCol>
                <a:gridCol w="1453964">
                  <a:extLst>
                    <a:ext uri="{9D8B030D-6E8A-4147-A177-3AD203B41FA5}">
                      <a16:colId xmlns:a16="http://schemas.microsoft.com/office/drawing/2014/main" val="24544654"/>
                    </a:ext>
                  </a:extLst>
                </a:gridCol>
                <a:gridCol w="1738294">
                  <a:extLst>
                    <a:ext uri="{9D8B030D-6E8A-4147-A177-3AD203B41FA5}">
                      <a16:colId xmlns:a16="http://schemas.microsoft.com/office/drawing/2014/main" val="13642073"/>
                    </a:ext>
                  </a:extLst>
                </a:gridCol>
                <a:gridCol w="4447059">
                  <a:extLst>
                    <a:ext uri="{9D8B030D-6E8A-4147-A177-3AD203B41FA5}">
                      <a16:colId xmlns:a16="http://schemas.microsoft.com/office/drawing/2014/main" val="3365088887"/>
                    </a:ext>
                  </a:extLst>
                </a:gridCol>
                <a:gridCol w="1507005">
                  <a:extLst>
                    <a:ext uri="{9D8B030D-6E8A-4147-A177-3AD203B41FA5}">
                      <a16:colId xmlns:a16="http://schemas.microsoft.com/office/drawing/2014/main" val="769691687"/>
                    </a:ext>
                  </a:extLst>
                </a:gridCol>
              </a:tblGrid>
              <a:tr h="252000">
                <a:tc gridSpan="2">
                  <a:txBody>
                    <a:bodyPr/>
                    <a:lstStyle/>
                    <a:p>
                      <a:pPr marL="0" algn="ctr" defTabSz="914400" rtl="0" eaLnBrk="1" latinLnBrk="0" hangingPunct="1"/>
                      <a:r>
                        <a:rPr kumimoji="1" lang="ja-JP" altLang="en-US" sz="1600" b="0" kern="1200">
                          <a:solidFill>
                            <a:schemeClr val="bg1"/>
                          </a:solidFill>
                          <a:latin typeface="Meiryo UI" pitchFamily="50" charset="-128"/>
                          <a:ea typeface="Meiryo UI" pitchFamily="50" charset="-128"/>
                        </a:rPr>
                        <a:t>決裁</a:t>
                      </a:r>
                      <a:endParaRPr kumimoji="1" lang="ja-JP" altLang="en-US" sz="2000" b="0" kern="1200">
                        <a:solidFill>
                          <a:schemeClr val="bg1"/>
                        </a:solidFill>
                        <a:latin typeface="Meiryo UI" pitchFamily="50" charset="-128"/>
                        <a:ea typeface="Meiryo UI" pitchFamily="50" charset="-128"/>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00588F"/>
                    </a:solidFill>
                  </a:tcPr>
                </a:tc>
                <a:tc hMerge="1">
                  <a:txBody>
                    <a:bodyPr/>
                    <a:lstStyle/>
                    <a:p>
                      <a:pPr marL="0" algn="ctr" defTabSz="914400" rtl="0" eaLnBrk="1" latinLnBrk="0" hangingPunct="1"/>
                      <a:r>
                        <a:rPr kumimoji="1" lang="ja-JP" altLang="en-US" sz="1400" b="0" kern="1200">
                          <a:solidFill>
                            <a:schemeClr val="tx1"/>
                          </a:solidFill>
                          <a:latin typeface="Meiryo UI" pitchFamily="50" charset="-128"/>
                          <a:ea typeface="Meiryo UI" pitchFamily="50" charset="-128"/>
                          <a:cs typeface="Meiryo UI" pitchFamily="50" charset="-128"/>
                        </a:rPr>
                        <a:t>タイミング</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CCFFCC"/>
                    </a:solidFill>
                  </a:tcPr>
                </a:tc>
                <a:tc>
                  <a:txBody>
                    <a:bodyPr/>
                    <a:lstStyle/>
                    <a:p>
                      <a:pPr marL="0" algn="ctr" defTabSz="914400" rtl="0" eaLnBrk="1" latinLnBrk="0" hangingPunct="1"/>
                      <a:r>
                        <a:rPr kumimoji="1" lang="ja-JP" altLang="en-US" sz="1600" b="0" kern="1200">
                          <a:solidFill>
                            <a:schemeClr val="bg1"/>
                          </a:solidFill>
                          <a:latin typeface="Meiryo UI" pitchFamily="50" charset="-128"/>
                          <a:ea typeface="Meiryo UI" pitchFamily="50" charset="-128"/>
                          <a:cs typeface="Meiryo UI" pitchFamily="50" charset="-128"/>
                        </a:rPr>
                        <a:t>対象</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00588F"/>
                    </a:solidFill>
                  </a:tcPr>
                </a:tc>
                <a:tc>
                  <a:txBody>
                    <a:bodyPr/>
                    <a:lstStyle/>
                    <a:p>
                      <a:pPr marL="0" algn="ctr" defTabSz="914400" rtl="0" eaLnBrk="1" latinLnBrk="0" hangingPunct="1"/>
                      <a:r>
                        <a:rPr kumimoji="1" lang="ja-JP" altLang="en-US" sz="1600" b="0" kern="1200">
                          <a:solidFill>
                            <a:schemeClr val="bg1"/>
                          </a:solidFill>
                          <a:latin typeface="Meiryo UI" pitchFamily="50" charset="-128"/>
                          <a:ea typeface="Meiryo UI" pitchFamily="50" charset="-128"/>
                          <a:cs typeface="Meiryo UI" pitchFamily="50" charset="-128"/>
                        </a:rPr>
                        <a:t>内容</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00588F"/>
                    </a:solidFill>
                  </a:tcPr>
                </a:tc>
                <a:tc>
                  <a:txBody>
                    <a:bodyPr/>
                    <a:lstStyle/>
                    <a:p>
                      <a:pPr marL="0" algn="ctr" defTabSz="914400" rtl="0" eaLnBrk="1" latinLnBrk="0" hangingPunct="1"/>
                      <a:r>
                        <a:rPr kumimoji="1" lang="ja-JP" altLang="en-US" sz="1600" b="0" kern="1200">
                          <a:solidFill>
                            <a:schemeClr val="bg1"/>
                          </a:solidFill>
                          <a:latin typeface="Meiryo UI" pitchFamily="50" charset="-128"/>
                          <a:ea typeface="Meiryo UI" pitchFamily="50" charset="-128"/>
                          <a:cs typeface="Meiryo UI" pitchFamily="50" charset="-128"/>
                        </a:rPr>
                        <a:t>承認</a:t>
                      </a:r>
                      <a:r>
                        <a:rPr kumimoji="1" lang="en-US" altLang="ja-JP" sz="1600" b="0" kern="1200">
                          <a:solidFill>
                            <a:schemeClr val="bg1"/>
                          </a:solidFill>
                          <a:latin typeface="Meiryo UI" pitchFamily="50" charset="-128"/>
                          <a:ea typeface="Meiryo UI" pitchFamily="50" charset="-128"/>
                          <a:cs typeface="Meiryo UI" pitchFamily="50" charset="-128"/>
                        </a:rPr>
                        <a:t>/</a:t>
                      </a:r>
                      <a:r>
                        <a:rPr kumimoji="1" lang="ja-JP" altLang="en-US" sz="1600" b="0" kern="1200">
                          <a:solidFill>
                            <a:schemeClr val="bg1"/>
                          </a:solidFill>
                          <a:latin typeface="Meiryo UI" pitchFamily="50" charset="-128"/>
                          <a:ea typeface="Meiryo UI" pitchFamily="50" charset="-128"/>
                          <a:cs typeface="Meiryo UI" pitchFamily="50" charset="-128"/>
                        </a:rPr>
                        <a:t>決裁</a:t>
                      </a:r>
                      <a:endParaRPr kumimoji="1" lang="en-US" altLang="ja-JP" sz="1600" b="0" kern="1200">
                        <a:solidFill>
                          <a:schemeClr val="bg1"/>
                        </a:solidFill>
                        <a:latin typeface="Meiryo UI" pitchFamily="50" charset="-128"/>
                        <a:ea typeface="Meiryo UI" pitchFamily="50" charset="-128"/>
                        <a:cs typeface="Meiryo UI" pitchFamily="50" charset="-128"/>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00588F"/>
                    </a:solidFill>
                  </a:tcPr>
                </a:tc>
                <a:extLst>
                  <a:ext uri="{0D108BD9-81ED-4DB2-BD59-A6C34878D82A}">
                    <a16:rowId xmlns:a16="http://schemas.microsoft.com/office/drawing/2014/main" val="3323495797"/>
                  </a:ext>
                </a:extLst>
              </a:tr>
              <a:tr h="525956">
                <a:tc>
                  <a:txBody>
                    <a:bodyPr/>
                    <a:lstStyle/>
                    <a:p>
                      <a:pPr algn="ctr"/>
                      <a:r>
                        <a:rPr kumimoji="1" lang="ja-JP" altLang="en-US" sz="1400">
                          <a:latin typeface="Meiryo UI" pitchFamily="50" charset="-128"/>
                          <a:ea typeface="Meiryo UI" pitchFamily="50" charset="-128"/>
                          <a:cs typeface="Meiryo UI" pitchFamily="50" charset="-128"/>
                        </a:rPr>
                        <a:t>１</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ja-JP" altLang="en-US" sz="1200" b="0" dirty="0">
                          <a:latin typeface="+mn-ea"/>
                          <a:ea typeface="+mn-ea"/>
                        </a:rPr>
                        <a:t>第一回</a:t>
                      </a:r>
                      <a:endParaRPr kumimoji="1" lang="en-US" altLang="ja-JP" sz="1200" b="1" dirty="0">
                        <a:solidFill>
                          <a:srgbClr val="0000FF"/>
                        </a:solidFill>
                        <a:latin typeface="+mn-ea"/>
                        <a:ea typeface="+mn-ea"/>
                      </a:endParaRPr>
                    </a:p>
                    <a:p>
                      <a:pPr algn="l"/>
                      <a:r>
                        <a:rPr kumimoji="1" lang="en-US" altLang="ja-JP" sz="1200" b="0" dirty="0">
                          <a:latin typeface="+mn-ea"/>
                          <a:ea typeface="+mn-ea"/>
                        </a:rPr>
                        <a:t>2025/10/XX</a:t>
                      </a:r>
                      <a:endParaRPr kumimoji="1" lang="ja-JP" altLang="en-US" sz="1200" b="0" dirty="0">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ja-JP" altLang="en-US" sz="1200" b="0" dirty="0">
                          <a:latin typeface="+mn-ea"/>
                          <a:ea typeface="+mn-ea"/>
                        </a:rPr>
                        <a:t>要件定義工程①</a:t>
                      </a:r>
                    </a:p>
                  </a:txBody>
                  <a:tcPr marL="72000" marR="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171450" indent="-171450" algn="l">
                        <a:lnSpc>
                          <a:spcPct val="100000"/>
                        </a:lnSpc>
                        <a:spcBef>
                          <a:spcPts val="200"/>
                        </a:spcBef>
                        <a:buFont typeface="Arial" panose="020B0604020202020204" pitchFamily="34" charset="0"/>
                        <a:buChar char="•"/>
                      </a:pPr>
                      <a:r>
                        <a:rPr kumimoji="1" lang="en-US" altLang="ja-JP" sz="1200" dirty="0">
                          <a:latin typeface="+mn-ea"/>
                          <a:ea typeface="+mn-ea"/>
                        </a:rPr>
                        <a:t>Ph1 </a:t>
                      </a:r>
                      <a:r>
                        <a:rPr kumimoji="1" lang="ja-JP" altLang="en-US" sz="1200" dirty="0">
                          <a:latin typeface="+mn-ea"/>
                          <a:ea typeface="+mn-ea"/>
                        </a:rPr>
                        <a:t>要件定義工程の費用見積もり</a:t>
                      </a:r>
                    </a:p>
                  </a:txBody>
                  <a:tcPr marL="72000" marR="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chemeClr val="tx1"/>
                          </a:solidFill>
                          <a:latin typeface="+mn-ea"/>
                          <a:ea typeface="+mn-ea"/>
                        </a:rPr>
                        <a:t>(SMCC)</a:t>
                      </a:r>
                      <a:r>
                        <a:rPr kumimoji="1" lang="ja-JP" altLang="en-US" sz="1200" dirty="0">
                          <a:solidFill>
                            <a:schemeClr val="tx1"/>
                          </a:solidFill>
                          <a:latin typeface="+mn-ea"/>
                          <a:ea typeface="+mn-ea"/>
                        </a:rPr>
                        <a:t>部長決裁</a:t>
                      </a:r>
                      <a:endParaRPr kumimoji="1" lang="en-US" altLang="ja-JP" sz="1200" dirty="0">
                        <a:solidFill>
                          <a:schemeClr val="tx1"/>
                        </a:solidFill>
                        <a:latin typeface="+mn-ea"/>
                        <a:ea typeface="+mn-ea"/>
                      </a:endParaRPr>
                    </a:p>
                    <a:p>
                      <a:pPr algn="l"/>
                      <a:r>
                        <a:rPr kumimoji="1" lang="en-US" altLang="ja-JP" sz="1200" dirty="0">
                          <a:solidFill>
                            <a:schemeClr val="tx1"/>
                          </a:solidFill>
                          <a:latin typeface="+mn-ea"/>
                          <a:ea typeface="+mn-ea"/>
                        </a:rPr>
                        <a:t>(JRI)</a:t>
                      </a:r>
                      <a:r>
                        <a:rPr kumimoji="1" lang="ja-JP" altLang="en-US" sz="1200" dirty="0">
                          <a:solidFill>
                            <a:schemeClr val="tx1"/>
                          </a:solidFill>
                          <a:latin typeface="+mn-ea"/>
                          <a:ea typeface="+mn-ea"/>
                        </a:rPr>
                        <a:t>本部長決裁</a:t>
                      </a:r>
                      <a:endParaRPr kumimoji="1" lang="en-US" altLang="ja-JP" sz="1200" dirty="0">
                        <a:solidFill>
                          <a:schemeClr val="tx1"/>
                        </a:solidFill>
                        <a:latin typeface="+mn-ea"/>
                        <a:ea typeface="+mn-ea"/>
                      </a:endParaRP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781532684"/>
                  </a:ext>
                </a:extLst>
              </a:tr>
              <a:tr h="6858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itchFamily="50" charset="-128"/>
                          <a:ea typeface="Meiryo UI" pitchFamily="50" charset="-128"/>
                          <a:cs typeface="Meiryo UI" pitchFamily="50" charset="-128"/>
                        </a:rPr>
                        <a:t>２</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endParaRPr kumimoji="1" lang="ja-JP" altLang="en-US" sz="1200" b="0" dirty="0">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endParaRPr kumimoji="1" lang="ja-JP" altLang="en-US" sz="1200" b="0" dirty="0">
                        <a:latin typeface="+mn-ea"/>
                        <a:ea typeface="+mn-ea"/>
                      </a:endParaRPr>
                    </a:p>
                  </a:txBody>
                  <a:tcPr marL="72000" marR="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171450" indent="-171450" algn="l">
                        <a:lnSpc>
                          <a:spcPct val="100000"/>
                        </a:lnSpc>
                        <a:spcBef>
                          <a:spcPts val="200"/>
                        </a:spcBef>
                        <a:buFont typeface="Arial" panose="020B0604020202020204" pitchFamily="34" charset="0"/>
                        <a:buChar char="•"/>
                      </a:pPr>
                      <a:endParaRPr kumimoji="1" lang="en-US" altLang="ja-JP" sz="1200" dirty="0">
                        <a:solidFill>
                          <a:schemeClr val="tx1"/>
                        </a:solidFill>
                        <a:latin typeface="+mn-ea"/>
                        <a:ea typeface="+mn-ea"/>
                      </a:endParaRPr>
                    </a:p>
                  </a:txBody>
                  <a:tcPr marL="72000" marR="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341068863"/>
                  </a:ext>
                </a:extLst>
              </a:tr>
              <a:tr h="756000">
                <a:tc>
                  <a:txBody>
                    <a:bodyPr/>
                    <a:lstStyle/>
                    <a:p>
                      <a:pPr algn="ctr"/>
                      <a:r>
                        <a:rPr kumimoji="1" lang="en-US" altLang="ja-JP" sz="1400">
                          <a:latin typeface="Meiryo UI" pitchFamily="50" charset="-128"/>
                          <a:ea typeface="Meiryo UI" pitchFamily="50" charset="-128"/>
                          <a:cs typeface="Meiryo UI" pitchFamily="50" charset="-128"/>
                        </a:rPr>
                        <a:t>3</a:t>
                      </a:r>
                      <a:endParaRPr kumimoji="1" lang="ja-JP" altLang="en-US" sz="1400">
                        <a:latin typeface="Meiryo UI" pitchFamily="50" charset="-128"/>
                        <a:ea typeface="Meiryo UI" pitchFamily="50" charset="-128"/>
                        <a:cs typeface="Meiryo UI" pitchFamily="50" charset="-128"/>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endParaRPr kumimoji="1" lang="ja-JP" altLang="en-US" sz="1200" b="0">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endParaRPr kumimoji="1" lang="en-US" altLang="ja-JP" sz="1200" b="0" dirty="0">
                        <a:latin typeface="+mn-ea"/>
                        <a:ea typeface="+mn-ea"/>
                      </a:endParaRPr>
                    </a:p>
                  </a:txBody>
                  <a:tcPr marL="72000" marR="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endParaRPr kumimoji="1" lang="en-US" altLang="ja-JP" sz="1200" dirty="0">
                        <a:latin typeface="+mn-ea"/>
                        <a:ea typeface="+mn-ea"/>
                      </a:endParaRPr>
                    </a:p>
                  </a:txBody>
                  <a:tcPr marL="72000" marR="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n-lt"/>
                        <a:ea typeface="+mn-ea"/>
                        <a:cs typeface="+mn-cs"/>
                      </a:endParaRP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1265775"/>
                  </a:ext>
                </a:extLst>
              </a:tr>
              <a:tr h="756000">
                <a:tc>
                  <a:txBody>
                    <a:bodyPr/>
                    <a:lstStyle/>
                    <a:p>
                      <a:pPr algn="ctr"/>
                      <a:r>
                        <a:rPr kumimoji="1" lang="en-US" altLang="ja-JP" sz="1400">
                          <a:latin typeface="Meiryo UI" pitchFamily="50" charset="-128"/>
                          <a:ea typeface="Meiryo UI" pitchFamily="50" charset="-128"/>
                          <a:cs typeface="Meiryo UI" pitchFamily="50" charset="-128"/>
                        </a:rPr>
                        <a:t>4</a:t>
                      </a:r>
                      <a:endParaRPr kumimoji="1" lang="ja-JP" altLang="en-US" sz="1400">
                        <a:latin typeface="Meiryo UI" pitchFamily="50" charset="-128"/>
                        <a:ea typeface="Meiryo UI" pitchFamily="50" charset="-128"/>
                        <a:cs typeface="Meiryo UI" pitchFamily="50" charset="-128"/>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endParaRPr kumimoji="1" lang="ja-JP" altLang="en-US" sz="1200" b="0">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endParaRPr kumimoji="1" lang="en-US" altLang="ja-JP" sz="1200" b="0">
                        <a:latin typeface="+mn-ea"/>
                        <a:ea typeface="+mn-ea"/>
                      </a:endParaRPr>
                    </a:p>
                  </a:txBody>
                  <a:tcPr marL="72000" marR="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endParaRPr kumimoji="1" lang="en-US" altLang="ja-JP" sz="1050" kern="1200" dirty="0">
                        <a:solidFill>
                          <a:schemeClr val="tx1"/>
                        </a:solidFill>
                        <a:latin typeface="+mn-ea"/>
                        <a:ea typeface="+mn-ea"/>
                        <a:cs typeface="+mn-cs"/>
                      </a:endParaRPr>
                    </a:p>
                  </a:txBody>
                  <a:tcPr marL="72000" marR="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366485218"/>
                  </a:ext>
                </a:extLst>
              </a:tr>
              <a:tr h="648000">
                <a:tc>
                  <a:txBody>
                    <a:bodyPr/>
                    <a:lstStyle/>
                    <a:p>
                      <a:pPr algn="ctr"/>
                      <a:r>
                        <a:rPr kumimoji="1" lang="en-US" altLang="ja-JP" sz="1400">
                          <a:latin typeface="Meiryo UI" pitchFamily="50" charset="-128"/>
                          <a:ea typeface="Meiryo UI" pitchFamily="50" charset="-128"/>
                          <a:cs typeface="Meiryo UI" pitchFamily="50" charset="-128"/>
                        </a:rPr>
                        <a:t>5</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endParaRPr kumimoji="1" lang="ja-JP" altLang="en-US" sz="1200" b="0">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a:latin typeface="+mn-ea"/>
                        <a:ea typeface="+mn-ea"/>
                      </a:endParaRPr>
                    </a:p>
                  </a:txBody>
                  <a:tcPr marL="72000" marR="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endParaRPr kumimoji="1" lang="en-US" altLang="ja-JP" sz="1200" dirty="0">
                        <a:latin typeface="+mn-ea"/>
                        <a:ea typeface="+mn-ea"/>
                      </a:endParaRPr>
                    </a:p>
                  </a:txBody>
                  <a:tcPr marL="72000" marR="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292929"/>
                        </a:solidFill>
                        <a:effectLst/>
                        <a:uLnTx/>
                        <a:uFillTx/>
                        <a:latin typeface="+mn-lt"/>
                        <a:ea typeface="+mn-ea"/>
                        <a:cs typeface="+mn-cs"/>
                      </a:endParaRP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515310986"/>
                  </a:ext>
                </a:extLst>
              </a:tr>
            </a:tbl>
          </a:graphicData>
        </a:graphic>
      </p:graphicFrame>
    </p:spTree>
    <p:extLst>
      <p:ext uri="{BB962C8B-B14F-4D97-AF65-F5344CB8AC3E}">
        <p14:creationId xmlns:p14="http://schemas.microsoft.com/office/powerpoint/2010/main" val="1508136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695FBE-C3B4-4C77-9231-568B96B4DB95}"/>
              </a:ext>
            </a:extLst>
          </p:cNvPr>
          <p:cNvSpPr>
            <a:spLocks noGrp="1"/>
          </p:cNvSpPr>
          <p:nvPr>
            <p:ph type="title" idx="4294967295"/>
          </p:nvPr>
        </p:nvSpPr>
        <p:spPr>
          <a:xfrm>
            <a:off x="603316" y="148176"/>
            <a:ext cx="7635875" cy="334962"/>
          </a:xfrm>
          <a:prstGeom prst="rect">
            <a:avLst/>
          </a:prstGeom>
        </p:spPr>
        <p:txBody>
          <a:bodyPr/>
          <a:lstStyle/>
          <a:p>
            <a:r>
              <a:rPr lang="ja-JP" altLang="en-US">
                <a:latin typeface="+mj-lt"/>
              </a:rPr>
              <a:t>５</a:t>
            </a:r>
            <a:r>
              <a:rPr kumimoji="1" lang="en-US" altLang="ja-JP">
                <a:latin typeface="+mj-lt"/>
              </a:rPr>
              <a:t>-</a:t>
            </a:r>
            <a:r>
              <a:rPr lang="ja-JP" altLang="en-US">
                <a:latin typeface="+mj-lt"/>
              </a:rPr>
              <a:t>１</a:t>
            </a:r>
            <a:r>
              <a:rPr kumimoji="1" lang="ja-JP" altLang="en-US">
                <a:latin typeface="+mj-lt"/>
              </a:rPr>
              <a:t>．</a:t>
            </a:r>
            <a:r>
              <a:rPr kumimoji="1" lang="en-US" altLang="ja-JP">
                <a:latin typeface="+mj-lt"/>
              </a:rPr>
              <a:t>【</a:t>
            </a:r>
            <a:r>
              <a:rPr kumimoji="1" lang="ja-JP" altLang="en-US">
                <a:latin typeface="+mj-lt"/>
              </a:rPr>
              <a:t>運営要領</a:t>
            </a:r>
            <a:r>
              <a:rPr kumimoji="1" lang="en-US" altLang="ja-JP">
                <a:latin typeface="+mj-lt"/>
              </a:rPr>
              <a:t>】</a:t>
            </a:r>
            <a:r>
              <a:rPr kumimoji="1" lang="ja-JP" altLang="en-US">
                <a:latin typeface="+mj-lt"/>
              </a:rPr>
              <a:t>会議体（１</a:t>
            </a:r>
            <a:r>
              <a:rPr kumimoji="1" lang="en-US" altLang="ja-JP">
                <a:latin typeface="+mj-lt"/>
              </a:rPr>
              <a:t>/</a:t>
            </a:r>
            <a:r>
              <a:rPr kumimoji="1" lang="ja-JP" altLang="en-US">
                <a:latin typeface="+mj-lt"/>
              </a:rPr>
              <a:t>２）</a:t>
            </a:r>
            <a:endParaRPr kumimoji="1" lang="ja-JP" altLang="en-US"/>
          </a:p>
        </p:txBody>
      </p:sp>
      <p:sp>
        <p:nvSpPr>
          <p:cNvPr id="4" name="Text Box 3">
            <a:extLst>
              <a:ext uri="{FF2B5EF4-FFF2-40B4-BE49-F238E27FC236}">
                <a16:creationId xmlns:a16="http://schemas.microsoft.com/office/drawing/2014/main" id="{D5C53D88-F669-4756-A653-BA3D9258321D}"/>
              </a:ext>
            </a:extLst>
          </p:cNvPr>
          <p:cNvSpPr txBox="1">
            <a:spLocks noChangeArrowheads="1"/>
          </p:cNvSpPr>
          <p:nvPr/>
        </p:nvSpPr>
        <p:spPr bwMode="auto">
          <a:xfrm>
            <a:off x="176960" y="547139"/>
            <a:ext cx="9557243" cy="868193"/>
          </a:xfrm>
          <a:prstGeom prst="rect">
            <a:avLst/>
          </a:prstGeom>
          <a:noFill/>
          <a:ln w="9525">
            <a:noFill/>
            <a:miter lim="800000"/>
            <a:headEnd/>
            <a:tailEnd/>
          </a:ln>
        </p:spPr>
        <p:txBody>
          <a:bodyPr lIns="108000" tIns="0" bIns="0" anchor="ctr" anchorCtr="0"/>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285750" indent="-285750" eaLnBrk="1" hangingPunct="1">
              <a:spcBef>
                <a:spcPts val="100"/>
              </a:spcBef>
              <a:buFont typeface="Wingdings" panose="05000000000000000000" pitchFamily="2" charset="2"/>
              <a:buChar char="l"/>
            </a:pPr>
            <a:r>
              <a:rPr lang="ja-JP" altLang="en-US" sz="1400" dirty="0">
                <a:latin typeface="+mn-ea"/>
                <a:ea typeface="+mn-ea"/>
              </a:rPr>
              <a:t>月次進捗会議は、</a:t>
            </a:r>
            <a:r>
              <a:rPr lang="en-US" altLang="ja-JP" sz="1400" dirty="0">
                <a:latin typeface="+mn-ea"/>
                <a:ea typeface="+mn-ea"/>
              </a:rPr>
              <a:t> SMCC/JRI</a:t>
            </a:r>
            <a:r>
              <a:rPr lang="ja-JP" altLang="en-US" sz="1400" dirty="0">
                <a:latin typeface="+mn-ea"/>
                <a:ea typeface="+mn-ea"/>
              </a:rPr>
              <a:t>間の</a:t>
            </a:r>
            <a:r>
              <a:rPr lang="en-US" altLang="ja-JP" sz="1400" dirty="0">
                <a:latin typeface="+mn-ea"/>
                <a:ea typeface="+mn-ea"/>
              </a:rPr>
              <a:t>QCD</a:t>
            </a:r>
            <a:r>
              <a:rPr lang="ja-JP" altLang="en-US" sz="1400" dirty="0">
                <a:latin typeface="+mn-ea"/>
                <a:ea typeface="+mn-ea"/>
              </a:rPr>
              <a:t>の管理、及び方針合意の場として、</a:t>
            </a:r>
            <a:r>
              <a:rPr lang="ja-JP" altLang="en-US" sz="1400" dirty="0">
                <a:solidFill>
                  <a:srgbClr val="0000FF"/>
                </a:solidFill>
                <a:latin typeface="+mn-ea"/>
                <a:ea typeface="+mn-ea"/>
              </a:rPr>
              <a:t>月次開催</a:t>
            </a:r>
            <a:endParaRPr lang="en-US" altLang="ja-JP" sz="1400" b="1" dirty="0">
              <a:solidFill>
                <a:srgbClr val="0000FF"/>
              </a:solidFill>
              <a:latin typeface="+mn-ea"/>
              <a:ea typeface="+mn-ea"/>
            </a:endParaRPr>
          </a:p>
          <a:p>
            <a:pPr marL="285750" indent="-285750" eaLnBrk="1" hangingPunct="1">
              <a:spcBef>
                <a:spcPts val="100"/>
              </a:spcBef>
              <a:buFont typeface="Wingdings" panose="05000000000000000000" pitchFamily="2" charset="2"/>
              <a:buChar char="l"/>
            </a:pPr>
            <a:r>
              <a:rPr lang="ja-JP" altLang="en-US" sz="1400" dirty="0">
                <a:latin typeface="+mn-ea"/>
                <a:ea typeface="+mn-ea"/>
              </a:rPr>
              <a:t>週次進捗会議は、</a:t>
            </a:r>
            <a:r>
              <a:rPr lang="en-US" altLang="ja-JP" sz="1400" dirty="0">
                <a:latin typeface="+mn-ea"/>
                <a:ea typeface="+mn-ea"/>
              </a:rPr>
              <a:t> SMCC/JRI</a:t>
            </a:r>
            <a:r>
              <a:rPr lang="ja-JP" altLang="en-US" sz="1400" dirty="0">
                <a:latin typeface="+mn-ea"/>
                <a:ea typeface="+mn-ea"/>
              </a:rPr>
              <a:t>間の課題の共有、及び個別テーマの検討の場として、</a:t>
            </a:r>
            <a:r>
              <a:rPr lang="ja-JP" altLang="en-US" sz="1400" dirty="0">
                <a:solidFill>
                  <a:srgbClr val="0000FF"/>
                </a:solidFill>
                <a:latin typeface="+mn-ea"/>
                <a:ea typeface="+mn-ea"/>
              </a:rPr>
              <a:t>週次開催</a:t>
            </a:r>
            <a:endParaRPr lang="en-US" altLang="ja-JP" sz="1400" dirty="0">
              <a:solidFill>
                <a:srgbClr val="0000FF"/>
              </a:solidFill>
              <a:latin typeface="+mn-ea"/>
              <a:ea typeface="+mn-ea"/>
            </a:endParaRPr>
          </a:p>
          <a:p>
            <a:pPr marL="285750" indent="-285750" eaLnBrk="1" hangingPunct="1">
              <a:spcBef>
                <a:spcPts val="100"/>
              </a:spcBef>
              <a:buFont typeface="Wingdings" panose="05000000000000000000" pitchFamily="2" charset="2"/>
              <a:buChar char="l"/>
            </a:pPr>
            <a:r>
              <a:rPr lang="ja-JP" altLang="en-US" sz="1400" dirty="0">
                <a:latin typeface="+mn-ea"/>
                <a:ea typeface="+mn-ea"/>
              </a:rPr>
              <a:t>その他テーマに合わせた分科会を適宜開催</a:t>
            </a:r>
            <a:endParaRPr lang="en-US" altLang="ja-JP" sz="1400" dirty="0">
              <a:latin typeface="+mn-ea"/>
              <a:ea typeface="+mn-ea"/>
            </a:endParaRPr>
          </a:p>
        </p:txBody>
      </p:sp>
      <p:graphicFrame>
        <p:nvGraphicFramePr>
          <p:cNvPr id="5" name="表 4">
            <a:extLst>
              <a:ext uri="{FF2B5EF4-FFF2-40B4-BE49-F238E27FC236}">
                <a16:creationId xmlns:a16="http://schemas.microsoft.com/office/drawing/2014/main" id="{83DF122D-643B-4CBA-912E-211C906606F1}"/>
              </a:ext>
            </a:extLst>
          </p:cNvPr>
          <p:cNvGraphicFramePr>
            <a:graphicFrameLocks noGrp="1"/>
          </p:cNvGraphicFramePr>
          <p:nvPr>
            <p:extLst>
              <p:ext uri="{D42A27DB-BD31-4B8C-83A1-F6EECF244321}">
                <p14:modId xmlns:p14="http://schemas.microsoft.com/office/powerpoint/2010/main" val="3596505731"/>
              </p:ext>
            </p:extLst>
          </p:nvPr>
        </p:nvGraphicFramePr>
        <p:xfrm>
          <a:off x="173362" y="1479333"/>
          <a:ext cx="9559275" cy="3475588"/>
        </p:xfrm>
        <a:graphic>
          <a:graphicData uri="http://schemas.openxmlformats.org/drawingml/2006/table">
            <a:tbl>
              <a:tblPr firstRow="1" bandRow="1">
                <a:tableStyleId>{5C22544A-7EE6-4342-B048-85BDC9FD1C3A}</a:tableStyleId>
              </a:tblPr>
              <a:tblGrid>
                <a:gridCol w="308331">
                  <a:extLst>
                    <a:ext uri="{9D8B030D-6E8A-4147-A177-3AD203B41FA5}">
                      <a16:colId xmlns:a16="http://schemas.microsoft.com/office/drawing/2014/main" val="2989495726"/>
                    </a:ext>
                  </a:extLst>
                </a:gridCol>
                <a:gridCol w="820442">
                  <a:extLst>
                    <a:ext uri="{9D8B030D-6E8A-4147-A177-3AD203B41FA5}">
                      <a16:colId xmlns:a16="http://schemas.microsoft.com/office/drawing/2014/main" val="1402108257"/>
                    </a:ext>
                  </a:extLst>
                </a:gridCol>
                <a:gridCol w="313966">
                  <a:extLst>
                    <a:ext uri="{9D8B030D-6E8A-4147-A177-3AD203B41FA5}">
                      <a16:colId xmlns:a16="http://schemas.microsoft.com/office/drawing/2014/main" val="1896648128"/>
                    </a:ext>
                  </a:extLst>
                </a:gridCol>
                <a:gridCol w="2812997">
                  <a:extLst>
                    <a:ext uri="{9D8B030D-6E8A-4147-A177-3AD203B41FA5}">
                      <a16:colId xmlns:a16="http://schemas.microsoft.com/office/drawing/2014/main" val="2948583494"/>
                    </a:ext>
                  </a:extLst>
                </a:gridCol>
                <a:gridCol w="679874">
                  <a:extLst>
                    <a:ext uri="{9D8B030D-6E8A-4147-A177-3AD203B41FA5}">
                      <a16:colId xmlns:a16="http://schemas.microsoft.com/office/drawing/2014/main" val="1600458791"/>
                    </a:ext>
                  </a:extLst>
                </a:gridCol>
                <a:gridCol w="784915">
                  <a:extLst>
                    <a:ext uri="{9D8B030D-6E8A-4147-A177-3AD203B41FA5}">
                      <a16:colId xmlns:a16="http://schemas.microsoft.com/office/drawing/2014/main" val="396069127"/>
                    </a:ext>
                  </a:extLst>
                </a:gridCol>
                <a:gridCol w="553054">
                  <a:extLst>
                    <a:ext uri="{9D8B030D-6E8A-4147-A177-3AD203B41FA5}">
                      <a16:colId xmlns:a16="http://schemas.microsoft.com/office/drawing/2014/main" val="3254233780"/>
                    </a:ext>
                  </a:extLst>
                </a:gridCol>
                <a:gridCol w="3285696">
                  <a:extLst>
                    <a:ext uri="{9D8B030D-6E8A-4147-A177-3AD203B41FA5}">
                      <a16:colId xmlns:a16="http://schemas.microsoft.com/office/drawing/2014/main" val="3996466006"/>
                    </a:ext>
                  </a:extLst>
                </a:gridCol>
              </a:tblGrid>
              <a:tr h="299700">
                <a:tc>
                  <a:txBody>
                    <a:bodyPr/>
                    <a:lstStyle/>
                    <a:p>
                      <a:pPr algn="ctr"/>
                      <a:r>
                        <a:rPr kumimoji="1" lang="en-US" altLang="ja-JP" sz="1100">
                          <a:solidFill>
                            <a:schemeClr val="bg1"/>
                          </a:solidFill>
                          <a:latin typeface="+mn-ea"/>
                          <a:ea typeface="+mn-ea"/>
                        </a:rPr>
                        <a:t>No.</a:t>
                      </a:r>
                      <a:endParaRPr kumimoji="1" lang="ja-JP" altLang="en-US" sz="1100">
                        <a:solidFill>
                          <a:schemeClr val="bg1"/>
                        </a:solidFill>
                        <a:latin typeface="+mn-ea"/>
                        <a:ea typeface="+mn-ea"/>
                      </a:endParaRP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ja-JP" altLang="en-US" sz="1100">
                          <a:solidFill>
                            <a:schemeClr val="bg1"/>
                          </a:solidFill>
                          <a:latin typeface="+mn-ea"/>
                          <a:ea typeface="+mn-ea"/>
                        </a:rPr>
                        <a:t>会議名</a:t>
                      </a: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gridSpan="2">
                  <a:txBody>
                    <a:bodyPr/>
                    <a:lstStyle/>
                    <a:p>
                      <a:pPr algn="ctr"/>
                      <a:r>
                        <a:rPr kumimoji="1" lang="ja-JP" altLang="en-US" sz="1100" dirty="0">
                          <a:solidFill>
                            <a:schemeClr val="bg1"/>
                          </a:solidFill>
                          <a:latin typeface="+mn-ea"/>
                          <a:ea typeface="+mn-ea"/>
                        </a:rPr>
                        <a:t>位置付け</a:t>
                      </a:r>
                    </a:p>
                  </a:txBody>
                  <a:tcPr marL="34109" marR="34109" marT="68219" marB="682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hMerge="1">
                  <a:txBody>
                    <a:bodyPr/>
                    <a:lstStyle/>
                    <a:p>
                      <a:pPr algn="ctr"/>
                      <a:endParaRPr kumimoji="1" lang="ja-JP" altLang="en-US" sz="1100">
                        <a:latin typeface="+mn-ea"/>
                        <a:ea typeface="+mn-ea"/>
                      </a:endParaRPr>
                    </a:p>
                  </a:txBody>
                  <a:tcPr marL="36000" marR="36000" marT="72000" marB="72000" anchor="ctr"/>
                </a:tc>
                <a:tc>
                  <a:txBody>
                    <a:bodyPr/>
                    <a:lstStyle/>
                    <a:p>
                      <a:pPr algn="ctr"/>
                      <a:r>
                        <a:rPr kumimoji="1" lang="ja-JP" altLang="en-US" sz="1100">
                          <a:solidFill>
                            <a:schemeClr val="bg1"/>
                          </a:solidFill>
                          <a:latin typeface="+mn-ea"/>
                          <a:ea typeface="+mn-ea"/>
                        </a:rPr>
                        <a:t>開催日時</a:t>
                      </a: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gridSpan="3">
                  <a:txBody>
                    <a:bodyPr/>
                    <a:lstStyle/>
                    <a:p>
                      <a:pPr algn="l"/>
                      <a:r>
                        <a:rPr kumimoji="1" lang="ja-JP" altLang="en-US" sz="1100" dirty="0">
                          <a:solidFill>
                            <a:schemeClr val="bg1"/>
                          </a:solidFill>
                          <a:latin typeface="+mn-ea"/>
                          <a:ea typeface="+mn-ea"/>
                        </a:rPr>
                        <a:t>　主な出席者　</a:t>
                      </a:r>
                      <a:r>
                        <a:rPr kumimoji="1" lang="en-US" altLang="zh-TW" sz="1100" dirty="0">
                          <a:solidFill>
                            <a:schemeClr val="bg1"/>
                          </a:solidFill>
                          <a:latin typeface="+mn-ea"/>
                          <a:ea typeface="+mn-ea"/>
                        </a:rPr>
                        <a:t>【</a:t>
                      </a:r>
                      <a:r>
                        <a:rPr kumimoji="1" lang="zh-TW" altLang="en-US" sz="1100" dirty="0">
                          <a:solidFill>
                            <a:schemeClr val="bg1"/>
                          </a:solidFill>
                          <a:latin typeface="+mn-ea"/>
                          <a:ea typeface="+mn-ea"/>
                        </a:rPr>
                        <a:t>凡例</a:t>
                      </a:r>
                      <a:r>
                        <a:rPr kumimoji="1" lang="en-US" altLang="zh-TW" sz="1100" dirty="0">
                          <a:solidFill>
                            <a:schemeClr val="bg1"/>
                          </a:solidFill>
                          <a:latin typeface="+mn-ea"/>
                          <a:ea typeface="+mn-ea"/>
                        </a:rPr>
                        <a:t>】</a:t>
                      </a:r>
                      <a:r>
                        <a:rPr kumimoji="1" lang="zh-TW" altLang="en-US" sz="1100" dirty="0">
                          <a:solidFill>
                            <a:schemeClr val="bg1"/>
                          </a:solidFill>
                          <a:latin typeface="+mn-ea"/>
                          <a:ea typeface="+mn-ea"/>
                        </a:rPr>
                        <a:t>　●：必須、（●）：任意、◎：主催</a:t>
                      </a: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hMerge="1">
                  <a:txBody>
                    <a:bodyPr/>
                    <a:lstStyle/>
                    <a:p>
                      <a:endParaRPr kumimoji="1" lang="ja-JP" altLang="en-US"/>
                    </a:p>
                  </a:txBody>
                  <a:tcPr/>
                </a:tc>
                <a:tc hMerge="1">
                  <a:txBody>
                    <a:bodyPr/>
                    <a:lstStyle/>
                    <a:p>
                      <a:pPr algn="l"/>
                      <a:endParaRPr kumimoji="1" lang="ja-JP" altLang="en-US" sz="1200">
                        <a:solidFill>
                          <a:schemeClr val="tx1"/>
                        </a:solidFill>
                        <a:latin typeface="+mn-ea"/>
                        <a:ea typeface="+mn-ea"/>
                      </a:endParaRPr>
                    </a:p>
                  </a:txBody>
                  <a:tcPr marL="54000" marR="36000"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3475302110"/>
                  </a:ext>
                </a:extLst>
              </a:tr>
              <a:tr h="244947">
                <a:tc rowSpan="3">
                  <a:txBody>
                    <a:bodyPr/>
                    <a:lstStyle/>
                    <a:p>
                      <a:pPr algn="ctr"/>
                      <a:r>
                        <a:rPr kumimoji="1" lang="en-US" altLang="ja-JP" sz="1100">
                          <a:solidFill>
                            <a:schemeClr val="tx1"/>
                          </a:solidFill>
                          <a:latin typeface="+mn-ea"/>
                          <a:ea typeface="+mn-ea"/>
                        </a:rPr>
                        <a:t>1</a:t>
                      </a:r>
                      <a:endParaRPr kumimoji="1" lang="ja-JP" altLang="en-US" sz="110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r>
                        <a:rPr kumimoji="1" lang="ja-JP" altLang="en-US" sz="1100" dirty="0">
                          <a:solidFill>
                            <a:schemeClr val="tx1"/>
                          </a:solidFill>
                          <a:latin typeface="+mn-ea"/>
                          <a:ea typeface="+mn-ea"/>
                        </a:rPr>
                        <a:t>月次進捗会議</a:t>
                      </a:r>
                      <a:endParaRPr kumimoji="1" lang="ja-JP" altLang="en-US" sz="1050" dirty="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1" lang="ja-JP" altLang="en-US" sz="1100">
                          <a:solidFill>
                            <a:schemeClr val="tx1"/>
                          </a:solidFill>
                          <a:latin typeface="+mn-ea"/>
                          <a:ea typeface="+mn-ea"/>
                        </a:rPr>
                        <a:t>目的</a:t>
                      </a:r>
                    </a:p>
                  </a:txBody>
                  <a:tcPr marL="36000" marR="36000"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100" b="0" i="0" u="none" strike="noStrike" kern="0" cap="none" normalizeH="0" baseline="0" dirty="0">
                        <a:ln>
                          <a:noFill/>
                        </a:ln>
                        <a:solidFill>
                          <a:schemeClr val="tx1"/>
                        </a:solidFill>
                        <a:effectLst/>
                        <a:latin typeface="+mn-ea"/>
                        <a:ea typeface="+mn-ea"/>
                        <a:cs typeface="+mn-cs"/>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r>
                        <a:rPr kumimoji="1" lang="ja-JP" altLang="en-US" sz="1100">
                          <a:solidFill>
                            <a:schemeClr val="tx1"/>
                          </a:solidFill>
                          <a:latin typeface="+mn-ea"/>
                          <a:ea typeface="+mn-ea"/>
                        </a:rPr>
                        <a:t>月次</a:t>
                      </a:r>
                      <a:endParaRPr kumimoji="1" lang="en-US" altLang="ja-JP" sz="110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100" dirty="0">
                          <a:solidFill>
                            <a:schemeClr val="tx1"/>
                          </a:solidFill>
                          <a:latin typeface="+mn-ea"/>
                          <a:ea typeface="+mn-ea"/>
                        </a:rPr>
                        <a:t>SMCC</a:t>
                      </a:r>
                      <a:endParaRPr lang="ja-JP" altLang="en-US" sz="1100" dirty="0">
                        <a:solidFill>
                          <a:schemeClr val="tx1"/>
                        </a:solidFill>
                        <a:latin typeface="+mn-ea"/>
                        <a:ea typeface="+mn-ea"/>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TW" altLang="en-US" sz="1100" dirty="0">
                          <a:solidFill>
                            <a:schemeClr val="tx1"/>
                          </a:solidFill>
                          <a:latin typeface="+mn-ea"/>
                          <a:ea typeface="+mn-ea"/>
                        </a:rPr>
                        <a:t>●</a:t>
                      </a:r>
                      <a:endParaRPr lang="ja-JP" altLang="en-US" sz="1100" dirty="0">
                        <a:solidFill>
                          <a:schemeClr val="tx1"/>
                        </a:solidFill>
                        <a:latin typeface="+mn-ea"/>
                        <a:ea typeface="+mn-ea"/>
                      </a:endParaRP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100" b="0" i="0" u="none" strike="noStrike" dirty="0">
                        <a:solidFill>
                          <a:srgbClr val="000000"/>
                        </a:solidFill>
                        <a:effectLst/>
                        <a:latin typeface="+mn-ea"/>
                        <a:ea typeface="+mn-ea"/>
                        <a:cs typeface="Meiryo UI" pitchFamily="50" charset="-128"/>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4875519"/>
                  </a:ext>
                </a:extLst>
              </a:tr>
              <a:tr h="254278">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rowSpan="2">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1" lang="ja-JP" altLang="en-US" sz="1100">
                          <a:solidFill>
                            <a:schemeClr val="tx1"/>
                          </a:solidFill>
                          <a:latin typeface="+mn-ea"/>
                          <a:ea typeface="+mn-ea"/>
                        </a:rPr>
                        <a:t>内容</a:t>
                      </a:r>
                    </a:p>
                  </a:txBody>
                  <a:tcPr marL="50400" marR="36000"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100" b="0" i="0" u="none" strike="noStrike" kern="0" cap="none" normalizeH="0" baseline="0" dirty="0">
                        <a:ln>
                          <a:noFill/>
                        </a:ln>
                        <a:solidFill>
                          <a:schemeClr val="tx1"/>
                        </a:solidFill>
                        <a:effectLst/>
                        <a:latin typeface="+mn-ea"/>
                        <a:ea typeface="+mn-ea"/>
                        <a:cs typeface="+mn-cs"/>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a:solidFill>
                            <a:schemeClr val="tx1"/>
                          </a:solidFill>
                          <a:latin typeface="+mn-ea"/>
                          <a:ea typeface="+mn-ea"/>
                        </a:rPr>
                        <a:t>JRI</a:t>
                      </a:r>
                      <a:endParaRPr lang="ja-JP" altLang="en-US" sz="1100">
                        <a:solidFill>
                          <a:schemeClr val="tx1"/>
                        </a:solidFill>
                        <a:latin typeface="+mn-ea"/>
                        <a:ea typeface="+mn-ea"/>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100" dirty="0">
                          <a:solidFill>
                            <a:schemeClr val="tx1"/>
                          </a:solidFill>
                          <a:latin typeface="+mn-ea"/>
                          <a:ea typeface="+mn-ea"/>
                        </a:rPr>
                        <a:t>◎</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solidFill>
                            <a:schemeClr val="tx1"/>
                          </a:solidFill>
                          <a:latin typeface="+mn-ea"/>
                          <a:ea typeface="+mn-ea"/>
                        </a:rPr>
                        <a:t>呉竹本部長、三澤本部付部長、西村次長、谷口</a:t>
                      </a:r>
                      <a:r>
                        <a:rPr kumimoji="1" lang="en-US" altLang="ja-JP" sz="1100" dirty="0">
                          <a:solidFill>
                            <a:schemeClr val="tx1"/>
                          </a:solidFill>
                          <a:latin typeface="+mn-ea"/>
                          <a:ea typeface="+mn-ea"/>
                        </a:rPr>
                        <a:t>T</a:t>
                      </a:r>
                      <a:r>
                        <a:rPr kumimoji="1" lang="ja-JP" altLang="en-US" sz="1100" dirty="0">
                          <a:solidFill>
                            <a:schemeClr val="tx1"/>
                          </a:solidFill>
                          <a:latin typeface="+mn-ea"/>
                          <a:ea typeface="+mn-ea"/>
                        </a:rPr>
                        <a:t>長他</a:t>
                      </a:r>
                      <a:endParaRPr lang="ja-JP" altLang="en-US" sz="1100" b="0" i="0" u="none" strike="noStrike" dirty="0">
                        <a:solidFill>
                          <a:srgbClr val="000000"/>
                        </a:solidFill>
                        <a:effectLst/>
                        <a:latin typeface="+mn-ea"/>
                        <a:ea typeface="+mn-ea"/>
                        <a:cs typeface="Meiryo UI" pitchFamily="50" charset="-128"/>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2600659"/>
                  </a:ext>
                </a:extLst>
              </a:tr>
              <a:tr h="230712">
                <a:tc vMerge="1">
                  <a:txBody>
                    <a:bodyPr/>
                    <a:lstStyle/>
                    <a:p>
                      <a:pPr algn="ctr"/>
                      <a:endParaRPr kumimoji="1" lang="ja-JP" altLang="en-US" sz="110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kumimoji="1" lang="ja-JP" altLang="en-US" sz="105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1" lang="ja-JP" altLang="en-US" sz="1100">
                        <a:solidFill>
                          <a:schemeClr val="tx1"/>
                        </a:solidFill>
                        <a:latin typeface="+mn-ea"/>
                        <a:ea typeface="+mn-ea"/>
                      </a:endParaRPr>
                    </a:p>
                  </a:txBody>
                  <a:tcPr marL="50400" marR="36000"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100" b="0" i="0" u="none" strike="noStrike" kern="0" cap="none" normalizeH="0" baseline="0">
                        <a:ln>
                          <a:noFill/>
                        </a:ln>
                        <a:solidFill>
                          <a:schemeClr val="tx1"/>
                        </a:solidFill>
                        <a:effectLst/>
                        <a:latin typeface="+mn-ea"/>
                        <a:ea typeface="+mn-ea"/>
                        <a:cs typeface="+mn-cs"/>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kumimoji="1" lang="ja-JP" altLang="en-US" sz="110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100" dirty="0">
                          <a:solidFill>
                            <a:schemeClr val="tx1"/>
                          </a:solidFill>
                          <a:latin typeface="+mn-ea"/>
                          <a:ea typeface="+mn-ea"/>
                        </a:rPr>
                        <a:t>MSYS</a:t>
                      </a:r>
                      <a:endParaRPr kumimoji="1" lang="ja-JP" altLang="en-US" sz="1100" dirty="0">
                        <a:solidFill>
                          <a:schemeClr val="tx1"/>
                        </a:solidFill>
                        <a:latin typeface="+mn-ea"/>
                        <a:ea typeface="+mn-ea"/>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solidFill>
                            <a:schemeClr val="tx1"/>
                          </a:solidFill>
                          <a:latin typeface="+mn-ea"/>
                          <a:ea typeface="+mn-ea"/>
                        </a:rPr>
                        <a:t>（●）</a:t>
                      </a:r>
                    </a:p>
                  </a:txBody>
                  <a:tcPr marL="0" marR="0"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100" b="0" i="0" u="none" strike="noStrike" cap="none" normalizeH="0" baseline="0" dirty="0">
                        <a:ln>
                          <a:noFill/>
                        </a:ln>
                        <a:solidFill>
                          <a:schemeClr val="tx1"/>
                        </a:solidFill>
                        <a:effectLst/>
                        <a:latin typeface="+mn-ea"/>
                        <a:ea typeface="+mn-ea"/>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8480547"/>
                  </a:ext>
                </a:extLst>
              </a:tr>
              <a:tr h="397051">
                <a:tc rowSpan="3">
                  <a:txBody>
                    <a:bodyPr/>
                    <a:lstStyle/>
                    <a:p>
                      <a:pPr algn="ctr"/>
                      <a:r>
                        <a:rPr kumimoji="1" lang="en-US" altLang="ja-JP" sz="1100"/>
                        <a:t>2</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292929"/>
                          </a:solidFill>
                          <a:effectLst/>
                          <a:uLnTx/>
                          <a:uFillTx/>
                          <a:latin typeface="+mn-lt"/>
                          <a:ea typeface="+mn-ea"/>
                          <a:cs typeface="+mn-cs"/>
                        </a:rPr>
                        <a:t>週次進捗会議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1" lang="ja-JP" altLang="en-US" sz="1100">
                          <a:solidFill>
                            <a:schemeClr val="tx1"/>
                          </a:solidFill>
                          <a:latin typeface="+mn-ea"/>
                          <a:ea typeface="+mn-ea"/>
                        </a:rPr>
                        <a:t>目的</a:t>
                      </a: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100" dirty="0">
                        <a:solidFill>
                          <a:schemeClr val="tx1"/>
                        </a:solidFill>
                        <a:latin typeface="+mn-ea"/>
                        <a:ea typeface="+mn-ea"/>
                      </a:endParaRPr>
                    </a:p>
                  </a:txBody>
                  <a:tcPr marL="51164" marR="17055"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292929"/>
                          </a:solidFill>
                          <a:effectLst/>
                          <a:uLnTx/>
                          <a:uFillTx/>
                          <a:latin typeface="+mn-lt"/>
                          <a:ea typeface="+mn-ea"/>
                          <a:cs typeface="+mn-cs"/>
                        </a:rPr>
                        <a:t>週次</a:t>
                      </a:r>
                      <a:endParaRPr kumimoji="1" lang="en-US" altLang="ja-JP" sz="1100" b="0" i="0" u="none" strike="noStrike" kern="1200" cap="none" spc="0" normalizeH="0" baseline="0" noProof="0">
                        <a:ln>
                          <a:noFill/>
                        </a:ln>
                        <a:solidFill>
                          <a:srgbClr val="292929"/>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292929"/>
                          </a:solidFill>
                          <a:effectLst/>
                          <a:uLnTx/>
                          <a:uFillTx/>
                          <a:latin typeface="+mn-lt"/>
                          <a:ea typeface="+mn-ea"/>
                          <a:cs typeface="+mn-cs"/>
                        </a:rPr>
                        <a:t>月曜日</a:t>
                      </a:r>
                      <a:endParaRPr kumimoji="1" lang="en-US" altLang="ja-JP" sz="1100" b="0" i="0" u="none" strike="noStrike" kern="1200" cap="none" spc="0" normalizeH="0" baseline="0" noProof="0">
                        <a:ln>
                          <a:noFill/>
                        </a:ln>
                        <a:solidFill>
                          <a:srgbClr val="292929"/>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292929"/>
                          </a:solidFill>
                          <a:effectLst/>
                          <a:uLnTx/>
                          <a:uFillTx/>
                          <a:latin typeface="+mn-lt"/>
                          <a:ea typeface="+mn-ea"/>
                          <a:cs typeface="+mn-cs"/>
                        </a:rPr>
                        <a:t>15:00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292929"/>
                          </a:solidFill>
                          <a:effectLst/>
                          <a:uLnTx/>
                          <a:uFillTx/>
                          <a:latin typeface="+mn-lt"/>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292929"/>
                          </a:solidFill>
                          <a:effectLst/>
                          <a:uLnTx/>
                          <a:uFillTx/>
                          <a:latin typeface="+mn-lt"/>
                          <a:ea typeface="+mn-ea"/>
                          <a:cs typeface="+mn-cs"/>
                        </a:rPr>
                        <a:t>16:00</a:t>
                      </a:r>
                      <a:endParaRPr kumimoji="1" lang="ja-JP" altLang="en-US" sz="1100" b="0" i="0" u="none" strike="noStrike" kern="1200" cap="none" spc="0" normalizeH="0" baseline="0" noProof="0">
                        <a:ln>
                          <a:noFill/>
                        </a:ln>
                        <a:solidFill>
                          <a:srgbClr val="292929"/>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100" dirty="0">
                          <a:solidFill>
                            <a:schemeClr val="tx1"/>
                          </a:solidFill>
                          <a:latin typeface="+mn-ea"/>
                          <a:ea typeface="+mn-ea"/>
                        </a:rPr>
                        <a:t>SMCC</a:t>
                      </a: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TW" altLang="en-US" sz="1100" dirty="0">
                          <a:solidFill>
                            <a:schemeClr val="tx1"/>
                          </a:solidFill>
                          <a:latin typeface="+mn-ea"/>
                          <a:ea typeface="+mn-ea"/>
                        </a:rPr>
                        <a:t>●</a:t>
                      </a:r>
                      <a:endParaRPr lang="ja-JP" altLang="en-US" sz="1100" dirty="0">
                        <a:solidFill>
                          <a:schemeClr val="tx1"/>
                        </a:solidFill>
                        <a:latin typeface="+mn-ea"/>
                        <a:ea typeface="+mn-ea"/>
                      </a:endParaRP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100" b="0" i="0" u="none" strike="noStrike" dirty="0">
                        <a:solidFill>
                          <a:srgbClr val="000000"/>
                        </a:solidFill>
                        <a:effectLst/>
                        <a:latin typeface="+mn-ea"/>
                        <a:ea typeface="+mn-ea"/>
                        <a:cs typeface="Meiryo UI" pitchFamily="50" charset="-128"/>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9519644"/>
                  </a:ext>
                </a:extLst>
              </a:tr>
              <a:tr h="369533">
                <a:tc vMerge="1">
                  <a:txBody>
                    <a:bodyPr/>
                    <a:lstStyle/>
                    <a:p>
                      <a:pPr algn="ctr"/>
                      <a:r>
                        <a:rPr kumimoji="1" lang="ja-JP" altLang="en-US" sz="1100">
                          <a:solidFill>
                            <a:schemeClr val="tx1"/>
                          </a:solidFill>
                          <a:latin typeface="+mn-ea"/>
                          <a:ea typeface="+mn-ea"/>
                        </a:rPr>
                        <a:t>３</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r>
                        <a:rPr kumimoji="1" lang="ja-JP" altLang="en-US" sz="1100">
                          <a:solidFill>
                            <a:schemeClr val="tx1"/>
                          </a:solidFill>
                          <a:latin typeface="+mn-ea"/>
                          <a:ea typeface="+mn-ea"/>
                        </a:rPr>
                        <a:t>月次進捗</a:t>
                      </a:r>
                      <a:endParaRPr kumimoji="1" lang="en-US" altLang="ja-JP" sz="1100">
                        <a:solidFill>
                          <a:schemeClr val="tx1"/>
                        </a:solidFill>
                        <a:latin typeface="+mn-ea"/>
                        <a:ea typeface="+mn-ea"/>
                      </a:endParaRPr>
                    </a:p>
                    <a:p>
                      <a:pPr algn="ctr"/>
                      <a:r>
                        <a:rPr kumimoji="1" lang="ja-JP" altLang="en-US" sz="1100">
                          <a:solidFill>
                            <a:schemeClr val="tx1"/>
                          </a:solidFill>
                          <a:latin typeface="+mn-ea"/>
                          <a:ea typeface="+mn-ea"/>
                        </a:rPr>
                        <a:t>会議</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1" lang="ja-JP" altLang="en-US" sz="1100">
                          <a:solidFill>
                            <a:schemeClr val="tx1"/>
                          </a:solidFill>
                          <a:latin typeface="+mn-ea"/>
                          <a:ea typeface="+mn-ea"/>
                        </a:rPr>
                        <a:t>内容</a:t>
                      </a: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100" dirty="0">
                        <a:solidFill>
                          <a:schemeClr val="tx1"/>
                        </a:solidFill>
                        <a:latin typeface="+mn-ea"/>
                        <a:ea typeface="+mn-ea"/>
                      </a:endParaRPr>
                    </a:p>
                  </a:txBody>
                  <a:tcPr marL="51164" marR="17055"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r>
                        <a:rPr kumimoji="1" lang="ja-JP" altLang="en-US" sz="1100">
                          <a:solidFill>
                            <a:schemeClr val="tx1"/>
                          </a:solidFill>
                          <a:latin typeface="+mn-ea"/>
                          <a:ea typeface="+mn-ea"/>
                        </a:rPr>
                        <a:t>月次</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100">
                          <a:solidFill>
                            <a:schemeClr val="tx1"/>
                          </a:solidFill>
                          <a:latin typeface="+mn-ea"/>
                          <a:ea typeface="+mn-ea"/>
                        </a:rPr>
                        <a:t>JRI</a:t>
                      </a: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100" dirty="0">
                          <a:solidFill>
                            <a:schemeClr val="tx1"/>
                          </a:solidFill>
                          <a:latin typeface="+mn-ea"/>
                          <a:ea typeface="+mn-ea"/>
                        </a:rPr>
                        <a:t>◎</a:t>
                      </a: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solidFill>
                            <a:schemeClr val="tx1"/>
                          </a:solidFill>
                          <a:latin typeface="+mn-ea"/>
                          <a:ea typeface="+mn-ea"/>
                        </a:rPr>
                        <a:t>三澤本部付部長、西村次長、谷口チーム長、他</a:t>
                      </a:r>
                      <a:endParaRPr kumimoji="1" lang="en-US" altLang="ja-JP" sz="1100" dirty="0">
                        <a:solidFill>
                          <a:schemeClr val="tx1"/>
                        </a:solidFill>
                        <a:latin typeface="+mn-ea"/>
                        <a:ea typeface="+mn-ea"/>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0910325"/>
                  </a:ext>
                </a:extLst>
              </a:tr>
              <a:tr h="354023">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100" dirty="0">
                          <a:solidFill>
                            <a:schemeClr val="tx1"/>
                          </a:solidFill>
                          <a:latin typeface="+mn-ea"/>
                          <a:ea typeface="+mn-ea"/>
                        </a:rPr>
                        <a:t>MSYS</a:t>
                      </a: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100" dirty="0">
                          <a:solidFill>
                            <a:schemeClr val="tx1"/>
                          </a:solidFill>
                          <a:latin typeface="+mn-ea"/>
                          <a:ea typeface="+mn-ea"/>
                        </a:rPr>
                        <a:t>●</a:t>
                      </a:r>
                    </a:p>
                  </a:txBody>
                  <a:tcPr marL="0" marR="0"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100" dirty="0">
                        <a:solidFill>
                          <a:schemeClr val="tx1"/>
                        </a:solidFill>
                        <a:latin typeface="+mn-ea"/>
                        <a:ea typeface="+mn-ea"/>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264613"/>
                  </a:ext>
                </a:extLst>
              </a:tr>
              <a:tr h="221296">
                <a:tc rowSpan="2">
                  <a:txBody>
                    <a:bodyPr/>
                    <a:lstStyle/>
                    <a:p>
                      <a:pPr algn="ctr"/>
                      <a:r>
                        <a:rPr kumimoji="1" lang="en-US" altLang="ja-JP" sz="1100" dirty="0">
                          <a:solidFill>
                            <a:schemeClr val="tx1"/>
                          </a:solidFill>
                          <a:latin typeface="+mn-ea"/>
                          <a:ea typeface="+mn-ea"/>
                        </a:rPr>
                        <a:t>3</a:t>
                      </a:r>
                      <a:endParaRPr kumimoji="1" lang="ja-JP" altLang="en-US" sz="1100" dirty="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kumimoji="1" lang="ja-JP" altLang="en-US" sz="1100" dirty="0">
                          <a:solidFill>
                            <a:schemeClr val="tx1"/>
                          </a:solidFill>
                          <a:latin typeface="+mn-ea"/>
                          <a:ea typeface="+mn-ea"/>
                        </a:rPr>
                        <a:t>分科会①</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1" lang="ja-JP" altLang="en-US" sz="1100" dirty="0">
                        <a:solidFill>
                          <a:schemeClr val="tx1"/>
                        </a:solidFill>
                        <a:latin typeface="+mn-ea"/>
                        <a:ea typeface="+mn-ea"/>
                      </a:endParaRPr>
                    </a:p>
                  </a:txBody>
                  <a:tcPr marL="36000"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100" dirty="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dirty="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a:solidFill>
                          <a:schemeClr val="tx1"/>
                        </a:solidFill>
                        <a:latin typeface="+mn-ea"/>
                        <a:ea typeface="+mn-ea"/>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dirty="0">
                        <a:solidFill>
                          <a:schemeClr val="tx1"/>
                        </a:solidFill>
                        <a:latin typeface="+mn-ea"/>
                        <a:ea typeface="+mn-ea"/>
                      </a:endParaRP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100" b="0" i="0" u="none" strike="noStrike" dirty="0">
                        <a:solidFill>
                          <a:srgbClr val="000000"/>
                        </a:solidFill>
                        <a:effectLst/>
                        <a:latin typeface="+mn-ea"/>
                        <a:ea typeface="+mn-ea"/>
                        <a:cs typeface="Meiryo UI" pitchFamily="50" charset="-128"/>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4446108"/>
                  </a:ext>
                </a:extLst>
              </a:tr>
              <a:tr h="197818">
                <a:tc vMerge="1">
                  <a:txBody>
                    <a:bodyPr/>
                    <a:lstStyle/>
                    <a:p>
                      <a:pPr algn="ctr"/>
                      <a:r>
                        <a:rPr kumimoji="1" lang="en-US" altLang="ja-JP" sz="1100">
                          <a:solidFill>
                            <a:schemeClr val="tx1"/>
                          </a:solidFill>
                          <a:latin typeface="+mn-ea"/>
                          <a:ea typeface="+mn-ea"/>
                        </a:rPr>
                        <a:t>4</a:t>
                      </a:r>
                      <a:endParaRPr kumimoji="1" lang="ja-JP" altLang="en-US" sz="110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r>
                        <a:rPr kumimoji="1" lang="ja-JP" altLang="en-US" sz="1100">
                          <a:solidFill>
                            <a:schemeClr val="tx1"/>
                          </a:solidFill>
                          <a:latin typeface="+mn-ea"/>
                          <a:ea typeface="+mn-ea"/>
                        </a:rPr>
                        <a:t>週次進捗</a:t>
                      </a:r>
                      <a:endParaRPr kumimoji="1" lang="en-US" altLang="ja-JP" sz="1100">
                        <a:solidFill>
                          <a:schemeClr val="tx1"/>
                        </a:solidFill>
                        <a:latin typeface="+mn-ea"/>
                        <a:ea typeface="+mn-ea"/>
                      </a:endParaRPr>
                    </a:p>
                    <a:p>
                      <a:pPr algn="ctr"/>
                      <a:r>
                        <a:rPr kumimoji="1" lang="ja-JP" altLang="en-US" sz="1100">
                          <a:solidFill>
                            <a:schemeClr val="tx1"/>
                          </a:solidFill>
                          <a:latin typeface="+mn-ea"/>
                          <a:ea typeface="+mn-ea"/>
                        </a:rPr>
                        <a:t>会議</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1" lang="ja-JP" altLang="en-US" sz="1100">
                          <a:solidFill>
                            <a:schemeClr val="tx1"/>
                          </a:solidFill>
                          <a:latin typeface="+mn-ea"/>
                          <a:ea typeface="+mn-ea"/>
                        </a:rPr>
                        <a:t>目的</a:t>
                      </a:r>
                    </a:p>
                  </a:txBody>
                  <a:tcPr marL="36000"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・課題状況の共有、個別テーマの検討</a:t>
                      </a:r>
                      <a:endParaRPr kumimoji="1" lang="en-US" altLang="ja-JP" sz="110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a:t>
                      </a:r>
                      <a:r>
                        <a:rPr kumimoji="1" lang="en-US" altLang="ja-JP" sz="1100">
                          <a:solidFill>
                            <a:schemeClr val="tx1"/>
                          </a:solidFill>
                          <a:latin typeface="+mn-ea"/>
                          <a:ea typeface="+mn-ea"/>
                        </a:rPr>
                        <a:t>PKG</a:t>
                      </a:r>
                      <a:r>
                        <a:rPr kumimoji="1" lang="ja-JP" altLang="en-US" sz="1100">
                          <a:solidFill>
                            <a:schemeClr val="tx1"/>
                          </a:solidFill>
                          <a:latin typeface="+mn-ea"/>
                          <a:ea typeface="+mn-ea"/>
                        </a:rPr>
                        <a:t>対応の概況確認</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r>
                        <a:rPr kumimoji="1" lang="ja-JP" altLang="en-US" sz="1100">
                          <a:solidFill>
                            <a:schemeClr val="tx1"/>
                          </a:solidFill>
                          <a:latin typeface="+mn-ea"/>
                          <a:ea typeface="+mn-ea"/>
                        </a:rPr>
                        <a:t>週次</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dirty="0">
                        <a:solidFill>
                          <a:schemeClr val="tx1"/>
                        </a:solidFill>
                        <a:latin typeface="+mn-ea"/>
                        <a:ea typeface="+mn-ea"/>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100" dirty="0">
                        <a:solidFill>
                          <a:schemeClr val="tx1"/>
                        </a:solidFill>
                        <a:latin typeface="+mn-ea"/>
                        <a:ea typeface="+mn-ea"/>
                      </a:endParaRP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100" b="0" i="0" u="none" strike="noStrike" dirty="0">
                        <a:solidFill>
                          <a:srgbClr val="000000"/>
                        </a:solidFill>
                        <a:effectLst/>
                        <a:latin typeface="+mn-ea"/>
                        <a:ea typeface="+mn-ea"/>
                        <a:cs typeface="Meiryo UI" pitchFamily="50" charset="-128"/>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5687174"/>
                  </a:ext>
                </a:extLst>
              </a:tr>
              <a:tr h="244947">
                <a:tc rowSpan="2">
                  <a:txBody>
                    <a:bodyPr/>
                    <a:lstStyle/>
                    <a:p>
                      <a:pPr algn="ctr"/>
                      <a:r>
                        <a:rPr kumimoji="1" lang="en-US" altLang="ja-JP" sz="1100">
                          <a:solidFill>
                            <a:schemeClr val="tx1"/>
                          </a:solidFill>
                          <a:latin typeface="+mn-ea"/>
                          <a:ea typeface="+mn-ea"/>
                        </a:rPr>
                        <a:t>4</a:t>
                      </a:r>
                      <a:endParaRPr kumimoji="1" lang="ja-JP" altLang="en-US" sz="110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kumimoji="1" lang="ja-JP" altLang="en-US" sz="1100" dirty="0">
                          <a:solidFill>
                            <a:schemeClr val="tx1"/>
                          </a:solidFill>
                          <a:latin typeface="+mn-ea"/>
                          <a:ea typeface="+mn-ea"/>
                        </a:rPr>
                        <a:t>分科会②</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1" lang="ja-JP" altLang="en-US" sz="1100">
                        <a:solidFill>
                          <a:schemeClr val="tx1"/>
                        </a:solidFill>
                        <a:latin typeface="+mn-ea"/>
                        <a:ea typeface="+mn-ea"/>
                      </a:endParaRPr>
                    </a:p>
                  </a:txBody>
                  <a:tcPr marL="36000"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100" dirty="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dirty="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a:solidFill>
                          <a:schemeClr val="tx1"/>
                        </a:solidFill>
                        <a:latin typeface="+mn-ea"/>
                        <a:ea typeface="+mn-ea"/>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dirty="0">
                        <a:solidFill>
                          <a:schemeClr val="tx1"/>
                        </a:solidFill>
                        <a:latin typeface="+mn-ea"/>
                        <a:ea typeface="+mn-ea"/>
                      </a:endParaRP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100" b="0" i="0" u="none" strike="noStrike" dirty="0">
                        <a:solidFill>
                          <a:srgbClr val="000000"/>
                        </a:solidFill>
                        <a:effectLst/>
                        <a:latin typeface="+mn-ea"/>
                        <a:ea typeface="+mn-ea"/>
                        <a:cs typeface="Meiryo UI" pitchFamily="50" charset="-128"/>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79491650"/>
                  </a:ext>
                </a:extLst>
              </a:tr>
              <a:tr h="222425">
                <a:tc vMerge="1">
                  <a:txBody>
                    <a:bodyPr/>
                    <a:lstStyle/>
                    <a:p>
                      <a:pPr algn="ctr"/>
                      <a:r>
                        <a:rPr kumimoji="1" lang="en-US" altLang="ja-JP" sz="1100">
                          <a:solidFill>
                            <a:schemeClr val="tx1"/>
                          </a:solidFill>
                          <a:latin typeface="+mn-ea"/>
                          <a:ea typeface="+mn-ea"/>
                        </a:rPr>
                        <a:t>4</a:t>
                      </a:r>
                      <a:endParaRPr kumimoji="1" lang="ja-JP" altLang="en-US" sz="1100">
                        <a:solidFill>
                          <a:schemeClr val="tx1"/>
                        </a:solidFill>
                        <a:latin typeface="+mn-ea"/>
                        <a:ea typeface="+mn-ea"/>
                      </a:endParaRP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r>
                        <a:rPr kumimoji="1" lang="ja-JP" altLang="en-US" sz="1100">
                          <a:solidFill>
                            <a:schemeClr val="tx1"/>
                          </a:solidFill>
                          <a:latin typeface="+mn-ea"/>
                          <a:ea typeface="+mn-ea"/>
                        </a:rPr>
                        <a:t>週次進捗</a:t>
                      </a:r>
                      <a:endParaRPr kumimoji="1" lang="en-US" altLang="ja-JP" sz="1100">
                        <a:solidFill>
                          <a:schemeClr val="tx1"/>
                        </a:solidFill>
                        <a:latin typeface="+mn-ea"/>
                        <a:ea typeface="+mn-ea"/>
                      </a:endParaRPr>
                    </a:p>
                    <a:p>
                      <a:pPr algn="ctr"/>
                      <a:r>
                        <a:rPr kumimoji="1" lang="ja-JP" altLang="en-US" sz="1100">
                          <a:solidFill>
                            <a:schemeClr val="tx1"/>
                          </a:solidFill>
                          <a:latin typeface="+mn-ea"/>
                          <a:ea typeface="+mn-ea"/>
                        </a:rPr>
                        <a:t>会議</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1" lang="ja-JP" altLang="en-US" sz="1100">
                          <a:solidFill>
                            <a:schemeClr val="tx1"/>
                          </a:solidFill>
                          <a:latin typeface="+mn-ea"/>
                          <a:ea typeface="+mn-ea"/>
                        </a:rPr>
                        <a:t>目的</a:t>
                      </a:r>
                    </a:p>
                  </a:txBody>
                  <a:tcPr marL="36000"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・課題状況の共有、個別テーマの検討</a:t>
                      </a:r>
                      <a:endParaRPr kumimoji="1" lang="en-US" altLang="ja-JP" sz="110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a:t>
                      </a:r>
                      <a:r>
                        <a:rPr kumimoji="1" lang="en-US" altLang="ja-JP" sz="1100">
                          <a:solidFill>
                            <a:schemeClr val="tx1"/>
                          </a:solidFill>
                          <a:latin typeface="+mn-ea"/>
                          <a:ea typeface="+mn-ea"/>
                        </a:rPr>
                        <a:t>PKG</a:t>
                      </a:r>
                      <a:r>
                        <a:rPr kumimoji="1" lang="ja-JP" altLang="en-US" sz="1100">
                          <a:solidFill>
                            <a:schemeClr val="tx1"/>
                          </a:solidFill>
                          <a:latin typeface="+mn-ea"/>
                          <a:ea typeface="+mn-ea"/>
                        </a:rPr>
                        <a:t>対応の概況確認</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r>
                        <a:rPr kumimoji="1" lang="ja-JP" altLang="en-US" sz="1100">
                          <a:solidFill>
                            <a:schemeClr val="tx1"/>
                          </a:solidFill>
                          <a:latin typeface="+mn-ea"/>
                          <a:ea typeface="+mn-ea"/>
                        </a:rPr>
                        <a:t>週次</a:t>
                      </a:r>
                    </a:p>
                  </a:txBody>
                  <a:tcPr marL="86638" marR="86638" marT="43319" marB="433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dirty="0">
                        <a:solidFill>
                          <a:schemeClr val="tx1"/>
                        </a:solidFill>
                        <a:latin typeface="+mn-ea"/>
                        <a:ea typeface="+mn-ea"/>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100" dirty="0">
                        <a:solidFill>
                          <a:schemeClr val="tx1"/>
                        </a:solidFill>
                        <a:latin typeface="+mn-ea"/>
                        <a:ea typeface="+mn-ea"/>
                      </a:endParaRPr>
                    </a:p>
                  </a:txBody>
                  <a:tcPr marL="51164" marR="34109" marT="51164" marB="51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100" b="0" i="0" u="none" strike="noStrike" dirty="0">
                        <a:solidFill>
                          <a:srgbClr val="000000"/>
                        </a:solidFill>
                        <a:effectLst/>
                        <a:latin typeface="+mn-ea"/>
                        <a:ea typeface="+mn-ea"/>
                        <a:cs typeface="Meiryo UI" pitchFamily="50" charset="-128"/>
                      </a:endParaRPr>
                    </a:p>
                  </a:txBody>
                  <a:tcPr marL="51164" marR="34109"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6736448"/>
                  </a:ext>
                </a:extLst>
              </a:tr>
            </a:tbl>
          </a:graphicData>
        </a:graphic>
      </p:graphicFrame>
    </p:spTree>
    <p:extLst>
      <p:ext uri="{BB962C8B-B14F-4D97-AF65-F5344CB8AC3E}">
        <p14:creationId xmlns:p14="http://schemas.microsoft.com/office/powerpoint/2010/main" val="3854845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00A71A-CD03-4DFD-A805-E87575F4FB47}"/>
              </a:ext>
            </a:extLst>
          </p:cNvPr>
          <p:cNvSpPr>
            <a:spLocks noGrp="1"/>
          </p:cNvSpPr>
          <p:nvPr>
            <p:ph type="title" idx="4294967295"/>
          </p:nvPr>
        </p:nvSpPr>
        <p:spPr>
          <a:xfrm>
            <a:off x="656602" y="153376"/>
            <a:ext cx="9004300" cy="334962"/>
          </a:xfrm>
          <a:prstGeom prst="rect">
            <a:avLst/>
          </a:prstGeom>
        </p:spPr>
        <p:txBody>
          <a:bodyPr/>
          <a:lstStyle/>
          <a:p>
            <a:r>
              <a:rPr lang="ja-JP" altLang="en-US"/>
              <a:t>５</a:t>
            </a:r>
            <a:r>
              <a:rPr lang="en-US" altLang="ja-JP"/>
              <a:t>-</a:t>
            </a:r>
            <a:r>
              <a:rPr lang="ja-JP" altLang="en-US"/>
              <a:t>２．</a:t>
            </a:r>
            <a:r>
              <a:rPr lang="en-US" altLang="ja-JP"/>
              <a:t>【</a:t>
            </a:r>
            <a:r>
              <a:rPr lang="ja-JP" altLang="en-US"/>
              <a:t>運営要領</a:t>
            </a:r>
            <a:r>
              <a:rPr lang="en-US" altLang="ja-JP"/>
              <a:t>】</a:t>
            </a:r>
            <a:r>
              <a:rPr lang="zh-TW" altLang="en-US"/>
              <a:t>管理帳票</a:t>
            </a:r>
            <a:endParaRPr lang="ja-JP" altLang="en-US"/>
          </a:p>
        </p:txBody>
      </p:sp>
      <p:sp>
        <p:nvSpPr>
          <p:cNvPr id="3" name="Text Box 3">
            <a:extLst>
              <a:ext uri="{FF2B5EF4-FFF2-40B4-BE49-F238E27FC236}">
                <a16:creationId xmlns:a16="http://schemas.microsoft.com/office/drawing/2014/main" id="{CD98F060-17A4-42E2-8556-7F1352F25D81}"/>
              </a:ext>
            </a:extLst>
          </p:cNvPr>
          <p:cNvSpPr txBox="1">
            <a:spLocks noChangeArrowheads="1"/>
          </p:cNvSpPr>
          <p:nvPr/>
        </p:nvSpPr>
        <p:spPr bwMode="auto">
          <a:xfrm>
            <a:off x="171378" y="620146"/>
            <a:ext cx="9571138" cy="662247"/>
          </a:xfrm>
          <a:prstGeom prst="rect">
            <a:avLst/>
          </a:prstGeom>
          <a:noFill/>
          <a:ln w="9525">
            <a:noFill/>
            <a:miter lim="800000"/>
            <a:headEnd/>
            <a:tailEnd/>
          </a:ln>
        </p:spPr>
        <p:txBody>
          <a:bodyPr lIns="108000" tIns="0" bIns="0" anchor="ctr" anchorCtr="0"/>
          <a:lstStyle>
            <a:defPPr>
              <a:defRPr lang="ja-JP"/>
            </a:defPPr>
            <a:lvl1pPr marL="285750" indent="-285750" eaLnBrk="1" hangingPunct="1">
              <a:spcBef>
                <a:spcPts val="300"/>
              </a:spcBef>
              <a:buFont typeface="Wingdings" panose="05000000000000000000" pitchFamily="2" charset="2"/>
              <a:buChar char="l"/>
              <a:defRPr sz="1400">
                <a:latin typeface="+mn-ea"/>
                <a:ea typeface="+mn-ea"/>
              </a:defRPr>
            </a:lvl1pPr>
            <a:lvl2pPr marL="742950" indent="-285750" eaLnBrk="0" hangingPunct="0">
              <a:spcBef>
                <a:spcPct val="20000"/>
              </a:spcBef>
              <a:buChar char="–"/>
              <a:defRPr sz="2000">
                <a:latin typeface="Times New Roman" pitchFamily="18" charset="0"/>
                <a:ea typeface="ＭＳ Ｐゴシック" pitchFamily="50" charset="-128"/>
              </a:defRPr>
            </a:lvl2pPr>
            <a:lvl3pPr marL="1143000" indent="-228600" eaLnBrk="0" hangingPunct="0">
              <a:spcBef>
                <a:spcPct val="20000"/>
              </a:spcBef>
              <a:buChar char="•"/>
              <a:defRPr>
                <a:latin typeface="Times New Roman" pitchFamily="18" charset="0"/>
                <a:ea typeface="ＭＳ Ｐゴシック" pitchFamily="50" charset="-128"/>
              </a:defRPr>
            </a:lvl3pPr>
            <a:lvl4pPr marL="1600200" indent="-228600" eaLnBrk="0" hangingPunct="0">
              <a:spcBef>
                <a:spcPct val="20000"/>
              </a:spcBef>
              <a:buChar char="–"/>
              <a:defRPr sz="1600">
                <a:latin typeface="Times New Roman" pitchFamily="18" charset="0"/>
                <a:ea typeface="ＭＳ Ｐゴシック" pitchFamily="50" charset="-128"/>
              </a:defRPr>
            </a:lvl4pPr>
            <a:lvl5pPr marL="2057400" indent="-228600" eaLnBrk="0" hangingPunct="0">
              <a:spcBef>
                <a:spcPct val="20000"/>
              </a:spcBef>
              <a:buChar char="»"/>
              <a:defRPr sz="1600">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sz="1600">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sz="1600">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sz="1600">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sz="1600">
                <a:latin typeface="Times New Roman" pitchFamily="18" charset="0"/>
                <a:ea typeface="ＭＳ Ｐゴシック" pitchFamily="50" charset="-128"/>
              </a:defRPr>
            </a:lvl9pPr>
          </a:lstStyle>
          <a:p>
            <a:r>
              <a:rPr lang="ja-JP" altLang="en-US" dirty="0"/>
              <a:t>当案件では、Ｊ☆ＰＡＴの管理基準に基づき必要な管理帳票を用いてプロジェクト管理を行う</a:t>
            </a:r>
            <a:endParaRPr lang="en-US" altLang="ja-JP" dirty="0"/>
          </a:p>
          <a:p>
            <a:r>
              <a:rPr lang="ja-JP" altLang="en-US" dirty="0"/>
              <a:t>使用するプロジェクト管理帳票は、Ｊ☆ＰＡＴの標準帳票をベースに管理を行う</a:t>
            </a:r>
            <a:endParaRPr lang="en-US" altLang="ja-JP" dirty="0"/>
          </a:p>
          <a:p>
            <a:r>
              <a:rPr lang="ja-JP" altLang="en-US" dirty="0"/>
              <a:t>管理帳票の原本は</a:t>
            </a:r>
            <a:r>
              <a:rPr lang="en-US" altLang="ja-JP" dirty="0"/>
              <a:t>Teams</a:t>
            </a:r>
            <a:r>
              <a:rPr lang="ja-JP" altLang="en-US" dirty="0"/>
              <a:t>のチャネルで管理。各ファイルパスは別途展開予定。</a:t>
            </a:r>
            <a:endParaRPr lang="en-US" altLang="ja-JP" dirty="0"/>
          </a:p>
        </p:txBody>
      </p:sp>
      <p:sp>
        <p:nvSpPr>
          <p:cNvPr id="6" name="テキスト ボックス 5">
            <a:extLst>
              <a:ext uri="{FF2B5EF4-FFF2-40B4-BE49-F238E27FC236}">
                <a16:creationId xmlns:a16="http://schemas.microsoft.com/office/drawing/2014/main" id="{629A5180-B857-441D-9B52-CD19066F37F7}"/>
              </a:ext>
            </a:extLst>
          </p:cNvPr>
          <p:cNvSpPr txBox="1"/>
          <p:nvPr/>
        </p:nvSpPr>
        <p:spPr>
          <a:xfrm>
            <a:off x="6786282" y="71718"/>
            <a:ext cx="2956234" cy="430887"/>
          </a:xfrm>
          <a:prstGeom prst="rect">
            <a:avLst/>
          </a:prstGeom>
          <a:solidFill>
            <a:schemeClr val="bg1"/>
          </a:solidFill>
          <a:ln>
            <a:solidFill>
              <a:schemeClr val="tx1"/>
            </a:solidFill>
          </a:ln>
        </p:spPr>
        <p:txBody>
          <a:bodyPr wrap="square" rtlCol="0">
            <a:spAutoFit/>
          </a:bodyPr>
          <a:lstStyle/>
          <a:p>
            <a:r>
              <a:rPr lang="ja-JP" altLang="en-US" sz="1100">
                <a:latin typeface="+mn-ea"/>
                <a:ea typeface="+mn-ea"/>
              </a:rPr>
              <a:t>◎</a:t>
            </a:r>
            <a:r>
              <a:rPr kumimoji="1" lang="ja-JP" altLang="en-US" sz="1100">
                <a:latin typeface="+mn-ea"/>
                <a:ea typeface="+mn-ea"/>
              </a:rPr>
              <a:t>：定期報告</a:t>
            </a:r>
            <a:r>
              <a:rPr lang="ja-JP" altLang="en-US" sz="1100">
                <a:latin typeface="+mn-ea"/>
                <a:ea typeface="+mn-ea"/>
              </a:rPr>
              <a:t>　　〇</a:t>
            </a:r>
            <a:r>
              <a:rPr kumimoji="1" lang="ja-JP" altLang="en-US" sz="1100">
                <a:latin typeface="+mn-ea"/>
                <a:ea typeface="+mn-ea"/>
              </a:rPr>
              <a:t>：追加、変更時のみ報告</a:t>
            </a:r>
            <a:endParaRPr kumimoji="1" lang="en-US" altLang="ja-JP" sz="1100">
              <a:latin typeface="+mn-ea"/>
              <a:ea typeface="+mn-ea"/>
            </a:endParaRPr>
          </a:p>
          <a:p>
            <a:r>
              <a:rPr kumimoji="1" lang="ja-JP" altLang="en-US" sz="1100">
                <a:latin typeface="+mn-ea"/>
                <a:ea typeface="+mn-ea"/>
              </a:rPr>
              <a:t>△</a:t>
            </a:r>
            <a:r>
              <a:rPr lang="ja-JP" altLang="en-US" sz="1100">
                <a:latin typeface="+mn-ea"/>
                <a:ea typeface="+mn-ea"/>
              </a:rPr>
              <a:t>：特定のタイミングで作成</a:t>
            </a:r>
            <a:endParaRPr kumimoji="1" lang="ja-JP" altLang="en-US" sz="1100">
              <a:latin typeface="+mn-ea"/>
              <a:ea typeface="+mn-ea"/>
            </a:endParaRPr>
          </a:p>
        </p:txBody>
      </p:sp>
      <p:graphicFrame>
        <p:nvGraphicFramePr>
          <p:cNvPr id="8" name="表 7">
            <a:extLst>
              <a:ext uri="{FF2B5EF4-FFF2-40B4-BE49-F238E27FC236}">
                <a16:creationId xmlns:a16="http://schemas.microsoft.com/office/drawing/2014/main" id="{E9A3BD18-7D56-831F-756D-0836515D345E}"/>
              </a:ext>
            </a:extLst>
          </p:cNvPr>
          <p:cNvGraphicFramePr>
            <a:graphicFrameLocks noGrp="1"/>
          </p:cNvGraphicFramePr>
          <p:nvPr>
            <p:extLst>
              <p:ext uri="{D42A27DB-BD31-4B8C-83A1-F6EECF244321}">
                <p14:modId xmlns:p14="http://schemas.microsoft.com/office/powerpoint/2010/main" val="117728383"/>
              </p:ext>
            </p:extLst>
          </p:nvPr>
        </p:nvGraphicFramePr>
        <p:xfrm>
          <a:off x="171378" y="1450999"/>
          <a:ext cx="9571141" cy="5088686"/>
        </p:xfrm>
        <a:graphic>
          <a:graphicData uri="http://schemas.openxmlformats.org/drawingml/2006/table">
            <a:tbl>
              <a:tblPr/>
              <a:tblGrid>
                <a:gridCol w="558739">
                  <a:extLst>
                    <a:ext uri="{9D8B030D-6E8A-4147-A177-3AD203B41FA5}">
                      <a16:colId xmlns:a16="http://schemas.microsoft.com/office/drawing/2014/main" val="4006336439"/>
                    </a:ext>
                  </a:extLst>
                </a:gridCol>
                <a:gridCol w="1808012">
                  <a:extLst>
                    <a:ext uri="{9D8B030D-6E8A-4147-A177-3AD203B41FA5}">
                      <a16:colId xmlns:a16="http://schemas.microsoft.com/office/drawing/2014/main" val="3987760887"/>
                    </a:ext>
                  </a:extLst>
                </a:gridCol>
                <a:gridCol w="2433350">
                  <a:extLst>
                    <a:ext uri="{9D8B030D-6E8A-4147-A177-3AD203B41FA5}">
                      <a16:colId xmlns:a16="http://schemas.microsoft.com/office/drawing/2014/main" val="1591628012"/>
                    </a:ext>
                  </a:extLst>
                </a:gridCol>
                <a:gridCol w="954208">
                  <a:extLst>
                    <a:ext uri="{9D8B030D-6E8A-4147-A177-3AD203B41FA5}">
                      <a16:colId xmlns:a16="http://schemas.microsoft.com/office/drawing/2014/main" val="4178147477"/>
                    </a:ext>
                  </a:extLst>
                </a:gridCol>
                <a:gridCol w="954208">
                  <a:extLst>
                    <a:ext uri="{9D8B030D-6E8A-4147-A177-3AD203B41FA5}">
                      <a16:colId xmlns:a16="http://schemas.microsoft.com/office/drawing/2014/main" val="2651265713"/>
                    </a:ext>
                  </a:extLst>
                </a:gridCol>
                <a:gridCol w="954208">
                  <a:extLst>
                    <a:ext uri="{9D8B030D-6E8A-4147-A177-3AD203B41FA5}">
                      <a16:colId xmlns:a16="http://schemas.microsoft.com/office/drawing/2014/main" val="643903737"/>
                    </a:ext>
                  </a:extLst>
                </a:gridCol>
                <a:gridCol w="954208">
                  <a:extLst>
                    <a:ext uri="{9D8B030D-6E8A-4147-A177-3AD203B41FA5}">
                      <a16:colId xmlns:a16="http://schemas.microsoft.com/office/drawing/2014/main" val="3665828738"/>
                    </a:ext>
                  </a:extLst>
                </a:gridCol>
                <a:gridCol w="954208">
                  <a:extLst>
                    <a:ext uri="{9D8B030D-6E8A-4147-A177-3AD203B41FA5}">
                      <a16:colId xmlns:a16="http://schemas.microsoft.com/office/drawing/2014/main" val="2549495417"/>
                    </a:ext>
                  </a:extLst>
                </a:gridCol>
              </a:tblGrid>
              <a:tr h="257630">
                <a:tc rowSpan="2">
                  <a:txBody>
                    <a:bodyPr/>
                    <a:lstStyle/>
                    <a:p>
                      <a:pPr algn="ctr" rtl="0" fontAlgn="ctr"/>
                      <a:r>
                        <a:rPr lang="en-US" sz="1400" b="1" i="0" u="none" strike="noStrike">
                          <a:solidFill>
                            <a:srgbClr val="FFFFFF"/>
                          </a:solidFill>
                          <a:effectLst/>
                          <a:latin typeface="Meiryo UI" panose="020B0604030504040204" pitchFamily="50" charset="-128"/>
                          <a:ea typeface="Meiryo UI" panose="020B0604030504040204" pitchFamily="50" charset="-128"/>
                        </a:rPr>
                        <a:t>No.　</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D9D9D9"/>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rowSpan="2">
                  <a:txBody>
                    <a:bodyPr/>
                    <a:lstStyle/>
                    <a:p>
                      <a:pPr algn="ctr" rtl="0" fontAlgn="ctr"/>
                      <a:r>
                        <a:rPr lang="ja-JP" altLang="en-US" sz="1400" b="1" i="0" u="none" strike="noStrike">
                          <a:solidFill>
                            <a:srgbClr val="FFFFFF"/>
                          </a:solidFill>
                          <a:effectLst/>
                          <a:latin typeface="Meiryo UI" panose="020B0604030504040204" pitchFamily="50" charset="-128"/>
                          <a:ea typeface="Meiryo UI" panose="020B0604030504040204" pitchFamily="50" charset="-128"/>
                        </a:rPr>
                        <a:t>帳票名</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rowSpan="2">
                  <a:txBody>
                    <a:bodyPr/>
                    <a:lstStyle/>
                    <a:p>
                      <a:pPr algn="ctr" rtl="0" fontAlgn="ctr"/>
                      <a:r>
                        <a:rPr lang="ja-JP" altLang="en-US" sz="1400" b="1" i="0" u="none" strike="noStrike">
                          <a:solidFill>
                            <a:srgbClr val="FFFFFF"/>
                          </a:solidFill>
                          <a:effectLst/>
                          <a:latin typeface="Meiryo UI" panose="020B0604030504040204" pitchFamily="50" charset="-128"/>
                          <a:ea typeface="Meiryo UI" panose="020B0604030504040204" pitchFamily="50" charset="-128"/>
                        </a:rPr>
                        <a:t>内容</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gridSpan="3">
                  <a:txBody>
                    <a:bodyPr/>
                    <a:lstStyle/>
                    <a:p>
                      <a:pPr algn="ctr" rtl="0" fontAlgn="ctr"/>
                      <a:r>
                        <a:rPr lang="ja-JP" altLang="en-US" sz="1200" b="1" i="0" u="none" strike="noStrike">
                          <a:solidFill>
                            <a:srgbClr val="FFFFFF"/>
                          </a:solidFill>
                          <a:effectLst/>
                          <a:latin typeface="Meiryo UI" panose="020B0604030504040204" pitchFamily="50" charset="-128"/>
                          <a:ea typeface="Meiryo UI" panose="020B0604030504040204" pitchFamily="50" charset="-128"/>
                        </a:rPr>
                        <a:t>担当</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00588F"/>
                    </a:solidFill>
                  </a:tcPr>
                </a:tc>
                <a:tc hMerge="1">
                  <a:txBody>
                    <a:bodyPr/>
                    <a:lstStyle/>
                    <a:p>
                      <a:endParaRPr kumimoji="1" lang="ja-JP" altLang="en-US"/>
                    </a:p>
                  </a:txBody>
                  <a:tcPr/>
                </a:tc>
                <a:tc hMerge="1">
                  <a:txBody>
                    <a:bodyPr/>
                    <a:lstStyle/>
                    <a:p>
                      <a:endParaRPr kumimoji="1" lang="ja-JP" altLang="en-US"/>
                    </a:p>
                  </a:txBody>
                  <a:tcPr/>
                </a:tc>
                <a:tc gridSpan="2">
                  <a:txBody>
                    <a:bodyPr/>
                    <a:lstStyle/>
                    <a:p>
                      <a:pPr algn="ctr" rtl="0" fontAlgn="ctr"/>
                      <a:r>
                        <a:rPr lang="ja-JP" altLang="en-US" sz="1200" b="1" i="0" u="none" strike="noStrike">
                          <a:solidFill>
                            <a:srgbClr val="FFFFFF"/>
                          </a:solidFill>
                          <a:effectLst/>
                          <a:latin typeface="Meiryo UI" panose="020B0604030504040204" pitchFamily="50" charset="-128"/>
                          <a:ea typeface="Meiryo UI" panose="020B0604030504040204" pitchFamily="50" charset="-128"/>
                        </a:rPr>
                        <a:t>工程</a:t>
                      </a:r>
                    </a:p>
                  </a:txBody>
                  <a:tcPr marL="4895" marR="4895" marT="4895" marB="0" anchor="ctr">
                    <a:lnL w="12700" cap="flat" cmpd="sng" algn="ctr">
                      <a:solidFill>
                        <a:srgbClr val="D9D9D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00588F"/>
                    </a:solidFill>
                  </a:tcPr>
                </a:tc>
                <a:tc hMerge="1">
                  <a:txBody>
                    <a:bodyPr/>
                    <a:lstStyle/>
                    <a:p>
                      <a:endParaRPr kumimoji="1" lang="ja-JP" altLang="en-US"/>
                    </a:p>
                  </a:txBody>
                  <a:tcPr/>
                </a:tc>
                <a:extLst>
                  <a:ext uri="{0D108BD9-81ED-4DB2-BD59-A6C34878D82A}">
                    <a16:rowId xmlns:a16="http://schemas.microsoft.com/office/drawing/2014/main" val="3187127132"/>
                  </a:ext>
                </a:extLst>
              </a:tr>
              <a:tr h="386928">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altLang="ja-JP" sz="1200" b="1" i="0" u="none" strike="noStrike" dirty="0">
                          <a:solidFill>
                            <a:srgbClr val="FFFFFF"/>
                          </a:solidFill>
                          <a:effectLst/>
                          <a:latin typeface="Meiryo UI" panose="020B0604030504040204" pitchFamily="50" charset="-128"/>
                          <a:ea typeface="Meiryo UI" panose="020B0604030504040204" pitchFamily="50" charset="-128"/>
                        </a:rPr>
                        <a:t>SMCC</a:t>
                      </a:r>
                      <a:endParaRPr lang="en-US" sz="1200" b="1" i="0" u="none" strike="noStrike" dirty="0">
                        <a:solidFill>
                          <a:srgbClr val="FFFFFF"/>
                        </a:solidFill>
                        <a:effectLst/>
                        <a:latin typeface="Meiryo UI" panose="020B0604030504040204" pitchFamily="50" charset="-128"/>
                        <a:ea typeface="Meiryo UI" panose="020B0604030504040204" pitchFamily="50" charset="-128"/>
                      </a:endParaRP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a:txBody>
                    <a:bodyPr/>
                    <a:lstStyle/>
                    <a:p>
                      <a:pPr algn="ctr" rtl="0" fontAlgn="ctr"/>
                      <a:r>
                        <a:rPr lang="en-US" sz="1200" b="1" i="0" u="none" strike="noStrike" dirty="0">
                          <a:solidFill>
                            <a:srgbClr val="FFFFFF"/>
                          </a:solidFill>
                          <a:effectLst/>
                          <a:latin typeface="Meiryo UI" panose="020B0604030504040204" pitchFamily="50" charset="-128"/>
                          <a:ea typeface="Meiryo UI" panose="020B0604030504040204" pitchFamily="50" charset="-128"/>
                        </a:rPr>
                        <a:t>JRI</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a:txBody>
                    <a:bodyPr/>
                    <a:lstStyle/>
                    <a:p>
                      <a:pPr algn="ctr" rtl="0" fontAlgn="ctr"/>
                      <a:r>
                        <a:rPr lang="en-US" altLang="ja-JP" sz="1200" b="1" i="0" u="none" strike="noStrike" dirty="0">
                          <a:solidFill>
                            <a:srgbClr val="FFFFFF"/>
                          </a:solidFill>
                          <a:effectLst/>
                          <a:latin typeface="Meiryo UI" panose="020B0604030504040204" pitchFamily="50" charset="-128"/>
                          <a:ea typeface="Meiryo UI" panose="020B0604030504040204" pitchFamily="50" charset="-128"/>
                        </a:rPr>
                        <a:t>MSYS</a:t>
                      </a:r>
                      <a:endParaRPr lang="en-US" sz="1200" b="1" i="0" u="none" strike="noStrike" dirty="0">
                        <a:solidFill>
                          <a:srgbClr val="FFFFFF"/>
                        </a:solidFill>
                        <a:effectLst/>
                        <a:latin typeface="Meiryo UI" panose="020B0604030504040204" pitchFamily="50" charset="-128"/>
                        <a:ea typeface="Meiryo UI" panose="020B0604030504040204" pitchFamily="50" charset="-128"/>
                      </a:endParaRP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a:txBody>
                    <a:bodyPr/>
                    <a:lstStyle/>
                    <a:p>
                      <a:pPr algn="ctr" rtl="0" fontAlgn="ctr"/>
                      <a:r>
                        <a:rPr lang="ja-JP" altLang="en-US" sz="1200" b="1" i="0" u="none" strike="noStrike">
                          <a:solidFill>
                            <a:srgbClr val="FFFFFF"/>
                          </a:solidFill>
                          <a:effectLst/>
                          <a:latin typeface="Meiryo UI" panose="020B0604030504040204" pitchFamily="50" charset="-128"/>
                          <a:ea typeface="Meiryo UI" panose="020B0604030504040204" pitchFamily="50" charset="-128"/>
                        </a:rPr>
                        <a:t>要件定義</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a:txBody>
                    <a:bodyPr/>
                    <a:lstStyle/>
                    <a:p>
                      <a:pPr algn="ctr" rtl="0" fontAlgn="ctr"/>
                      <a:r>
                        <a:rPr lang="zh-TW" altLang="en-US" sz="1200" b="1" i="0" u="none" strike="noStrike">
                          <a:solidFill>
                            <a:srgbClr val="FFFFFF"/>
                          </a:solidFill>
                          <a:effectLst/>
                          <a:latin typeface="Meiryo UI" panose="020B0604030504040204" pitchFamily="50" charset="-128"/>
                          <a:ea typeface="Meiryo UI" panose="020B0604030504040204" pitchFamily="50" charset="-128"/>
                        </a:rPr>
                        <a:t>設計工程</a:t>
                      </a:r>
                      <a:br>
                        <a:rPr lang="zh-TW" altLang="en-US" sz="1200" b="1" i="0" u="none" strike="noStrike">
                          <a:solidFill>
                            <a:srgbClr val="FFFFFF"/>
                          </a:solidFill>
                          <a:effectLst/>
                          <a:latin typeface="Meiryo UI" panose="020B0604030504040204" pitchFamily="50" charset="-128"/>
                          <a:ea typeface="Meiryo UI" panose="020B0604030504040204" pitchFamily="50" charset="-128"/>
                        </a:rPr>
                      </a:br>
                      <a:r>
                        <a:rPr lang="zh-TW" altLang="en-US" sz="1200" b="1" i="0" u="none" strike="noStrike">
                          <a:solidFill>
                            <a:srgbClr val="FFFFFF"/>
                          </a:solidFill>
                          <a:effectLst/>
                          <a:latin typeface="Meiryo UI" panose="020B0604030504040204" pitchFamily="50" charset="-128"/>
                          <a:ea typeface="Meiryo UI" panose="020B0604030504040204" pitchFamily="50" charset="-128"/>
                        </a:rPr>
                        <a:t>以降</a:t>
                      </a:r>
                    </a:p>
                  </a:txBody>
                  <a:tcPr marL="4895" marR="4895" marT="4895" marB="0" anchor="ctr">
                    <a:lnL w="12700" cap="flat" cmpd="sng" algn="ctr">
                      <a:solidFill>
                        <a:srgbClr val="D9D9D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extLst>
                  <a:ext uri="{0D108BD9-81ED-4DB2-BD59-A6C34878D82A}">
                    <a16:rowId xmlns:a16="http://schemas.microsoft.com/office/drawing/2014/main" val="635944984"/>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1</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rowSpan="2">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プロジェクト状況報告書</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en-US" altLang="ja-JP" sz="1100" b="0" i="0" u="none" strike="noStrike">
                          <a:solidFill>
                            <a:srgbClr val="000000"/>
                          </a:solidFill>
                          <a:effectLst/>
                          <a:latin typeface="Meiryo UI" panose="020B0604030504040204" pitchFamily="50" charset="-128"/>
                          <a:ea typeface="Meiryo UI" panose="020B0604030504040204" pitchFamily="50" charset="-128"/>
                        </a:rPr>
                        <a:t>(</a:t>
                      </a:r>
                      <a:r>
                        <a:rPr lang="ja-JP" altLang="en-US" sz="1100" b="0" i="0" u="none" strike="noStrike">
                          <a:solidFill>
                            <a:srgbClr val="000000"/>
                          </a:solidFill>
                          <a:effectLst/>
                          <a:latin typeface="Meiryo UI" panose="020B0604030504040204" pitchFamily="50" charset="-128"/>
                          <a:ea typeface="Meiryo UI" panose="020B0604030504040204" pitchFamily="50" charset="-128"/>
                        </a:rPr>
                        <a:t>週次</a:t>
                      </a:r>
                      <a:r>
                        <a:rPr lang="en-US" altLang="ja-JP" sz="1100" b="0" i="0" u="none" strike="noStrike">
                          <a:solidFill>
                            <a:srgbClr val="000000"/>
                          </a:solidFill>
                          <a:effectLst/>
                          <a:latin typeface="Meiryo UI" panose="020B0604030504040204" pitchFamily="50" charset="-128"/>
                          <a:ea typeface="Meiryo UI" panose="020B0604030504040204" pitchFamily="50" charset="-128"/>
                        </a:rPr>
                        <a:t>)</a:t>
                      </a:r>
                      <a:r>
                        <a:rPr lang="ja-JP" altLang="en-US" sz="1100" b="0" i="0" u="none" strike="noStrike">
                          <a:solidFill>
                            <a:srgbClr val="000000"/>
                          </a:solidFill>
                          <a:effectLst/>
                          <a:latin typeface="Meiryo UI" panose="020B0604030504040204" pitchFamily="50" charset="-128"/>
                          <a:ea typeface="Meiryo UI" panose="020B0604030504040204" pitchFamily="50" charset="-128"/>
                        </a:rPr>
                        <a:t>進捗状況報告サマリ</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作成・報告</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作成・報告</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3380212457"/>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2</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vMerge="1">
                  <a:txBody>
                    <a:bodyPr/>
                    <a:lstStyle/>
                    <a:p>
                      <a:endParaRPr kumimoji="1" lang="ja-JP" altLang="en-US"/>
                    </a:p>
                  </a:txBody>
                  <a:tcPr/>
                </a:tc>
                <a:tc>
                  <a:txBody>
                    <a:bodyPr/>
                    <a:lstStyle/>
                    <a:p>
                      <a:pPr algn="l" rtl="0" fontAlgn="ctr"/>
                      <a:r>
                        <a:rPr lang="en-US" altLang="ja-JP" sz="1100" b="0" i="0" u="none" strike="noStrike">
                          <a:solidFill>
                            <a:srgbClr val="000000"/>
                          </a:solidFill>
                          <a:effectLst/>
                          <a:latin typeface="Meiryo UI" panose="020B0604030504040204" pitchFamily="50" charset="-128"/>
                          <a:ea typeface="Meiryo UI" panose="020B0604030504040204" pitchFamily="50" charset="-128"/>
                        </a:rPr>
                        <a:t>(</a:t>
                      </a:r>
                      <a:r>
                        <a:rPr lang="ja-JP" altLang="en-US" sz="1100" b="0" i="0" u="none" strike="noStrike">
                          <a:solidFill>
                            <a:srgbClr val="000000"/>
                          </a:solidFill>
                          <a:effectLst/>
                          <a:latin typeface="Meiryo UI" panose="020B0604030504040204" pitchFamily="50" charset="-128"/>
                          <a:ea typeface="Meiryo UI" panose="020B0604030504040204" pitchFamily="50" charset="-128"/>
                        </a:rPr>
                        <a:t>月次</a:t>
                      </a:r>
                      <a:r>
                        <a:rPr lang="en-US" altLang="ja-JP" sz="1100" b="0" i="0" u="none" strike="noStrike">
                          <a:solidFill>
                            <a:srgbClr val="000000"/>
                          </a:solidFill>
                          <a:effectLst/>
                          <a:latin typeface="Meiryo UI" panose="020B0604030504040204" pitchFamily="50" charset="-128"/>
                          <a:ea typeface="Meiryo UI" panose="020B0604030504040204" pitchFamily="50" charset="-128"/>
                        </a:rPr>
                        <a:t>)</a:t>
                      </a:r>
                      <a:r>
                        <a:rPr lang="ja-JP" altLang="en-US" sz="1100" b="0" i="0" u="none" strike="noStrike">
                          <a:solidFill>
                            <a:srgbClr val="000000"/>
                          </a:solidFill>
                          <a:effectLst/>
                          <a:latin typeface="Meiryo UI" panose="020B0604030504040204" pitchFamily="50" charset="-128"/>
                          <a:ea typeface="Meiryo UI" panose="020B0604030504040204" pitchFamily="50" charset="-128"/>
                        </a:rPr>
                        <a:t>進捗状況報告サマリ</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作成・報告</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3475253609"/>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3</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en-US" sz="1100" b="0" i="0" u="none" strike="noStrike">
                          <a:solidFill>
                            <a:srgbClr val="292929"/>
                          </a:solidFill>
                          <a:effectLst/>
                          <a:latin typeface="Meiryo UI" panose="020B0604030504040204" pitchFamily="50" charset="-128"/>
                          <a:ea typeface="Meiryo UI" panose="020B0604030504040204" pitchFamily="50" charset="-128"/>
                        </a:rPr>
                        <a:t>WBS</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個々のタスクの状況管理</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3753737475"/>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4</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en-US" sz="1100" b="0" i="0" u="none" strike="noStrike">
                          <a:solidFill>
                            <a:srgbClr val="292929"/>
                          </a:solidFill>
                          <a:effectLst/>
                          <a:latin typeface="Meiryo UI" panose="020B0604030504040204" pitchFamily="50" charset="-128"/>
                          <a:ea typeface="Meiryo UI" panose="020B0604030504040204" pitchFamily="50" charset="-128"/>
                        </a:rPr>
                        <a:t>Q&amp;A</a:t>
                      </a:r>
                      <a:r>
                        <a:rPr lang="ja-JP" altLang="en-US" sz="1100" b="0" i="0" u="none" strike="noStrike">
                          <a:solidFill>
                            <a:srgbClr val="292929"/>
                          </a:solidFill>
                          <a:effectLst/>
                          <a:latin typeface="Meiryo UI" panose="020B0604030504040204" pitchFamily="50" charset="-128"/>
                          <a:ea typeface="Meiryo UI" panose="020B0604030504040204" pitchFamily="50" charset="-128"/>
                        </a:rPr>
                        <a:t>管理一覧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各社間の</a:t>
                      </a:r>
                      <a:r>
                        <a:rPr lang="en-US" altLang="ja-JP" sz="1100" b="0" i="0" u="none" strike="noStrike">
                          <a:solidFill>
                            <a:srgbClr val="000000"/>
                          </a:solidFill>
                          <a:effectLst/>
                          <a:latin typeface="Meiryo UI" panose="020B0604030504040204" pitchFamily="50" charset="-128"/>
                          <a:ea typeface="Meiryo UI" panose="020B0604030504040204" pitchFamily="50" charset="-128"/>
                        </a:rPr>
                        <a:t>QA</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やりとりの一覧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1621517912"/>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5</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zh-TW" altLang="en-US" sz="1100" b="0" i="0" u="none" strike="noStrike">
                          <a:solidFill>
                            <a:srgbClr val="292929"/>
                          </a:solidFill>
                          <a:effectLst/>
                          <a:latin typeface="Meiryo UI" panose="020B0604030504040204" pitchFamily="50" charset="-128"/>
                          <a:ea typeface="Meiryo UI" panose="020B0604030504040204" pitchFamily="50" charset="-128"/>
                        </a:rPr>
                        <a:t>課題管理一覧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プロジェクトで発生した課題の一覧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2524180721"/>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6</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リスク管理計画書</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プロジェクトのリスク管理の方針</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情報提供・検討</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1957395896"/>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7</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リスク管理一覧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プロジェクトのリスクと対策の一覧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3720861359"/>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8</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マスタスケジュール</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プロジェクトのマスタスケジュール</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3147818189"/>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10</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プロジェクト体制図</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プロジェクト関係者</a:t>
                      </a:r>
                      <a:r>
                        <a:rPr lang="en-US" altLang="ja-JP" sz="1100" b="0" i="0" u="none" strike="noStrike">
                          <a:solidFill>
                            <a:srgbClr val="292929"/>
                          </a:solidFill>
                          <a:effectLst/>
                          <a:latin typeface="Meiryo UI" panose="020B0604030504040204" pitchFamily="50" charset="-128"/>
                          <a:ea typeface="Meiryo UI" panose="020B0604030504040204" pitchFamily="50" charset="-128"/>
                        </a:rPr>
                        <a:t>/</a:t>
                      </a:r>
                      <a:r>
                        <a:rPr lang="ja-JP" altLang="en-US" sz="1100" b="0" i="0" u="none" strike="noStrike">
                          <a:solidFill>
                            <a:srgbClr val="292929"/>
                          </a:solidFill>
                          <a:effectLst/>
                          <a:latin typeface="Meiryo UI" panose="020B0604030504040204" pitchFamily="50" charset="-128"/>
                          <a:ea typeface="Meiryo UI" panose="020B0604030504040204" pitchFamily="50" charset="-128"/>
                        </a:rPr>
                        <a:t>組織の関連図</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情報提供</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3166803668"/>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12</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zh-TW" altLang="en-US" sz="1100" b="0" i="0" u="none" strike="noStrike">
                          <a:solidFill>
                            <a:srgbClr val="292929"/>
                          </a:solidFill>
                          <a:effectLst/>
                          <a:latin typeface="Meiryo UI" panose="020B0604030504040204" pitchFamily="50" charset="-128"/>
                          <a:ea typeface="Meiryo UI" panose="020B0604030504040204" pitchFamily="50" charset="-128"/>
                        </a:rPr>
                        <a:t>要員山積管理表</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プロジェクト工数の予実管理表</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情報提供</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951155355"/>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13</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zh-TW" altLang="en-US" sz="1100" b="0" i="0" u="none" strike="noStrike">
                          <a:solidFill>
                            <a:srgbClr val="292929"/>
                          </a:solidFill>
                          <a:effectLst/>
                          <a:latin typeface="Meiryo UI" panose="020B0604030504040204" pitchFamily="50" charset="-128"/>
                          <a:ea typeface="Meiryo UI" panose="020B0604030504040204" pitchFamily="50" charset="-128"/>
                        </a:rPr>
                        <a:t>受領物管理表</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受領物管理、検収管理の一覧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481492013"/>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14</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zh-TW" altLang="en-US" sz="1100" b="0" i="0" u="none" strike="noStrike">
                          <a:solidFill>
                            <a:srgbClr val="292929"/>
                          </a:solidFill>
                          <a:effectLst/>
                          <a:latin typeface="Meiryo UI" panose="020B0604030504040204" pitchFamily="50" charset="-128"/>
                          <a:ea typeface="Meiryo UI" panose="020B0604030504040204" pitchFamily="50" charset="-128"/>
                        </a:rPr>
                        <a:t>納品物成果物一覧表</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納品成果物管理の一覧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2320318500"/>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15</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レビューチェックリスト</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rowSpan="3">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レビュー状況の管理、レビュー指摘の一覧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2859304378"/>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16</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レビュー状況管理表</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vMerge="1">
                  <a:txBody>
                    <a:bodyPr/>
                    <a:lstStyle/>
                    <a:p>
                      <a:endParaRPr kumimoji="1" lang="ja-JP" altLang="en-US"/>
                    </a:p>
                  </a:txBody>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作成・報告</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15863321"/>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17</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レビュー指摘表</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vMerge="1">
                  <a:txBody>
                    <a:bodyPr/>
                    <a:lstStyle/>
                    <a:p>
                      <a:endParaRPr kumimoji="1" lang="ja-JP" altLang="en-US"/>
                    </a:p>
                  </a:txBody>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作成・報告</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1014259525"/>
                  </a:ext>
                </a:extLst>
              </a:tr>
              <a:tr h="277758">
                <a:tc>
                  <a:txBody>
                    <a:bodyPr/>
                    <a:lstStyle/>
                    <a:p>
                      <a:pPr algn="ctr" rtl="0" fontAlgn="ctr"/>
                      <a:r>
                        <a:rPr lang="en-US" altLang="ja-JP" sz="1100" b="0" i="0" u="none" strike="noStrike">
                          <a:solidFill>
                            <a:srgbClr val="292929"/>
                          </a:solidFill>
                          <a:effectLst/>
                          <a:latin typeface="Meiryo UI" panose="020B0604030504040204" pitchFamily="50" charset="-128"/>
                          <a:ea typeface="Meiryo UI" panose="020B0604030504040204" pitchFamily="50" charset="-128"/>
                        </a:rPr>
                        <a:t>18</a:t>
                      </a:r>
                    </a:p>
                  </a:txBody>
                  <a:tcPr marL="4895" marR="4895" marT="4895" marB="0" anchor="ctr">
                    <a:lnL w="9525" cap="flat" cmpd="sng" algn="ctr">
                      <a:solidFill>
                        <a:schemeClr val="tx1">
                          <a:lumMod val="90000"/>
                          <a:lumOff val="10000"/>
                        </a:schemeClr>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工程完了チェックシート</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工程を終了する条件の一覧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noFill/>
                  </a:tcPr>
                </a:tc>
                <a:tc>
                  <a:txBody>
                    <a:bodyPr/>
                    <a:lstStyle/>
                    <a:p>
                      <a:pPr algn="ctr" rtl="0" fontAlgn="ctr"/>
                      <a:r>
                        <a:rPr lang="ja-JP" altLang="en-US" sz="14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tcPr>
                </a:tc>
                <a:tc>
                  <a:txBody>
                    <a:bodyPr/>
                    <a:lstStyle/>
                    <a:p>
                      <a:pPr algn="ctr" rtl="0" fontAlgn="ctr"/>
                      <a:r>
                        <a:rPr lang="ja-JP" altLang="en-US" sz="1400" b="0" i="0" u="none" strike="noStrike" dirty="0">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rgbClr val="292929"/>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tcPr>
                </a:tc>
                <a:extLst>
                  <a:ext uri="{0D108BD9-81ED-4DB2-BD59-A6C34878D82A}">
                    <a16:rowId xmlns:a16="http://schemas.microsoft.com/office/drawing/2014/main" val="3807505234"/>
                  </a:ext>
                </a:extLst>
              </a:tr>
            </a:tbl>
          </a:graphicData>
        </a:graphic>
      </p:graphicFrame>
    </p:spTree>
    <p:extLst>
      <p:ext uri="{BB962C8B-B14F-4D97-AF65-F5344CB8AC3E}">
        <p14:creationId xmlns:p14="http://schemas.microsoft.com/office/powerpoint/2010/main" val="1430301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00A71A-CD03-4DFD-A805-E87575F4FB47}"/>
              </a:ext>
            </a:extLst>
          </p:cNvPr>
          <p:cNvSpPr>
            <a:spLocks noGrp="1"/>
          </p:cNvSpPr>
          <p:nvPr>
            <p:ph type="title" idx="4294967295"/>
          </p:nvPr>
        </p:nvSpPr>
        <p:spPr>
          <a:xfrm>
            <a:off x="650990" y="141065"/>
            <a:ext cx="9004300" cy="334962"/>
          </a:xfrm>
          <a:prstGeom prst="rect">
            <a:avLst/>
          </a:prstGeom>
        </p:spPr>
        <p:txBody>
          <a:bodyPr/>
          <a:lstStyle/>
          <a:p>
            <a:r>
              <a:rPr lang="ja-JP" altLang="en-US"/>
              <a:t>５</a:t>
            </a:r>
            <a:r>
              <a:rPr lang="en-US" altLang="ja-JP"/>
              <a:t>-</a:t>
            </a:r>
            <a:r>
              <a:rPr lang="ja-JP" altLang="en-US"/>
              <a:t>２．</a:t>
            </a:r>
            <a:r>
              <a:rPr lang="en-US" altLang="ja-JP"/>
              <a:t>【</a:t>
            </a:r>
            <a:r>
              <a:rPr lang="ja-JP" altLang="en-US"/>
              <a:t>運営要領</a:t>
            </a:r>
            <a:r>
              <a:rPr lang="en-US" altLang="ja-JP"/>
              <a:t>】</a:t>
            </a:r>
            <a:r>
              <a:rPr lang="zh-TW" altLang="en-US"/>
              <a:t>管理帳票</a:t>
            </a:r>
            <a:endParaRPr lang="ja-JP" altLang="en-US"/>
          </a:p>
        </p:txBody>
      </p:sp>
      <p:sp>
        <p:nvSpPr>
          <p:cNvPr id="3" name="Text Box 3">
            <a:extLst>
              <a:ext uri="{FF2B5EF4-FFF2-40B4-BE49-F238E27FC236}">
                <a16:creationId xmlns:a16="http://schemas.microsoft.com/office/drawing/2014/main" id="{CD98F060-17A4-42E2-8556-7F1352F25D81}"/>
              </a:ext>
            </a:extLst>
          </p:cNvPr>
          <p:cNvSpPr txBox="1">
            <a:spLocks noChangeArrowheads="1"/>
          </p:cNvSpPr>
          <p:nvPr/>
        </p:nvSpPr>
        <p:spPr bwMode="auto">
          <a:xfrm>
            <a:off x="163065" y="571952"/>
            <a:ext cx="9492225" cy="786929"/>
          </a:xfrm>
          <a:prstGeom prst="rect">
            <a:avLst/>
          </a:prstGeom>
          <a:noFill/>
          <a:ln w="9525">
            <a:noFill/>
            <a:miter lim="800000"/>
            <a:headEnd/>
            <a:tailEnd/>
          </a:ln>
        </p:spPr>
        <p:txBody>
          <a:bodyPr lIns="108000" tIns="0" bIns="0" anchor="ctr" anchorCtr="0"/>
          <a:lstStyle>
            <a:defPPr>
              <a:defRPr lang="ja-JP"/>
            </a:defPPr>
            <a:lvl1pPr marL="285750" indent="-285750" eaLnBrk="1" hangingPunct="1">
              <a:spcBef>
                <a:spcPts val="300"/>
              </a:spcBef>
              <a:buFont typeface="Wingdings" panose="05000000000000000000" pitchFamily="2" charset="2"/>
              <a:buChar char="l"/>
              <a:defRPr sz="1400">
                <a:latin typeface="+mn-ea"/>
                <a:ea typeface="+mn-ea"/>
              </a:defRPr>
            </a:lvl1pPr>
            <a:lvl2pPr marL="742950" indent="-285750" eaLnBrk="0" hangingPunct="0">
              <a:spcBef>
                <a:spcPct val="20000"/>
              </a:spcBef>
              <a:buChar char="–"/>
              <a:defRPr sz="2000">
                <a:latin typeface="Times New Roman" pitchFamily="18" charset="0"/>
                <a:ea typeface="ＭＳ Ｐゴシック" pitchFamily="50" charset="-128"/>
              </a:defRPr>
            </a:lvl2pPr>
            <a:lvl3pPr marL="1143000" indent="-228600" eaLnBrk="0" hangingPunct="0">
              <a:spcBef>
                <a:spcPct val="20000"/>
              </a:spcBef>
              <a:buChar char="•"/>
              <a:defRPr>
                <a:latin typeface="Times New Roman" pitchFamily="18" charset="0"/>
                <a:ea typeface="ＭＳ Ｐゴシック" pitchFamily="50" charset="-128"/>
              </a:defRPr>
            </a:lvl3pPr>
            <a:lvl4pPr marL="1600200" indent="-228600" eaLnBrk="0" hangingPunct="0">
              <a:spcBef>
                <a:spcPct val="20000"/>
              </a:spcBef>
              <a:buChar char="–"/>
              <a:defRPr sz="1600">
                <a:latin typeface="Times New Roman" pitchFamily="18" charset="0"/>
                <a:ea typeface="ＭＳ Ｐゴシック" pitchFamily="50" charset="-128"/>
              </a:defRPr>
            </a:lvl4pPr>
            <a:lvl5pPr marL="2057400" indent="-228600" eaLnBrk="0" hangingPunct="0">
              <a:spcBef>
                <a:spcPct val="20000"/>
              </a:spcBef>
              <a:buChar char="»"/>
              <a:defRPr sz="1600">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sz="1600">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sz="1600">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sz="1600">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sz="1600">
                <a:latin typeface="Times New Roman" pitchFamily="18" charset="0"/>
                <a:ea typeface="ＭＳ Ｐゴシック" pitchFamily="50" charset="-128"/>
              </a:defRPr>
            </a:lvl9pPr>
          </a:lstStyle>
          <a:p>
            <a:r>
              <a:rPr lang="ja-JP" altLang="en-US" dirty="0"/>
              <a:t>当案件では、Ｊ☆ＰＡＴの管理基準に基づき必要な管理帳票を用いてプロジェクト管理を行う</a:t>
            </a:r>
            <a:endParaRPr lang="en-US" altLang="ja-JP" dirty="0"/>
          </a:p>
          <a:p>
            <a:r>
              <a:rPr lang="ja-JP" altLang="en-US" dirty="0"/>
              <a:t>使用するプロジェクト管理帳票は、Ｊ☆ＰＡＴの標準帳票をベースに管理を行う</a:t>
            </a:r>
            <a:endParaRPr lang="en-US" altLang="ja-JP" dirty="0"/>
          </a:p>
          <a:p>
            <a:r>
              <a:rPr lang="ja-JP" altLang="en-US" dirty="0"/>
              <a:t>管理帳票の原本は</a:t>
            </a:r>
            <a:r>
              <a:rPr lang="en-US" altLang="ja-JP" dirty="0"/>
              <a:t>Teams</a:t>
            </a:r>
            <a:r>
              <a:rPr lang="ja-JP" altLang="en-US" dirty="0"/>
              <a:t>のチャネルで管理。各ファイルパスは別途展開予定。</a:t>
            </a:r>
            <a:endParaRPr lang="en-US" altLang="ja-JP" dirty="0"/>
          </a:p>
        </p:txBody>
      </p:sp>
      <p:sp>
        <p:nvSpPr>
          <p:cNvPr id="5" name="テキスト ボックス 4">
            <a:extLst>
              <a:ext uri="{FF2B5EF4-FFF2-40B4-BE49-F238E27FC236}">
                <a16:creationId xmlns:a16="http://schemas.microsoft.com/office/drawing/2014/main" id="{20D27452-D707-49D1-A909-245762A20B04}"/>
              </a:ext>
            </a:extLst>
          </p:cNvPr>
          <p:cNvSpPr txBox="1"/>
          <p:nvPr/>
        </p:nvSpPr>
        <p:spPr>
          <a:xfrm>
            <a:off x="5060950" y="6086492"/>
            <a:ext cx="4724053" cy="430887"/>
          </a:xfrm>
          <a:prstGeom prst="rect">
            <a:avLst/>
          </a:prstGeom>
          <a:noFill/>
        </p:spPr>
        <p:txBody>
          <a:bodyPr wrap="square" rtlCol="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292929"/>
                </a:solidFill>
                <a:effectLst/>
                <a:uLnTx/>
                <a:uFillTx/>
                <a:latin typeface="Meiryo UI" panose="020B0604030504040204" pitchFamily="50" charset="-128"/>
                <a:ea typeface="Meiryo UI" panose="020B0604030504040204" pitchFamily="50" charset="-128"/>
                <a:cs typeface="+mn-cs"/>
              </a:rPr>
              <a:t>※</a:t>
            </a:r>
            <a:r>
              <a:rPr kumimoji="1" lang="ja-JP" altLang="en-US" sz="1100">
                <a:solidFill>
                  <a:schemeClr val="tx1"/>
                </a:solidFill>
                <a:latin typeface="+mn-ea"/>
                <a:ea typeface="+mn-ea"/>
              </a:rPr>
              <a:t>Ｊ☆ＰＡＴ</a:t>
            </a:r>
            <a:r>
              <a:rPr lang="ja-JP" altLang="en-US" sz="1100">
                <a:latin typeface="+mn-ea"/>
                <a:ea typeface="+mn-ea"/>
              </a:rPr>
              <a:t>規定</a:t>
            </a:r>
            <a:r>
              <a:rPr kumimoji="1" lang="ja-JP" altLang="en-US" sz="1100">
                <a:solidFill>
                  <a:schemeClr val="tx1"/>
                </a:solidFill>
                <a:latin typeface="+mn-ea"/>
                <a:ea typeface="+mn-ea"/>
              </a:rPr>
              <a:t>に対する本プロジェクトでの管理レベル、管理帳票については、“付録１．プロジェクト管理帳票に関する補足”に記載</a:t>
            </a:r>
          </a:p>
        </p:txBody>
      </p:sp>
      <p:graphicFrame>
        <p:nvGraphicFramePr>
          <p:cNvPr id="8" name="表 7">
            <a:extLst>
              <a:ext uri="{FF2B5EF4-FFF2-40B4-BE49-F238E27FC236}">
                <a16:creationId xmlns:a16="http://schemas.microsoft.com/office/drawing/2014/main" id="{E9A3BD18-7D56-831F-756D-0836515D345E}"/>
              </a:ext>
            </a:extLst>
          </p:cNvPr>
          <p:cNvGraphicFramePr>
            <a:graphicFrameLocks noGrp="1"/>
          </p:cNvGraphicFramePr>
          <p:nvPr>
            <p:extLst>
              <p:ext uri="{D42A27DB-BD31-4B8C-83A1-F6EECF244321}">
                <p14:modId xmlns:p14="http://schemas.microsoft.com/office/powerpoint/2010/main" val="3995389617"/>
              </p:ext>
            </p:extLst>
          </p:nvPr>
        </p:nvGraphicFramePr>
        <p:xfrm>
          <a:off x="165338" y="1385459"/>
          <a:ext cx="9487678" cy="3215019"/>
        </p:xfrm>
        <a:graphic>
          <a:graphicData uri="http://schemas.openxmlformats.org/drawingml/2006/table">
            <a:tbl>
              <a:tblPr/>
              <a:tblGrid>
                <a:gridCol w="578763">
                  <a:extLst>
                    <a:ext uri="{9D8B030D-6E8A-4147-A177-3AD203B41FA5}">
                      <a16:colId xmlns:a16="http://schemas.microsoft.com/office/drawing/2014/main" val="4006336439"/>
                    </a:ext>
                  </a:extLst>
                </a:gridCol>
                <a:gridCol w="2061737">
                  <a:extLst>
                    <a:ext uri="{9D8B030D-6E8A-4147-A177-3AD203B41FA5}">
                      <a16:colId xmlns:a16="http://schemas.microsoft.com/office/drawing/2014/main" val="3987760887"/>
                    </a:ext>
                  </a:extLst>
                </a:gridCol>
                <a:gridCol w="2860539">
                  <a:extLst>
                    <a:ext uri="{9D8B030D-6E8A-4147-A177-3AD203B41FA5}">
                      <a16:colId xmlns:a16="http://schemas.microsoft.com/office/drawing/2014/main" val="1591628012"/>
                    </a:ext>
                  </a:extLst>
                </a:gridCol>
                <a:gridCol w="828393">
                  <a:extLst>
                    <a:ext uri="{9D8B030D-6E8A-4147-A177-3AD203B41FA5}">
                      <a16:colId xmlns:a16="http://schemas.microsoft.com/office/drawing/2014/main" val="4178147477"/>
                    </a:ext>
                  </a:extLst>
                </a:gridCol>
                <a:gridCol w="828393">
                  <a:extLst>
                    <a:ext uri="{9D8B030D-6E8A-4147-A177-3AD203B41FA5}">
                      <a16:colId xmlns:a16="http://schemas.microsoft.com/office/drawing/2014/main" val="1180548628"/>
                    </a:ext>
                  </a:extLst>
                </a:gridCol>
                <a:gridCol w="828393">
                  <a:extLst>
                    <a:ext uri="{9D8B030D-6E8A-4147-A177-3AD203B41FA5}">
                      <a16:colId xmlns:a16="http://schemas.microsoft.com/office/drawing/2014/main" val="643903737"/>
                    </a:ext>
                  </a:extLst>
                </a:gridCol>
                <a:gridCol w="750730">
                  <a:extLst>
                    <a:ext uri="{9D8B030D-6E8A-4147-A177-3AD203B41FA5}">
                      <a16:colId xmlns:a16="http://schemas.microsoft.com/office/drawing/2014/main" val="3665828738"/>
                    </a:ext>
                  </a:extLst>
                </a:gridCol>
                <a:gridCol w="750730">
                  <a:extLst>
                    <a:ext uri="{9D8B030D-6E8A-4147-A177-3AD203B41FA5}">
                      <a16:colId xmlns:a16="http://schemas.microsoft.com/office/drawing/2014/main" val="2549495417"/>
                    </a:ext>
                  </a:extLst>
                </a:gridCol>
              </a:tblGrid>
              <a:tr h="274536">
                <a:tc rowSpan="2">
                  <a:txBody>
                    <a:bodyPr/>
                    <a:lstStyle/>
                    <a:p>
                      <a:pPr algn="ctr" rtl="0" fontAlgn="ctr"/>
                      <a:r>
                        <a:rPr lang="en-US" sz="1400" b="1" i="0" u="none" strike="noStrike">
                          <a:solidFill>
                            <a:srgbClr val="FFFFFF"/>
                          </a:solidFill>
                          <a:effectLst/>
                          <a:latin typeface="Meiryo UI" panose="020B0604030504040204" pitchFamily="50" charset="-128"/>
                          <a:ea typeface="Meiryo UI" panose="020B0604030504040204" pitchFamily="50" charset="-128"/>
                        </a:rPr>
                        <a:t>No.　</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rowSpan="2">
                  <a:txBody>
                    <a:bodyPr/>
                    <a:lstStyle/>
                    <a:p>
                      <a:pPr algn="ctr" rtl="0" fontAlgn="ctr"/>
                      <a:r>
                        <a:rPr lang="ja-JP" altLang="en-US" sz="1400" b="1" i="0" u="none" strike="noStrike">
                          <a:solidFill>
                            <a:srgbClr val="FFFFFF"/>
                          </a:solidFill>
                          <a:effectLst/>
                          <a:latin typeface="Meiryo UI" panose="020B0604030504040204" pitchFamily="50" charset="-128"/>
                          <a:ea typeface="Meiryo UI" panose="020B0604030504040204" pitchFamily="50" charset="-128"/>
                        </a:rPr>
                        <a:t>帳票名</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rowSpan="2">
                  <a:txBody>
                    <a:bodyPr/>
                    <a:lstStyle/>
                    <a:p>
                      <a:pPr algn="ctr" rtl="0" fontAlgn="ctr"/>
                      <a:r>
                        <a:rPr lang="ja-JP" altLang="en-US" sz="1400" b="1" i="0" u="none" strike="noStrike">
                          <a:solidFill>
                            <a:srgbClr val="FFFFFF"/>
                          </a:solidFill>
                          <a:effectLst/>
                          <a:latin typeface="Meiryo UI" panose="020B0604030504040204" pitchFamily="50" charset="-128"/>
                          <a:ea typeface="Meiryo UI" panose="020B0604030504040204" pitchFamily="50" charset="-128"/>
                        </a:rPr>
                        <a:t>内容</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gridSpan="3">
                  <a:txBody>
                    <a:bodyPr/>
                    <a:lstStyle/>
                    <a:p>
                      <a:pPr algn="ctr" rtl="0" fontAlgn="ctr"/>
                      <a:r>
                        <a:rPr lang="ja-JP" altLang="en-US" sz="1200" b="1" i="0" u="none" strike="noStrike">
                          <a:solidFill>
                            <a:srgbClr val="FFFFFF"/>
                          </a:solidFill>
                          <a:effectLst/>
                          <a:latin typeface="Meiryo UI" panose="020B0604030504040204" pitchFamily="50" charset="-128"/>
                          <a:ea typeface="Meiryo UI" panose="020B0604030504040204" pitchFamily="50" charset="-128"/>
                        </a:rPr>
                        <a:t>担当</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00588F"/>
                    </a:solidFill>
                  </a:tcPr>
                </a:tc>
                <a:tc hMerge="1">
                  <a:txBody>
                    <a:bodyPr/>
                    <a:lstStyle/>
                    <a:p>
                      <a:endParaRPr kumimoji="1" lang="ja-JP" altLang="en-US"/>
                    </a:p>
                  </a:txBody>
                  <a:tcPr/>
                </a:tc>
                <a:tc hMerge="1">
                  <a:txBody>
                    <a:bodyPr/>
                    <a:lstStyle/>
                    <a:p>
                      <a:endParaRPr kumimoji="1" lang="ja-JP" altLang="en-US"/>
                    </a:p>
                  </a:txBody>
                  <a:tcPr/>
                </a:tc>
                <a:tc gridSpan="2">
                  <a:txBody>
                    <a:bodyPr/>
                    <a:lstStyle/>
                    <a:p>
                      <a:pPr algn="ctr" rtl="0" fontAlgn="ctr"/>
                      <a:r>
                        <a:rPr lang="ja-JP" altLang="en-US" sz="1200" b="1" i="0" u="none" strike="noStrike">
                          <a:solidFill>
                            <a:srgbClr val="FFFFFF"/>
                          </a:solidFill>
                          <a:effectLst/>
                          <a:latin typeface="Meiryo UI" panose="020B0604030504040204" pitchFamily="50" charset="-128"/>
                          <a:ea typeface="Meiryo UI" panose="020B0604030504040204" pitchFamily="50" charset="-128"/>
                        </a:rPr>
                        <a:t>工程</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00588F"/>
                    </a:solidFill>
                  </a:tcPr>
                </a:tc>
                <a:tc hMerge="1">
                  <a:txBody>
                    <a:bodyPr/>
                    <a:lstStyle/>
                    <a:p>
                      <a:endParaRPr kumimoji="1" lang="ja-JP" altLang="en-US"/>
                    </a:p>
                  </a:txBody>
                  <a:tcPr/>
                </a:tc>
                <a:extLst>
                  <a:ext uri="{0D108BD9-81ED-4DB2-BD59-A6C34878D82A}">
                    <a16:rowId xmlns:a16="http://schemas.microsoft.com/office/drawing/2014/main" val="3187127132"/>
                  </a:ext>
                </a:extLst>
              </a:tr>
              <a:tr h="53926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altLang="ja-JP" sz="1200" b="1" i="0" u="none" strike="noStrike" dirty="0">
                          <a:solidFill>
                            <a:srgbClr val="FFFFFF"/>
                          </a:solidFill>
                          <a:effectLst/>
                          <a:latin typeface="Meiryo UI" panose="020B0604030504040204" pitchFamily="50" charset="-128"/>
                          <a:ea typeface="Meiryo UI" panose="020B0604030504040204" pitchFamily="50" charset="-128"/>
                        </a:rPr>
                        <a:t>SMCC</a:t>
                      </a:r>
                      <a:endParaRPr lang="en-US" sz="1200" b="1" i="0" u="none" strike="noStrike" dirty="0">
                        <a:solidFill>
                          <a:srgbClr val="FFFFFF"/>
                        </a:solidFill>
                        <a:effectLst/>
                        <a:latin typeface="Meiryo UI" panose="020B0604030504040204" pitchFamily="50" charset="-128"/>
                        <a:ea typeface="Meiryo UI" panose="020B0604030504040204" pitchFamily="50" charset="-128"/>
                      </a:endParaRP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a:txBody>
                    <a:bodyPr/>
                    <a:lstStyle/>
                    <a:p>
                      <a:pPr algn="ctr" rtl="0" fontAlgn="ctr"/>
                      <a:r>
                        <a:rPr lang="en-US" sz="1200" b="1" i="0" u="none" strike="noStrike" dirty="0">
                          <a:solidFill>
                            <a:srgbClr val="FFFFFF"/>
                          </a:solidFill>
                          <a:effectLst/>
                          <a:latin typeface="Meiryo UI" panose="020B0604030504040204" pitchFamily="50" charset="-128"/>
                          <a:ea typeface="Meiryo UI" panose="020B0604030504040204" pitchFamily="50" charset="-128"/>
                        </a:rPr>
                        <a:t>JRI</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a:txBody>
                    <a:bodyPr/>
                    <a:lstStyle/>
                    <a:p>
                      <a:pPr algn="ctr" rtl="0" fontAlgn="ctr"/>
                      <a:r>
                        <a:rPr lang="en-US" altLang="ja-JP" sz="1200" b="1" i="0" u="none" strike="noStrike" dirty="0">
                          <a:solidFill>
                            <a:srgbClr val="FFFFFF"/>
                          </a:solidFill>
                          <a:effectLst/>
                          <a:latin typeface="Meiryo UI" panose="020B0604030504040204" pitchFamily="50" charset="-128"/>
                          <a:ea typeface="Meiryo UI" panose="020B0604030504040204" pitchFamily="50" charset="-128"/>
                        </a:rPr>
                        <a:t>MSYS</a:t>
                      </a:r>
                      <a:endParaRPr lang="en-US" sz="1200" b="1" i="0" u="none" strike="noStrike" dirty="0">
                        <a:solidFill>
                          <a:srgbClr val="FFFFFF"/>
                        </a:solidFill>
                        <a:effectLst/>
                        <a:latin typeface="Meiryo UI" panose="020B0604030504040204" pitchFamily="50" charset="-128"/>
                        <a:ea typeface="Meiryo UI" panose="020B0604030504040204" pitchFamily="50" charset="-128"/>
                      </a:endParaRP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a:txBody>
                    <a:bodyPr/>
                    <a:lstStyle/>
                    <a:p>
                      <a:pPr algn="ctr" rtl="0" fontAlgn="ctr"/>
                      <a:r>
                        <a:rPr lang="ja-JP" altLang="en-US" sz="1200" b="1" i="0" u="none" strike="noStrike">
                          <a:solidFill>
                            <a:srgbClr val="FFFFFF"/>
                          </a:solidFill>
                          <a:effectLst/>
                          <a:latin typeface="Meiryo UI" panose="020B0604030504040204" pitchFamily="50" charset="-128"/>
                          <a:ea typeface="Meiryo UI" panose="020B0604030504040204" pitchFamily="50" charset="-128"/>
                        </a:rPr>
                        <a:t>要件定義</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tc>
                  <a:txBody>
                    <a:bodyPr/>
                    <a:lstStyle/>
                    <a:p>
                      <a:pPr algn="ctr" rtl="0" fontAlgn="ctr"/>
                      <a:r>
                        <a:rPr lang="zh-TW" altLang="en-US" sz="1200" b="1" i="0" u="none" strike="noStrike">
                          <a:solidFill>
                            <a:srgbClr val="FFFFFF"/>
                          </a:solidFill>
                          <a:effectLst/>
                          <a:latin typeface="Meiryo UI" panose="020B0604030504040204" pitchFamily="50" charset="-128"/>
                          <a:ea typeface="Meiryo UI" panose="020B0604030504040204" pitchFamily="50" charset="-128"/>
                        </a:rPr>
                        <a:t>設計工程</a:t>
                      </a:r>
                      <a:br>
                        <a:rPr lang="zh-TW" altLang="en-US" sz="1200" b="1" i="0" u="none" strike="noStrike">
                          <a:solidFill>
                            <a:srgbClr val="FFFFFF"/>
                          </a:solidFill>
                          <a:effectLst/>
                          <a:latin typeface="Meiryo UI" panose="020B0604030504040204" pitchFamily="50" charset="-128"/>
                          <a:ea typeface="Meiryo UI" panose="020B0604030504040204" pitchFamily="50" charset="-128"/>
                        </a:rPr>
                      </a:br>
                      <a:r>
                        <a:rPr lang="zh-TW" altLang="en-US" sz="1200" b="1" i="0" u="none" strike="noStrike">
                          <a:solidFill>
                            <a:srgbClr val="FFFFFF"/>
                          </a:solidFill>
                          <a:effectLst/>
                          <a:latin typeface="Meiryo UI" panose="020B0604030504040204" pitchFamily="50" charset="-128"/>
                          <a:ea typeface="Meiryo UI" panose="020B0604030504040204" pitchFamily="50" charset="-128"/>
                        </a:rPr>
                        <a:t>以降</a:t>
                      </a:r>
                    </a:p>
                  </a:txBody>
                  <a:tcPr marL="4895" marR="4895" marT="4895"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00588F"/>
                    </a:solidFill>
                  </a:tcPr>
                </a:tc>
                <a:extLst>
                  <a:ext uri="{0D108BD9-81ED-4DB2-BD59-A6C34878D82A}">
                    <a16:rowId xmlns:a16="http://schemas.microsoft.com/office/drawing/2014/main" val="635944984"/>
                  </a:ext>
                </a:extLst>
              </a:tr>
              <a:tr h="274536">
                <a:tc>
                  <a:txBody>
                    <a:bodyPr/>
                    <a:lstStyle/>
                    <a:p>
                      <a:pPr algn="ctr" rtl="0" fontAlgn="ctr"/>
                      <a:r>
                        <a:rPr lang="en-US" altLang="ja-JP" sz="1200" b="0" i="0" u="none" strike="noStrike">
                          <a:solidFill>
                            <a:srgbClr val="292929"/>
                          </a:solidFill>
                          <a:effectLst/>
                          <a:latin typeface="Meiryo UI" panose="020B0604030504040204" pitchFamily="50" charset="-128"/>
                          <a:ea typeface="Meiryo UI" panose="020B0604030504040204" pitchFamily="50" charset="-128"/>
                        </a:rPr>
                        <a:t>19</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変更管理一覧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プロジェクトで発生した変更管理候補の一覧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E2EFDA"/>
                    </a:solidFill>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〇</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837128608"/>
                  </a:ext>
                </a:extLst>
              </a:tr>
              <a:tr h="274536">
                <a:tc>
                  <a:txBody>
                    <a:bodyPr/>
                    <a:lstStyle/>
                    <a:p>
                      <a:pPr algn="ctr" rtl="0" fontAlgn="ctr"/>
                      <a:r>
                        <a:rPr lang="en-US" altLang="ja-JP" sz="1200" b="0" i="0" u="none" strike="noStrike">
                          <a:solidFill>
                            <a:srgbClr val="292929"/>
                          </a:solidFill>
                          <a:effectLst/>
                          <a:latin typeface="Meiryo UI" panose="020B0604030504040204" pitchFamily="50" charset="-128"/>
                          <a:ea typeface="Meiryo UI" panose="020B0604030504040204" pitchFamily="50" charset="-128"/>
                        </a:rPr>
                        <a:t>20</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不具合管理一覧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プロジェクト期間中に発生した不具合の一覧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起票・報告</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E2EFDA"/>
                    </a:solidFill>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2094635410"/>
                  </a:ext>
                </a:extLst>
              </a:tr>
              <a:tr h="274536">
                <a:tc>
                  <a:txBody>
                    <a:bodyPr/>
                    <a:lstStyle/>
                    <a:p>
                      <a:pPr algn="ctr" rtl="0" fontAlgn="ctr"/>
                      <a:r>
                        <a:rPr lang="en-US" altLang="ja-JP" sz="1200" b="0" i="0" u="none" strike="noStrike">
                          <a:solidFill>
                            <a:srgbClr val="292929"/>
                          </a:solidFill>
                          <a:effectLst/>
                          <a:latin typeface="Meiryo UI" panose="020B0604030504040204" pitchFamily="50" charset="-128"/>
                          <a:ea typeface="Meiryo UI" panose="020B0604030504040204" pitchFamily="50" charset="-128"/>
                        </a:rPr>
                        <a:t>21</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zh-TW" altLang="en-US" sz="1200" b="0" i="0" u="none" strike="noStrike">
                          <a:solidFill>
                            <a:srgbClr val="292929"/>
                          </a:solidFill>
                          <a:effectLst/>
                          <a:latin typeface="Meiryo UI" panose="020B0604030504040204" pitchFamily="50" charset="-128"/>
                          <a:ea typeface="Meiryo UI" panose="020B0604030504040204" pitchFamily="50" charset="-128"/>
                        </a:rPr>
                        <a:t>品質基準管理表</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管理指標、算出方法、基準値の一覧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FFF2CC"/>
                    </a:solidFill>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3892138757"/>
                  </a:ext>
                </a:extLst>
              </a:tr>
              <a:tr h="274536">
                <a:tc>
                  <a:txBody>
                    <a:bodyPr/>
                    <a:lstStyle/>
                    <a:p>
                      <a:pPr algn="ctr" rtl="0" fontAlgn="ctr"/>
                      <a:r>
                        <a:rPr lang="en-US" altLang="ja-JP" sz="1200" b="0" i="0" u="none" strike="noStrike">
                          <a:solidFill>
                            <a:srgbClr val="292929"/>
                          </a:solidFill>
                          <a:effectLst/>
                          <a:latin typeface="Meiryo UI" panose="020B0604030504040204" pitchFamily="50" charset="-128"/>
                          <a:ea typeface="Meiryo UI" panose="020B0604030504040204" pitchFamily="50" charset="-128"/>
                        </a:rPr>
                        <a:t>22</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zh-TW" altLang="en-US" sz="1200" b="0" i="0" u="none" strike="noStrike">
                          <a:solidFill>
                            <a:srgbClr val="292929"/>
                          </a:solidFill>
                          <a:effectLst/>
                          <a:latin typeface="Meiryo UI" panose="020B0604030504040204" pitchFamily="50" charset="-128"/>
                          <a:ea typeface="Meiryo UI" panose="020B0604030504040204" pitchFamily="50" charset="-128"/>
                        </a:rPr>
                        <a:t>設計書指摘分析図</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設計書のレビュー指摘事項の分析図</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FFF2CC"/>
                    </a:solidFill>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3427964322"/>
                  </a:ext>
                </a:extLst>
              </a:tr>
              <a:tr h="232975">
                <a:tc>
                  <a:txBody>
                    <a:bodyPr/>
                    <a:lstStyle/>
                    <a:p>
                      <a:pPr algn="ctr" rtl="0" fontAlgn="ctr"/>
                      <a:r>
                        <a:rPr lang="en-US" altLang="ja-JP" sz="1200" b="0" i="0" u="none" strike="noStrike">
                          <a:solidFill>
                            <a:srgbClr val="292929"/>
                          </a:solidFill>
                          <a:effectLst/>
                          <a:latin typeface="Meiryo UI" panose="020B0604030504040204" pitchFamily="50" charset="-128"/>
                          <a:ea typeface="Meiryo UI" panose="020B0604030504040204" pitchFamily="50" charset="-128"/>
                        </a:rPr>
                        <a:t>23</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テスト状況管理表</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rowSpan="2">
                  <a:txBody>
                    <a:bodyPr/>
                    <a:lstStyle/>
                    <a:p>
                      <a:pPr algn="l" rtl="0" fontAlgn="ctr"/>
                      <a:r>
                        <a:rPr lang="ja-JP" altLang="en-US" sz="1100" b="0" i="0" u="none" strike="noStrike" dirty="0">
                          <a:solidFill>
                            <a:srgbClr val="292929"/>
                          </a:solidFill>
                          <a:effectLst/>
                          <a:latin typeface="Meiryo UI" panose="020B0604030504040204" pitchFamily="50" charset="-128"/>
                          <a:ea typeface="Meiryo UI" panose="020B0604030504040204" pitchFamily="50" charset="-128"/>
                        </a:rPr>
                        <a:t>管理指標、算出方法、基準値、実施状況の一覧</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FFF2CC"/>
                    </a:solidFill>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26422491"/>
                  </a:ext>
                </a:extLst>
              </a:tr>
              <a:tr h="246491">
                <a:tc>
                  <a:txBody>
                    <a:bodyPr/>
                    <a:lstStyle/>
                    <a:p>
                      <a:pPr algn="ctr" rtl="0" fontAlgn="ctr"/>
                      <a:r>
                        <a:rPr lang="en-US" altLang="ja-JP" sz="1200" b="0" i="0" u="none" strike="noStrike">
                          <a:solidFill>
                            <a:srgbClr val="292929"/>
                          </a:solidFill>
                          <a:effectLst/>
                          <a:latin typeface="Meiryo UI" panose="020B0604030504040204" pitchFamily="50" charset="-128"/>
                          <a:ea typeface="Meiryo UI" panose="020B0604030504040204" pitchFamily="50" charset="-128"/>
                        </a:rPr>
                        <a:t>24</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200" b="0" i="0" u="none" strike="noStrike" dirty="0">
                          <a:solidFill>
                            <a:srgbClr val="292929"/>
                          </a:solidFill>
                          <a:effectLst/>
                          <a:latin typeface="Meiryo UI" panose="020B0604030504040204" pitchFamily="50" charset="-128"/>
                          <a:ea typeface="Meiryo UI" panose="020B0604030504040204" pitchFamily="50" charset="-128"/>
                        </a:rPr>
                        <a:t>テスト詳細管理表</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vMerge="1">
                  <a:txBody>
                    <a:bodyPr/>
                    <a:lstStyle/>
                    <a:p>
                      <a:endParaRPr kumimoji="1" lang="ja-JP" altLang="en-US"/>
                    </a:p>
                  </a:txBody>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FFF2CC"/>
                    </a:solidFill>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200" b="0" i="0" u="none" strike="noStrike" dirty="0">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1092934857"/>
                  </a:ext>
                </a:extLst>
              </a:tr>
              <a:tr h="274536">
                <a:tc>
                  <a:txBody>
                    <a:bodyPr/>
                    <a:lstStyle/>
                    <a:p>
                      <a:pPr algn="ctr" rtl="0" fontAlgn="ctr"/>
                      <a:r>
                        <a:rPr lang="en-US" altLang="ja-JP" sz="1200" b="0" i="0" u="none" strike="noStrike">
                          <a:solidFill>
                            <a:srgbClr val="292929"/>
                          </a:solidFill>
                          <a:effectLst/>
                          <a:latin typeface="Meiryo UI" panose="020B0604030504040204" pitchFamily="50" charset="-128"/>
                          <a:ea typeface="Meiryo UI" panose="020B0604030504040204" pitchFamily="50" charset="-128"/>
                        </a:rPr>
                        <a:t>25</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テストエラー分析図</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テストで発生したエラーの分析図</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FFF2CC"/>
                    </a:solidFill>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3431350175"/>
                  </a:ext>
                </a:extLst>
              </a:tr>
              <a:tr h="274536">
                <a:tc>
                  <a:txBody>
                    <a:bodyPr/>
                    <a:lstStyle/>
                    <a:p>
                      <a:pPr algn="ctr" rtl="0" fontAlgn="ctr"/>
                      <a:r>
                        <a:rPr lang="en-US" altLang="ja-JP" sz="1200" b="0" i="0" u="none" strike="noStrike">
                          <a:solidFill>
                            <a:srgbClr val="292929"/>
                          </a:solidFill>
                          <a:effectLst/>
                          <a:latin typeface="Meiryo UI" panose="020B0604030504040204" pitchFamily="50" charset="-128"/>
                          <a:ea typeface="Meiryo UI" panose="020B0604030504040204" pitchFamily="50" charset="-128"/>
                        </a:rPr>
                        <a:t>26</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品質管理（分析サマリ）</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プロジェクト全体の品質評価・分析</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作成・更新</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solidFill>
                      <a:srgbClr val="FFF2CC"/>
                    </a:solidFill>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4164800549"/>
                  </a:ext>
                </a:extLst>
              </a:tr>
              <a:tr h="274536">
                <a:tc>
                  <a:txBody>
                    <a:bodyPr/>
                    <a:lstStyle/>
                    <a:p>
                      <a:pPr algn="ctr" rtl="0" fontAlgn="ctr"/>
                      <a:r>
                        <a:rPr lang="en-US" altLang="ja-JP" sz="1200" b="0" i="0" u="none" strike="noStrike">
                          <a:solidFill>
                            <a:srgbClr val="292929"/>
                          </a:solidFill>
                          <a:effectLst/>
                          <a:latin typeface="Meiryo UI" panose="020B0604030504040204" pitchFamily="50" charset="-128"/>
                          <a:ea typeface="Meiryo UI" panose="020B0604030504040204" pitchFamily="50" charset="-128"/>
                        </a:rPr>
                        <a:t>27</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プロジェクト完了報告書</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l"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プロジェクト終了時</a:t>
                      </a:r>
                    </a:p>
                  </a:txBody>
                  <a:tcPr marL="36000"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dirty="0">
                          <a:solidFill>
                            <a:srgbClr val="292929"/>
                          </a:solidFill>
                          <a:effectLst/>
                          <a:latin typeface="Meiryo UI" panose="020B0604030504040204" pitchFamily="50" charset="-128"/>
                          <a:ea typeface="Meiryo UI" panose="020B0604030504040204" pitchFamily="50" charset="-128"/>
                        </a:rPr>
                        <a:t>参照</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作成</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1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200" b="0" i="0" u="none" strike="noStrike">
                          <a:solidFill>
                            <a:srgbClr val="292929"/>
                          </a:solidFill>
                          <a:effectLst/>
                          <a:latin typeface="Meiryo UI" panose="020B0604030504040204" pitchFamily="50" charset="-128"/>
                          <a:ea typeface="Meiryo UI" panose="020B0604030504040204" pitchFamily="50" charset="-128"/>
                        </a:rPr>
                        <a:t>ー</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tc>
                  <a:txBody>
                    <a:bodyPr/>
                    <a:lstStyle/>
                    <a:p>
                      <a:pPr algn="ctr" rtl="0" fontAlgn="ctr"/>
                      <a:r>
                        <a:rPr lang="ja-JP" altLang="en-US" sz="1200" b="0" i="0" u="none" strike="noStrike" dirty="0">
                          <a:solidFill>
                            <a:srgbClr val="292929"/>
                          </a:solidFill>
                          <a:effectLst/>
                          <a:latin typeface="Meiryo UI" panose="020B0604030504040204" pitchFamily="50" charset="-128"/>
                          <a:ea typeface="Meiryo UI" panose="020B0604030504040204" pitchFamily="50" charset="-128"/>
                        </a:rPr>
                        <a:t>△</a:t>
                      </a:r>
                    </a:p>
                  </a:txBody>
                  <a:tcPr marL="4895" marR="4895" marT="4895" marB="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tcPr>
                </a:tc>
                <a:extLst>
                  <a:ext uri="{0D108BD9-81ED-4DB2-BD59-A6C34878D82A}">
                    <a16:rowId xmlns:a16="http://schemas.microsoft.com/office/drawing/2014/main" val="3262582555"/>
                  </a:ext>
                </a:extLst>
              </a:tr>
            </a:tbl>
          </a:graphicData>
        </a:graphic>
      </p:graphicFrame>
      <p:sp>
        <p:nvSpPr>
          <p:cNvPr id="7" name="テキスト ボックス 6">
            <a:extLst>
              <a:ext uri="{FF2B5EF4-FFF2-40B4-BE49-F238E27FC236}">
                <a16:creationId xmlns:a16="http://schemas.microsoft.com/office/drawing/2014/main" id="{B76BDF7F-9E7F-9155-5F30-D33EE12E3651}"/>
              </a:ext>
            </a:extLst>
          </p:cNvPr>
          <p:cNvSpPr txBox="1"/>
          <p:nvPr/>
        </p:nvSpPr>
        <p:spPr>
          <a:xfrm>
            <a:off x="6786282" y="71718"/>
            <a:ext cx="2956234" cy="430887"/>
          </a:xfrm>
          <a:prstGeom prst="rect">
            <a:avLst/>
          </a:prstGeom>
          <a:solidFill>
            <a:schemeClr val="bg1"/>
          </a:solidFill>
          <a:ln>
            <a:solidFill>
              <a:schemeClr val="tx1"/>
            </a:solidFill>
          </a:ln>
        </p:spPr>
        <p:txBody>
          <a:bodyPr wrap="square" rtlCol="0">
            <a:spAutoFit/>
          </a:bodyPr>
          <a:lstStyle/>
          <a:p>
            <a:r>
              <a:rPr lang="ja-JP" altLang="en-US" sz="1100">
                <a:latin typeface="+mn-ea"/>
                <a:ea typeface="+mn-ea"/>
              </a:rPr>
              <a:t>◎</a:t>
            </a:r>
            <a:r>
              <a:rPr kumimoji="1" lang="ja-JP" altLang="en-US" sz="1100">
                <a:latin typeface="+mn-ea"/>
                <a:ea typeface="+mn-ea"/>
              </a:rPr>
              <a:t>：定期報告</a:t>
            </a:r>
            <a:r>
              <a:rPr lang="ja-JP" altLang="en-US" sz="1100">
                <a:latin typeface="+mn-ea"/>
                <a:ea typeface="+mn-ea"/>
              </a:rPr>
              <a:t>　　〇</a:t>
            </a:r>
            <a:r>
              <a:rPr kumimoji="1" lang="ja-JP" altLang="en-US" sz="1100">
                <a:latin typeface="+mn-ea"/>
                <a:ea typeface="+mn-ea"/>
              </a:rPr>
              <a:t>：追加、変更時のみ報告</a:t>
            </a:r>
            <a:endParaRPr kumimoji="1" lang="en-US" altLang="ja-JP" sz="1100">
              <a:latin typeface="+mn-ea"/>
              <a:ea typeface="+mn-ea"/>
            </a:endParaRPr>
          </a:p>
          <a:p>
            <a:r>
              <a:rPr kumimoji="1" lang="ja-JP" altLang="en-US" sz="1100">
                <a:latin typeface="+mn-ea"/>
                <a:ea typeface="+mn-ea"/>
              </a:rPr>
              <a:t>△</a:t>
            </a:r>
            <a:r>
              <a:rPr lang="ja-JP" altLang="en-US" sz="1100">
                <a:latin typeface="+mn-ea"/>
                <a:ea typeface="+mn-ea"/>
              </a:rPr>
              <a:t>：特定のタイミングで作成</a:t>
            </a:r>
            <a:endParaRPr kumimoji="1" lang="ja-JP" altLang="en-US" sz="1100">
              <a:latin typeface="+mn-ea"/>
              <a:ea typeface="+mn-ea"/>
            </a:endParaRPr>
          </a:p>
        </p:txBody>
      </p:sp>
    </p:spTree>
    <p:extLst>
      <p:ext uri="{BB962C8B-B14F-4D97-AF65-F5344CB8AC3E}">
        <p14:creationId xmlns:p14="http://schemas.microsoft.com/office/powerpoint/2010/main" val="2891009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FBA0FA-425C-4ED2-911A-C502E26D0DF0}"/>
              </a:ext>
            </a:extLst>
          </p:cNvPr>
          <p:cNvSpPr>
            <a:spLocks noGrp="1"/>
          </p:cNvSpPr>
          <p:nvPr>
            <p:ph type="title" idx="4294967295"/>
          </p:nvPr>
        </p:nvSpPr>
        <p:spPr>
          <a:xfrm>
            <a:off x="543329" y="135302"/>
            <a:ext cx="8651875" cy="334962"/>
          </a:xfrm>
          <a:prstGeom prst="rect">
            <a:avLst/>
          </a:prstGeom>
        </p:spPr>
        <p:txBody>
          <a:bodyPr/>
          <a:lstStyle/>
          <a:p>
            <a:r>
              <a:rPr lang="ja-JP" altLang="en-US"/>
              <a:t>５</a:t>
            </a:r>
            <a:r>
              <a:rPr lang="en-US" altLang="ja-JP"/>
              <a:t>-</a:t>
            </a:r>
            <a:r>
              <a:rPr lang="ja-JP" altLang="en-US"/>
              <a:t>３．</a:t>
            </a:r>
            <a:r>
              <a:rPr lang="en-US" altLang="ja-JP"/>
              <a:t>【</a:t>
            </a:r>
            <a:r>
              <a:rPr lang="ja-JP" altLang="en-US"/>
              <a:t>運営要領</a:t>
            </a:r>
            <a:r>
              <a:rPr lang="en-US" altLang="ja-JP"/>
              <a:t>】</a:t>
            </a:r>
            <a:r>
              <a:rPr lang="ja-JP" altLang="en-US"/>
              <a:t>管理帳票更新要領</a:t>
            </a:r>
            <a:r>
              <a:rPr lang="en-US" altLang="ja-JP"/>
              <a:t>(</a:t>
            </a:r>
            <a:r>
              <a:rPr lang="ja-JP" altLang="en-US"/>
              <a:t>マネジメント調整フロー</a:t>
            </a:r>
            <a:r>
              <a:rPr lang="en-US" altLang="ja-JP"/>
              <a:t>)</a:t>
            </a:r>
            <a:endParaRPr lang="ja-JP" altLang="en-US"/>
          </a:p>
        </p:txBody>
      </p:sp>
      <p:sp>
        <p:nvSpPr>
          <p:cNvPr id="4" name="Text Box 3">
            <a:extLst>
              <a:ext uri="{FF2B5EF4-FFF2-40B4-BE49-F238E27FC236}">
                <a16:creationId xmlns:a16="http://schemas.microsoft.com/office/drawing/2014/main" id="{835E8D19-9BDE-4A0B-A81C-6329EFCAABE5}"/>
              </a:ext>
            </a:extLst>
          </p:cNvPr>
          <p:cNvSpPr txBox="1">
            <a:spLocks noChangeArrowheads="1"/>
          </p:cNvSpPr>
          <p:nvPr/>
        </p:nvSpPr>
        <p:spPr bwMode="auto">
          <a:xfrm>
            <a:off x="158721" y="629675"/>
            <a:ext cx="9564399" cy="629761"/>
          </a:xfrm>
          <a:prstGeom prst="rect">
            <a:avLst/>
          </a:prstGeom>
          <a:noFill/>
          <a:ln w="9525">
            <a:noFill/>
            <a:miter lim="800000"/>
            <a:headEnd/>
            <a:tailEnd/>
          </a:ln>
        </p:spPr>
        <p:txBody>
          <a:bodyPr lIns="108000" tIns="0" bIns="0" anchor="ctr" anchorCtr="0"/>
          <a:lstStyle>
            <a:lvl1pPr eaLnBrk="0" hangingPunct="0">
              <a:spcBef>
                <a:spcPct val="20000"/>
              </a:spcBef>
              <a:defRPr kumimoji="1" sz="10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0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16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16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9pPr>
          </a:lstStyle>
          <a:p>
            <a:pPr marL="285750" indent="-285750" eaLnBrk="1" hangingPunct="1">
              <a:spcBef>
                <a:spcPts val="300"/>
              </a:spcBef>
              <a:buFont typeface="Wingdings" panose="05000000000000000000" pitchFamily="2" charset="2"/>
              <a:buChar char="l"/>
            </a:pPr>
            <a:r>
              <a:rPr lang="ja-JP" altLang="en-US" sz="1400" dirty="0">
                <a:latin typeface="+mn-ea"/>
                <a:ea typeface="+mn-ea"/>
              </a:rPr>
              <a:t>マネジメント層レベルでの調整が必要となった場合の運用フローは以下のとおり</a:t>
            </a:r>
            <a:endParaRPr lang="en-US" altLang="ja-JP" sz="1400" dirty="0">
              <a:latin typeface="+mn-ea"/>
              <a:ea typeface="+mn-ea"/>
            </a:endParaRPr>
          </a:p>
          <a:p>
            <a:pPr marL="285750" indent="-285750" eaLnBrk="1" hangingPunct="1">
              <a:spcBef>
                <a:spcPts val="300"/>
              </a:spcBef>
              <a:buFont typeface="Wingdings" panose="05000000000000000000" pitchFamily="2" charset="2"/>
              <a:buChar char="l"/>
            </a:pPr>
            <a:r>
              <a:rPr lang="ja-JP" altLang="en-US" sz="1400" b="1" dirty="0">
                <a:latin typeface="+mn-ea"/>
                <a:ea typeface="+mn-ea"/>
              </a:rPr>
              <a:t>緊急度の高い内容については、月次進捗会議を待たずに個別調整の上、ご報告とする</a:t>
            </a:r>
            <a:endParaRPr lang="en-US" altLang="ja-JP" sz="1400" b="1" dirty="0">
              <a:latin typeface="+mn-ea"/>
              <a:ea typeface="+mn-ea"/>
            </a:endParaRPr>
          </a:p>
        </p:txBody>
      </p:sp>
      <p:graphicFrame>
        <p:nvGraphicFramePr>
          <p:cNvPr id="60" name="表 59">
            <a:extLst>
              <a:ext uri="{FF2B5EF4-FFF2-40B4-BE49-F238E27FC236}">
                <a16:creationId xmlns:a16="http://schemas.microsoft.com/office/drawing/2014/main" id="{34965720-7020-4274-B327-50CEEC32CE1B}"/>
              </a:ext>
            </a:extLst>
          </p:cNvPr>
          <p:cNvGraphicFramePr>
            <a:graphicFrameLocks noGrp="1"/>
          </p:cNvGraphicFramePr>
          <p:nvPr>
            <p:extLst>
              <p:ext uri="{D42A27DB-BD31-4B8C-83A1-F6EECF244321}">
                <p14:modId xmlns:p14="http://schemas.microsoft.com/office/powerpoint/2010/main" val="1992840586"/>
              </p:ext>
            </p:extLst>
          </p:nvPr>
        </p:nvGraphicFramePr>
        <p:xfrm>
          <a:off x="158721" y="1377171"/>
          <a:ext cx="6524020" cy="1234914"/>
        </p:xfrm>
        <a:graphic>
          <a:graphicData uri="http://schemas.openxmlformats.org/drawingml/2006/table">
            <a:tbl>
              <a:tblPr firstRow="1" bandRow="1">
                <a:tableStyleId>{5C22544A-7EE6-4342-B048-85BDC9FD1C3A}</a:tableStyleId>
              </a:tblPr>
              <a:tblGrid>
                <a:gridCol w="809295">
                  <a:extLst>
                    <a:ext uri="{9D8B030D-6E8A-4147-A177-3AD203B41FA5}">
                      <a16:colId xmlns:a16="http://schemas.microsoft.com/office/drawing/2014/main" val="20000"/>
                    </a:ext>
                  </a:extLst>
                </a:gridCol>
                <a:gridCol w="1165437">
                  <a:extLst>
                    <a:ext uri="{9D8B030D-6E8A-4147-A177-3AD203B41FA5}">
                      <a16:colId xmlns:a16="http://schemas.microsoft.com/office/drawing/2014/main" val="20001"/>
                    </a:ext>
                  </a:extLst>
                </a:gridCol>
                <a:gridCol w="2274644">
                  <a:extLst>
                    <a:ext uri="{9D8B030D-6E8A-4147-A177-3AD203B41FA5}">
                      <a16:colId xmlns:a16="http://schemas.microsoft.com/office/drawing/2014/main" val="20002"/>
                    </a:ext>
                  </a:extLst>
                </a:gridCol>
                <a:gridCol w="2274644">
                  <a:extLst>
                    <a:ext uri="{9D8B030D-6E8A-4147-A177-3AD203B41FA5}">
                      <a16:colId xmlns:a16="http://schemas.microsoft.com/office/drawing/2014/main" val="20003"/>
                    </a:ext>
                  </a:extLst>
                </a:gridCol>
              </a:tblGrid>
              <a:tr h="274417">
                <a:tc gridSpan="2">
                  <a:txBody>
                    <a:bodyPr/>
                    <a:lstStyle/>
                    <a:p>
                      <a:pPr algn="ctr"/>
                      <a:endParaRPr kumimoji="1" lang="ja-JP" altLang="en-US" sz="120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hMerge="1">
                  <a:txBody>
                    <a:bodyPr/>
                    <a:lstStyle/>
                    <a:p>
                      <a:pPr algn="ctr"/>
                      <a:endParaRPr kumimoji="1" lang="ja-JP" altLang="en-US"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ja-JP" altLang="en-US" sz="1200">
                          <a:solidFill>
                            <a:schemeClr val="bg1"/>
                          </a:solidFill>
                        </a:rPr>
                        <a:t>ＱＡ</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ja-JP" altLang="en-US" sz="1200">
                          <a:solidFill>
                            <a:schemeClr val="bg1"/>
                          </a:solidFill>
                        </a:rPr>
                        <a:t>課題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extLst>
                  <a:ext uri="{0D108BD9-81ED-4DB2-BD59-A6C34878D82A}">
                    <a16:rowId xmlns:a16="http://schemas.microsoft.com/office/drawing/2014/main" val="10000"/>
                  </a:ext>
                </a:extLst>
              </a:tr>
              <a:tr h="343021">
                <a:tc rowSpan="3">
                  <a:txBody>
                    <a:bodyPr/>
                    <a:lstStyle/>
                    <a:p>
                      <a:pPr algn="ctr"/>
                      <a:r>
                        <a:rPr kumimoji="1" lang="ja-JP" altLang="en-US" sz="1200"/>
                        <a:t>トリガー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a:t>事業会社</a:t>
                      </a:r>
                      <a:r>
                        <a:rPr kumimoji="1" lang="en-US" altLang="ja-JP" sz="1200"/>
                        <a:t>/JRI</a:t>
                      </a:r>
                      <a:endParaRPr kumimoji="1" lang="ja-JP" alt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43021">
                <a:tc vMerge="1">
                  <a:txBody>
                    <a:bodyPr/>
                    <a:lstStyle/>
                    <a:p>
                      <a:pPr algn="ctr"/>
                      <a:endParaRPr kumimoji="1" lang="ja-JP" alt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dirty="0"/>
                        <a:t>IBM</a:t>
                      </a:r>
                      <a:endParaRPr kumimoji="1" lang="ja-JP"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4455">
                <a:tc vMerge="1">
                  <a:txBody>
                    <a:bodyPr/>
                    <a:lstStyle/>
                    <a:p>
                      <a:pPr algn="ctr"/>
                      <a:endParaRPr kumimoji="1" lang="ja-JP" alt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a:t>起因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kumimoji="1" lang="ja-JP" altLang="en-US" sz="1100" b="0" dirty="0"/>
                        <a:t>マネジメントレベルの調整が必要になる場合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kumimoji="1" lang="ja-JP" alt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61" name="角丸四角形 5">
            <a:extLst>
              <a:ext uri="{FF2B5EF4-FFF2-40B4-BE49-F238E27FC236}">
                <a16:creationId xmlns:a16="http://schemas.microsoft.com/office/drawing/2014/main" id="{9C738F85-40CD-403F-BC29-E4BB4E5E3988}"/>
              </a:ext>
            </a:extLst>
          </p:cNvPr>
          <p:cNvSpPr/>
          <p:nvPr/>
        </p:nvSpPr>
        <p:spPr bwMode="auto">
          <a:xfrm>
            <a:off x="2490188" y="1709133"/>
            <a:ext cx="1728240" cy="512839"/>
          </a:xfrm>
          <a:prstGeom prst="roundRec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起票＆対応</a:t>
            </a:r>
          </a:p>
        </p:txBody>
      </p:sp>
      <p:sp>
        <p:nvSpPr>
          <p:cNvPr id="62" name="フローチャート : 書類 30">
            <a:extLst>
              <a:ext uri="{FF2B5EF4-FFF2-40B4-BE49-F238E27FC236}">
                <a16:creationId xmlns:a16="http://schemas.microsoft.com/office/drawing/2014/main" id="{643EA505-0701-4D0F-91F4-496990513A46}"/>
              </a:ext>
            </a:extLst>
          </p:cNvPr>
          <p:cNvSpPr/>
          <p:nvPr/>
        </p:nvSpPr>
        <p:spPr bwMode="auto">
          <a:xfrm>
            <a:off x="2976308" y="1968063"/>
            <a:ext cx="756000" cy="368540"/>
          </a:xfrm>
          <a:prstGeom prst="flowChartDocumen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100" b="0" i="0" u="none" strike="noStrike" cap="none" normalizeH="0" baseline="0">
                <a:ln>
                  <a:noFill/>
                </a:ln>
                <a:solidFill>
                  <a:schemeClr val="tx1"/>
                </a:solidFill>
                <a:effectLst/>
                <a:latin typeface="+mn-ea"/>
                <a:ea typeface="+mn-ea"/>
              </a:rPr>
              <a:t>ＱＡ一覧</a:t>
            </a:r>
          </a:p>
        </p:txBody>
      </p:sp>
      <p:sp>
        <p:nvSpPr>
          <p:cNvPr id="63" name="角丸四角形 24">
            <a:extLst>
              <a:ext uri="{FF2B5EF4-FFF2-40B4-BE49-F238E27FC236}">
                <a16:creationId xmlns:a16="http://schemas.microsoft.com/office/drawing/2014/main" id="{BBF19004-C131-4BF6-A406-47F4BD7ABA6B}"/>
              </a:ext>
            </a:extLst>
          </p:cNvPr>
          <p:cNvSpPr/>
          <p:nvPr/>
        </p:nvSpPr>
        <p:spPr bwMode="auto">
          <a:xfrm>
            <a:off x="4704548" y="1717319"/>
            <a:ext cx="1728240" cy="512839"/>
          </a:xfrm>
          <a:prstGeom prst="roundRec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起票＆対応</a:t>
            </a:r>
          </a:p>
        </p:txBody>
      </p:sp>
      <p:sp>
        <p:nvSpPr>
          <p:cNvPr id="64" name="フローチャート : 書類 26">
            <a:extLst>
              <a:ext uri="{FF2B5EF4-FFF2-40B4-BE49-F238E27FC236}">
                <a16:creationId xmlns:a16="http://schemas.microsoft.com/office/drawing/2014/main" id="{15ABDA2F-197A-440F-A37C-A340C7B01980}"/>
              </a:ext>
            </a:extLst>
          </p:cNvPr>
          <p:cNvSpPr/>
          <p:nvPr/>
        </p:nvSpPr>
        <p:spPr bwMode="auto">
          <a:xfrm>
            <a:off x="5190668" y="1976249"/>
            <a:ext cx="756000" cy="368540"/>
          </a:xfrm>
          <a:prstGeom prst="flowChartDocumen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100" b="0" i="0" u="none" strike="noStrike" cap="none" normalizeH="0" baseline="0">
                <a:ln>
                  <a:noFill/>
                </a:ln>
                <a:solidFill>
                  <a:schemeClr val="tx1"/>
                </a:solidFill>
                <a:effectLst/>
                <a:latin typeface="+mn-ea"/>
                <a:ea typeface="+mn-ea"/>
              </a:rPr>
              <a:t>課題一覧</a:t>
            </a:r>
          </a:p>
        </p:txBody>
      </p:sp>
      <p:graphicFrame>
        <p:nvGraphicFramePr>
          <p:cNvPr id="28" name="表 27">
            <a:extLst>
              <a:ext uri="{FF2B5EF4-FFF2-40B4-BE49-F238E27FC236}">
                <a16:creationId xmlns:a16="http://schemas.microsoft.com/office/drawing/2014/main" id="{AFB079A2-AA79-41ED-BD46-EF908E1C3E6F}"/>
              </a:ext>
            </a:extLst>
          </p:cNvPr>
          <p:cNvGraphicFramePr>
            <a:graphicFrameLocks noGrp="1"/>
          </p:cNvGraphicFramePr>
          <p:nvPr>
            <p:extLst>
              <p:ext uri="{D42A27DB-BD31-4B8C-83A1-F6EECF244321}">
                <p14:modId xmlns:p14="http://schemas.microsoft.com/office/powerpoint/2010/main" val="1888536446"/>
              </p:ext>
            </p:extLst>
          </p:nvPr>
        </p:nvGraphicFramePr>
        <p:xfrm>
          <a:off x="379857" y="3070913"/>
          <a:ext cx="8978822" cy="3588967"/>
        </p:xfrm>
        <a:graphic>
          <a:graphicData uri="http://schemas.openxmlformats.org/drawingml/2006/table">
            <a:tbl>
              <a:tblPr firstRow="1" bandRow="1">
                <a:tableStyleId>{5C22544A-7EE6-4342-B048-85BDC9FD1C3A}</a:tableStyleId>
              </a:tblPr>
              <a:tblGrid>
                <a:gridCol w="1338656">
                  <a:extLst>
                    <a:ext uri="{9D8B030D-6E8A-4147-A177-3AD203B41FA5}">
                      <a16:colId xmlns:a16="http://schemas.microsoft.com/office/drawing/2014/main" val="20000"/>
                    </a:ext>
                  </a:extLst>
                </a:gridCol>
                <a:gridCol w="2546722">
                  <a:extLst>
                    <a:ext uri="{9D8B030D-6E8A-4147-A177-3AD203B41FA5}">
                      <a16:colId xmlns:a16="http://schemas.microsoft.com/office/drawing/2014/main" val="20001"/>
                    </a:ext>
                  </a:extLst>
                </a:gridCol>
                <a:gridCol w="2546722">
                  <a:extLst>
                    <a:ext uri="{9D8B030D-6E8A-4147-A177-3AD203B41FA5}">
                      <a16:colId xmlns:a16="http://schemas.microsoft.com/office/drawing/2014/main" val="20002"/>
                    </a:ext>
                  </a:extLst>
                </a:gridCol>
                <a:gridCol w="2546722">
                  <a:extLst>
                    <a:ext uri="{9D8B030D-6E8A-4147-A177-3AD203B41FA5}">
                      <a16:colId xmlns:a16="http://schemas.microsoft.com/office/drawing/2014/main" val="1223460355"/>
                    </a:ext>
                  </a:extLst>
                </a:gridCol>
              </a:tblGrid>
              <a:tr h="400654">
                <a:tc>
                  <a:txBody>
                    <a:bodyPr/>
                    <a:lstStyle/>
                    <a:p>
                      <a:pPr algn="ctr"/>
                      <a:endParaRPr kumimoji="1" lang="ja-JP" altLang="en-US" sz="120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en-US" altLang="ja-JP" sz="1200" dirty="0">
                          <a:solidFill>
                            <a:schemeClr val="bg1"/>
                          </a:solidFill>
                        </a:rPr>
                        <a:t>IBM</a:t>
                      </a:r>
                      <a:endParaRPr kumimoji="1" lang="ja-JP" altLang="en-US" sz="12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en-US" altLang="ja-JP" sz="1200">
                          <a:solidFill>
                            <a:schemeClr val="bg1"/>
                          </a:solidFill>
                        </a:rPr>
                        <a:t>JRI</a:t>
                      </a:r>
                      <a:endParaRPr kumimoji="1" lang="ja-JP" altLang="en-US" sz="120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en-US" altLang="ja-JP" sz="1200" dirty="0">
                          <a:solidFill>
                            <a:schemeClr val="bg1"/>
                          </a:solidFill>
                        </a:rPr>
                        <a:t>SMBC/SMCC</a:t>
                      </a:r>
                      <a:endParaRPr kumimoji="1" lang="ja-JP" altLang="en-US" sz="1200"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extLst>
                  <a:ext uri="{0D108BD9-81ED-4DB2-BD59-A6C34878D82A}">
                    <a16:rowId xmlns:a16="http://schemas.microsoft.com/office/drawing/2014/main" val="10000"/>
                  </a:ext>
                </a:extLst>
              </a:tr>
              <a:tr h="600979">
                <a:tc>
                  <a:txBody>
                    <a:bodyPr/>
                    <a:lstStyle/>
                    <a:p>
                      <a:pPr algn="ctr"/>
                      <a:r>
                        <a:rPr kumimoji="1" lang="en-US" altLang="ja-JP" sz="1200" dirty="0"/>
                        <a:t>JRI-IBM</a:t>
                      </a:r>
                    </a:p>
                    <a:p>
                      <a:pPr algn="ctr"/>
                      <a:r>
                        <a:rPr kumimoji="1" lang="ja-JP" altLang="en-US" sz="1200" dirty="0"/>
                        <a:t>週次進捗会議</a:t>
                      </a:r>
                      <a:endParaRPr kumimoji="1" lang="en-US" altLang="ja-JP" sz="1200" dirty="0"/>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277530">
                <a:tc>
                  <a:txBody>
                    <a:bodyPr/>
                    <a:lstStyle/>
                    <a:p>
                      <a:pPr algn="ctr"/>
                      <a:r>
                        <a:rPr kumimoji="1" lang="ja-JP" altLang="en-US" sz="1200">
                          <a:solidFill>
                            <a:schemeClr val="tx1"/>
                          </a:solidFill>
                        </a:rPr>
                        <a:t>全体週次</a:t>
                      </a:r>
                      <a:endParaRPr kumimoji="1" lang="en-US" altLang="ja-JP" sz="1200">
                        <a:solidFill>
                          <a:schemeClr val="tx1"/>
                        </a:solidFill>
                      </a:endParaRPr>
                    </a:p>
                    <a:p>
                      <a:pPr algn="ctr"/>
                      <a:r>
                        <a:rPr kumimoji="1" lang="ja-JP" altLang="en-US" sz="1200">
                          <a:solidFill>
                            <a:schemeClr val="tx1"/>
                          </a:solidFill>
                        </a:rPr>
                        <a:t>進捗会議</a:t>
                      </a:r>
                      <a:endParaRPr kumimoji="1" lang="ja-JP" altLang="en-US" sz="1100">
                        <a:solidFill>
                          <a:schemeClr val="tx1"/>
                        </a:solidFill>
                      </a:endParaRP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30818">
                <a:tc>
                  <a:txBody>
                    <a:bodyPr/>
                    <a:lstStyle/>
                    <a:p>
                      <a:pPr algn="ctr"/>
                      <a:r>
                        <a:rPr kumimoji="1" lang="ja-JP" altLang="en-US" sz="1200" dirty="0">
                          <a:solidFill>
                            <a:schemeClr val="tx1"/>
                          </a:solidFill>
                          <a:latin typeface="+mn-ea"/>
                          <a:ea typeface="+mn-ea"/>
                        </a:rPr>
                        <a:t>全体月次</a:t>
                      </a:r>
                      <a:endParaRPr kumimoji="1" lang="en-US" altLang="ja-JP" sz="1200" dirty="0">
                        <a:solidFill>
                          <a:schemeClr val="tx1"/>
                        </a:solidFill>
                        <a:latin typeface="+mn-ea"/>
                        <a:ea typeface="+mn-ea"/>
                      </a:endParaRPr>
                    </a:p>
                    <a:p>
                      <a:pPr algn="ctr"/>
                      <a:r>
                        <a:rPr kumimoji="1" lang="ja-JP" altLang="en-US" sz="1200" dirty="0">
                          <a:solidFill>
                            <a:schemeClr val="tx1"/>
                          </a:solidFill>
                          <a:latin typeface="+mn-ea"/>
                          <a:ea typeface="+mn-ea"/>
                        </a:rPr>
                        <a:t>進捗会議</a:t>
                      </a:r>
                      <a:endParaRPr kumimoji="1" lang="en-US" altLang="ja-JP" sz="1200" dirty="0">
                        <a:solidFill>
                          <a:schemeClr val="tx1"/>
                        </a:solidFill>
                        <a:latin typeface="+mn-ea"/>
                        <a:ea typeface="+mn-ea"/>
                      </a:endParaRP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7789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solidFill>
                            <a:schemeClr val="tx1"/>
                          </a:solidFill>
                        </a:rPr>
                        <a:t>担当作業</a:t>
                      </a: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1517985"/>
                  </a:ext>
                </a:extLst>
              </a:tr>
            </a:tbl>
          </a:graphicData>
        </a:graphic>
      </p:graphicFrame>
      <p:sp>
        <p:nvSpPr>
          <p:cNvPr id="31" name="角丸四角形 25">
            <a:extLst>
              <a:ext uri="{FF2B5EF4-FFF2-40B4-BE49-F238E27FC236}">
                <a16:creationId xmlns:a16="http://schemas.microsoft.com/office/drawing/2014/main" id="{863C630D-C839-4D20-9A8E-A81C61CCA7CC}"/>
              </a:ext>
            </a:extLst>
          </p:cNvPr>
          <p:cNvSpPr/>
          <p:nvPr/>
        </p:nvSpPr>
        <p:spPr bwMode="auto">
          <a:xfrm>
            <a:off x="2145740" y="3568783"/>
            <a:ext cx="4397936" cy="280607"/>
          </a:xfrm>
          <a:prstGeom prst="roundRect">
            <a:avLst/>
          </a:prstGeom>
          <a:solidFill>
            <a:schemeClr val="bg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月次進捗会議への</a:t>
            </a:r>
            <a:r>
              <a:rPr lang="ja-JP" altLang="en-US" sz="1200">
                <a:latin typeface="+mn-ea"/>
                <a:ea typeface="+mn-ea"/>
              </a:rPr>
              <a:t>エントリー</a:t>
            </a:r>
            <a:r>
              <a:rPr kumimoji="1" lang="ja-JP" altLang="en-US" sz="1200" b="0" i="0" u="none" strike="noStrike" cap="none" normalizeH="0" baseline="0">
                <a:ln>
                  <a:noFill/>
                </a:ln>
                <a:solidFill>
                  <a:schemeClr val="tx1"/>
                </a:solidFill>
                <a:effectLst/>
                <a:latin typeface="+mn-ea"/>
                <a:ea typeface="+mn-ea"/>
              </a:rPr>
              <a:t>を判定</a:t>
            </a:r>
          </a:p>
        </p:txBody>
      </p:sp>
      <p:sp>
        <p:nvSpPr>
          <p:cNvPr id="36" name="角丸四角形 49">
            <a:extLst>
              <a:ext uri="{FF2B5EF4-FFF2-40B4-BE49-F238E27FC236}">
                <a16:creationId xmlns:a16="http://schemas.microsoft.com/office/drawing/2014/main" id="{310374A9-F6DC-4792-8910-59478E5A0EDE}"/>
              </a:ext>
            </a:extLst>
          </p:cNvPr>
          <p:cNvSpPr/>
          <p:nvPr/>
        </p:nvSpPr>
        <p:spPr bwMode="auto">
          <a:xfrm>
            <a:off x="2145738" y="4189515"/>
            <a:ext cx="6845862" cy="306360"/>
          </a:xfrm>
          <a:prstGeom prst="roundRect">
            <a:avLst/>
          </a:prstGeom>
          <a:solidFill>
            <a:schemeClr val="bg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algn="ctr"/>
            <a:r>
              <a:rPr kumimoji="1" lang="ja-JP" altLang="en-US" sz="1200" b="0" i="0" u="none" strike="noStrike" cap="none" normalizeH="0" baseline="0">
                <a:ln>
                  <a:noFill/>
                </a:ln>
                <a:solidFill>
                  <a:schemeClr val="tx1"/>
                </a:solidFill>
                <a:effectLst/>
                <a:latin typeface="+mn-ea"/>
                <a:ea typeface="+mn-ea"/>
              </a:rPr>
              <a:t>議論</a:t>
            </a:r>
            <a:r>
              <a:rPr kumimoji="1" lang="en-US" altLang="ja-JP" sz="1200" b="0" i="0" u="none" strike="noStrike" cap="none" normalizeH="0" baseline="0">
                <a:ln>
                  <a:noFill/>
                </a:ln>
                <a:solidFill>
                  <a:schemeClr val="tx1"/>
                </a:solidFill>
                <a:effectLst/>
                <a:latin typeface="+mn-ea"/>
                <a:ea typeface="+mn-ea"/>
              </a:rPr>
              <a:t>/</a:t>
            </a:r>
            <a:r>
              <a:rPr kumimoji="1" lang="ja-JP" altLang="en-US" sz="1200" b="0" i="0" u="none" strike="noStrike" cap="none" normalizeH="0" baseline="0">
                <a:ln>
                  <a:noFill/>
                </a:ln>
                <a:solidFill>
                  <a:schemeClr val="tx1"/>
                </a:solidFill>
                <a:effectLst/>
                <a:latin typeface="+mn-ea"/>
                <a:ea typeface="+mn-ea"/>
              </a:rPr>
              <a:t>ステコミ実施要否の判断</a:t>
            </a:r>
          </a:p>
        </p:txBody>
      </p:sp>
      <p:sp>
        <p:nvSpPr>
          <p:cNvPr id="39" name="角丸四角形 53">
            <a:extLst>
              <a:ext uri="{FF2B5EF4-FFF2-40B4-BE49-F238E27FC236}">
                <a16:creationId xmlns:a16="http://schemas.microsoft.com/office/drawing/2014/main" id="{A0094C5B-1529-4FDB-97AF-9833B7D5DB01}"/>
              </a:ext>
            </a:extLst>
          </p:cNvPr>
          <p:cNvSpPr/>
          <p:nvPr/>
        </p:nvSpPr>
        <p:spPr bwMode="auto">
          <a:xfrm>
            <a:off x="2590800" y="5442275"/>
            <a:ext cx="6400800" cy="306360"/>
          </a:xfrm>
          <a:prstGeom prst="roundRect">
            <a:avLst/>
          </a:prstGeom>
          <a:solidFill>
            <a:schemeClr val="bg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結果の共有＆対応実施の合意</a:t>
            </a:r>
          </a:p>
        </p:txBody>
      </p:sp>
      <p:sp>
        <p:nvSpPr>
          <p:cNvPr id="55" name="テキスト ボックス 54">
            <a:extLst>
              <a:ext uri="{FF2B5EF4-FFF2-40B4-BE49-F238E27FC236}">
                <a16:creationId xmlns:a16="http://schemas.microsoft.com/office/drawing/2014/main" id="{223C45F2-4E81-4FC3-940F-5E4903CB63FB}"/>
              </a:ext>
            </a:extLst>
          </p:cNvPr>
          <p:cNvSpPr txBox="1"/>
          <p:nvPr/>
        </p:nvSpPr>
        <p:spPr>
          <a:xfrm>
            <a:off x="379857" y="2763136"/>
            <a:ext cx="2362798" cy="307777"/>
          </a:xfrm>
          <a:prstGeom prst="rect">
            <a:avLst/>
          </a:prstGeom>
          <a:noFill/>
        </p:spPr>
        <p:txBody>
          <a:bodyPr wrap="square" rtlCol="0">
            <a:spAutoFit/>
          </a:bodyPr>
          <a:lstStyle/>
          <a:p>
            <a:r>
              <a:rPr kumimoji="1" lang="ja-JP" altLang="en-US" sz="1400" b="1" u="sng" dirty="0">
                <a:solidFill>
                  <a:schemeClr val="tx1"/>
                </a:solidFill>
                <a:latin typeface="+mn-ea"/>
                <a:ea typeface="+mn-ea"/>
              </a:rPr>
              <a:t>■マネジメント調整フロー</a:t>
            </a:r>
          </a:p>
        </p:txBody>
      </p:sp>
      <p:cxnSp>
        <p:nvCxnSpPr>
          <p:cNvPr id="30" name="カギ線コネクタ 71">
            <a:extLst>
              <a:ext uri="{FF2B5EF4-FFF2-40B4-BE49-F238E27FC236}">
                <a16:creationId xmlns:a16="http://schemas.microsoft.com/office/drawing/2014/main" id="{F7374726-5D87-4CD1-A748-FC0F4173ED80}"/>
              </a:ext>
            </a:extLst>
          </p:cNvPr>
          <p:cNvCxnSpPr>
            <a:cxnSpLocks/>
            <a:endCxn id="48" idx="0"/>
          </p:cNvCxnSpPr>
          <p:nvPr/>
        </p:nvCxnSpPr>
        <p:spPr bwMode="auto">
          <a:xfrm rot="16200000" flipH="1">
            <a:off x="4477445" y="5344232"/>
            <a:ext cx="554391" cy="1308537"/>
          </a:xfrm>
          <a:prstGeom prst="bentConnector3">
            <a:avLst>
              <a:gd name="adj1" fmla="val 50000"/>
            </a:avLst>
          </a:prstGeom>
          <a:solidFill>
            <a:schemeClr val="bg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角丸四角形 53">
            <a:extLst>
              <a:ext uri="{FF2B5EF4-FFF2-40B4-BE49-F238E27FC236}">
                <a16:creationId xmlns:a16="http://schemas.microsoft.com/office/drawing/2014/main" id="{F0CF6615-0299-7FF1-381D-77D243F4B156}"/>
              </a:ext>
            </a:extLst>
          </p:cNvPr>
          <p:cNvSpPr/>
          <p:nvPr/>
        </p:nvSpPr>
        <p:spPr bwMode="auto">
          <a:xfrm>
            <a:off x="3787891" y="6275697"/>
            <a:ext cx="3242036" cy="280608"/>
          </a:xfrm>
          <a:prstGeom prst="roundRect">
            <a:avLst/>
          </a:prstGeom>
          <a:solidFill>
            <a:schemeClr val="bg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対応開始</a:t>
            </a:r>
          </a:p>
        </p:txBody>
      </p:sp>
      <p:cxnSp>
        <p:nvCxnSpPr>
          <p:cNvPr id="54" name="カギ線コネクタ 56">
            <a:extLst>
              <a:ext uri="{FF2B5EF4-FFF2-40B4-BE49-F238E27FC236}">
                <a16:creationId xmlns:a16="http://schemas.microsoft.com/office/drawing/2014/main" id="{C5D0DF50-F044-082B-2ED2-886276F896C3}"/>
              </a:ext>
            </a:extLst>
          </p:cNvPr>
          <p:cNvCxnSpPr>
            <a:stCxn id="36" idx="2"/>
            <a:endCxn id="74" idx="0"/>
          </p:cNvCxnSpPr>
          <p:nvPr/>
        </p:nvCxnSpPr>
        <p:spPr bwMode="auto">
          <a:xfrm rot="16200000" flipH="1">
            <a:off x="6229389" y="3835154"/>
            <a:ext cx="398686" cy="1720127"/>
          </a:xfrm>
          <a:prstGeom prst="bentConnector3">
            <a:avLst>
              <a:gd name="adj1" fmla="val 50000"/>
            </a:avLst>
          </a:prstGeom>
          <a:solidFill>
            <a:schemeClr val="bg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角丸四角形 53">
            <a:extLst>
              <a:ext uri="{FF2B5EF4-FFF2-40B4-BE49-F238E27FC236}">
                <a16:creationId xmlns:a16="http://schemas.microsoft.com/office/drawing/2014/main" id="{BCDA5E4C-B4E7-A64A-F0DF-0C1575229671}"/>
              </a:ext>
            </a:extLst>
          </p:cNvPr>
          <p:cNvSpPr/>
          <p:nvPr/>
        </p:nvSpPr>
        <p:spPr bwMode="auto">
          <a:xfrm>
            <a:off x="5645008" y="4894561"/>
            <a:ext cx="3287576" cy="317258"/>
          </a:xfrm>
          <a:prstGeom prst="roundRect">
            <a:avLst/>
          </a:prstGeom>
          <a:solidFill>
            <a:schemeClr val="bg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結果の共有＆対応実施の合意</a:t>
            </a:r>
          </a:p>
        </p:txBody>
      </p:sp>
      <p:cxnSp>
        <p:nvCxnSpPr>
          <p:cNvPr id="82" name="カギ線コネクタ 71">
            <a:extLst>
              <a:ext uri="{FF2B5EF4-FFF2-40B4-BE49-F238E27FC236}">
                <a16:creationId xmlns:a16="http://schemas.microsoft.com/office/drawing/2014/main" id="{23D90AC9-57F6-6BD2-843A-3C75D91758CC}"/>
              </a:ext>
            </a:extLst>
          </p:cNvPr>
          <p:cNvCxnSpPr>
            <a:stCxn id="74" idx="3"/>
            <a:endCxn id="48" idx="0"/>
          </p:cNvCxnSpPr>
          <p:nvPr/>
        </p:nvCxnSpPr>
        <p:spPr bwMode="auto">
          <a:xfrm flipH="1">
            <a:off x="5408909" y="5053190"/>
            <a:ext cx="3523675" cy="1222507"/>
          </a:xfrm>
          <a:prstGeom prst="bentConnector4">
            <a:avLst>
              <a:gd name="adj1" fmla="val -6488"/>
              <a:gd name="adj2" fmla="val 77681"/>
            </a:avLst>
          </a:prstGeom>
          <a:solidFill>
            <a:schemeClr val="bg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 name="テキスト ボックス 86">
            <a:extLst>
              <a:ext uri="{FF2B5EF4-FFF2-40B4-BE49-F238E27FC236}">
                <a16:creationId xmlns:a16="http://schemas.microsoft.com/office/drawing/2014/main" id="{0C74A726-FB87-A6F8-4CF5-9D5D4A3633E9}"/>
              </a:ext>
            </a:extLst>
          </p:cNvPr>
          <p:cNvSpPr txBox="1"/>
          <p:nvPr/>
        </p:nvSpPr>
        <p:spPr>
          <a:xfrm>
            <a:off x="1998321" y="4569333"/>
            <a:ext cx="1649687" cy="261610"/>
          </a:xfrm>
          <a:prstGeom prst="rect">
            <a:avLst/>
          </a:prstGeom>
          <a:noFill/>
        </p:spPr>
        <p:txBody>
          <a:bodyPr wrap="square" rtlCol="0">
            <a:spAutoFit/>
          </a:bodyPr>
          <a:lstStyle/>
          <a:p>
            <a:pPr algn="l"/>
            <a:r>
              <a:rPr lang="ja-JP" altLang="en-US" sz="1100" dirty="0">
                <a:solidFill>
                  <a:srgbClr val="FF0000"/>
                </a:solidFill>
                <a:latin typeface="+mn-ea"/>
                <a:ea typeface="+mn-ea"/>
              </a:rPr>
              <a:t>月次報告</a:t>
            </a:r>
            <a:r>
              <a:rPr kumimoji="1" lang="ja-JP" altLang="en-US" sz="1100" dirty="0">
                <a:solidFill>
                  <a:srgbClr val="FF0000"/>
                </a:solidFill>
                <a:latin typeface="+mn-ea"/>
                <a:ea typeface="+mn-ea"/>
              </a:rPr>
              <a:t>が必要</a:t>
            </a:r>
            <a:r>
              <a:rPr lang="ja-JP" altLang="en-US" sz="1100" dirty="0">
                <a:solidFill>
                  <a:srgbClr val="FF0000"/>
                </a:solidFill>
                <a:latin typeface="+mn-ea"/>
                <a:ea typeface="+mn-ea"/>
              </a:rPr>
              <a:t>な</a:t>
            </a:r>
            <a:r>
              <a:rPr kumimoji="1" lang="ja-JP" altLang="en-US" sz="1100" dirty="0">
                <a:solidFill>
                  <a:srgbClr val="FF0000"/>
                </a:solidFill>
                <a:latin typeface="+mn-ea"/>
                <a:ea typeface="+mn-ea"/>
              </a:rPr>
              <a:t>場合</a:t>
            </a:r>
          </a:p>
        </p:txBody>
      </p:sp>
      <p:sp>
        <p:nvSpPr>
          <p:cNvPr id="88" name="テキスト ボックス 87">
            <a:extLst>
              <a:ext uri="{FF2B5EF4-FFF2-40B4-BE49-F238E27FC236}">
                <a16:creationId xmlns:a16="http://schemas.microsoft.com/office/drawing/2014/main" id="{7207E676-C45D-8E37-C6C6-88D5F16F8E0E}"/>
              </a:ext>
            </a:extLst>
          </p:cNvPr>
          <p:cNvSpPr txBox="1"/>
          <p:nvPr/>
        </p:nvSpPr>
        <p:spPr>
          <a:xfrm>
            <a:off x="7545517" y="4523699"/>
            <a:ext cx="1649687" cy="261610"/>
          </a:xfrm>
          <a:prstGeom prst="rect">
            <a:avLst/>
          </a:prstGeom>
          <a:noFill/>
        </p:spPr>
        <p:txBody>
          <a:bodyPr wrap="square" rtlCol="0">
            <a:spAutoFit/>
          </a:bodyPr>
          <a:lstStyle/>
          <a:p>
            <a:pPr algn="l"/>
            <a:r>
              <a:rPr kumimoji="1" lang="ja-JP" altLang="en-US" sz="1100" dirty="0">
                <a:solidFill>
                  <a:srgbClr val="0000FF"/>
                </a:solidFill>
                <a:latin typeface="+mn-ea"/>
                <a:ea typeface="+mn-ea"/>
              </a:rPr>
              <a:t>月次報告が不要</a:t>
            </a:r>
            <a:r>
              <a:rPr lang="ja-JP" altLang="en-US" sz="1100" dirty="0">
                <a:solidFill>
                  <a:srgbClr val="0000FF"/>
                </a:solidFill>
                <a:latin typeface="+mn-ea"/>
                <a:ea typeface="+mn-ea"/>
              </a:rPr>
              <a:t>な</a:t>
            </a:r>
            <a:r>
              <a:rPr kumimoji="1" lang="ja-JP" altLang="en-US" sz="1100" dirty="0">
                <a:solidFill>
                  <a:srgbClr val="0000FF"/>
                </a:solidFill>
                <a:latin typeface="+mn-ea"/>
                <a:ea typeface="+mn-ea"/>
              </a:rPr>
              <a:t>場合</a:t>
            </a:r>
          </a:p>
        </p:txBody>
      </p:sp>
      <p:sp>
        <p:nvSpPr>
          <p:cNvPr id="5" name="吹き出し: 四角形 4">
            <a:extLst>
              <a:ext uri="{FF2B5EF4-FFF2-40B4-BE49-F238E27FC236}">
                <a16:creationId xmlns:a16="http://schemas.microsoft.com/office/drawing/2014/main" id="{1FC5E05F-7738-0AC9-C825-F97693E3524D}"/>
              </a:ext>
            </a:extLst>
          </p:cNvPr>
          <p:cNvSpPr/>
          <p:nvPr/>
        </p:nvSpPr>
        <p:spPr bwMode="gray">
          <a:xfrm>
            <a:off x="6742553" y="1447266"/>
            <a:ext cx="2284147" cy="766965"/>
          </a:xfrm>
          <a:prstGeom prst="wedgeRectCallout">
            <a:avLst>
              <a:gd name="adj1" fmla="val -55331"/>
              <a:gd name="adj2" fmla="val 79524"/>
            </a:avLst>
          </a:prstGeom>
          <a:ln>
            <a:headEnd/>
            <a:tailEnd/>
          </a:ln>
        </p:spPr>
        <p:style>
          <a:lnRef idx="1">
            <a:schemeClr val="accent4"/>
          </a:lnRef>
          <a:fillRef idx="2">
            <a:schemeClr val="accent4"/>
          </a:fillRef>
          <a:effectRef idx="1">
            <a:schemeClr val="accent4"/>
          </a:effectRef>
          <a:fontRef idx="minor">
            <a:schemeClr val="dk1"/>
          </a:fontRef>
        </p:style>
        <p:txBody>
          <a:bodyPr lIns="90000" tIns="45779" rIns="90000" bIns="45779" rtlCol="0" anchor="ctr"/>
          <a:lstStyle/>
          <a:p>
            <a:pPr algn="l" defTabSz="914400" eaLnBrk="1" hangingPunct="1">
              <a:spcBef>
                <a:spcPts val="300"/>
              </a:spcBef>
            </a:pPr>
            <a:r>
              <a:rPr lang="ja-JP" altLang="en-US" sz="1200"/>
              <a:t>例）導入対象システムの変更、</a:t>
            </a:r>
            <a:endParaRPr lang="en-US" altLang="ja-JP" sz="1200"/>
          </a:p>
          <a:p>
            <a:pPr algn="l" defTabSz="914400" eaLnBrk="1" hangingPunct="1">
              <a:spcBef>
                <a:spcPts val="300"/>
              </a:spcBef>
            </a:pPr>
            <a:r>
              <a:rPr lang="ja-JP" altLang="en-US" sz="1200"/>
              <a:t>　　　導入サービスでは要件を</a:t>
            </a:r>
            <a:endParaRPr lang="en-US" altLang="ja-JP" sz="1200"/>
          </a:p>
          <a:p>
            <a:pPr algn="l" defTabSz="914400" eaLnBrk="1" hangingPunct="1">
              <a:spcBef>
                <a:spcPts val="300"/>
              </a:spcBef>
            </a:pPr>
            <a:r>
              <a:rPr lang="ja-JP" altLang="en-US" sz="1200"/>
              <a:t>　　　満たせない場合等</a:t>
            </a:r>
            <a:endParaRPr kumimoji="0" lang="ja-JP" altLang="en-US" sz="1200" b="0">
              <a:latin typeface="Meiryo UI" panose="020B0604030504040204" pitchFamily="50" charset="-128"/>
              <a:ea typeface="Meiryo UI" panose="020B0604030504040204" pitchFamily="50" charset="-128"/>
            </a:endParaRPr>
          </a:p>
        </p:txBody>
      </p:sp>
      <p:sp>
        <p:nvSpPr>
          <p:cNvPr id="3" name="下矢印 111">
            <a:extLst>
              <a:ext uri="{FF2B5EF4-FFF2-40B4-BE49-F238E27FC236}">
                <a16:creationId xmlns:a16="http://schemas.microsoft.com/office/drawing/2014/main" id="{93CAD4C9-C0A9-169A-F49C-BC501E2F1FB4}"/>
              </a:ext>
            </a:extLst>
          </p:cNvPr>
          <p:cNvSpPr/>
          <p:nvPr/>
        </p:nvSpPr>
        <p:spPr bwMode="auto">
          <a:xfrm>
            <a:off x="4104018" y="2673437"/>
            <a:ext cx="1540990" cy="261396"/>
          </a:xfrm>
          <a:prstGeom prst="downArrow">
            <a:avLst>
              <a:gd name="adj1" fmla="val 50000"/>
              <a:gd name="adj2" fmla="val 100000"/>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16200000" scaled="1"/>
            <a:tileRect/>
          </a:gra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n-ea"/>
              <a:ea typeface="+mn-ea"/>
            </a:endParaRPr>
          </a:p>
        </p:txBody>
      </p:sp>
      <p:cxnSp>
        <p:nvCxnSpPr>
          <p:cNvPr id="33" name="直線矢印コネクタ 32">
            <a:extLst>
              <a:ext uri="{FF2B5EF4-FFF2-40B4-BE49-F238E27FC236}">
                <a16:creationId xmlns:a16="http://schemas.microsoft.com/office/drawing/2014/main" id="{4B3C10E6-1F32-F57B-E588-FDFF77C80236}"/>
              </a:ext>
            </a:extLst>
          </p:cNvPr>
          <p:cNvCxnSpPr/>
          <p:nvPr/>
        </p:nvCxnSpPr>
        <p:spPr bwMode="auto">
          <a:xfrm>
            <a:off x="4390131" y="3849390"/>
            <a:ext cx="0" cy="340125"/>
          </a:xfrm>
          <a:prstGeom prst="straightConnector1">
            <a:avLst/>
          </a:prstGeom>
          <a:solidFill>
            <a:schemeClr val="bg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カギ線コネクタ 56">
            <a:extLst>
              <a:ext uri="{FF2B5EF4-FFF2-40B4-BE49-F238E27FC236}">
                <a16:creationId xmlns:a16="http://schemas.microsoft.com/office/drawing/2014/main" id="{07323487-6AA8-4D8D-15A2-BD8EC92D4531}"/>
              </a:ext>
            </a:extLst>
          </p:cNvPr>
          <p:cNvCxnSpPr/>
          <p:nvPr/>
        </p:nvCxnSpPr>
        <p:spPr bwMode="auto">
          <a:xfrm rot="5400000">
            <a:off x="3252245" y="4961634"/>
            <a:ext cx="932147" cy="485"/>
          </a:xfrm>
          <a:prstGeom prst="bentConnector3">
            <a:avLst>
              <a:gd name="adj1" fmla="val 50000"/>
            </a:avLst>
          </a:prstGeom>
          <a:solidFill>
            <a:schemeClr val="bg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022815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FBA0FA-425C-4ED2-911A-C502E26D0DF0}"/>
              </a:ext>
            </a:extLst>
          </p:cNvPr>
          <p:cNvSpPr>
            <a:spLocks noGrp="1"/>
          </p:cNvSpPr>
          <p:nvPr>
            <p:ph type="title" idx="4294967295"/>
          </p:nvPr>
        </p:nvSpPr>
        <p:spPr>
          <a:xfrm>
            <a:off x="613532" y="132999"/>
            <a:ext cx="8918751" cy="334962"/>
          </a:xfrm>
          <a:prstGeom prst="rect">
            <a:avLst/>
          </a:prstGeom>
        </p:spPr>
        <p:txBody>
          <a:bodyPr/>
          <a:lstStyle/>
          <a:p>
            <a:r>
              <a:rPr lang="ja-JP" altLang="en-US"/>
              <a:t>５</a:t>
            </a:r>
            <a:r>
              <a:rPr lang="en-US" altLang="ja-JP"/>
              <a:t>-</a:t>
            </a:r>
            <a:r>
              <a:rPr lang="ja-JP" altLang="en-US"/>
              <a:t>３．</a:t>
            </a:r>
            <a:r>
              <a:rPr lang="en-US" altLang="ja-JP"/>
              <a:t>【</a:t>
            </a:r>
            <a:r>
              <a:rPr lang="ja-JP" altLang="en-US"/>
              <a:t>運営要領</a:t>
            </a:r>
            <a:r>
              <a:rPr lang="en-US" altLang="ja-JP"/>
              <a:t>】</a:t>
            </a:r>
            <a:r>
              <a:rPr lang="ja-JP" altLang="en-US"/>
              <a:t>管理帳票更新要領</a:t>
            </a:r>
            <a:r>
              <a:rPr lang="en-US" altLang="ja-JP"/>
              <a:t>(</a:t>
            </a:r>
            <a:r>
              <a:rPr lang="ja-JP" altLang="en-US"/>
              <a:t>変更運用フロー</a:t>
            </a:r>
            <a:r>
              <a:rPr lang="en-US" altLang="ja-JP"/>
              <a:t>)_</a:t>
            </a:r>
            <a:r>
              <a:rPr lang="ja-JP" altLang="en-US"/>
              <a:t>設計工程以降</a:t>
            </a:r>
          </a:p>
        </p:txBody>
      </p:sp>
      <p:sp>
        <p:nvSpPr>
          <p:cNvPr id="4" name="Text Box 3">
            <a:extLst>
              <a:ext uri="{FF2B5EF4-FFF2-40B4-BE49-F238E27FC236}">
                <a16:creationId xmlns:a16="http://schemas.microsoft.com/office/drawing/2014/main" id="{835E8D19-9BDE-4A0B-A81C-6329EFCAABE5}"/>
              </a:ext>
            </a:extLst>
          </p:cNvPr>
          <p:cNvSpPr txBox="1">
            <a:spLocks noChangeArrowheads="1"/>
          </p:cNvSpPr>
          <p:nvPr/>
        </p:nvSpPr>
        <p:spPr bwMode="auto">
          <a:xfrm>
            <a:off x="170347" y="583150"/>
            <a:ext cx="9565305" cy="528707"/>
          </a:xfrm>
          <a:prstGeom prst="rect">
            <a:avLst/>
          </a:prstGeom>
          <a:noFill/>
          <a:ln w="9525">
            <a:noFill/>
            <a:miter lim="800000"/>
            <a:headEnd/>
            <a:tailEnd/>
          </a:ln>
        </p:spPr>
        <p:txBody>
          <a:bodyPr lIns="108000" tIns="0" bIns="0" anchor="ctr" anchorCtr="0"/>
          <a:lstStyle>
            <a:lvl1pPr eaLnBrk="0" hangingPunct="0">
              <a:spcBef>
                <a:spcPct val="20000"/>
              </a:spcBef>
              <a:defRPr kumimoji="1" sz="10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0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16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16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9pPr>
          </a:lstStyle>
          <a:p>
            <a:pPr marL="285750" indent="-285750" eaLnBrk="1" hangingPunct="1">
              <a:spcBef>
                <a:spcPts val="300"/>
              </a:spcBef>
              <a:buFont typeface="Wingdings" panose="05000000000000000000" pitchFamily="2" charset="2"/>
              <a:buChar char="l"/>
            </a:pPr>
            <a:r>
              <a:rPr lang="ja-JP" altLang="en-US" sz="1400" u="sng">
                <a:latin typeface="+mn-ea"/>
                <a:ea typeface="+mn-ea"/>
              </a:rPr>
              <a:t>設計工程以降での</a:t>
            </a:r>
            <a:r>
              <a:rPr lang="ja-JP" altLang="en-US" sz="1400">
                <a:latin typeface="+mn-ea"/>
                <a:ea typeface="+mn-ea"/>
              </a:rPr>
              <a:t>変更管理に関する、運用フローは以下のとおり</a:t>
            </a:r>
            <a:endParaRPr lang="en-US" altLang="ja-JP" sz="1400">
              <a:latin typeface="+mn-ea"/>
              <a:ea typeface="+mn-ea"/>
            </a:endParaRPr>
          </a:p>
          <a:p>
            <a:pPr marL="285750" indent="-285750" eaLnBrk="1" hangingPunct="1">
              <a:spcBef>
                <a:spcPts val="300"/>
              </a:spcBef>
              <a:buFont typeface="Wingdings" panose="05000000000000000000" pitchFamily="2" charset="2"/>
              <a:buChar char="l"/>
            </a:pPr>
            <a:r>
              <a:rPr lang="ja-JP" altLang="en-US" sz="1400" b="1">
                <a:latin typeface="+mn-ea"/>
                <a:ea typeface="+mn-ea"/>
              </a:rPr>
              <a:t>緊急度の高い変更管理については、月次進捗会議を待たずに個別調整の上、ご報告とする</a:t>
            </a:r>
            <a:endParaRPr lang="en-US" altLang="ja-JP" sz="1400" b="1">
              <a:latin typeface="+mn-ea"/>
              <a:ea typeface="+mn-ea"/>
            </a:endParaRPr>
          </a:p>
        </p:txBody>
      </p:sp>
      <p:graphicFrame>
        <p:nvGraphicFramePr>
          <p:cNvPr id="60" name="表 59">
            <a:extLst>
              <a:ext uri="{FF2B5EF4-FFF2-40B4-BE49-F238E27FC236}">
                <a16:creationId xmlns:a16="http://schemas.microsoft.com/office/drawing/2014/main" id="{34965720-7020-4274-B327-50CEEC32CE1B}"/>
              </a:ext>
            </a:extLst>
          </p:cNvPr>
          <p:cNvGraphicFramePr>
            <a:graphicFrameLocks noGrp="1"/>
          </p:cNvGraphicFramePr>
          <p:nvPr>
            <p:extLst>
              <p:ext uri="{D42A27DB-BD31-4B8C-83A1-F6EECF244321}">
                <p14:modId xmlns:p14="http://schemas.microsoft.com/office/powerpoint/2010/main" val="1667895951"/>
              </p:ext>
            </p:extLst>
          </p:nvPr>
        </p:nvGraphicFramePr>
        <p:xfrm>
          <a:off x="255218" y="1201966"/>
          <a:ext cx="9399322" cy="1234914"/>
        </p:xfrm>
        <a:graphic>
          <a:graphicData uri="http://schemas.openxmlformats.org/drawingml/2006/table">
            <a:tbl>
              <a:tblPr firstRow="1" bandRow="1">
                <a:tableStyleId>{5C22544A-7EE6-4342-B048-85BDC9FD1C3A}</a:tableStyleId>
              </a:tblPr>
              <a:tblGrid>
                <a:gridCol w="864543">
                  <a:extLst>
                    <a:ext uri="{9D8B030D-6E8A-4147-A177-3AD203B41FA5}">
                      <a16:colId xmlns:a16="http://schemas.microsoft.com/office/drawing/2014/main" val="20000"/>
                    </a:ext>
                  </a:extLst>
                </a:gridCol>
                <a:gridCol w="1244998">
                  <a:extLst>
                    <a:ext uri="{9D8B030D-6E8A-4147-A177-3AD203B41FA5}">
                      <a16:colId xmlns:a16="http://schemas.microsoft.com/office/drawing/2014/main" val="20001"/>
                    </a:ext>
                  </a:extLst>
                </a:gridCol>
                <a:gridCol w="2429927">
                  <a:extLst>
                    <a:ext uri="{9D8B030D-6E8A-4147-A177-3AD203B41FA5}">
                      <a16:colId xmlns:a16="http://schemas.microsoft.com/office/drawing/2014/main" val="20002"/>
                    </a:ext>
                  </a:extLst>
                </a:gridCol>
                <a:gridCol w="2429927">
                  <a:extLst>
                    <a:ext uri="{9D8B030D-6E8A-4147-A177-3AD203B41FA5}">
                      <a16:colId xmlns:a16="http://schemas.microsoft.com/office/drawing/2014/main" val="20003"/>
                    </a:ext>
                  </a:extLst>
                </a:gridCol>
                <a:gridCol w="2429927">
                  <a:extLst>
                    <a:ext uri="{9D8B030D-6E8A-4147-A177-3AD203B41FA5}">
                      <a16:colId xmlns:a16="http://schemas.microsoft.com/office/drawing/2014/main" val="20004"/>
                    </a:ext>
                  </a:extLst>
                </a:gridCol>
              </a:tblGrid>
              <a:tr h="274417">
                <a:tc gridSpan="2">
                  <a:txBody>
                    <a:bodyPr/>
                    <a:lstStyle/>
                    <a:p>
                      <a:pPr algn="ctr"/>
                      <a:endParaRPr kumimoji="1" lang="ja-JP" altLang="en-US" sz="120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hMerge="1">
                  <a:txBody>
                    <a:bodyPr/>
                    <a:lstStyle/>
                    <a:p>
                      <a:pPr algn="ctr"/>
                      <a:endParaRPr kumimoji="1" lang="ja-JP" altLang="en-US"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ja-JP" altLang="en-US" sz="1200">
                          <a:solidFill>
                            <a:schemeClr val="bg1"/>
                          </a:solidFill>
                        </a:rPr>
                        <a:t>ＱＡ</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ja-JP" altLang="en-US" sz="1200">
                          <a:solidFill>
                            <a:schemeClr val="bg1"/>
                          </a:solidFill>
                        </a:rPr>
                        <a:t>課題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ja-JP" altLang="en-US" sz="1200">
                          <a:solidFill>
                            <a:schemeClr val="bg1"/>
                          </a:solidFill>
                        </a:rPr>
                        <a:t>不具合</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extLst>
                  <a:ext uri="{0D108BD9-81ED-4DB2-BD59-A6C34878D82A}">
                    <a16:rowId xmlns:a16="http://schemas.microsoft.com/office/drawing/2014/main" val="10000"/>
                  </a:ext>
                </a:extLst>
              </a:tr>
              <a:tr h="343021">
                <a:tc rowSpan="3">
                  <a:txBody>
                    <a:bodyPr/>
                    <a:lstStyle/>
                    <a:p>
                      <a:pPr algn="ctr"/>
                      <a:r>
                        <a:rPr kumimoji="1" lang="ja-JP" altLang="en-US" sz="1200"/>
                        <a:t>トリガー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a:t>事業会社</a:t>
                      </a:r>
                      <a:r>
                        <a:rPr kumimoji="1" lang="en-US" altLang="ja-JP" sz="1200"/>
                        <a:t>/JRI</a:t>
                      </a:r>
                      <a:endParaRPr kumimoji="1" lang="ja-JP" alt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43021">
                <a:tc vMerge="1">
                  <a:txBody>
                    <a:bodyPr/>
                    <a:lstStyle/>
                    <a:p>
                      <a:pPr algn="ctr"/>
                      <a:endParaRPr kumimoji="1" lang="ja-JP" alt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dirty="0"/>
                        <a:t>MSYS</a:t>
                      </a:r>
                      <a:endParaRPr kumimoji="1" lang="ja-JP"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4455">
                <a:tc vMerge="1">
                  <a:txBody>
                    <a:bodyPr/>
                    <a:lstStyle/>
                    <a:p>
                      <a:pPr algn="ctr"/>
                      <a:endParaRPr kumimoji="1" lang="ja-JP" alt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a:t>起因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kumimoji="1" lang="ja-JP" altLang="en-US" sz="1100" b="0"/>
                        <a:t>要件定義で定めたスコープ外の追加対応が必要になる場合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kumimoji="1" lang="ja-JP" alt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dirty="0"/>
                        <a:t>合意済要件と異なる場合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61" name="角丸四角形 5">
            <a:extLst>
              <a:ext uri="{FF2B5EF4-FFF2-40B4-BE49-F238E27FC236}">
                <a16:creationId xmlns:a16="http://schemas.microsoft.com/office/drawing/2014/main" id="{9C738F85-40CD-403F-BC29-E4BB4E5E3988}"/>
              </a:ext>
            </a:extLst>
          </p:cNvPr>
          <p:cNvSpPr/>
          <p:nvPr/>
        </p:nvSpPr>
        <p:spPr bwMode="auto">
          <a:xfrm>
            <a:off x="2760691" y="1518996"/>
            <a:ext cx="1728240" cy="512839"/>
          </a:xfrm>
          <a:prstGeom prst="roundRec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起票＆対応</a:t>
            </a:r>
          </a:p>
        </p:txBody>
      </p:sp>
      <p:sp>
        <p:nvSpPr>
          <p:cNvPr id="62" name="フローチャート : 書類 30">
            <a:extLst>
              <a:ext uri="{FF2B5EF4-FFF2-40B4-BE49-F238E27FC236}">
                <a16:creationId xmlns:a16="http://schemas.microsoft.com/office/drawing/2014/main" id="{643EA505-0701-4D0F-91F4-496990513A46}"/>
              </a:ext>
            </a:extLst>
          </p:cNvPr>
          <p:cNvSpPr/>
          <p:nvPr/>
        </p:nvSpPr>
        <p:spPr bwMode="auto">
          <a:xfrm>
            <a:off x="3246811" y="1777926"/>
            <a:ext cx="756000" cy="368540"/>
          </a:xfrm>
          <a:prstGeom prst="flowChartDocumen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100" b="0" i="0" u="none" strike="noStrike" cap="none" normalizeH="0" baseline="0">
                <a:ln>
                  <a:noFill/>
                </a:ln>
                <a:solidFill>
                  <a:schemeClr val="tx1"/>
                </a:solidFill>
                <a:effectLst/>
                <a:latin typeface="+mn-ea"/>
                <a:ea typeface="+mn-ea"/>
              </a:rPr>
              <a:t>ＱＡ一覧</a:t>
            </a:r>
          </a:p>
        </p:txBody>
      </p:sp>
      <p:sp>
        <p:nvSpPr>
          <p:cNvPr id="63" name="角丸四角形 24">
            <a:extLst>
              <a:ext uri="{FF2B5EF4-FFF2-40B4-BE49-F238E27FC236}">
                <a16:creationId xmlns:a16="http://schemas.microsoft.com/office/drawing/2014/main" id="{BBF19004-C131-4BF6-A406-47F4BD7ABA6B}"/>
              </a:ext>
            </a:extLst>
          </p:cNvPr>
          <p:cNvSpPr/>
          <p:nvPr/>
        </p:nvSpPr>
        <p:spPr bwMode="auto">
          <a:xfrm>
            <a:off x="5143439" y="1534613"/>
            <a:ext cx="1728240" cy="512839"/>
          </a:xfrm>
          <a:prstGeom prst="roundRec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起票＆対応</a:t>
            </a:r>
          </a:p>
        </p:txBody>
      </p:sp>
      <p:sp>
        <p:nvSpPr>
          <p:cNvPr id="64" name="フローチャート : 書類 26">
            <a:extLst>
              <a:ext uri="{FF2B5EF4-FFF2-40B4-BE49-F238E27FC236}">
                <a16:creationId xmlns:a16="http://schemas.microsoft.com/office/drawing/2014/main" id="{15ABDA2F-197A-440F-A37C-A340C7B01980}"/>
              </a:ext>
            </a:extLst>
          </p:cNvPr>
          <p:cNvSpPr/>
          <p:nvPr/>
        </p:nvSpPr>
        <p:spPr bwMode="auto">
          <a:xfrm>
            <a:off x="5629559" y="1793543"/>
            <a:ext cx="756000" cy="368540"/>
          </a:xfrm>
          <a:prstGeom prst="flowChartDocumen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100" b="0" i="0" u="none" strike="noStrike" cap="none" normalizeH="0" baseline="0">
                <a:ln>
                  <a:noFill/>
                </a:ln>
                <a:solidFill>
                  <a:schemeClr val="tx1"/>
                </a:solidFill>
                <a:effectLst/>
                <a:latin typeface="+mn-ea"/>
                <a:ea typeface="+mn-ea"/>
              </a:rPr>
              <a:t>課題一覧</a:t>
            </a:r>
          </a:p>
        </p:txBody>
      </p:sp>
      <p:sp>
        <p:nvSpPr>
          <p:cNvPr id="65" name="角丸四角形 39">
            <a:extLst>
              <a:ext uri="{FF2B5EF4-FFF2-40B4-BE49-F238E27FC236}">
                <a16:creationId xmlns:a16="http://schemas.microsoft.com/office/drawing/2014/main" id="{E8E47C94-EFDA-49F3-A427-00D271C09AB7}"/>
              </a:ext>
            </a:extLst>
          </p:cNvPr>
          <p:cNvSpPr/>
          <p:nvPr/>
        </p:nvSpPr>
        <p:spPr bwMode="auto">
          <a:xfrm>
            <a:off x="7596072" y="1541856"/>
            <a:ext cx="1728240" cy="512839"/>
          </a:xfrm>
          <a:prstGeom prst="roundRec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起票</a:t>
            </a:r>
          </a:p>
        </p:txBody>
      </p:sp>
      <p:sp>
        <p:nvSpPr>
          <p:cNvPr id="66" name="フローチャート : 書類 40">
            <a:extLst>
              <a:ext uri="{FF2B5EF4-FFF2-40B4-BE49-F238E27FC236}">
                <a16:creationId xmlns:a16="http://schemas.microsoft.com/office/drawing/2014/main" id="{2E33C8C2-F62E-4870-BCD2-91E0C7197ED2}"/>
              </a:ext>
            </a:extLst>
          </p:cNvPr>
          <p:cNvSpPr/>
          <p:nvPr/>
        </p:nvSpPr>
        <p:spPr bwMode="auto">
          <a:xfrm>
            <a:off x="8082192" y="1800786"/>
            <a:ext cx="756000" cy="385484"/>
          </a:xfrm>
          <a:prstGeom prst="flowChartDocumen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100" b="0" i="0" u="none" strike="noStrike" cap="none" normalizeH="0" baseline="0">
                <a:ln>
                  <a:noFill/>
                </a:ln>
                <a:solidFill>
                  <a:schemeClr val="tx1"/>
                </a:solidFill>
                <a:effectLst/>
                <a:latin typeface="+mn-ea"/>
                <a:ea typeface="+mn-ea"/>
              </a:rPr>
              <a:t>不具合一覧</a:t>
            </a:r>
          </a:p>
        </p:txBody>
      </p:sp>
      <p:graphicFrame>
        <p:nvGraphicFramePr>
          <p:cNvPr id="28" name="表 27">
            <a:extLst>
              <a:ext uri="{FF2B5EF4-FFF2-40B4-BE49-F238E27FC236}">
                <a16:creationId xmlns:a16="http://schemas.microsoft.com/office/drawing/2014/main" id="{AFB079A2-AA79-41ED-BD46-EF908E1C3E6F}"/>
              </a:ext>
            </a:extLst>
          </p:cNvPr>
          <p:cNvGraphicFramePr>
            <a:graphicFrameLocks noGrp="1"/>
          </p:cNvGraphicFramePr>
          <p:nvPr>
            <p:extLst>
              <p:ext uri="{D42A27DB-BD31-4B8C-83A1-F6EECF244321}">
                <p14:modId xmlns:p14="http://schemas.microsoft.com/office/powerpoint/2010/main" val="831741931"/>
              </p:ext>
            </p:extLst>
          </p:nvPr>
        </p:nvGraphicFramePr>
        <p:xfrm>
          <a:off x="257937" y="2792624"/>
          <a:ext cx="9388983" cy="3774796"/>
        </p:xfrm>
        <a:graphic>
          <a:graphicData uri="http://schemas.openxmlformats.org/drawingml/2006/table">
            <a:tbl>
              <a:tblPr firstRow="1" bandRow="1">
                <a:tableStyleId>{5C22544A-7EE6-4342-B048-85BDC9FD1C3A}</a:tableStyleId>
              </a:tblPr>
              <a:tblGrid>
                <a:gridCol w="1715643">
                  <a:extLst>
                    <a:ext uri="{9D8B030D-6E8A-4147-A177-3AD203B41FA5}">
                      <a16:colId xmlns:a16="http://schemas.microsoft.com/office/drawing/2014/main" val="20000"/>
                    </a:ext>
                  </a:extLst>
                </a:gridCol>
                <a:gridCol w="2557780">
                  <a:extLst>
                    <a:ext uri="{9D8B030D-6E8A-4147-A177-3AD203B41FA5}">
                      <a16:colId xmlns:a16="http://schemas.microsoft.com/office/drawing/2014/main" val="20001"/>
                    </a:ext>
                  </a:extLst>
                </a:gridCol>
                <a:gridCol w="2557780">
                  <a:extLst>
                    <a:ext uri="{9D8B030D-6E8A-4147-A177-3AD203B41FA5}">
                      <a16:colId xmlns:a16="http://schemas.microsoft.com/office/drawing/2014/main" val="20002"/>
                    </a:ext>
                  </a:extLst>
                </a:gridCol>
                <a:gridCol w="2557780">
                  <a:extLst>
                    <a:ext uri="{9D8B030D-6E8A-4147-A177-3AD203B41FA5}">
                      <a16:colId xmlns:a16="http://schemas.microsoft.com/office/drawing/2014/main" val="1223460355"/>
                    </a:ext>
                  </a:extLst>
                </a:gridCol>
              </a:tblGrid>
              <a:tr h="306459">
                <a:tc>
                  <a:txBody>
                    <a:bodyPr/>
                    <a:lstStyle/>
                    <a:p>
                      <a:pPr algn="ctr"/>
                      <a:endParaRPr kumimoji="1" lang="ja-JP" altLang="en-US" sz="120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en-US" altLang="ja-JP" sz="1200" dirty="0">
                          <a:solidFill>
                            <a:schemeClr val="bg1"/>
                          </a:solidFill>
                        </a:rPr>
                        <a:t>MSYS</a:t>
                      </a:r>
                      <a:endParaRPr kumimoji="1" lang="ja-JP" altLang="en-US" sz="12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en-US" altLang="ja-JP" sz="1200">
                          <a:solidFill>
                            <a:schemeClr val="bg1"/>
                          </a:solidFill>
                        </a:rPr>
                        <a:t>JRI</a:t>
                      </a:r>
                      <a:endParaRPr kumimoji="1" lang="ja-JP" altLang="en-US" sz="120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en-US" altLang="ja-JP" sz="1200" dirty="0">
                          <a:solidFill>
                            <a:schemeClr val="bg1"/>
                          </a:solidFill>
                        </a:rPr>
                        <a:t>SMCC</a:t>
                      </a:r>
                      <a:endParaRPr kumimoji="1" lang="ja-JP" altLang="en-US" sz="1200"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extLst>
                  <a:ext uri="{0D108BD9-81ED-4DB2-BD59-A6C34878D82A}">
                    <a16:rowId xmlns:a16="http://schemas.microsoft.com/office/drawing/2014/main" val="10000"/>
                  </a:ext>
                </a:extLst>
              </a:tr>
              <a:tr h="550903">
                <a:tc>
                  <a:txBody>
                    <a:bodyPr/>
                    <a:lstStyle/>
                    <a:p>
                      <a:pPr algn="ctr"/>
                      <a:r>
                        <a:rPr kumimoji="1" lang="en-US" altLang="ja-JP" sz="1200" dirty="0"/>
                        <a:t>JRI-MSYS</a:t>
                      </a:r>
                    </a:p>
                    <a:p>
                      <a:pPr algn="ctr"/>
                      <a:r>
                        <a:rPr kumimoji="1" lang="ja-JP" altLang="en-US" sz="1200" dirty="0"/>
                        <a:t>週次進捗会議</a:t>
                      </a:r>
                      <a:endParaRPr kumimoji="1" lang="en-US" altLang="ja-JP" sz="1200" dirty="0"/>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66870">
                <a:tc>
                  <a:txBody>
                    <a:bodyPr/>
                    <a:lstStyle/>
                    <a:p>
                      <a:pPr algn="ctr"/>
                      <a:r>
                        <a:rPr kumimoji="1" lang="ja-JP" altLang="en-US" sz="1200"/>
                        <a:t>担当作業</a:t>
                      </a: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131444">
                <a:tc>
                  <a:txBody>
                    <a:bodyPr/>
                    <a:lstStyle/>
                    <a:p>
                      <a:pPr algn="ctr"/>
                      <a:r>
                        <a:rPr kumimoji="1" lang="ja-JP" altLang="en-US" sz="1200">
                          <a:solidFill>
                            <a:schemeClr val="tx1"/>
                          </a:solidFill>
                        </a:rPr>
                        <a:t>全体週次進捗会議</a:t>
                      </a:r>
                      <a:endParaRPr kumimoji="1" lang="en-US" altLang="ja-JP" sz="1200">
                        <a:solidFill>
                          <a:schemeClr val="tx1"/>
                        </a:solidFill>
                      </a:endParaRP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79120">
                <a:tc>
                  <a:txBody>
                    <a:bodyPr/>
                    <a:lstStyle/>
                    <a:p>
                      <a:pPr algn="ctr"/>
                      <a:r>
                        <a:rPr kumimoji="1" lang="ja-JP" altLang="en-US" sz="1200" dirty="0">
                          <a:solidFill>
                            <a:schemeClr val="tx1"/>
                          </a:solidFill>
                          <a:latin typeface="+mn-ea"/>
                          <a:ea typeface="+mn-ea"/>
                        </a:rPr>
                        <a:t>全体月次</a:t>
                      </a:r>
                      <a:endParaRPr kumimoji="1" lang="en-US" altLang="ja-JP" sz="1200" dirty="0">
                        <a:solidFill>
                          <a:schemeClr val="tx1"/>
                        </a:solidFill>
                        <a:latin typeface="+mn-ea"/>
                        <a:ea typeface="+mn-ea"/>
                      </a:endParaRPr>
                    </a:p>
                    <a:p>
                      <a:pPr algn="ctr"/>
                      <a:r>
                        <a:rPr kumimoji="1" lang="ja-JP" altLang="en-US" sz="1200" dirty="0">
                          <a:solidFill>
                            <a:schemeClr val="tx1"/>
                          </a:solidFill>
                          <a:latin typeface="+mn-ea"/>
                          <a:ea typeface="+mn-ea"/>
                        </a:rPr>
                        <a:t>進捗会議</a:t>
                      </a:r>
                      <a:endParaRPr kumimoji="1" lang="en-US" altLang="ja-JP" sz="1200" dirty="0">
                        <a:solidFill>
                          <a:schemeClr val="tx1"/>
                        </a:solidFill>
                        <a:latin typeface="+mn-ea"/>
                        <a:ea typeface="+mn-ea"/>
                      </a:endParaRP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54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rPr>
                        <a:t>再経営会議</a:t>
                      </a:r>
                      <a:endParaRPr kumimoji="1" lang="en-US" altLang="ja-JP" sz="120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rPr>
                        <a:t>（必要に応じて）</a:t>
                      </a: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3225446"/>
                  </a:ext>
                </a:extLst>
              </a:tr>
            </a:tbl>
          </a:graphicData>
        </a:graphic>
      </p:graphicFrame>
      <p:sp>
        <p:nvSpPr>
          <p:cNvPr id="29" name="下矢印 111">
            <a:extLst>
              <a:ext uri="{FF2B5EF4-FFF2-40B4-BE49-F238E27FC236}">
                <a16:creationId xmlns:a16="http://schemas.microsoft.com/office/drawing/2014/main" id="{26C7A81F-A257-4C14-A003-71697C463154}"/>
              </a:ext>
            </a:extLst>
          </p:cNvPr>
          <p:cNvSpPr/>
          <p:nvPr/>
        </p:nvSpPr>
        <p:spPr bwMode="auto">
          <a:xfrm>
            <a:off x="4104018" y="2482937"/>
            <a:ext cx="1540990" cy="261396"/>
          </a:xfrm>
          <a:prstGeom prst="downArrow">
            <a:avLst>
              <a:gd name="adj1" fmla="val 50000"/>
              <a:gd name="adj2" fmla="val 100000"/>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16200000" scaled="1"/>
            <a:tileRect/>
          </a:gradFill>
          <a:ln w="12700"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n-ea"/>
              <a:ea typeface="+mn-ea"/>
            </a:endParaRPr>
          </a:p>
        </p:txBody>
      </p:sp>
      <p:sp>
        <p:nvSpPr>
          <p:cNvPr id="31" name="角丸四角形 25">
            <a:extLst>
              <a:ext uri="{FF2B5EF4-FFF2-40B4-BE49-F238E27FC236}">
                <a16:creationId xmlns:a16="http://schemas.microsoft.com/office/drawing/2014/main" id="{863C630D-C839-4D20-9A8E-A81C61CCA7CC}"/>
              </a:ext>
            </a:extLst>
          </p:cNvPr>
          <p:cNvSpPr/>
          <p:nvPr/>
        </p:nvSpPr>
        <p:spPr bwMode="auto">
          <a:xfrm>
            <a:off x="2436977" y="3160921"/>
            <a:ext cx="5447057" cy="280607"/>
          </a:xfrm>
          <a:prstGeom prst="roundRect">
            <a:avLst/>
          </a:prstGeom>
          <a:solidFill>
            <a:schemeClr val="bg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変更管理候補への計上を判定</a:t>
            </a:r>
          </a:p>
        </p:txBody>
      </p:sp>
      <p:sp>
        <p:nvSpPr>
          <p:cNvPr id="32" name="角丸四角形 46">
            <a:extLst>
              <a:ext uri="{FF2B5EF4-FFF2-40B4-BE49-F238E27FC236}">
                <a16:creationId xmlns:a16="http://schemas.microsoft.com/office/drawing/2014/main" id="{97684070-692D-478A-9FB9-13BFE5A5ACB9}"/>
              </a:ext>
            </a:extLst>
          </p:cNvPr>
          <p:cNvSpPr/>
          <p:nvPr/>
        </p:nvSpPr>
        <p:spPr bwMode="auto">
          <a:xfrm>
            <a:off x="2683819" y="3710302"/>
            <a:ext cx="4311341" cy="486978"/>
          </a:xfrm>
          <a:prstGeom prst="roundRec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起票</a:t>
            </a:r>
          </a:p>
        </p:txBody>
      </p:sp>
      <p:sp>
        <p:nvSpPr>
          <p:cNvPr id="33" name="フローチャート : 書類 47">
            <a:extLst>
              <a:ext uri="{FF2B5EF4-FFF2-40B4-BE49-F238E27FC236}">
                <a16:creationId xmlns:a16="http://schemas.microsoft.com/office/drawing/2014/main" id="{0F0EF204-A5F6-4511-8FB4-C405A6F89CA0}"/>
              </a:ext>
            </a:extLst>
          </p:cNvPr>
          <p:cNvSpPr/>
          <p:nvPr/>
        </p:nvSpPr>
        <p:spPr bwMode="auto">
          <a:xfrm>
            <a:off x="3271538" y="3802980"/>
            <a:ext cx="1267817" cy="378333"/>
          </a:xfrm>
          <a:prstGeom prst="flowChartDocumen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変更管理一覧</a:t>
            </a:r>
          </a:p>
        </p:txBody>
      </p:sp>
      <p:sp>
        <p:nvSpPr>
          <p:cNvPr id="36" name="角丸四角形 49">
            <a:extLst>
              <a:ext uri="{FF2B5EF4-FFF2-40B4-BE49-F238E27FC236}">
                <a16:creationId xmlns:a16="http://schemas.microsoft.com/office/drawing/2014/main" id="{310374A9-F6DC-4792-8910-59478E5A0EDE}"/>
              </a:ext>
            </a:extLst>
          </p:cNvPr>
          <p:cNvSpPr/>
          <p:nvPr/>
        </p:nvSpPr>
        <p:spPr bwMode="auto">
          <a:xfrm>
            <a:off x="2135398" y="4403465"/>
            <a:ext cx="7219193" cy="288040"/>
          </a:xfrm>
          <a:prstGeom prst="roundRect">
            <a:avLst/>
          </a:prstGeom>
          <a:solidFill>
            <a:schemeClr val="bg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algn="ctr"/>
            <a:r>
              <a:rPr kumimoji="1" lang="ja-JP" altLang="en-US" sz="1200" b="0" i="0" u="none" strike="noStrike" cap="none" normalizeH="0" baseline="0">
                <a:ln>
                  <a:noFill/>
                </a:ln>
                <a:solidFill>
                  <a:schemeClr val="tx1"/>
                </a:solidFill>
                <a:effectLst/>
                <a:latin typeface="+mn-ea"/>
                <a:ea typeface="+mn-ea"/>
              </a:rPr>
              <a:t>変更対応要否</a:t>
            </a:r>
            <a:r>
              <a:rPr lang="ja-JP" altLang="en-US" sz="1200" b="0">
                <a:latin typeface="+mn-ea"/>
                <a:ea typeface="+mn-ea"/>
              </a:rPr>
              <a:t>の</a:t>
            </a:r>
            <a:r>
              <a:rPr kumimoji="1" lang="ja-JP" altLang="en-US" sz="1200" b="0" i="0" u="none" strike="noStrike" cap="none" normalizeH="0" baseline="0">
                <a:ln>
                  <a:noFill/>
                </a:ln>
                <a:solidFill>
                  <a:schemeClr val="tx1"/>
                </a:solidFill>
                <a:effectLst/>
                <a:latin typeface="+mn-ea"/>
                <a:ea typeface="+mn-ea"/>
              </a:rPr>
              <a:t>判定</a:t>
            </a:r>
            <a:r>
              <a:rPr kumimoji="1" lang="en-US" altLang="ja-JP" sz="1200" b="0" i="0" u="none" strike="noStrike" cap="none" normalizeH="0" baseline="0">
                <a:ln>
                  <a:noFill/>
                </a:ln>
                <a:solidFill>
                  <a:schemeClr val="tx1"/>
                </a:solidFill>
                <a:effectLst/>
                <a:latin typeface="+mn-ea"/>
                <a:ea typeface="+mn-ea"/>
              </a:rPr>
              <a:t>/</a:t>
            </a:r>
            <a:r>
              <a:rPr kumimoji="1" lang="ja-JP" altLang="en-US" sz="1200" b="0" i="0" u="none" strike="noStrike" cap="none" normalizeH="0" baseline="0">
                <a:ln>
                  <a:noFill/>
                </a:ln>
                <a:solidFill>
                  <a:schemeClr val="tx1"/>
                </a:solidFill>
                <a:effectLst/>
                <a:latin typeface="+mn-ea"/>
                <a:ea typeface="+mn-ea"/>
              </a:rPr>
              <a:t>ステコミ実施要否の判断</a:t>
            </a:r>
          </a:p>
        </p:txBody>
      </p:sp>
      <p:sp>
        <p:nvSpPr>
          <p:cNvPr id="39" name="角丸四角形 53">
            <a:extLst>
              <a:ext uri="{FF2B5EF4-FFF2-40B4-BE49-F238E27FC236}">
                <a16:creationId xmlns:a16="http://schemas.microsoft.com/office/drawing/2014/main" id="{A0094C5B-1529-4FDB-97AF-9833B7D5DB01}"/>
              </a:ext>
            </a:extLst>
          </p:cNvPr>
          <p:cNvSpPr/>
          <p:nvPr/>
        </p:nvSpPr>
        <p:spPr bwMode="auto">
          <a:xfrm>
            <a:off x="2407474" y="5602530"/>
            <a:ext cx="6675040" cy="317258"/>
          </a:xfrm>
          <a:prstGeom prst="roundRect">
            <a:avLst/>
          </a:prstGeom>
          <a:solidFill>
            <a:schemeClr val="bg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結果の共有＆対応実施の合意</a:t>
            </a:r>
          </a:p>
        </p:txBody>
      </p:sp>
      <p:cxnSp>
        <p:nvCxnSpPr>
          <p:cNvPr id="42" name="カギ線コネクタ 56">
            <a:extLst>
              <a:ext uri="{FF2B5EF4-FFF2-40B4-BE49-F238E27FC236}">
                <a16:creationId xmlns:a16="http://schemas.microsoft.com/office/drawing/2014/main" id="{B93A465A-9959-43A8-A737-FB471F76A7C5}"/>
              </a:ext>
            </a:extLst>
          </p:cNvPr>
          <p:cNvCxnSpPr/>
          <p:nvPr/>
        </p:nvCxnSpPr>
        <p:spPr bwMode="auto">
          <a:xfrm rot="5400000">
            <a:off x="3286075" y="5110249"/>
            <a:ext cx="864000" cy="1"/>
          </a:xfrm>
          <a:prstGeom prst="bentConnector3">
            <a:avLst>
              <a:gd name="adj1" fmla="val 42796"/>
            </a:avLst>
          </a:prstGeom>
          <a:solidFill>
            <a:schemeClr val="bg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テキスト ボックス 54">
            <a:extLst>
              <a:ext uri="{FF2B5EF4-FFF2-40B4-BE49-F238E27FC236}">
                <a16:creationId xmlns:a16="http://schemas.microsoft.com/office/drawing/2014/main" id="{223C45F2-4E81-4FC3-940F-5E4903CB63FB}"/>
              </a:ext>
            </a:extLst>
          </p:cNvPr>
          <p:cNvSpPr txBox="1"/>
          <p:nvPr/>
        </p:nvSpPr>
        <p:spPr>
          <a:xfrm>
            <a:off x="288417" y="2473576"/>
            <a:ext cx="2362798" cy="307777"/>
          </a:xfrm>
          <a:prstGeom prst="rect">
            <a:avLst/>
          </a:prstGeom>
          <a:noFill/>
        </p:spPr>
        <p:txBody>
          <a:bodyPr wrap="square" rtlCol="0">
            <a:spAutoFit/>
          </a:bodyPr>
          <a:lstStyle/>
          <a:p>
            <a:r>
              <a:rPr kumimoji="1" lang="ja-JP" altLang="en-US" sz="1400" b="1" u="sng">
                <a:solidFill>
                  <a:schemeClr val="tx1"/>
                </a:solidFill>
                <a:latin typeface="+mn-ea"/>
                <a:ea typeface="+mn-ea"/>
              </a:rPr>
              <a:t>■変更管理フロー</a:t>
            </a:r>
          </a:p>
        </p:txBody>
      </p:sp>
      <p:cxnSp>
        <p:nvCxnSpPr>
          <p:cNvPr id="47" name="直線矢印コネクタ 46">
            <a:extLst>
              <a:ext uri="{FF2B5EF4-FFF2-40B4-BE49-F238E27FC236}">
                <a16:creationId xmlns:a16="http://schemas.microsoft.com/office/drawing/2014/main" id="{B19C6620-FC5B-4D5E-9EFF-029FD1C344A0}"/>
              </a:ext>
            </a:extLst>
          </p:cNvPr>
          <p:cNvCxnSpPr/>
          <p:nvPr/>
        </p:nvCxnSpPr>
        <p:spPr bwMode="auto">
          <a:xfrm>
            <a:off x="5143166" y="3429000"/>
            <a:ext cx="0" cy="270110"/>
          </a:xfrm>
          <a:prstGeom prst="straightConnector1">
            <a:avLst/>
          </a:prstGeom>
          <a:solidFill>
            <a:schemeClr val="bg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テキスト ボックス 10">
            <a:extLst>
              <a:ext uri="{FF2B5EF4-FFF2-40B4-BE49-F238E27FC236}">
                <a16:creationId xmlns:a16="http://schemas.microsoft.com/office/drawing/2014/main" id="{55D96F69-391B-8F19-EF95-BA2D3455E1D3}"/>
              </a:ext>
            </a:extLst>
          </p:cNvPr>
          <p:cNvSpPr txBox="1"/>
          <p:nvPr/>
        </p:nvSpPr>
        <p:spPr>
          <a:xfrm>
            <a:off x="4699821" y="3715997"/>
            <a:ext cx="2147498" cy="461665"/>
          </a:xfrm>
          <a:prstGeom prst="rect">
            <a:avLst/>
          </a:prstGeom>
          <a:noFill/>
        </p:spPr>
        <p:txBody>
          <a:bodyPr wrap="square" rtlCol="0">
            <a:spAutoFit/>
          </a:bodyPr>
          <a:lstStyle/>
          <a:p>
            <a:pPr algn="l"/>
            <a:r>
              <a:rPr lang="ja-JP" altLang="en-US" sz="1200">
                <a:latin typeface="+mn-ea"/>
                <a:ea typeface="+mn-ea"/>
              </a:rPr>
              <a:t>依頼内容</a:t>
            </a:r>
            <a:r>
              <a:rPr lang="en-US" altLang="ja-JP" sz="1200">
                <a:latin typeface="+mn-ea"/>
                <a:ea typeface="+mn-ea"/>
              </a:rPr>
              <a:t>(</a:t>
            </a:r>
            <a:r>
              <a:rPr lang="ja-JP" altLang="en-US" sz="1200">
                <a:latin typeface="+mn-ea"/>
                <a:ea typeface="+mn-ea"/>
              </a:rPr>
              <a:t>対応方針</a:t>
            </a:r>
            <a:r>
              <a:rPr lang="en-US" altLang="ja-JP" sz="1200">
                <a:latin typeface="+mn-ea"/>
                <a:ea typeface="+mn-ea"/>
              </a:rPr>
              <a:t>)</a:t>
            </a:r>
            <a:r>
              <a:rPr kumimoji="1" lang="ja-JP" altLang="en-US" sz="1200">
                <a:latin typeface="+mn-ea"/>
                <a:ea typeface="+mn-ea"/>
              </a:rPr>
              <a:t>の整理と影響確認</a:t>
            </a:r>
            <a:r>
              <a:rPr kumimoji="1" lang="en-US" altLang="ja-JP" sz="1200">
                <a:latin typeface="+mn-ea"/>
                <a:ea typeface="+mn-ea"/>
              </a:rPr>
              <a:t>(QCD)</a:t>
            </a:r>
            <a:endParaRPr kumimoji="1" lang="ja-JP" altLang="en-US" sz="1200">
              <a:latin typeface="+mn-ea"/>
              <a:ea typeface="+mn-ea"/>
            </a:endParaRPr>
          </a:p>
        </p:txBody>
      </p:sp>
      <p:sp>
        <p:nvSpPr>
          <p:cNvPr id="48" name="角丸四角形 53">
            <a:extLst>
              <a:ext uri="{FF2B5EF4-FFF2-40B4-BE49-F238E27FC236}">
                <a16:creationId xmlns:a16="http://schemas.microsoft.com/office/drawing/2014/main" id="{F0CF6615-0299-7FF1-381D-77D243F4B156}"/>
              </a:ext>
            </a:extLst>
          </p:cNvPr>
          <p:cNvSpPr/>
          <p:nvPr/>
        </p:nvSpPr>
        <p:spPr bwMode="auto">
          <a:xfrm>
            <a:off x="4641998" y="6158976"/>
            <a:ext cx="2353162" cy="280608"/>
          </a:xfrm>
          <a:prstGeom prst="roundRect">
            <a:avLst/>
          </a:prstGeom>
          <a:solidFill>
            <a:schemeClr val="bg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200">
                <a:latin typeface="+mn-ea"/>
                <a:ea typeface="+mn-ea"/>
              </a:rPr>
              <a:t>方針確定</a:t>
            </a:r>
            <a:endParaRPr kumimoji="1" lang="ja-JP" altLang="en-US" sz="1200" b="0" i="0" u="none" strike="noStrike" cap="none" normalizeH="0" baseline="0">
              <a:ln>
                <a:noFill/>
              </a:ln>
              <a:solidFill>
                <a:schemeClr val="tx1"/>
              </a:solidFill>
              <a:effectLst/>
              <a:latin typeface="+mn-ea"/>
              <a:ea typeface="+mn-ea"/>
            </a:endParaRPr>
          </a:p>
        </p:txBody>
      </p:sp>
      <p:cxnSp>
        <p:nvCxnSpPr>
          <p:cNvPr id="54" name="カギ線コネクタ 56">
            <a:extLst>
              <a:ext uri="{FF2B5EF4-FFF2-40B4-BE49-F238E27FC236}">
                <a16:creationId xmlns:a16="http://schemas.microsoft.com/office/drawing/2014/main" id="{C5D0DF50-F044-082B-2ED2-886276F896C3}"/>
              </a:ext>
            </a:extLst>
          </p:cNvPr>
          <p:cNvCxnSpPr>
            <a:stCxn id="36" idx="2"/>
            <a:endCxn id="74" idx="0"/>
          </p:cNvCxnSpPr>
          <p:nvPr/>
        </p:nvCxnSpPr>
        <p:spPr bwMode="auto">
          <a:xfrm rot="16200000" flipH="1">
            <a:off x="6022178" y="4414321"/>
            <a:ext cx="286026" cy="840393"/>
          </a:xfrm>
          <a:prstGeom prst="bentConnector3">
            <a:avLst>
              <a:gd name="adj1" fmla="val 50000"/>
            </a:avLst>
          </a:prstGeom>
          <a:solidFill>
            <a:schemeClr val="bg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角丸四角形 53">
            <a:extLst>
              <a:ext uri="{FF2B5EF4-FFF2-40B4-BE49-F238E27FC236}">
                <a16:creationId xmlns:a16="http://schemas.microsoft.com/office/drawing/2014/main" id="{BCDA5E4C-B4E7-A64A-F0DF-0C1575229671}"/>
              </a:ext>
            </a:extLst>
          </p:cNvPr>
          <p:cNvSpPr/>
          <p:nvPr/>
        </p:nvSpPr>
        <p:spPr bwMode="auto">
          <a:xfrm>
            <a:off x="4161005" y="4977531"/>
            <a:ext cx="4848765" cy="317258"/>
          </a:xfrm>
          <a:prstGeom prst="roundRect">
            <a:avLst/>
          </a:prstGeom>
          <a:solidFill>
            <a:schemeClr val="bg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ea"/>
                <a:ea typeface="+mn-ea"/>
              </a:rPr>
              <a:t>結果の共有＆対応実施の合意</a:t>
            </a:r>
          </a:p>
        </p:txBody>
      </p:sp>
      <p:sp>
        <p:nvSpPr>
          <p:cNvPr id="87" name="テキスト ボックス 86">
            <a:extLst>
              <a:ext uri="{FF2B5EF4-FFF2-40B4-BE49-F238E27FC236}">
                <a16:creationId xmlns:a16="http://schemas.microsoft.com/office/drawing/2014/main" id="{0C74A726-FB87-A6F8-4CF5-9D5D4A3633E9}"/>
              </a:ext>
            </a:extLst>
          </p:cNvPr>
          <p:cNvSpPr txBox="1"/>
          <p:nvPr/>
        </p:nvSpPr>
        <p:spPr>
          <a:xfrm>
            <a:off x="1975124" y="4671216"/>
            <a:ext cx="1649687" cy="261610"/>
          </a:xfrm>
          <a:prstGeom prst="rect">
            <a:avLst/>
          </a:prstGeom>
          <a:noFill/>
        </p:spPr>
        <p:txBody>
          <a:bodyPr wrap="square" rtlCol="0">
            <a:spAutoFit/>
          </a:bodyPr>
          <a:lstStyle/>
          <a:p>
            <a:pPr algn="l"/>
            <a:r>
              <a:rPr kumimoji="1" lang="ja-JP" altLang="en-US" sz="1100" dirty="0">
                <a:solidFill>
                  <a:srgbClr val="FF0000"/>
                </a:solidFill>
                <a:latin typeface="+mn-ea"/>
                <a:ea typeface="+mn-ea"/>
              </a:rPr>
              <a:t>月次報告が必要</a:t>
            </a:r>
            <a:r>
              <a:rPr lang="ja-JP" altLang="en-US" sz="1100" dirty="0">
                <a:solidFill>
                  <a:srgbClr val="FF0000"/>
                </a:solidFill>
                <a:latin typeface="+mn-ea"/>
                <a:ea typeface="+mn-ea"/>
              </a:rPr>
              <a:t>な</a:t>
            </a:r>
            <a:r>
              <a:rPr kumimoji="1" lang="ja-JP" altLang="en-US" sz="1100" dirty="0">
                <a:solidFill>
                  <a:srgbClr val="FF0000"/>
                </a:solidFill>
                <a:latin typeface="+mn-ea"/>
                <a:ea typeface="+mn-ea"/>
              </a:rPr>
              <a:t>場合</a:t>
            </a:r>
          </a:p>
        </p:txBody>
      </p:sp>
      <p:sp>
        <p:nvSpPr>
          <p:cNvPr id="88" name="テキスト ボックス 87">
            <a:extLst>
              <a:ext uri="{FF2B5EF4-FFF2-40B4-BE49-F238E27FC236}">
                <a16:creationId xmlns:a16="http://schemas.microsoft.com/office/drawing/2014/main" id="{7207E676-C45D-8E37-C6C6-88D5F16F8E0E}"/>
              </a:ext>
            </a:extLst>
          </p:cNvPr>
          <p:cNvSpPr txBox="1"/>
          <p:nvPr/>
        </p:nvSpPr>
        <p:spPr>
          <a:xfrm>
            <a:off x="6810505" y="4648580"/>
            <a:ext cx="1649687" cy="261610"/>
          </a:xfrm>
          <a:prstGeom prst="rect">
            <a:avLst/>
          </a:prstGeom>
          <a:noFill/>
        </p:spPr>
        <p:txBody>
          <a:bodyPr wrap="square" rtlCol="0">
            <a:spAutoFit/>
          </a:bodyPr>
          <a:lstStyle/>
          <a:p>
            <a:pPr algn="l"/>
            <a:r>
              <a:rPr lang="ja-JP" altLang="en-US" sz="1100" dirty="0">
                <a:solidFill>
                  <a:srgbClr val="0000FF"/>
                </a:solidFill>
                <a:latin typeface="+mn-ea"/>
                <a:ea typeface="+mn-ea"/>
              </a:rPr>
              <a:t>月次報告</a:t>
            </a:r>
            <a:r>
              <a:rPr kumimoji="1" lang="ja-JP" altLang="en-US" sz="1100" dirty="0">
                <a:solidFill>
                  <a:srgbClr val="0000FF"/>
                </a:solidFill>
                <a:latin typeface="+mn-ea"/>
                <a:ea typeface="+mn-ea"/>
              </a:rPr>
              <a:t>が不要</a:t>
            </a:r>
            <a:r>
              <a:rPr lang="ja-JP" altLang="en-US" sz="1100" dirty="0">
                <a:solidFill>
                  <a:srgbClr val="0000FF"/>
                </a:solidFill>
                <a:latin typeface="+mn-ea"/>
                <a:ea typeface="+mn-ea"/>
              </a:rPr>
              <a:t>な</a:t>
            </a:r>
            <a:r>
              <a:rPr kumimoji="1" lang="ja-JP" altLang="en-US" sz="1100" dirty="0">
                <a:solidFill>
                  <a:srgbClr val="0000FF"/>
                </a:solidFill>
                <a:latin typeface="+mn-ea"/>
                <a:ea typeface="+mn-ea"/>
              </a:rPr>
              <a:t>場合</a:t>
            </a:r>
          </a:p>
        </p:txBody>
      </p:sp>
      <p:cxnSp>
        <p:nvCxnSpPr>
          <p:cNvPr id="37" name="カギ線コネクタ 56">
            <a:extLst>
              <a:ext uri="{FF2B5EF4-FFF2-40B4-BE49-F238E27FC236}">
                <a16:creationId xmlns:a16="http://schemas.microsoft.com/office/drawing/2014/main" id="{2B785A99-C4E4-B012-4833-CE57ACF01860}"/>
              </a:ext>
            </a:extLst>
          </p:cNvPr>
          <p:cNvCxnSpPr/>
          <p:nvPr/>
        </p:nvCxnSpPr>
        <p:spPr bwMode="auto">
          <a:xfrm rot="5400000">
            <a:off x="5647570" y="6045788"/>
            <a:ext cx="252000" cy="0"/>
          </a:xfrm>
          <a:prstGeom prst="bentConnector3">
            <a:avLst>
              <a:gd name="adj1" fmla="val 42796"/>
            </a:avLst>
          </a:prstGeom>
          <a:solidFill>
            <a:schemeClr val="bg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線矢印コネクタ 42">
            <a:extLst>
              <a:ext uri="{FF2B5EF4-FFF2-40B4-BE49-F238E27FC236}">
                <a16:creationId xmlns:a16="http://schemas.microsoft.com/office/drawing/2014/main" id="{34770B78-5D12-A6BC-3EF3-CB394C3282FC}"/>
              </a:ext>
            </a:extLst>
          </p:cNvPr>
          <p:cNvCxnSpPr/>
          <p:nvPr/>
        </p:nvCxnSpPr>
        <p:spPr bwMode="auto">
          <a:xfrm>
            <a:off x="5143166" y="4177662"/>
            <a:ext cx="0" cy="270110"/>
          </a:xfrm>
          <a:prstGeom prst="straightConnector1">
            <a:avLst/>
          </a:prstGeom>
          <a:solidFill>
            <a:schemeClr val="bg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524918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37546-4C16-4DFD-89C8-BDA197FECBD7}"/>
              </a:ext>
            </a:extLst>
          </p:cNvPr>
          <p:cNvSpPr>
            <a:spLocks noGrp="1"/>
          </p:cNvSpPr>
          <p:nvPr>
            <p:ph type="title" idx="4294967295"/>
          </p:nvPr>
        </p:nvSpPr>
        <p:spPr>
          <a:xfrm>
            <a:off x="650449" y="150827"/>
            <a:ext cx="7635875" cy="334962"/>
          </a:xfrm>
          <a:prstGeom prst="rect">
            <a:avLst/>
          </a:prstGeom>
        </p:spPr>
        <p:txBody>
          <a:bodyPr/>
          <a:lstStyle/>
          <a:p>
            <a:r>
              <a:rPr lang="ja-JP" altLang="en-US"/>
              <a:t>６</a:t>
            </a:r>
            <a:r>
              <a:rPr lang="en-US" altLang="ja-JP"/>
              <a:t>-</a:t>
            </a:r>
            <a:r>
              <a:rPr lang="ja-JP" altLang="en-US"/>
              <a:t>１．</a:t>
            </a:r>
            <a:r>
              <a:rPr lang="en-US" altLang="ja-JP"/>
              <a:t>【</a:t>
            </a:r>
            <a:r>
              <a:rPr lang="ja-JP" altLang="en-US"/>
              <a:t>開発管理</a:t>
            </a:r>
            <a:r>
              <a:rPr lang="en-US" altLang="ja-JP"/>
              <a:t>】</a:t>
            </a:r>
            <a:r>
              <a:rPr lang="zh-TW" altLang="en-US"/>
              <a:t>成果物定義</a:t>
            </a:r>
            <a:endParaRPr lang="ja-JP" altLang="en-US"/>
          </a:p>
        </p:txBody>
      </p:sp>
      <p:sp>
        <p:nvSpPr>
          <p:cNvPr id="3" name="Text Box 140">
            <a:extLst>
              <a:ext uri="{FF2B5EF4-FFF2-40B4-BE49-F238E27FC236}">
                <a16:creationId xmlns:a16="http://schemas.microsoft.com/office/drawing/2014/main" id="{7E4DD7F9-6A90-4167-B6C3-4CFE90BDA809}"/>
              </a:ext>
            </a:extLst>
          </p:cNvPr>
          <p:cNvSpPr txBox="1">
            <a:spLocks noChangeArrowheads="1"/>
          </p:cNvSpPr>
          <p:nvPr/>
        </p:nvSpPr>
        <p:spPr bwMode="auto">
          <a:xfrm>
            <a:off x="158227" y="712335"/>
            <a:ext cx="9566797" cy="811962"/>
          </a:xfrm>
          <a:prstGeom prst="rect">
            <a:avLst/>
          </a:prstGeom>
          <a:noFill/>
          <a:ln w="9525">
            <a:noFill/>
            <a:miter lim="800000"/>
            <a:headEnd/>
            <a:tailEnd/>
          </a:ln>
        </p:spPr>
        <p:txBody>
          <a:bodyPr lIns="108000" tIns="0" bIns="0" anchor="ctr" anchorCtr="0"/>
          <a:lstStyle>
            <a:defPPr>
              <a:defRPr lang="ja-JP"/>
            </a:defPPr>
            <a:lvl1pPr marL="285750" indent="-285750" eaLnBrk="1" hangingPunct="1">
              <a:spcBef>
                <a:spcPts val="300"/>
              </a:spcBef>
              <a:buFont typeface="Wingdings" panose="05000000000000000000" pitchFamily="2" charset="2"/>
              <a:buChar char="l"/>
              <a:defRPr sz="1400" u="sng">
                <a:latin typeface="+mn-ea"/>
                <a:ea typeface="+mn-ea"/>
              </a:defRPr>
            </a:lvl1pPr>
            <a:lvl2pPr marL="742950" indent="-285750" eaLnBrk="0" hangingPunct="0">
              <a:spcBef>
                <a:spcPct val="20000"/>
              </a:spcBef>
              <a:buChar char="–"/>
              <a:defRPr sz="2000">
                <a:latin typeface="Times New Roman" pitchFamily="18" charset="0"/>
                <a:ea typeface="ＭＳ Ｐゴシック" pitchFamily="50" charset="-128"/>
              </a:defRPr>
            </a:lvl2pPr>
            <a:lvl3pPr marL="1143000" indent="-228600" eaLnBrk="0" hangingPunct="0">
              <a:spcBef>
                <a:spcPct val="20000"/>
              </a:spcBef>
              <a:buChar char="•"/>
              <a:defRPr>
                <a:latin typeface="Times New Roman" pitchFamily="18" charset="0"/>
                <a:ea typeface="ＭＳ Ｐゴシック" pitchFamily="50" charset="-128"/>
              </a:defRPr>
            </a:lvl3pPr>
            <a:lvl4pPr marL="1600200" indent="-228600" eaLnBrk="0" hangingPunct="0">
              <a:spcBef>
                <a:spcPct val="20000"/>
              </a:spcBef>
              <a:buChar char="–"/>
              <a:defRPr sz="1600">
                <a:latin typeface="Times New Roman" pitchFamily="18" charset="0"/>
                <a:ea typeface="ＭＳ Ｐゴシック" pitchFamily="50" charset="-128"/>
              </a:defRPr>
            </a:lvl4pPr>
            <a:lvl5pPr marL="2057400" indent="-228600" eaLnBrk="0" hangingPunct="0">
              <a:spcBef>
                <a:spcPct val="20000"/>
              </a:spcBef>
              <a:buChar char="»"/>
              <a:defRPr sz="1600">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sz="1600">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sz="1600">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sz="1600">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sz="1600">
                <a:latin typeface="Times New Roman" pitchFamily="18" charset="0"/>
                <a:ea typeface="ＭＳ Ｐゴシック" pitchFamily="50" charset="-128"/>
              </a:defRPr>
            </a:lvl9pPr>
          </a:lstStyle>
          <a:p>
            <a:r>
              <a:rPr lang="en-US" altLang="ja-JP" u="none"/>
              <a:t>PF</a:t>
            </a:r>
            <a:r>
              <a:rPr lang="ja-JP" altLang="en-US" u="none"/>
              <a:t>基盤確認対象ドキュメントは成果物レビューを行い、必要に応じてステコミで最終合意する</a:t>
            </a:r>
            <a:endParaRPr lang="en-US" altLang="ja-JP" u="none"/>
          </a:p>
          <a:p>
            <a:pPr marL="0" indent="0">
              <a:buNone/>
            </a:pPr>
            <a:r>
              <a:rPr lang="en-US" altLang="ja-JP" u="none"/>
              <a:t>※</a:t>
            </a:r>
            <a:r>
              <a:rPr lang="ja-JP" altLang="en-US" u="none"/>
              <a:t>成果物一覧のマスタは、プロジェクト管理帳票として別ファイルにて管理</a:t>
            </a:r>
            <a:endParaRPr lang="en-US" altLang="ja-JP" u="none"/>
          </a:p>
        </p:txBody>
      </p:sp>
      <p:sp>
        <p:nvSpPr>
          <p:cNvPr id="5" name="テキスト ボックス 4">
            <a:extLst>
              <a:ext uri="{FF2B5EF4-FFF2-40B4-BE49-F238E27FC236}">
                <a16:creationId xmlns:a16="http://schemas.microsoft.com/office/drawing/2014/main" id="{81FF4DE4-C378-47B1-8C91-F8DB574277D3}"/>
              </a:ext>
            </a:extLst>
          </p:cNvPr>
          <p:cNvSpPr txBox="1"/>
          <p:nvPr/>
        </p:nvSpPr>
        <p:spPr>
          <a:xfrm>
            <a:off x="367778" y="6400843"/>
            <a:ext cx="3649118" cy="253916"/>
          </a:xfrm>
          <a:prstGeom prst="rect">
            <a:avLst/>
          </a:prstGeom>
          <a:noFill/>
        </p:spPr>
        <p:txBody>
          <a:bodyPr wrap="square" rtlCol="0">
            <a:spAutoFit/>
          </a:bodyPr>
          <a:lstStyle/>
          <a:p>
            <a:r>
              <a:rPr kumimoji="1" lang="en-US" altLang="ja-JP" sz="1050"/>
              <a:t>【</a:t>
            </a:r>
            <a:r>
              <a:rPr lang="ja-JP" altLang="en-US" sz="1050">
                <a:latin typeface="Meiryo UI" panose="020B0604030504040204" pitchFamily="50" charset="-128"/>
                <a:ea typeface="Meiryo UI" panose="020B0604030504040204" pitchFamily="50" charset="-128"/>
              </a:rPr>
              <a:t>凡例</a:t>
            </a:r>
            <a:r>
              <a:rPr lang="en-US" altLang="ja-JP" sz="1050">
                <a:latin typeface="Meiryo UI" panose="020B0604030504040204" pitchFamily="50" charset="-128"/>
                <a:ea typeface="Meiryo UI" panose="020B0604030504040204" pitchFamily="50" charset="-128"/>
              </a:rPr>
              <a:t>】</a:t>
            </a:r>
            <a:r>
              <a:rPr lang="ja-JP" altLang="en-US" sz="1050">
                <a:latin typeface="Meiryo UI" panose="020B0604030504040204" pitchFamily="50" charset="-128"/>
                <a:ea typeface="Meiryo UI" panose="020B0604030504040204" pitchFamily="50" charset="-128"/>
              </a:rPr>
              <a:t> ○：作成、●：合意</a:t>
            </a:r>
            <a:r>
              <a:rPr lang="en-US" altLang="ja-JP" sz="1050">
                <a:latin typeface="Meiryo UI" panose="020B0604030504040204" pitchFamily="50" charset="-128"/>
                <a:ea typeface="Meiryo UI" panose="020B0604030504040204" pitchFamily="50" charset="-128"/>
              </a:rPr>
              <a:t>/</a:t>
            </a:r>
            <a:r>
              <a:rPr lang="ja-JP" altLang="en-US" sz="1050">
                <a:latin typeface="Meiryo UI" panose="020B0604030504040204" pitchFamily="50" charset="-128"/>
                <a:ea typeface="Meiryo UI" panose="020B0604030504040204" pitchFamily="50" charset="-128"/>
              </a:rPr>
              <a:t>承認、▲：一部作業実施</a:t>
            </a:r>
            <a:endParaRPr kumimoji="1" lang="ja-JP" altLang="en-US" sz="1050">
              <a:latin typeface="Meiryo UI" panose="020B0604030504040204" pitchFamily="50" charset="-128"/>
              <a:ea typeface="Meiryo UI" panose="020B0604030504040204" pitchFamily="50" charset="-128"/>
            </a:endParaRPr>
          </a:p>
        </p:txBody>
      </p:sp>
      <p:graphicFrame>
        <p:nvGraphicFramePr>
          <p:cNvPr id="7" name="表 6">
            <a:extLst>
              <a:ext uri="{FF2B5EF4-FFF2-40B4-BE49-F238E27FC236}">
                <a16:creationId xmlns:a16="http://schemas.microsoft.com/office/drawing/2014/main" id="{197BC809-31E1-437B-B875-8236F59FC6CC}"/>
              </a:ext>
            </a:extLst>
          </p:cNvPr>
          <p:cNvGraphicFramePr>
            <a:graphicFrameLocks noGrp="1"/>
          </p:cNvGraphicFramePr>
          <p:nvPr>
            <p:extLst>
              <p:ext uri="{D42A27DB-BD31-4B8C-83A1-F6EECF244321}">
                <p14:modId xmlns:p14="http://schemas.microsoft.com/office/powerpoint/2010/main" val="2883169616"/>
              </p:ext>
            </p:extLst>
          </p:nvPr>
        </p:nvGraphicFramePr>
        <p:xfrm>
          <a:off x="326764" y="1631148"/>
          <a:ext cx="9252471" cy="4427779"/>
        </p:xfrm>
        <a:graphic>
          <a:graphicData uri="http://schemas.openxmlformats.org/drawingml/2006/table">
            <a:tbl>
              <a:tblPr firstRow="1" bandRow="1">
                <a:tableStyleId>{5C22544A-7EE6-4342-B048-85BDC9FD1C3A}</a:tableStyleId>
              </a:tblPr>
              <a:tblGrid>
                <a:gridCol w="673661">
                  <a:extLst>
                    <a:ext uri="{9D8B030D-6E8A-4147-A177-3AD203B41FA5}">
                      <a16:colId xmlns:a16="http://schemas.microsoft.com/office/drawing/2014/main" val="2389519518"/>
                    </a:ext>
                  </a:extLst>
                </a:gridCol>
                <a:gridCol w="784346">
                  <a:extLst>
                    <a:ext uri="{9D8B030D-6E8A-4147-A177-3AD203B41FA5}">
                      <a16:colId xmlns:a16="http://schemas.microsoft.com/office/drawing/2014/main" val="104764479"/>
                    </a:ext>
                  </a:extLst>
                </a:gridCol>
                <a:gridCol w="1764779">
                  <a:extLst>
                    <a:ext uri="{9D8B030D-6E8A-4147-A177-3AD203B41FA5}">
                      <a16:colId xmlns:a16="http://schemas.microsoft.com/office/drawing/2014/main" val="2587454480"/>
                    </a:ext>
                  </a:extLst>
                </a:gridCol>
                <a:gridCol w="3166821">
                  <a:extLst>
                    <a:ext uri="{9D8B030D-6E8A-4147-A177-3AD203B41FA5}">
                      <a16:colId xmlns:a16="http://schemas.microsoft.com/office/drawing/2014/main" val="3175726850"/>
                    </a:ext>
                  </a:extLst>
                </a:gridCol>
                <a:gridCol w="1333389">
                  <a:extLst>
                    <a:ext uri="{9D8B030D-6E8A-4147-A177-3AD203B41FA5}">
                      <a16:colId xmlns:a16="http://schemas.microsoft.com/office/drawing/2014/main" val="20003"/>
                    </a:ext>
                  </a:extLst>
                </a:gridCol>
                <a:gridCol w="745129">
                  <a:extLst>
                    <a:ext uri="{9D8B030D-6E8A-4147-A177-3AD203B41FA5}">
                      <a16:colId xmlns:a16="http://schemas.microsoft.com/office/drawing/2014/main" val="532130472"/>
                    </a:ext>
                  </a:extLst>
                </a:gridCol>
                <a:gridCol w="784346">
                  <a:extLst>
                    <a:ext uri="{9D8B030D-6E8A-4147-A177-3AD203B41FA5}">
                      <a16:colId xmlns:a16="http://schemas.microsoft.com/office/drawing/2014/main" val="4127861418"/>
                    </a:ext>
                  </a:extLst>
                </a:gridCol>
              </a:tblGrid>
              <a:tr h="322227">
                <a:tc rowSpan="3">
                  <a:txBody>
                    <a:bodyPr/>
                    <a:lstStyle/>
                    <a:p>
                      <a:pPr algn="ctr"/>
                      <a:r>
                        <a:rPr kumimoji="1" lang="ja-JP" altLang="en-US" sz="1100">
                          <a:solidFill>
                            <a:schemeClr val="bg1"/>
                          </a:solidFill>
                          <a:latin typeface="+mn-ea"/>
                          <a:ea typeface="+mn-ea"/>
                        </a:rPr>
                        <a:t>区分</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rgbClr val="00588F"/>
                    </a:solidFill>
                  </a:tcPr>
                </a:tc>
                <a:tc rowSpan="3">
                  <a:txBody>
                    <a:bodyPr/>
                    <a:lstStyle/>
                    <a:p>
                      <a:pPr algn="ctr"/>
                      <a:r>
                        <a:rPr kumimoji="1" lang="ja-JP" altLang="en-US" sz="1100">
                          <a:solidFill>
                            <a:schemeClr val="bg1"/>
                          </a:solidFill>
                          <a:latin typeface="+mn-ea"/>
                          <a:ea typeface="+mn-ea"/>
                        </a:rPr>
                        <a:t>工程</a:t>
                      </a:r>
                    </a:p>
                  </a:txBody>
                  <a:tcPr marL="54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rgbClr val="00588F"/>
                    </a:solidFill>
                  </a:tcPr>
                </a:tc>
                <a:tc rowSpan="3">
                  <a:txBody>
                    <a:bodyPr/>
                    <a:lstStyle/>
                    <a:p>
                      <a:pPr algn="ctr"/>
                      <a:r>
                        <a:rPr kumimoji="1" lang="ja-JP" altLang="en-US" sz="1100">
                          <a:solidFill>
                            <a:schemeClr val="bg1"/>
                          </a:solidFill>
                          <a:latin typeface="+mn-ea"/>
                          <a:ea typeface="+mn-ea"/>
                        </a:rPr>
                        <a:t>成果物名</a:t>
                      </a:r>
                      <a:endParaRPr kumimoji="1" lang="en-US" altLang="ja-JP" sz="1100">
                        <a:solidFill>
                          <a:schemeClr val="bg1"/>
                        </a:solidFill>
                        <a:latin typeface="+mn-ea"/>
                        <a:ea typeface="+mn-ea"/>
                      </a:endParaRPr>
                    </a:p>
                  </a:txBody>
                  <a:tcPr marL="54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rgbClr val="00588F"/>
                    </a:solidFill>
                  </a:tcPr>
                </a:tc>
                <a:tc rowSpan="3">
                  <a:txBody>
                    <a:bodyPr/>
                    <a:lstStyle/>
                    <a:p>
                      <a:pPr algn="ctr"/>
                      <a:r>
                        <a:rPr kumimoji="1" lang="ja-JP" altLang="en-US" sz="1100">
                          <a:solidFill>
                            <a:schemeClr val="bg1"/>
                          </a:solidFill>
                        </a:rPr>
                        <a:t>内容</a:t>
                      </a:r>
                    </a:p>
                  </a:txBody>
                  <a:tcPr marL="54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rgbClr val="00588F"/>
                    </a:solidFill>
                  </a:tcPr>
                </a:tc>
                <a:tc rowSpan="3">
                  <a:txBody>
                    <a:bodyPr/>
                    <a:lstStyle/>
                    <a:p>
                      <a:pPr algn="ctr"/>
                      <a:r>
                        <a:rPr kumimoji="1" lang="ja-JP" altLang="en-US" sz="1100">
                          <a:solidFill>
                            <a:schemeClr val="bg1"/>
                          </a:solidFill>
                        </a:rPr>
                        <a:t>レビュー</a:t>
                      </a:r>
                      <a:endParaRPr kumimoji="1" lang="en-US" altLang="ja-JP" sz="1100">
                        <a:solidFill>
                          <a:schemeClr val="bg1"/>
                        </a:solidFill>
                      </a:endParaRPr>
                    </a:p>
                    <a:p>
                      <a:pPr algn="ctr"/>
                      <a:r>
                        <a:rPr kumimoji="1" lang="ja-JP" altLang="en-US" sz="1100">
                          <a:solidFill>
                            <a:schemeClr val="bg1"/>
                          </a:solidFill>
                        </a:rPr>
                        <a:t>タイミング</a:t>
                      </a:r>
                    </a:p>
                  </a:txBody>
                  <a:tcPr marL="54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rgbClr val="00588F"/>
                    </a:solidFill>
                  </a:tcPr>
                </a:tc>
                <a:tc gridSpan="2">
                  <a:txBody>
                    <a:bodyPr/>
                    <a:lstStyle/>
                    <a:p>
                      <a:pPr algn="ctr"/>
                      <a:r>
                        <a:rPr kumimoji="1" lang="ja-JP" altLang="en-US" sz="1100">
                          <a:solidFill>
                            <a:schemeClr val="bg1"/>
                          </a:solidFill>
                          <a:latin typeface="+mn-ea"/>
                          <a:ea typeface="+mn-ea"/>
                        </a:rPr>
                        <a:t>担当</a:t>
                      </a:r>
                      <a:endParaRPr kumimoji="1" lang="en-US" altLang="ja-JP" sz="1100">
                        <a:solidFill>
                          <a:schemeClr val="bg1"/>
                        </a:solidFill>
                        <a:latin typeface="+mn-ea"/>
                        <a:ea typeface="+mn-ea"/>
                      </a:endParaRPr>
                    </a:p>
                  </a:txBody>
                  <a:tcPr marL="54000" marR="36000" marT="36000" marB="36000">
                    <a:lnL w="12700" cap="flat" cmpd="sng" algn="ctr">
                      <a:solidFill>
                        <a:schemeClr val="bg1">
                          <a:lumMod val="85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588F"/>
                    </a:solidFill>
                  </a:tcPr>
                </a:tc>
                <a:tc hMerge="1">
                  <a:txBody>
                    <a:bodyPr/>
                    <a:lstStyle/>
                    <a:p>
                      <a:pPr algn="ctr"/>
                      <a:endParaRPr kumimoji="1" lang="ja-JP" altLang="en-US" sz="1100">
                        <a:solidFill>
                          <a:schemeClr val="tx1"/>
                        </a:solidFill>
                        <a:latin typeface="+mn-ea"/>
                        <a:ea typeface="+mn-ea"/>
                      </a:endParaRPr>
                    </a:p>
                  </a:txBody>
                  <a:tcPr marL="54000" marR="36000" marT="54000" marB="54000" anchor="ctr">
                    <a:lnL w="9525" cap="flat" cmpd="sng" algn="ctr">
                      <a:solidFill>
                        <a:schemeClr val="tx1">
                          <a:lumMod val="90000"/>
                          <a:lumOff val="1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2214880104"/>
                  </a:ext>
                </a:extLst>
              </a:tr>
              <a:tr h="242714">
                <a:tc vMerge="1">
                  <a:txBody>
                    <a:bodyPr/>
                    <a:lstStyle/>
                    <a:p>
                      <a:endParaRPr kumimoji="1" lang="ja-JP" altLang="en-US"/>
                    </a:p>
                  </a:txBody>
                  <a:tcPr/>
                </a:tc>
                <a:tc vMerge="1">
                  <a:txBody>
                    <a:bodyPr/>
                    <a:lstStyle/>
                    <a:p>
                      <a:pPr algn="ctr"/>
                      <a:endParaRPr kumimoji="1" lang="ja-JP" altLang="en-US" sz="1100">
                        <a:solidFill>
                          <a:schemeClr val="tx1"/>
                        </a:solidFill>
                        <a:latin typeface="+mn-ea"/>
                        <a:ea typeface="+mn-ea"/>
                      </a:endParaRPr>
                    </a:p>
                  </a:txBody>
                  <a:tcPr marL="54000" marR="36000"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vMerge="1">
                  <a:txBody>
                    <a:bodyPr/>
                    <a:lstStyle/>
                    <a:p>
                      <a:pPr algn="ctr"/>
                      <a:endParaRPr kumimoji="1" lang="ja-JP" altLang="en-US" sz="1100">
                        <a:solidFill>
                          <a:schemeClr val="tx1"/>
                        </a:solidFill>
                        <a:latin typeface="+mn-ea"/>
                        <a:ea typeface="+mn-ea"/>
                      </a:endParaRPr>
                    </a:p>
                  </a:txBody>
                  <a:tcPr marL="54000" marR="36000"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vMerge="1">
                  <a:txBody>
                    <a:bodyPr/>
                    <a:lstStyle/>
                    <a:p>
                      <a:endParaRPr kumimoji="1" lang="ja-JP" altLang="en-US" sz="1200"/>
                    </a:p>
                  </a:txBody>
                  <a:tcPr/>
                </a:tc>
                <a:tc vMerge="1">
                  <a:txBody>
                    <a:bodyPr/>
                    <a:lstStyle/>
                    <a:p>
                      <a:pPr algn="ctr"/>
                      <a:endParaRPr kumimoji="1" lang="ja-JP" altLang="en-US" sz="1100"/>
                    </a:p>
                  </a:txBody>
                  <a:tcPr marL="54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FFCC"/>
                    </a:solidFill>
                  </a:tcPr>
                </a:tc>
                <a:tc>
                  <a:txBody>
                    <a:bodyPr/>
                    <a:lstStyle/>
                    <a:p>
                      <a:pPr algn="ctr"/>
                      <a:r>
                        <a:rPr kumimoji="1" lang="ja-JP" altLang="en-US" sz="1100">
                          <a:solidFill>
                            <a:schemeClr val="bg1"/>
                          </a:solidFill>
                          <a:latin typeface="+mn-ea"/>
                          <a:ea typeface="+mn-ea"/>
                        </a:rPr>
                        <a:t>ＪＲＩ</a:t>
                      </a:r>
                    </a:p>
                  </a:txBody>
                  <a:tcPr marL="54000" marR="36000" marT="18000" marB="18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588F"/>
                    </a:solidFill>
                  </a:tcPr>
                </a:tc>
                <a:tc rowSpan="2">
                  <a:txBody>
                    <a:bodyPr/>
                    <a:lstStyle/>
                    <a:p>
                      <a:pPr algn="ctr"/>
                      <a:r>
                        <a:rPr kumimoji="1" lang="en-US" altLang="ja-JP" sz="1100">
                          <a:solidFill>
                            <a:schemeClr val="bg1"/>
                          </a:solidFill>
                          <a:latin typeface="+mn-ea"/>
                          <a:ea typeface="+mn-ea"/>
                        </a:rPr>
                        <a:t>IBM</a:t>
                      </a:r>
                      <a:endParaRPr kumimoji="1" lang="ja-JP" altLang="en-US" sz="1100">
                        <a:solidFill>
                          <a:schemeClr val="bg1"/>
                        </a:solidFill>
                        <a:latin typeface="+mn-ea"/>
                        <a:ea typeface="+mn-ea"/>
                      </a:endParaRPr>
                    </a:p>
                  </a:txBody>
                  <a:tcPr marL="54000" marR="36000" marT="18000" marB="18000" anchor="ctr">
                    <a:lnL w="12700" cap="flat" cmpd="sng" algn="ctr">
                      <a:solidFill>
                        <a:schemeClr val="bg1">
                          <a:lumMod val="85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rgbClr val="00588F"/>
                    </a:solidFill>
                  </a:tcPr>
                </a:tc>
                <a:extLst>
                  <a:ext uri="{0D108BD9-81ED-4DB2-BD59-A6C34878D82A}">
                    <a16:rowId xmlns:a16="http://schemas.microsoft.com/office/drawing/2014/main" val="1430720327"/>
                  </a:ext>
                </a:extLst>
              </a:tr>
              <a:tr h="242714">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a:r>
                        <a:rPr kumimoji="1" lang="ja-JP" altLang="en-US" sz="1100">
                          <a:solidFill>
                            <a:schemeClr val="bg1"/>
                          </a:solidFill>
                          <a:latin typeface="+mn-ea"/>
                          <a:ea typeface="+mn-ea"/>
                        </a:rPr>
                        <a:t>ＰＦ基盤</a:t>
                      </a:r>
                    </a:p>
                  </a:txBody>
                  <a:tcPr marL="54000" marR="36000" marT="18000" marB="18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rgbClr val="00588F"/>
                    </a:solidFill>
                  </a:tcPr>
                </a:tc>
                <a:tc vMerge="1">
                  <a:txBody>
                    <a:bodyPr/>
                    <a:lstStyle/>
                    <a:p>
                      <a:endParaRPr kumimoji="1" lang="ja-JP" altLang="en-US"/>
                    </a:p>
                  </a:txBody>
                  <a:tcPr/>
                </a:tc>
                <a:extLst>
                  <a:ext uri="{0D108BD9-81ED-4DB2-BD59-A6C34878D82A}">
                    <a16:rowId xmlns:a16="http://schemas.microsoft.com/office/drawing/2014/main" val="10002"/>
                  </a:ext>
                </a:extLst>
              </a:tr>
              <a:tr h="364343">
                <a:tc rowSpan="2">
                  <a:txBody>
                    <a:bodyPr/>
                    <a:lstStyle/>
                    <a:p>
                      <a:pPr algn="ctr"/>
                      <a:r>
                        <a:rPr kumimoji="1" lang="ja-JP" altLang="en-US" sz="1100">
                          <a:solidFill>
                            <a:schemeClr val="tx1"/>
                          </a:solidFill>
                          <a:latin typeface="+mn-ea"/>
                          <a:ea typeface="+mn-ea"/>
                        </a:rPr>
                        <a:t>共通</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algn="ctr"/>
                      <a:r>
                        <a:rPr kumimoji="1" lang="ja-JP" altLang="en-US" sz="1100">
                          <a:solidFill>
                            <a:schemeClr val="tx1"/>
                          </a:solidFill>
                          <a:latin typeface="+mn-ea"/>
                          <a:ea typeface="+mn-ea"/>
                        </a:rPr>
                        <a:t>企画</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プロジェクト計画書</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プロジェクトの実施方針計画を定義</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algn="l"/>
                      <a:r>
                        <a:rPr kumimoji="1" lang="ja-JP" altLang="en-US" sz="1100">
                          <a:solidFill>
                            <a:schemeClr val="tx1"/>
                          </a:solidFill>
                          <a:latin typeface="+mn-ea"/>
                          <a:ea typeface="+mn-ea"/>
                        </a:rPr>
                        <a:t>キックオフ</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chemeClr val="tx1"/>
                          </a:solidFill>
                          <a:effectLst/>
                          <a:uLnTx/>
                          <a:uFillTx/>
                          <a:latin typeface="+mn-ea"/>
                          <a:ea typeface="+mn-ea"/>
                          <a:cs typeface="+mn-cs"/>
                        </a:rPr>
                        <a:t>〇</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chemeClr val="tx1"/>
                          </a:solidFill>
                          <a:effectLst/>
                          <a:uLnTx/>
                          <a:uFillTx/>
                          <a:latin typeface="+mn-ea"/>
                          <a:ea typeface="+mn-ea"/>
                          <a:cs typeface="+mn-cs"/>
                        </a:rPr>
                        <a:t>●</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05954834"/>
                  </a:ext>
                </a:extLst>
              </a:tr>
              <a:tr h="364343">
                <a:tc vMerge="1">
                  <a:txBody>
                    <a:bodyPr/>
                    <a:lstStyle/>
                    <a:p>
                      <a:pPr algn="ctr"/>
                      <a:r>
                        <a:rPr kumimoji="1" lang="ja-JP" altLang="en-US" sz="1100">
                          <a:solidFill>
                            <a:schemeClr val="tx1"/>
                          </a:solidFill>
                          <a:latin typeface="+mn-ea"/>
                          <a:ea typeface="+mn-ea"/>
                        </a:rPr>
                        <a:t>共通</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algn="ctr"/>
                      <a:r>
                        <a:rPr kumimoji="1" lang="ja-JP" altLang="en-US" sz="1100">
                          <a:solidFill>
                            <a:schemeClr val="tx1"/>
                          </a:solidFill>
                          <a:latin typeface="+mn-ea"/>
                          <a:ea typeface="+mn-ea"/>
                        </a:rPr>
                        <a:t>要件定義</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要件定義書</a:t>
                      </a:r>
                      <a:endParaRPr kumimoji="1" lang="en-US" altLang="ja-JP" sz="110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対応方針書</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r>
                        <a:rPr kumimoji="1" lang="ja-JP" altLang="en-US" sz="1100">
                          <a:solidFill>
                            <a:schemeClr val="tx1"/>
                          </a:solidFill>
                          <a:latin typeface="+mn-ea"/>
                          <a:ea typeface="+mn-ea"/>
                        </a:rPr>
                        <a:t>プロジェクトの要件を定義</a:t>
                      </a:r>
                      <a:endParaRPr kumimoji="1" lang="en-US" altLang="ja-JP" sz="1100">
                        <a:solidFill>
                          <a:schemeClr val="tx1"/>
                        </a:solidFill>
                        <a:latin typeface="+mn-ea"/>
                        <a:ea typeface="+mn-ea"/>
                      </a:endParaRPr>
                    </a:p>
                    <a:p>
                      <a:r>
                        <a:rPr kumimoji="1" lang="ja-JP" altLang="en-US" sz="1100">
                          <a:solidFill>
                            <a:schemeClr val="tx1"/>
                          </a:solidFill>
                          <a:latin typeface="+mn-ea"/>
                          <a:ea typeface="+mn-ea"/>
                        </a:rPr>
                        <a:t>業務要件、非機能要件、基盤概要設計、開発標準、</a:t>
                      </a:r>
                      <a:endParaRPr kumimoji="1" lang="en-US" altLang="ja-JP" sz="1100">
                        <a:solidFill>
                          <a:schemeClr val="tx1"/>
                        </a:solidFill>
                        <a:latin typeface="+mn-ea"/>
                        <a:ea typeface="+mn-ea"/>
                      </a:endParaRPr>
                    </a:p>
                    <a:p>
                      <a:r>
                        <a:rPr kumimoji="1" lang="ja-JP" altLang="en-US" sz="1100">
                          <a:solidFill>
                            <a:schemeClr val="tx1"/>
                          </a:solidFill>
                          <a:latin typeface="+mn-ea"/>
                          <a:ea typeface="+mn-ea"/>
                        </a:rPr>
                        <a:t>テスト方針等</a:t>
                      </a:r>
                      <a:endParaRPr kumimoji="1" lang="en-US" altLang="ja-JP"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成果物レビュー</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292929"/>
                          </a:solidFill>
                          <a:effectLst/>
                          <a:uLnTx/>
                          <a:uFillTx/>
                          <a:latin typeface="Meiryo UI"/>
                          <a:ea typeface="Meiryo UI"/>
                          <a:cs typeface="+mn-cs"/>
                        </a:rPr>
                        <a:t>●</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chemeClr val="tx1"/>
                          </a:solidFill>
                          <a:effectLst/>
                          <a:uLnTx/>
                          <a:uFillTx/>
                          <a:latin typeface="+mn-ea"/>
                          <a:ea typeface="+mn-ea"/>
                          <a:cs typeface="+mn-cs"/>
                        </a:rPr>
                        <a:t>〇</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1281388"/>
                  </a:ext>
                </a:extLst>
              </a:tr>
              <a:tr h="468057">
                <a:tc rowSpan="8">
                  <a:txBody>
                    <a:bodyPr/>
                    <a:lstStyle/>
                    <a:p>
                      <a:pPr algn="ctr"/>
                      <a:r>
                        <a:rPr kumimoji="1" lang="en-US" altLang="ja-JP" sz="1100">
                          <a:solidFill>
                            <a:schemeClr val="tx1"/>
                          </a:solidFill>
                          <a:latin typeface="+mn-ea"/>
                          <a:ea typeface="+mn-ea"/>
                        </a:rPr>
                        <a:t>AI</a:t>
                      </a:r>
                      <a:r>
                        <a:rPr kumimoji="1" lang="ja-JP" altLang="en-US" sz="1100">
                          <a:solidFill>
                            <a:schemeClr val="tx1"/>
                          </a:solidFill>
                          <a:latin typeface="+mn-ea"/>
                          <a:ea typeface="+mn-ea"/>
                        </a:rPr>
                        <a:t>コール</a:t>
                      </a:r>
                      <a:endParaRPr kumimoji="1" lang="en-US" altLang="ja-JP" sz="1100">
                        <a:solidFill>
                          <a:schemeClr val="tx1"/>
                        </a:solidFill>
                        <a:latin typeface="+mn-ea"/>
                        <a:ea typeface="+mn-ea"/>
                      </a:endParaRPr>
                    </a:p>
                    <a:p>
                      <a:pPr algn="ctr"/>
                      <a:r>
                        <a:rPr kumimoji="1" lang="en-US" altLang="ja-JP" sz="1100">
                          <a:solidFill>
                            <a:schemeClr val="tx1"/>
                          </a:solidFill>
                          <a:latin typeface="+mn-ea"/>
                          <a:ea typeface="+mn-ea"/>
                        </a:rPr>
                        <a:t>AI</a:t>
                      </a:r>
                      <a:r>
                        <a:rPr kumimoji="1" lang="ja-JP" altLang="en-US" sz="1100">
                          <a:solidFill>
                            <a:schemeClr val="tx1"/>
                          </a:solidFill>
                          <a:latin typeface="+mn-ea"/>
                          <a:ea typeface="+mn-ea"/>
                        </a:rPr>
                        <a:t>チャット</a:t>
                      </a:r>
                      <a:endParaRPr kumimoji="1" lang="en-US" altLang="ja-JP" sz="1100">
                        <a:solidFill>
                          <a:schemeClr val="tx1"/>
                        </a:solidFill>
                        <a:latin typeface="+mn-ea"/>
                        <a:ea typeface="+mn-ea"/>
                      </a:endParaRPr>
                    </a:p>
                    <a:p>
                      <a:pPr algn="ctr"/>
                      <a:r>
                        <a:rPr kumimoji="1" lang="ja-JP" altLang="en-US" sz="1100">
                          <a:solidFill>
                            <a:schemeClr val="tx1"/>
                          </a:solidFill>
                          <a:latin typeface="+mn-ea"/>
                          <a:ea typeface="+mn-ea"/>
                        </a:rPr>
                        <a:t>基盤</a:t>
                      </a:r>
                      <a:endParaRPr kumimoji="1" lang="en-US" altLang="ja-JP"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rowSpan="8">
                  <a:txBody>
                    <a:bodyPr/>
                    <a:lstStyle/>
                    <a:p>
                      <a:pPr algn="ctr"/>
                      <a:r>
                        <a:rPr kumimoji="1" lang="ja-JP" altLang="en-US" sz="1100">
                          <a:solidFill>
                            <a:schemeClr val="tx1"/>
                          </a:solidFill>
                          <a:latin typeface="+mn-ea"/>
                          <a:ea typeface="+mn-ea"/>
                        </a:rPr>
                        <a:t>基本設計</a:t>
                      </a:r>
                      <a:r>
                        <a:rPr kumimoji="1" lang="en-US" altLang="ja-JP" sz="1100">
                          <a:solidFill>
                            <a:schemeClr val="tx1"/>
                          </a:solidFill>
                          <a:latin typeface="+mn-ea"/>
                          <a:ea typeface="+mn-ea"/>
                        </a:rPr>
                        <a:t>/</a:t>
                      </a:r>
                      <a:r>
                        <a:rPr kumimoji="1" lang="ja-JP" altLang="en-US" sz="1100">
                          <a:solidFill>
                            <a:schemeClr val="tx1"/>
                          </a:solidFill>
                          <a:latin typeface="+mn-ea"/>
                          <a:ea typeface="+mn-ea"/>
                        </a:rPr>
                        <a:t>詳細設計</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基本設計書</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algn="l"/>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292929"/>
                          </a:solidFill>
                          <a:effectLst/>
                          <a:uLnTx/>
                          <a:uFillTx/>
                          <a:latin typeface="Meiryo UI"/>
                          <a:ea typeface="Meiryo UI"/>
                          <a:cs typeface="+mn-cs"/>
                        </a:rPr>
                        <a:t>●</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chemeClr val="tx1"/>
                          </a:solidFill>
                          <a:effectLst/>
                          <a:uLnTx/>
                          <a:uFillTx/>
                          <a:latin typeface="+mn-ea"/>
                          <a:ea typeface="+mn-ea"/>
                          <a:cs typeface="+mn-cs"/>
                        </a:rPr>
                        <a:t>〇</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11974963"/>
                  </a:ext>
                </a:extLst>
              </a:tr>
              <a:tr h="273703">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詳細設計書</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292929"/>
                          </a:solidFill>
                          <a:effectLst/>
                          <a:uLnTx/>
                          <a:uFillTx/>
                          <a:latin typeface="Meiryo UI"/>
                          <a:ea typeface="Meiryo UI"/>
                          <a:cs typeface="+mn-cs"/>
                        </a:rPr>
                        <a:t>●</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chemeClr val="tx1"/>
                          </a:solidFill>
                          <a:effectLst/>
                          <a:uLnTx/>
                          <a:uFillTx/>
                          <a:latin typeface="+mn-ea"/>
                          <a:ea typeface="+mn-ea"/>
                          <a:cs typeface="+mn-cs"/>
                        </a:rPr>
                        <a:t>〇</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1256900"/>
                  </a:ext>
                </a:extLst>
              </a:tr>
              <a:tr h="353546">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テスト計画書</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100" b="0" i="0" u="none" strike="noStrike">
                        <a:solidFill>
                          <a:schemeClr val="tx1"/>
                        </a:solidFill>
                        <a:effectLst/>
                        <a:latin typeface="Meiryo UI" panose="020B0604030504040204" pitchFamily="50" charset="-128"/>
                        <a:ea typeface="Meiryo UI" panose="020B0604030504040204" pitchFamily="50" charset="-128"/>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292929"/>
                          </a:solidFill>
                          <a:effectLst/>
                          <a:uLnTx/>
                          <a:uFillTx/>
                          <a:latin typeface="Meiryo UI"/>
                          <a:ea typeface="Meiryo UI"/>
                          <a:cs typeface="+mn-cs"/>
                        </a:rPr>
                        <a:t>●</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chemeClr val="tx1"/>
                          </a:solidFill>
                          <a:effectLst/>
                          <a:uLnTx/>
                          <a:uFillTx/>
                          <a:latin typeface="+mn-ea"/>
                          <a:ea typeface="+mn-ea"/>
                          <a:cs typeface="+mn-cs"/>
                        </a:rPr>
                        <a:t>〇</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89364311"/>
                  </a:ext>
                </a:extLst>
              </a:tr>
              <a:tr h="285623">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移行計画書</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292929"/>
                          </a:solidFill>
                          <a:effectLst/>
                          <a:uLnTx/>
                          <a:uFillTx/>
                          <a:latin typeface="Meiryo UI"/>
                          <a:ea typeface="Meiryo UI"/>
                          <a:cs typeface="+mn-cs"/>
                        </a:rPr>
                        <a:t>●</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chemeClr val="tx1"/>
                          </a:solidFill>
                          <a:effectLst/>
                          <a:uLnTx/>
                          <a:uFillTx/>
                          <a:latin typeface="+mn-ea"/>
                          <a:ea typeface="+mn-ea"/>
                          <a:cs typeface="+mn-cs"/>
                        </a:rPr>
                        <a:t>〇</a:t>
                      </a:r>
                      <a:r>
                        <a:rPr kumimoji="1" lang="en-US" altLang="ja-JP" sz="1100">
                          <a:solidFill>
                            <a:schemeClr val="tx1"/>
                          </a:solidFill>
                          <a:latin typeface="+mn-ea"/>
                          <a:ea typeface="+mn-ea"/>
                        </a:rPr>
                        <a:t>*1</a:t>
                      </a:r>
                      <a:endParaRPr kumimoji="1" lang="ja-JP" altLang="en-US" sz="1100" b="0" i="0" u="none" strike="noStrike" kern="1200" cap="none" spc="0" normalizeH="0" baseline="0" noProof="0">
                        <a:ln>
                          <a:noFill/>
                        </a:ln>
                        <a:solidFill>
                          <a:schemeClr val="tx1"/>
                        </a:solidFill>
                        <a:effectLst/>
                        <a:uLnTx/>
                        <a:uFillTx/>
                        <a:latin typeface="+mn-ea"/>
                        <a:ea typeface="+mn-ea"/>
                        <a:cs typeface="+mn-cs"/>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4320230"/>
                  </a:ext>
                </a:extLst>
              </a:tr>
              <a:tr h="364343">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各種パラメータシート</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292929"/>
                          </a:solidFill>
                          <a:effectLst/>
                          <a:uLnTx/>
                          <a:uFillTx/>
                          <a:latin typeface="Meiryo UI"/>
                          <a:ea typeface="Meiryo UI"/>
                          <a:cs typeface="+mn-cs"/>
                        </a:rPr>
                        <a:t>●</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chemeClr val="tx1"/>
                          </a:solidFill>
                          <a:effectLst/>
                          <a:uLnTx/>
                          <a:uFillTx/>
                          <a:latin typeface="+mn-ea"/>
                          <a:ea typeface="+mn-ea"/>
                          <a:cs typeface="+mn-cs"/>
                        </a:rPr>
                        <a:t>〇</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5251855"/>
                  </a:ext>
                </a:extLst>
              </a:tr>
              <a:tr h="364343">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運用引き継ぎ書</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chemeClr val="tx1"/>
                          </a:solidFill>
                          <a:effectLst/>
                          <a:uLnTx/>
                          <a:uFillTx/>
                          <a:latin typeface="+mn-ea"/>
                          <a:ea typeface="+mn-ea"/>
                          <a:cs typeface="+mn-cs"/>
                        </a:rPr>
                        <a:t>〇</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chemeClr val="tx1"/>
                          </a:solidFill>
                          <a:effectLst/>
                          <a:uLnTx/>
                          <a:uFillTx/>
                          <a:latin typeface="+mn-ea"/>
                          <a:ea typeface="+mn-ea"/>
                          <a:cs typeface="+mn-cs"/>
                        </a:rPr>
                        <a:t>〇</a:t>
                      </a:r>
                      <a:r>
                        <a:rPr kumimoji="1" lang="en-US" altLang="ja-JP" sz="1100">
                          <a:solidFill>
                            <a:schemeClr val="tx1"/>
                          </a:solidFill>
                          <a:latin typeface="+mn-ea"/>
                          <a:ea typeface="+mn-ea"/>
                        </a:rPr>
                        <a:t>*1</a:t>
                      </a:r>
                      <a:endParaRPr kumimoji="1" lang="ja-JP" altLang="en-US" sz="1100" b="0" i="0" u="none" strike="noStrike" kern="1200" cap="none" spc="0" normalizeH="0" baseline="0" noProof="0">
                        <a:ln>
                          <a:noFill/>
                        </a:ln>
                        <a:solidFill>
                          <a:schemeClr val="tx1"/>
                        </a:solidFill>
                        <a:effectLst/>
                        <a:uLnTx/>
                        <a:uFillTx/>
                        <a:latin typeface="+mn-ea"/>
                        <a:ea typeface="+mn-ea"/>
                        <a:cs typeface="+mn-cs"/>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27999117"/>
                  </a:ext>
                </a:extLst>
              </a:tr>
              <a:tr h="285623">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運用手順書</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292929"/>
                          </a:solidFill>
                          <a:effectLst/>
                          <a:uLnTx/>
                          <a:uFillTx/>
                          <a:latin typeface="Meiryo UI"/>
                          <a:ea typeface="Meiryo UI"/>
                          <a:cs typeface="+mn-cs"/>
                        </a:rPr>
                        <a:t>●</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chemeClr val="tx1"/>
                          </a:solidFill>
                          <a:effectLst/>
                          <a:uLnTx/>
                          <a:uFillTx/>
                          <a:latin typeface="+mn-ea"/>
                          <a:ea typeface="+mn-ea"/>
                          <a:cs typeface="+mn-cs"/>
                        </a:rPr>
                        <a:t>〇</a:t>
                      </a: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3565743"/>
                  </a:ext>
                </a:extLst>
              </a:tr>
              <a:tr h="285623">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vMerge="1">
                  <a:txBody>
                    <a:bodyPr/>
                    <a:lstStyle/>
                    <a:p>
                      <a:pPr algn="ct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a:solidFill>
                          <a:schemeClr val="tx1"/>
                        </a:solidFill>
                        <a:latin typeface="+mn-ea"/>
                        <a:ea typeface="+mn-ea"/>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chemeClr val="tx1"/>
                        </a:solidFill>
                        <a:effectLst/>
                        <a:uLnTx/>
                        <a:uFillTx/>
                        <a:latin typeface="+mn-ea"/>
                        <a:ea typeface="+mn-ea"/>
                        <a:cs typeface="+mn-cs"/>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chemeClr val="tx1"/>
                        </a:solidFill>
                        <a:effectLst/>
                        <a:uLnTx/>
                        <a:uFillTx/>
                        <a:latin typeface="+mn-ea"/>
                        <a:ea typeface="+mn-ea"/>
                        <a:cs typeface="+mn-cs"/>
                      </a:endParaRPr>
                    </a:p>
                  </a:txBody>
                  <a:tcPr marL="54000" marR="36000" marT="36000" marB="36000" anchor="ctr">
                    <a:lnL w="9525" cap="flat" cmpd="sng" algn="ctr">
                      <a:solidFill>
                        <a:schemeClr val="tx1">
                          <a:lumMod val="90000"/>
                          <a:lumOff val="10000"/>
                        </a:schemeClr>
                      </a:solidFill>
                      <a:prstDash val="solid"/>
                      <a:round/>
                      <a:headEnd type="none" w="med" len="med"/>
                      <a:tailEnd type="none" w="med" len="med"/>
                    </a:lnL>
                    <a:lnR w="9525" cap="flat" cmpd="sng" algn="ctr">
                      <a:solidFill>
                        <a:schemeClr val="tx1">
                          <a:lumMod val="90000"/>
                          <a:lumOff val="10000"/>
                        </a:schemeClr>
                      </a:solidFill>
                      <a:prstDash val="solid"/>
                      <a:round/>
                      <a:headEnd type="none" w="med" len="med"/>
                      <a:tailEnd type="none" w="med" len="med"/>
                    </a:lnR>
                    <a:lnT w="9525" cap="flat" cmpd="sng" algn="ctr">
                      <a:solidFill>
                        <a:schemeClr val="tx1">
                          <a:lumMod val="90000"/>
                          <a:lumOff val="10000"/>
                        </a:schemeClr>
                      </a:solidFill>
                      <a:prstDash val="solid"/>
                      <a:round/>
                      <a:headEnd type="none" w="med" len="med"/>
                      <a:tailEnd type="none" w="med" len="med"/>
                    </a:lnT>
                    <a:lnB w="9525"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3322587"/>
                  </a:ext>
                </a:extLst>
              </a:tr>
            </a:tbl>
          </a:graphicData>
        </a:graphic>
      </p:graphicFrame>
      <p:sp>
        <p:nvSpPr>
          <p:cNvPr id="8" name="テキスト ボックス 7">
            <a:extLst>
              <a:ext uri="{FF2B5EF4-FFF2-40B4-BE49-F238E27FC236}">
                <a16:creationId xmlns:a16="http://schemas.microsoft.com/office/drawing/2014/main" id="{9C8FD20C-0B33-4B13-9ECE-73268D8D7103}"/>
              </a:ext>
            </a:extLst>
          </p:cNvPr>
          <p:cNvSpPr txBox="1"/>
          <p:nvPr/>
        </p:nvSpPr>
        <p:spPr>
          <a:xfrm>
            <a:off x="3624783" y="6400843"/>
            <a:ext cx="3649118" cy="253916"/>
          </a:xfrm>
          <a:prstGeom prst="rect">
            <a:avLst/>
          </a:prstGeom>
          <a:noFill/>
        </p:spPr>
        <p:txBody>
          <a:bodyPr wrap="square" rtlCol="0">
            <a:spAutoFit/>
          </a:bodyPr>
          <a:lstStyle/>
          <a:p>
            <a:r>
              <a:rPr kumimoji="1" lang="en-US" altLang="ja-JP" sz="1050">
                <a:latin typeface="Meiryo UI" panose="020B0604030504040204" pitchFamily="50" charset="-128"/>
                <a:ea typeface="Meiryo UI" panose="020B0604030504040204" pitchFamily="50" charset="-128"/>
              </a:rPr>
              <a:t>*1</a:t>
            </a:r>
            <a:r>
              <a:rPr kumimoji="1" lang="ja-JP" altLang="en-US" sz="1050">
                <a:latin typeface="Meiryo UI" panose="020B0604030504040204" pitchFamily="50" charset="-128"/>
                <a:ea typeface="Meiryo UI" panose="020B0604030504040204" pitchFamily="50" charset="-128"/>
              </a:rPr>
              <a:t>　実施範囲は要調整</a:t>
            </a:r>
          </a:p>
        </p:txBody>
      </p:sp>
      <p:sp>
        <p:nvSpPr>
          <p:cNvPr id="9" name="テキスト ボックス 8">
            <a:extLst>
              <a:ext uri="{FF2B5EF4-FFF2-40B4-BE49-F238E27FC236}">
                <a16:creationId xmlns:a16="http://schemas.microsoft.com/office/drawing/2014/main" id="{F498C30F-7A99-D196-CE67-42A37748A21F}"/>
              </a:ext>
            </a:extLst>
          </p:cNvPr>
          <p:cNvSpPr txBox="1"/>
          <p:nvPr/>
        </p:nvSpPr>
        <p:spPr>
          <a:xfrm>
            <a:off x="367778" y="3429000"/>
            <a:ext cx="9211457" cy="2552249"/>
          </a:xfrm>
          <a:prstGeom prst="rect">
            <a:avLst/>
          </a:prstGeom>
          <a:solidFill>
            <a:schemeClr val="accent4">
              <a:alpha val="19000"/>
            </a:schemeClr>
          </a:solidFill>
        </p:spPr>
        <p:txBody>
          <a:bodyPr wrap="square" rtlCol="0" anchor="ctr">
            <a:noAutofit/>
          </a:bodyPr>
          <a:lstStyle/>
          <a:p>
            <a:pPr algn="ctr"/>
            <a:r>
              <a:rPr lang="ja-JP" altLang="en-US" sz="2400" b="1">
                <a:latin typeface="+mn-ea"/>
                <a:ea typeface="+mn-ea"/>
              </a:rPr>
              <a:t>要件定義工程にて詳細化</a:t>
            </a:r>
            <a:endParaRPr kumimoji="1" lang="ja-JP" altLang="en-US" sz="2400" b="1">
              <a:latin typeface="+mn-ea"/>
              <a:ea typeface="+mn-ea"/>
            </a:endParaRPr>
          </a:p>
        </p:txBody>
      </p:sp>
    </p:spTree>
    <p:extLst>
      <p:ext uri="{BB962C8B-B14F-4D97-AF65-F5344CB8AC3E}">
        <p14:creationId xmlns:p14="http://schemas.microsoft.com/office/powerpoint/2010/main" val="4058376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6BEDF-A83F-3927-7D85-231B8FE739ED}"/>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4F435313-04D5-59AF-1504-BFF5DD118B1E}"/>
              </a:ext>
            </a:extLst>
          </p:cNvPr>
          <p:cNvSpPr>
            <a:spLocks noGrp="1"/>
          </p:cNvSpPr>
          <p:nvPr>
            <p:ph type="title"/>
          </p:nvPr>
        </p:nvSpPr>
        <p:spPr/>
        <p:txBody>
          <a:bodyPr/>
          <a:lstStyle/>
          <a:p>
            <a:r>
              <a:rPr lang="en-US" altLang="ja-JP" sz="2200">
                <a:solidFill>
                  <a:schemeClr val="tx2"/>
                </a:solidFill>
              </a:rPr>
              <a:t>【</a:t>
            </a:r>
            <a:r>
              <a:rPr lang="ja-JP" altLang="en-US" sz="2200">
                <a:solidFill>
                  <a:schemeClr val="tx2"/>
                </a:solidFill>
              </a:rPr>
              <a:t>参考</a:t>
            </a:r>
            <a:r>
              <a:rPr lang="en-US" altLang="ja-JP" sz="2200">
                <a:solidFill>
                  <a:schemeClr val="tx2"/>
                </a:solidFill>
              </a:rPr>
              <a:t>】</a:t>
            </a:r>
            <a:r>
              <a:rPr lang="ja-JP" altLang="en-US" sz="2200">
                <a:solidFill>
                  <a:schemeClr val="tx2"/>
                </a:solidFill>
              </a:rPr>
              <a:t>要件定義工程 </a:t>
            </a:r>
            <a:r>
              <a:rPr lang="en-US" altLang="ja-JP" sz="2200">
                <a:solidFill>
                  <a:schemeClr val="tx2"/>
                </a:solidFill>
              </a:rPr>
              <a:t>AI</a:t>
            </a:r>
            <a:r>
              <a:rPr lang="ja-JP" altLang="en-US" sz="2200">
                <a:solidFill>
                  <a:schemeClr val="tx2"/>
                </a:solidFill>
              </a:rPr>
              <a:t>基盤想定成果物一覧</a:t>
            </a:r>
            <a:r>
              <a:rPr lang="en-US" altLang="ja-JP" sz="2200">
                <a:solidFill>
                  <a:schemeClr val="tx2"/>
                </a:solidFill>
              </a:rPr>
              <a:t>	</a:t>
            </a:r>
            <a:endParaRPr lang="ja-JP" altLang="en-US" sz="2200">
              <a:solidFill>
                <a:schemeClr val="tx2"/>
              </a:solidFill>
            </a:endParaRPr>
          </a:p>
        </p:txBody>
      </p:sp>
      <p:sp>
        <p:nvSpPr>
          <p:cNvPr id="3" name="テキスト プレースホルダー 2">
            <a:extLst>
              <a:ext uri="{FF2B5EF4-FFF2-40B4-BE49-F238E27FC236}">
                <a16:creationId xmlns:a16="http://schemas.microsoft.com/office/drawing/2014/main" id="{83B21CEE-467E-39AF-E9EC-6FB74132EDAA}"/>
              </a:ext>
            </a:extLst>
          </p:cNvPr>
          <p:cNvSpPr>
            <a:spLocks noGrp="1"/>
          </p:cNvSpPr>
          <p:nvPr>
            <p:ph type="body" sz="quarter" idx="12"/>
          </p:nvPr>
        </p:nvSpPr>
        <p:spPr/>
        <p:txBody>
          <a:bodyPr/>
          <a:lstStyle/>
          <a:p>
            <a:endParaRPr lang="ja-JP" altLang="en-US"/>
          </a:p>
        </p:txBody>
      </p:sp>
      <p:graphicFrame>
        <p:nvGraphicFramePr>
          <p:cNvPr id="4" name="表 3">
            <a:extLst>
              <a:ext uri="{FF2B5EF4-FFF2-40B4-BE49-F238E27FC236}">
                <a16:creationId xmlns:a16="http://schemas.microsoft.com/office/drawing/2014/main" id="{4ED6B95C-FEF7-A42D-0290-D339366A002B}"/>
              </a:ext>
            </a:extLst>
          </p:cNvPr>
          <p:cNvGraphicFramePr>
            <a:graphicFrameLocks noGrp="1"/>
          </p:cNvGraphicFramePr>
          <p:nvPr/>
        </p:nvGraphicFramePr>
        <p:xfrm>
          <a:off x="164999" y="584200"/>
          <a:ext cx="9575801" cy="6176377"/>
        </p:xfrm>
        <a:graphic>
          <a:graphicData uri="http://schemas.openxmlformats.org/drawingml/2006/table">
            <a:tbl>
              <a:tblPr>
                <a:tableStyleId>{5C22544A-7EE6-4342-B048-85BDC9FD1C3A}</a:tableStyleId>
              </a:tblPr>
              <a:tblGrid>
                <a:gridCol w="948083">
                  <a:extLst>
                    <a:ext uri="{9D8B030D-6E8A-4147-A177-3AD203B41FA5}">
                      <a16:colId xmlns:a16="http://schemas.microsoft.com/office/drawing/2014/main" val="3289191376"/>
                    </a:ext>
                  </a:extLst>
                </a:gridCol>
                <a:gridCol w="1371600">
                  <a:extLst>
                    <a:ext uri="{9D8B030D-6E8A-4147-A177-3AD203B41FA5}">
                      <a16:colId xmlns:a16="http://schemas.microsoft.com/office/drawing/2014/main" val="2594681752"/>
                    </a:ext>
                  </a:extLst>
                </a:gridCol>
                <a:gridCol w="7256118">
                  <a:extLst>
                    <a:ext uri="{9D8B030D-6E8A-4147-A177-3AD203B41FA5}">
                      <a16:colId xmlns:a16="http://schemas.microsoft.com/office/drawing/2014/main" val="3903634875"/>
                    </a:ext>
                  </a:extLst>
                </a:gridCol>
              </a:tblGrid>
              <a:tr h="159055">
                <a:tc gridSpan="3">
                  <a:txBody>
                    <a:bodyPr/>
                    <a:lstStyle/>
                    <a:p>
                      <a:pPr algn="ctr" fontAlgn="ctr"/>
                      <a:r>
                        <a:rPr lang="ja-JP" altLang="en-US" sz="1000" u="none" strike="noStrike">
                          <a:effectLst/>
                        </a:rPr>
                        <a:t>目次</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14245228"/>
                  </a:ext>
                </a:extLst>
              </a:tr>
              <a:tr h="159055">
                <a:tc rowSpan="37">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000" u="none" strike="noStrike">
                          <a:effectLst/>
                        </a:rPr>
                        <a:t>要件定義書</a:t>
                      </a:r>
                    </a:p>
                    <a:p>
                      <a:pPr algn="l" fontAlgn="ctr"/>
                      <a:r>
                        <a:rPr lang="ja-JP" altLang="en-US" sz="1000" u="none" strike="noStrike">
                          <a:effectLst/>
                        </a:rPr>
                        <a:t>　</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000" u="none" strike="noStrike">
                          <a:effectLst/>
                        </a:rPr>
                        <a:t>業務要件</a:t>
                      </a:r>
                    </a:p>
                  </a:txBody>
                  <a:tcPr marL="1174" marR="1174" marT="1174" marB="0"/>
                </a:tc>
                <a:tc>
                  <a:txBody>
                    <a:bodyPr/>
                    <a:lstStyle/>
                    <a:p>
                      <a:pPr algn="l" fontAlgn="ctr"/>
                      <a:r>
                        <a:rPr lang="ja-JP" altLang="en-US" sz="1000" u="none" strike="noStrike">
                          <a:effectLst/>
                        </a:rPr>
                        <a:t>第</a:t>
                      </a:r>
                      <a:r>
                        <a:rPr lang="en-US" altLang="ja-JP" sz="1000" u="none" strike="noStrike">
                          <a:effectLst/>
                        </a:rPr>
                        <a:t>1</a:t>
                      </a:r>
                      <a:r>
                        <a:rPr lang="ja-JP" altLang="en-US" sz="1000" u="none" strike="noStrike">
                          <a:effectLst/>
                        </a:rPr>
                        <a:t>章 システム化の目的および前提条件 </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3223369627"/>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2</a:t>
                      </a:r>
                      <a:r>
                        <a:rPr lang="ja-JP" altLang="en-US" sz="1000" u="none" strike="noStrike">
                          <a:effectLst/>
                        </a:rPr>
                        <a:t>章 アプリケーションアーキテクチャー</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3291570391"/>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3</a:t>
                      </a:r>
                      <a:r>
                        <a:rPr lang="ja-JP" altLang="en-US" sz="1000" u="none" strike="noStrike">
                          <a:effectLst/>
                        </a:rPr>
                        <a:t>章 業務フロー</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3277791069"/>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4</a:t>
                      </a:r>
                      <a:r>
                        <a:rPr lang="ja-JP" altLang="en-US" sz="1000" u="none" strike="noStrike">
                          <a:effectLst/>
                        </a:rPr>
                        <a:t>章 業務ルール</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4096766719"/>
                  </a:ext>
                </a:extLst>
              </a:tr>
              <a:tr h="159055">
                <a:tc vMerge="1">
                  <a:txBody>
                    <a:bodyPr/>
                    <a:lstStyle/>
                    <a:p>
                      <a:endParaRPr/>
                    </a:p>
                  </a:txBody>
                  <a:tcPr marL="1174" marR="1174" marT="1174" marB="0" anchor="ctr"/>
                </a:tc>
                <a:tc rowSpan="16">
                  <a:txBody>
                    <a:bodyPr/>
                    <a:lstStyle/>
                    <a:p>
                      <a:pPr algn="l" fontAlgn="ctr"/>
                      <a:r>
                        <a:rPr lang="ja-JP" altLang="en-US" sz="1000" u="none" strike="noStrike">
                          <a:effectLst/>
                        </a:rPr>
                        <a:t>機能要件</a:t>
                      </a:r>
                      <a:r>
                        <a:rPr lang="en-US" altLang="ja-JP" sz="1000" u="none" strike="noStrike">
                          <a:effectLst/>
                        </a:rPr>
                        <a:t>(</a:t>
                      </a:r>
                      <a:r>
                        <a:rPr lang="ja-JP" altLang="en-US" sz="1000" u="none" strike="noStrike">
                          <a:effectLst/>
                        </a:rPr>
                        <a:t>業務</a:t>
                      </a:r>
                      <a:r>
                        <a:rPr lang="en-US" altLang="ja-JP" sz="1000" u="none" strike="noStrike">
                          <a:effectLst/>
                        </a:rPr>
                        <a:t>)</a:t>
                      </a:r>
                    </a:p>
                  </a:txBody>
                  <a:tcPr marL="1174" marR="1174" marT="1174" marB="0"/>
                </a:tc>
                <a:tc>
                  <a:txBody>
                    <a:bodyPr/>
                    <a:lstStyle/>
                    <a:p>
                      <a:pPr algn="l" fontAlgn="ctr"/>
                      <a:r>
                        <a:rPr lang="ja-JP" altLang="en-US" sz="1000" u="none" strike="noStrike">
                          <a:effectLst/>
                        </a:rPr>
                        <a:t>第</a:t>
                      </a:r>
                      <a:r>
                        <a:rPr lang="en-US" altLang="ja-JP" sz="1000" u="none" strike="noStrike">
                          <a:effectLst/>
                        </a:rPr>
                        <a:t>5</a:t>
                      </a:r>
                      <a:r>
                        <a:rPr lang="ja-JP" altLang="en-US" sz="1000" u="none" strike="noStrike">
                          <a:effectLst/>
                        </a:rPr>
                        <a:t>章 システム機能一覧（スマホアプリ</a:t>
                      </a:r>
                      <a:r>
                        <a:rPr lang="en-US" altLang="ja-JP" sz="1000" u="none" strike="noStrike">
                          <a:effectLst/>
                        </a:rPr>
                        <a:t>/</a:t>
                      </a:r>
                      <a:r>
                        <a:rPr lang="en" sz="1000" u="none" strike="noStrike">
                          <a:effectLst/>
                        </a:rPr>
                        <a:t>BFF）</a:t>
                      </a:r>
                      <a:endParaRPr lang="en"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50892657"/>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6</a:t>
                      </a:r>
                      <a:r>
                        <a:rPr lang="ja-JP" altLang="en-US" sz="1000" u="none" strike="noStrike">
                          <a:effectLst/>
                        </a:rPr>
                        <a:t>章 システム機能一覧（プロント向け</a:t>
                      </a:r>
                      <a:r>
                        <a:rPr lang="en" sz="1000" u="none" strike="noStrike">
                          <a:effectLst/>
                        </a:rPr>
                        <a:t>API）</a:t>
                      </a:r>
                      <a:endParaRPr lang="en"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879351956"/>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7</a:t>
                      </a:r>
                      <a:r>
                        <a:rPr lang="ja-JP" altLang="en-US" sz="1000" u="none" strike="noStrike">
                          <a:effectLst/>
                        </a:rPr>
                        <a:t>章 システム機能一覧（</a:t>
                      </a:r>
                      <a:r>
                        <a:rPr lang="en" sz="1000" u="none" strike="noStrike">
                          <a:effectLst/>
                        </a:rPr>
                        <a:t>IVR</a:t>
                      </a:r>
                      <a:r>
                        <a:rPr lang="ja-JP" altLang="en-US" sz="1000" u="none" strike="noStrike">
                          <a:effectLst/>
                        </a:rPr>
                        <a:t>アプリ）</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498539649"/>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8</a:t>
                      </a:r>
                      <a:r>
                        <a:rPr lang="ja-JP" altLang="en-US" sz="1000" u="none" strike="noStrike">
                          <a:effectLst/>
                        </a:rPr>
                        <a:t>章 システム機能一覧（</a:t>
                      </a:r>
                      <a:r>
                        <a:rPr lang="en" sz="1000" u="none" strike="noStrike">
                          <a:effectLst/>
                        </a:rPr>
                        <a:t>AI</a:t>
                      </a:r>
                      <a:r>
                        <a:rPr lang="ja-JP" altLang="en-US" sz="1000" u="none" strike="noStrike">
                          <a:effectLst/>
                        </a:rPr>
                        <a:t>オペレータ）</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886156565"/>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9</a:t>
                      </a:r>
                      <a:r>
                        <a:rPr lang="ja-JP" altLang="en-US" sz="1000" u="none" strike="noStrike">
                          <a:effectLst/>
                        </a:rPr>
                        <a:t>章 システム機能一覧（管理画面）</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3527927631"/>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10</a:t>
                      </a:r>
                      <a:r>
                        <a:rPr lang="ja-JP" altLang="en-US" sz="1000" u="none" strike="noStrike">
                          <a:effectLst/>
                        </a:rPr>
                        <a:t>章 システム機能一覧（バッチ）</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3841030638"/>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11</a:t>
                      </a:r>
                      <a:r>
                        <a:rPr lang="ja-JP" altLang="en-US" sz="1000" u="none" strike="noStrike">
                          <a:effectLst/>
                        </a:rPr>
                        <a:t>章 入出力一覧（画面）</a:t>
                      </a:r>
                      <a:r>
                        <a:rPr lang="en-US" altLang="ja-JP" sz="1000" u="none" strike="noStrike">
                          <a:effectLst/>
                        </a:rPr>
                        <a:t>-</a:t>
                      </a:r>
                      <a:r>
                        <a:rPr lang="ja-JP" altLang="en-US" sz="1000" u="none" strike="noStrike">
                          <a:effectLst/>
                        </a:rPr>
                        <a:t>スマホアプリ</a:t>
                      </a:r>
                      <a:r>
                        <a:rPr lang="en-US" altLang="ja-JP" sz="1000" u="none" strike="noStrike">
                          <a:effectLst/>
                        </a:rPr>
                        <a:t>/</a:t>
                      </a:r>
                      <a:r>
                        <a:rPr lang="en" sz="1000" u="none" strike="noStrike">
                          <a:effectLst/>
                        </a:rPr>
                        <a:t>BFF</a:t>
                      </a:r>
                      <a:endParaRPr lang="en"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3911161634"/>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12</a:t>
                      </a:r>
                      <a:r>
                        <a:rPr lang="ja-JP" altLang="en-US" sz="1000" u="none" strike="noStrike">
                          <a:effectLst/>
                        </a:rPr>
                        <a:t>章 入出力一覧（画面）</a:t>
                      </a:r>
                      <a:r>
                        <a:rPr lang="en-US" altLang="ja-JP" sz="1000" u="none" strike="noStrike">
                          <a:effectLst/>
                        </a:rPr>
                        <a:t>-</a:t>
                      </a:r>
                      <a:r>
                        <a:rPr lang="ja-JP" altLang="en-US" sz="1000" u="none" strike="noStrike">
                          <a:effectLst/>
                        </a:rPr>
                        <a:t>管理画面</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3300014864"/>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13</a:t>
                      </a:r>
                      <a:r>
                        <a:rPr lang="ja-JP" altLang="en-US" sz="1000" u="none" strike="noStrike">
                          <a:effectLst/>
                        </a:rPr>
                        <a:t>章 入出力一覧（外部</a:t>
                      </a:r>
                      <a:r>
                        <a:rPr lang="en" sz="1000" u="none" strike="noStrike">
                          <a:effectLst/>
                        </a:rPr>
                        <a:t>Ｉ／Ｆ）-</a:t>
                      </a:r>
                      <a:r>
                        <a:rPr lang="ja-JP" altLang="en-US" sz="1000" u="none" strike="noStrike">
                          <a:effectLst/>
                        </a:rPr>
                        <a:t>スマホアプリ</a:t>
                      </a:r>
                      <a:r>
                        <a:rPr lang="en-US" altLang="ja-JP" sz="1000" u="none" strike="noStrike">
                          <a:effectLst/>
                        </a:rPr>
                        <a:t>/</a:t>
                      </a:r>
                      <a:r>
                        <a:rPr lang="en" sz="1000" u="none" strike="noStrike">
                          <a:effectLst/>
                        </a:rPr>
                        <a:t>BFF</a:t>
                      </a:r>
                      <a:endParaRPr lang="en"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1682465166"/>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14</a:t>
                      </a:r>
                      <a:r>
                        <a:rPr lang="ja-JP" altLang="en-US" sz="1000" u="none" strike="noStrike">
                          <a:effectLst/>
                        </a:rPr>
                        <a:t>章 入出力一覧（外部</a:t>
                      </a:r>
                      <a:r>
                        <a:rPr lang="en" sz="1000" u="none" strike="noStrike">
                          <a:effectLst/>
                        </a:rPr>
                        <a:t>Ｉ／Ｆ）-</a:t>
                      </a:r>
                      <a:r>
                        <a:rPr lang="ja-JP" altLang="en-US" sz="1000" u="none" strike="noStrike">
                          <a:effectLst/>
                        </a:rPr>
                        <a:t>フロント向け</a:t>
                      </a:r>
                      <a:r>
                        <a:rPr lang="en" sz="1000" u="none" strike="noStrike">
                          <a:effectLst/>
                        </a:rPr>
                        <a:t>API</a:t>
                      </a:r>
                      <a:endParaRPr lang="en"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1998667403"/>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15</a:t>
                      </a:r>
                      <a:r>
                        <a:rPr lang="ja-JP" altLang="en-US" sz="1000" u="none" strike="noStrike">
                          <a:effectLst/>
                        </a:rPr>
                        <a:t>章 入出力一覧（外部</a:t>
                      </a:r>
                      <a:r>
                        <a:rPr lang="en" sz="1000" u="none" strike="noStrike">
                          <a:effectLst/>
                        </a:rPr>
                        <a:t>Ｉ／Ｆ）-IVR</a:t>
                      </a:r>
                      <a:r>
                        <a:rPr lang="ja-JP" altLang="en-US" sz="1000" u="none" strike="noStrike">
                          <a:effectLst/>
                        </a:rPr>
                        <a:t>アプリ</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1161379554"/>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16</a:t>
                      </a:r>
                      <a:r>
                        <a:rPr lang="ja-JP" altLang="en-US" sz="1000" u="none" strike="noStrike">
                          <a:effectLst/>
                        </a:rPr>
                        <a:t>章 入出力一覧（外部</a:t>
                      </a:r>
                      <a:r>
                        <a:rPr lang="en" sz="1000" u="none" strike="noStrike">
                          <a:effectLst/>
                        </a:rPr>
                        <a:t>Ｉ／Ｆ）-AI</a:t>
                      </a:r>
                      <a:r>
                        <a:rPr lang="ja-JP" altLang="en-US" sz="1000" u="none" strike="noStrike">
                          <a:effectLst/>
                        </a:rPr>
                        <a:t>オペレータ</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3765579741"/>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17</a:t>
                      </a:r>
                      <a:r>
                        <a:rPr lang="ja-JP" altLang="en-US" sz="1000" u="none" strike="noStrike">
                          <a:effectLst/>
                        </a:rPr>
                        <a:t>章 入出力一覧（外部</a:t>
                      </a:r>
                      <a:r>
                        <a:rPr lang="en" sz="1000" u="none" strike="noStrike">
                          <a:effectLst/>
                        </a:rPr>
                        <a:t>Ｉ／Ｆ）-</a:t>
                      </a:r>
                      <a:r>
                        <a:rPr lang="ja-JP" altLang="en-US" sz="1000" u="none" strike="noStrike">
                          <a:effectLst/>
                        </a:rPr>
                        <a:t>管理画面</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1703731493"/>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18</a:t>
                      </a:r>
                      <a:r>
                        <a:rPr lang="ja-JP" altLang="en-US" sz="1000" u="none" strike="noStrike">
                          <a:effectLst/>
                        </a:rPr>
                        <a:t>章 入出力一覧（外部</a:t>
                      </a:r>
                      <a:r>
                        <a:rPr lang="en" sz="1000" u="none" strike="noStrike">
                          <a:effectLst/>
                        </a:rPr>
                        <a:t>Ｉ／Ｆ）-</a:t>
                      </a:r>
                      <a:r>
                        <a:rPr lang="ja-JP" altLang="en-US" sz="1000" u="none" strike="noStrike">
                          <a:effectLst/>
                        </a:rPr>
                        <a:t>バッチ</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396019837"/>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19</a:t>
                      </a:r>
                      <a:r>
                        <a:rPr lang="ja-JP" altLang="en-US" sz="1000" u="none" strike="noStrike">
                          <a:effectLst/>
                        </a:rPr>
                        <a:t>章 データモデリング</a:t>
                      </a:r>
                      <a:r>
                        <a:rPr lang="en-US" altLang="ja-JP" sz="1000" u="none" strike="noStrike">
                          <a:effectLst/>
                        </a:rPr>
                        <a:t>(</a:t>
                      </a:r>
                      <a:r>
                        <a:rPr lang="ja-JP" altLang="en-US" sz="1000" u="none" strike="noStrike">
                          <a:effectLst/>
                        </a:rPr>
                        <a:t>スマホアプリ</a:t>
                      </a:r>
                      <a:r>
                        <a:rPr lang="en-US" altLang="ja-JP" sz="1000" u="none" strike="noStrike">
                          <a:effectLst/>
                        </a:rPr>
                        <a:t>/</a:t>
                      </a:r>
                      <a:r>
                        <a:rPr lang="en" sz="1000" u="none" strike="noStrike">
                          <a:effectLst/>
                        </a:rPr>
                        <a:t>BFF)　※</a:t>
                      </a:r>
                      <a:r>
                        <a:rPr lang="ja-JP" altLang="en-US" sz="1000" u="none" strike="noStrike">
                          <a:effectLst/>
                        </a:rPr>
                        <a:t>オプション</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1466578162"/>
                  </a:ext>
                </a:extLst>
              </a:tr>
              <a:tr h="291342">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20</a:t>
                      </a:r>
                      <a:r>
                        <a:rPr lang="ja-JP" altLang="en-US" sz="1000" u="none" strike="noStrike">
                          <a:effectLst/>
                        </a:rPr>
                        <a:t>章 データモデリング</a:t>
                      </a:r>
                      <a:r>
                        <a:rPr lang="en-US" altLang="ja-JP" sz="1000" u="none" strike="noStrike">
                          <a:effectLst/>
                        </a:rPr>
                        <a:t>(</a:t>
                      </a:r>
                      <a:r>
                        <a:rPr lang="ja-JP" altLang="en-US" sz="1000" u="none" strike="noStrike">
                          <a:effectLst/>
                        </a:rPr>
                        <a:t>フロント向け</a:t>
                      </a:r>
                      <a:r>
                        <a:rPr lang="en" sz="1000" u="none" strike="noStrike">
                          <a:effectLst/>
                        </a:rPr>
                        <a:t>API、IVR</a:t>
                      </a:r>
                      <a:r>
                        <a:rPr lang="ja-JP" altLang="en-US" sz="1000" u="none" strike="noStrike">
                          <a:effectLst/>
                        </a:rPr>
                        <a:t>アプリ、</a:t>
                      </a:r>
                      <a:r>
                        <a:rPr lang="en" sz="1000" u="none" strike="noStrike">
                          <a:effectLst/>
                        </a:rPr>
                        <a:t>AI</a:t>
                      </a:r>
                      <a:r>
                        <a:rPr lang="ja-JP" altLang="en-US" sz="1000" u="none" strike="noStrike">
                          <a:effectLst/>
                        </a:rPr>
                        <a:t>オペレータ、管理画面、バッチ</a:t>
                      </a:r>
                      <a:r>
                        <a:rPr lang="en-US" altLang="ja-JP" sz="1000" u="none" strike="noStrike">
                          <a:effectLst/>
                        </a:rPr>
                        <a:t>)</a:t>
                      </a:r>
                      <a:r>
                        <a:rPr lang="ja-JP" altLang="en-US" sz="1000" u="none" strike="noStrike">
                          <a:effectLst/>
                        </a:rPr>
                        <a:t>　</a:t>
                      </a:r>
                      <a:r>
                        <a:rPr lang="en-US" altLang="ja-JP" sz="1000" u="none" strike="noStrike">
                          <a:effectLst/>
                        </a:rPr>
                        <a:t>※</a:t>
                      </a:r>
                      <a:r>
                        <a:rPr lang="ja-JP" altLang="en-US" sz="1000" u="none" strike="noStrike">
                          <a:effectLst/>
                        </a:rPr>
                        <a:t>オプション、</a:t>
                      </a:r>
                      <a:r>
                        <a:rPr lang="en" sz="1000" u="none" strike="noStrike">
                          <a:effectLst/>
                        </a:rPr>
                        <a:t>AI</a:t>
                      </a:r>
                      <a:r>
                        <a:rPr lang="ja-JP" altLang="en-US" sz="1000" u="none" strike="noStrike">
                          <a:effectLst/>
                        </a:rPr>
                        <a:t>オペレータは</a:t>
                      </a:r>
                      <a:r>
                        <a:rPr lang="en" sz="1000" u="none" strike="noStrike">
                          <a:effectLst/>
                        </a:rPr>
                        <a:t>RAG</a:t>
                      </a:r>
                      <a:r>
                        <a:rPr lang="ja-JP" altLang="en-US" sz="1000" u="none" strike="noStrike">
                          <a:effectLst/>
                        </a:rPr>
                        <a:t>の構成を検討する</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1463949584"/>
                  </a:ext>
                </a:extLst>
              </a:tr>
              <a:tr h="159055">
                <a:tc vMerge="1">
                  <a:txBody>
                    <a:bodyPr/>
                    <a:lstStyle/>
                    <a:p>
                      <a:endParaRPr/>
                    </a:p>
                  </a:txBody>
                  <a:tcPr marL="1174" marR="1174" marT="1174" marB="0" anchor="ctr"/>
                </a:tc>
                <a:tc rowSpan="7">
                  <a:txBody>
                    <a:bodyPr/>
                    <a:lstStyle/>
                    <a:p>
                      <a:pPr algn="l" fontAlgn="ctr"/>
                      <a:r>
                        <a:rPr lang="ja-JP" altLang="en-US" sz="1000" u="none" strike="noStrike">
                          <a:effectLst/>
                        </a:rPr>
                        <a:t>非機能要件</a:t>
                      </a:r>
                    </a:p>
                  </a:txBody>
                  <a:tcPr marL="1174" marR="1174" marT="1174" marB="0"/>
                </a:tc>
                <a:tc>
                  <a:txBody>
                    <a:bodyPr/>
                    <a:lstStyle/>
                    <a:p>
                      <a:pPr algn="l" fontAlgn="ctr"/>
                      <a:r>
                        <a:rPr lang="ja-JP" altLang="en-US" sz="1000" u="none" strike="noStrike">
                          <a:effectLst/>
                        </a:rPr>
                        <a:t>第</a:t>
                      </a:r>
                      <a:r>
                        <a:rPr lang="en-US" altLang="ja-JP" sz="1000" u="none" strike="noStrike">
                          <a:effectLst/>
                        </a:rPr>
                        <a:t>21</a:t>
                      </a:r>
                      <a:r>
                        <a:rPr lang="ja-JP" altLang="en-US" sz="1000" u="none" strike="noStrike">
                          <a:effectLst/>
                        </a:rPr>
                        <a:t>章 品質要件一覧</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51857801"/>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22</a:t>
                      </a:r>
                      <a:r>
                        <a:rPr lang="ja-JP" altLang="en-US" sz="1000" u="none" strike="noStrike">
                          <a:effectLst/>
                        </a:rPr>
                        <a:t>章 可用性</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719165414"/>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23</a:t>
                      </a:r>
                      <a:r>
                        <a:rPr lang="ja-JP" altLang="en-US" sz="1000" u="none" strike="noStrike">
                          <a:effectLst/>
                        </a:rPr>
                        <a:t>章 性能・拡張性</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892578805"/>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24</a:t>
                      </a:r>
                      <a:r>
                        <a:rPr lang="ja-JP" altLang="en-US" sz="1000" u="none" strike="noStrike">
                          <a:effectLst/>
                        </a:rPr>
                        <a:t>章 運用・保守性</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3642723544"/>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25</a:t>
                      </a:r>
                      <a:r>
                        <a:rPr lang="ja-JP" altLang="en-US" sz="1000" u="none" strike="noStrike">
                          <a:effectLst/>
                        </a:rPr>
                        <a:t>章 移行性</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1977391844"/>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26</a:t>
                      </a:r>
                      <a:r>
                        <a:rPr lang="ja-JP" altLang="en-US" sz="1000" u="none" strike="noStrike">
                          <a:effectLst/>
                        </a:rPr>
                        <a:t>章 セキュリティ</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908506546"/>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27</a:t>
                      </a:r>
                      <a:r>
                        <a:rPr lang="ja-JP" altLang="en-US" sz="1000" u="none" strike="noStrike">
                          <a:effectLst/>
                        </a:rPr>
                        <a:t>章 環境利用要件</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341959059"/>
                  </a:ext>
                </a:extLst>
              </a:tr>
              <a:tr h="159055">
                <a:tc vMerge="1">
                  <a:txBody>
                    <a:bodyPr/>
                    <a:lstStyle/>
                    <a:p>
                      <a:endParaRPr/>
                    </a:p>
                  </a:txBody>
                  <a:tcPr marL="1174" marR="1174" marT="1174" marB="0" anchor="ct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 altLang="ja-JP" sz="1000" u="none" strike="noStrike">
                          <a:effectLst/>
                        </a:rPr>
                        <a:t>Azure</a:t>
                      </a:r>
                      <a:r>
                        <a:rPr lang="ja-JP" altLang="en-US" sz="1000" u="none" strike="noStrike">
                          <a:effectLst/>
                        </a:rPr>
                        <a:t>基盤概要設計</a:t>
                      </a:r>
                    </a:p>
                  </a:txBody>
                  <a:tcPr marL="1174" marR="1174" marT="1174" marB="0"/>
                </a:tc>
                <a:tc>
                  <a:txBody>
                    <a:bodyPr/>
                    <a:lstStyle/>
                    <a:p>
                      <a:pPr algn="l" fontAlgn="ctr"/>
                      <a:r>
                        <a:rPr lang="ja-JP" altLang="en-US" sz="1000" u="none" strike="noStrike">
                          <a:effectLst/>
                        </a:rPr>
                        <a:t>第</a:t>
                      </a:r>
                      <a:r>
                        <a:rPr lang="en-US" altLang="ja-JP" sz="1000" u="none" strike="noStrike">
                          <a:effectLst/>
                        </a:rPr>
                        <a:t>28</a:t>
                      </a:r>
                      <a:r>
                        <a:rPr lang="ja-JP" altLang="en-US" sz="1000" u="none" strike="noStrike">
                          <a:effectLst/>
                        </a:rPr>
                        <a:t>章 システム構成</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28126143"/>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29</a:t>
                      </a:r>
                      <a:r>
                        <a:rPr lang="ja-JP" altLang="en-US" sz="1000" u="none" strike="noStrike">
                          <a:effectLst/>
                        </a:rPr>
                        <a:t>章 ソフトウェア構成</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666890918"/>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30</a:t>
                      </a:r>
                      <a:r>
                        <a:rPr lang="ja-JP" altLang="en-US" sz="1000" u="none" strike="noStrike">
                          <a:effectLst/>
                        </a:rPr>
                        <a:t>章 ネットワーク構成</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1210810328"/>
                  </a:ext>
                </a:extLst>
              </a:tr>
              <a:tr h="159055">
                <a:tc vMerge="1">
                  <a:txBody>
                    <a:bodyPr/>
                    <a:lstStyle/>
                    <a:p>
                      <a:endParaRPr/>
                    </a:p>
                  </a:txBody>
                  <a:tcPr marL="1174" marR="1174" marT="1174" marB="0" anchor="ct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000" u="none" strike="noStrike">
                          <a:effectLst/>
                        </a:rPr>
                        <a:t>オンプレ基盤概要設計</a:t>
                      </a:r>
                    </a:p>
                  </a:txBody>
                  <a:tcPr marL="1174" marR="1174" marT="1174" marB="0"/>
                </a:tc>
                <a:tc>
                  <a:txBody>
                    <a:bodyPr/>
                    <a:lstStyle/>
                    <a:p>
                      <a:pPr algn="l" fontAlgn="ctr"/>
                      <a:r>
                        <a:rPr lang="ja-JP" altLang="en-US" sz="1000" u="none" strike="noStrike">
                          <a:effectLst/>
                        </a:rPr>
                        <a:t>第</a:t>
                      </a:r>
                      <a:r>
                        <a:rPr lang="en-US" altLang="ja-JP" sz="1000" u="none" strike="noStrike">
                          <a:effectLst/>
                        </a:rPr>
                        <a:t>31</a:t>
                      </a:r>
                      <a:r>
                        <a:rPr lang="ja-JP" altLang="en-US" sz="1000" u="none" strike="noStrike">
                          <a:effectLst/>
                        </a:rPr>
                        <a:t>章 システム構成</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889742455"/>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32</a:t>
                      </a:r>
                      <a:r>
                        <a:rPr lang="ja-JP" altLang="en-US" sz="1000" u="none" strike="noStrike">
                          <a:effectLst/>
                        </a:rPr>
                        <a:t>章 ソフトウェア構成</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372914343"/>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33</a:t>
                      </a:r>
                      <a:r>
                        <a:rPr lang="ja-JP" altLang="en-US" sz="1000" u="none" strike="noStrike">
                          <a:effectLst/>
                        </a:rPr>
                        <a:t>章 ネットワーク構成</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1024682184"/>
                  </a:ext>
                </a:extLst>
              </a:tr>
              <a:tr h="159055">
                <a:tc vMerge="1">
                  <a:txBody>
                    <a:bodyPr/>
                    <a:lstStyle/>
                    <a:p>
                      <a:endParaRPr/>
                    </a:p>
                  </a:txBody>
                  <a:tcPr marL="1174" marR="1174" marT="1174" marB="0" anchor="ctr"/>
                </a:tc>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000" u="none" strike="noStrike">
                          <a:effectLst/>
                        </a:rPr>
                        <a:t>開発標準</a:t>
                      </a:r>
                    </a:p>
                  </a:txBody>
                  <a:tcPr marL="1174" marR="1174" marT="1174" marB="0"/>
                </a:tc>
                <a:tc>
                  <a:txBody>
                    <a:bodyPr/>
                    <a:lstStyle/>
                    <a:p>
                      <a:pPr algn="l" fontAlgn="ctr"/>
                      <a:r>
                        <a:rPr lang="ja-JP" altLang="en-US" sz="1000" u="none" strike="noStrike">
                          <a:effectLst/>
                        </a:rPr>
                        <a:t>第</a:t>
                      </a:r>
                      <a:r>
                        <a:rPr lang="en-US" altLang="ja-JP" sz="1000" u="none" strike="noStrike">
                          <a:effectLst/>
                        </a:rPr>
                        <a:t>34</a:t>
                      </a:r>
                      <a:r>
                        <a:rPr lang="ja-JP" altLang="en-US" sz="1000" u="none" strike="noStrike">
                          <a:effectLst/>
                        </a:rPr>
                        <a:t>章 開発標準・基準</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843747024"/>
                  </a:ext>
                </a:extLst>
              </a:tr>
              <a:tr h="159055">
                <a:tc vMerge="1">
                  <a:txBody>
                    <a:bodyPr/>
                    <a:lstStyle/>
                    <a:p>
                      <a:endParaRPr/>
                    </a:p>
                  </a:txBody>
                  <a:tcPr marL="1174" marR="1174" marT="1174" marB="0" anchor="ctr"/>
                </a:tc>
                <a:tc vMerge="1">
                  <a:txBody>
                    <a:bodyPr/>
                    <a:lstStyle/>
                    <a:p>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35</a:t>
                      </a:r>
                      <a:r>
                        <a:rPr lang="ja-JP" altLang="en-US" sz="1000" u="none" strike="noStrike">
                          <a:effectLst/>
                        </a:rPr>
                        <a:t>章 言語／ツール一覧</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3743527693"/>
                  </a:ext>
                </a:extLst>
              </a:tr>
              <a:tr h="159055">
                <a:tc vMerge="1">
                  <a:txBody>
                    <a:bodyPr/>
                    <a:lstStyle/>
                    <a:p>
                      <a:endParaRPr/>
                    </a:p>
                  </a:txBody>
                  <a:tcPr marL="1174" marR="1174" marT="1174"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000" u="none" strike="noStrike">
                          <a:effectLst/>
                        </a:rPr>
                        <a:t>テスト方針　</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36</a:t>
                      </a:r>
                      <a:r>
                        <a:rPr lang="ja-JP" altLang="en-US" sz="1000" u="none" strike="noStrike">
                          <a:effectLst/>
                        </a:rPr>
                        <a:t>章 テスト方針書</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2086017431"/>
                  </a:ext>
                </a:extLst>
              </a:tr>
              <a:tr h="159055">
                <a:tc vMerge="1">
                  <a:txBody>
                    <a:bodyPr/>
                    <a:lstStyle/>
                    <a:p>
                      <a:endParaRPr/>
                    </a:p>
                  </a:txBody>
                  <a:tcPr marL="1174" marR="1174" marT="1174"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000" u="none" strike="noStrike">
                          <a:effectLst/>
                        </a:rPr>
                        <a:t>その他　</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tc>
                  <a:txBody>
                    <a:bodyPr/>
                    <a:lstStyle/>
                    <a:p>
                      <a:pPr algn="l" fontAlgn="ctr"/>
                      <a:r>
                        <a:rPr lang="ja-JP" altLang="en-US" sz="1000" u="none" strike="noStrike">
                          <a:effectLst/>
                        </a:rPr>
                        <a:t>第</a:t>
                      </a:r>
                      <a:r>
                        <a:rPr lang="en-US" altLang="ja-JP" sz="1000" u="none" strike="noStrike">
                          <a:effectLst/>
                        </a:rPr>
                        <a:t>37</a:t>
                      </a:r>
                      <a:r>
                        <a:rPr lang="ja-JP" altLang="en-US" sz="1000" u="none" strike="noStrike">
                          <a:effectLst/>
                        </a:rPr>
                        <a:t>章 用語集</a:t>
                      </a:r>
                      <a:endParaRPr lang="ja-JP" altLang="en-US" sz="1000" b="0" i="0" u="none" strike="noStrike">
                        <a:solidFill>
                          <a:srgbClr val="000000"/>
                        </a:solidFill>
                        <a:effectLst/>
                        <a:latin typeface="Meiryo UI" panose="020B0604030504040204" pitchFamily="34" charset="-128"/>
                        <a:ea typeface="Meiryo UI" panose="020B0604030504040204" pitchFamily="34" charset="-128"/>
                      </a:endParaRPr>
                    </a:p>
                  </a:txBody>
                  <a:tcPr marL="1174" marR="1174" marT="1174" marB="0" anchor="ctr"/>
                </a:tc>
                <a:extLst>
                  <a:ext uri="{0D108BD9-81ED-4DB2-BD59-A6C34878D82A}">
                    <a16:rowId xmlns:a16="http://schemas.microsoft.com/office/drawing/2014/main" val="4186599134"/>
                  </a:ext>
                </a:extLst>
              </a:tr>
            </a:tbl>
          </a:graphicData>
        </a:graphic>
      </p:graphicFrame>
    </p:spTree>
    <p:extLst>
      <p:ext uri="{BB962C8B-B14F-4D97-AF65-F5344CB8AC3E}">
        <p14:creationId xmlns:p14="http://schemas.microsoft.com/office/powerpoint/2010/main" val="2967264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E84985-8EBF-48B7-A791-FBE3CF77ED60}"/>
              </a:ext>
            </a:extLst>
          </p:cNvPr>
          <p:cNvSpPr>
            <a:spLocks noGrp="1"/>
          </p:cNvSpPr>
          <p:nvPr>
            <p:ph type="title" idx="4294967295"/>
          </p:nvPr>
        </p:nvSpPr>
        <p:spPr>
          <a:xfrm>
            <a:off x="612742" y="102109"/>
            <a:ext cx="7635875" cy="334962"/>
          </a:xfrm>
          <a:prstGeom prst="rect">
            <a:avLst/>
          </a:prstGeom>
        </p:spPr>
        <p:txBody>
          <a:bodyPr/>
          <a:lstStyle/>
          <a:p>
            <a:r>
              <a:rPr lang="ja-JP" altLang="en-US"/>
              <a:t>６</a:t>
            </a:r>
            <a:r>
              <a:rPr lang="en-US" altLang="ja-JP"/>
              <a:t>-</a:t>
            </a:r>
            <a:r>
              <a:rPr lang="ja-JP" altLang="en-US"/>
              <a:t>２．</a:t>
            </a:r>
            <a:r>
              <a:rPr lang="en-US" altLang="ja-JP"/>
              <a:t>【</a:t>
            </a:r>
            <a:r>
              <a:rPr lang="ja-JP" altLang="en-US"/>
              <a:t>開発管理</a:t>
            </a:r>
            <a:r>
              <a:rPr lang="en-US" altLang="ja-JP"/>
              <a:t>】</a:t>
            </a:r>
            <a:r>
              <a:rPr lang="ja-JP" altLang="en-US"/>
              <a:t>テスト方針</a:t>
            </a:r>
          </a:p>
        </p:txBody>
      </p:sp>
      <p:sp>
        <p:nvSpPr>
          <p:cNvPr id="5" name="Rectangle 10">
            <a:extLst>
              <a:ext uri="{FF2B5EF4-FFF2-40B4-BE49-F238E27FC236}">
                <a16:creationId xmlns:a16="http://schemas.microsoft.com/office/drawing/2014/main" id="{EB5A591A-6F3E-424E-8082-F7549FDD1BA3}"/>
              </a:ext>
            </a:extLst>
          </p:cNvPr>
          <p:cNvSpPr>
            <a:spLocks noChangeArrowheads="1"/>
          </p:cNvSpPr>
          <p:nvPr/>
        </p:nvSpPr>
        <p:spPr bwMode="gray">
          <a:xfrm>
            <a:off x="342899" y="727931"/>
            <a:ext cx="9220201" cy="535261"/>
          </a:xfrm>
          <a:prstGeom prst="rect">
            <a:avLst/>
          </a:prstGeom>
          <a:noFill/>
          <a:ln w="9525">
            <a:noFill/>
            <a:miter lim="800000"/>
            <a:headEnd/>
            <a:tailEnd/>
          </a:ln>
        </p:spPr>
        <p:txBody>
          <a:bodyPr lIns="108000" tIns="0" bIns="0" anchor="ctr" anchorCtr="0"/>
          <a:lstStyle>
            <a:lvl1pPr marL="88900" indent="-88900">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marL="285750" indent="-285750">
              <a:spcBef>
                <a:spcPts val="300"/>
              </a:spcBef>
              <a:buFont typeface="Wingdings" panose="05000000000000000000" pitchFamily="2" charset="2"/>
              <a:buChar char="l"/>
            </a:pPr>
            <a:r>
              <a:rPr lang="ja-JP" altLang="en-US" sz="1400">
                <a:latin typeface="+mn-ea"/>
                <a:ea typeface="+mn-ea"/>
              </a:rPr>
              <a:t>テストは結合テスト</a:t>
            </a:r>
            <a:r>
              <a:rPr lang="en-US" altLang="ja-JP" sz="1400">
                <a:latin typeface="+mn-ea"/>
                <a:ea typeface="+mn-ea"/>
              </a:rPr>
              <a:t>/</a:t>
            </a:r>
            <a:r>
              <a:rPr lang="ja-JP" altLang="en-US" sz="1400">
                <a:latin typeface="+mn-ea"/>
                <a:ea typeface="+mn-ea"/>
              </a:rPr>
              <a:t>システムテストの他、ユーザ受け入れテストを実施する想定（計画は各事業会社）</a:t>
            </a:r>
            <a:endParaRPr lang="en-US" altLang="ja-JP" sz="1400">
              <a:latin typeface="+mn-ea"/>
              <a:ea typeface="+mn-ea"/>
            </a:endParaRPr>
          </a:p>
          <a:p>
            <a:pPr marL="285750" indent="-285750">
              <a:spcBef>
                <a:spcPts val="300"/>
              </a:spcBef>
              <a:buFont typeface="Wingdings" panose="05000000000000000000" pitchFamily="2" charset="2"/>
              <a:buChar char="l"/>
            </a:pPr>
            <a:r>
              <a:rPr lang="ja-JP" altLang="en-US" sz="1400">
                <a:latin typeface="+mn-ea"/>
                <a:ea typeface="+mn-ea"/>
              </a:rPr>
              <a:t>詳細はテスト計画書作成時に定義予定</a:t>
            </a:r>
            <a:endParaRPr lang="en-US" altLang="ja-JP" sz="1400">
              <a:latin typeface="+mn-ea"/>
              <a:ea typeface="+mn-ea"/>
            </a:endParaRPr>
          </a:p>
        </p:txBody>
      </p:sp>
      <p:graphicFrame>
        <p:nvGraphicFramePr>
          <p:cNvPr id="6" name="表 5">
            <a:extLst>
              <a:ext uri="{FF2B5EF4-FFF2-40B4-BE49-F238E27FC236}">
                <a16:creationId xmlns:a16="http://schemas.microsoft.com/office/drawing/2014/main" id="{29784C22-CE8D-5A89-BE11-1C92D85F1F38}"/>
              </a:ext>
            </a:extLst>
          </p:cNvPr>
          <p:cNvGraphicFramePr>
            <a:graphicFrameLocks noGrp="1"/>
          </p:cNvGraphicFramePr>
          <p:nvPr>
            <p:extLst>
              <p:ext uri="{D42A27DB-BD31-4B8C-83A1-F6EECF244321}">
                <p14:modId xmlns:p14="http://schemas.microsoft.com/office/powerpoint/2010/main" val="2136838017"/>
              </p:ext>
            </p:extLst>
          </p:nvPr>
        </p:nvGraphicFramePr>
        <p:xfrm>
          <a:off x="342899" y="1379220"/>
          <a:ext cx="9378223" cy="4118220"/>
        </p:xfrm>
        <a:graphic>
          <a:graphicData uri="http://schemas.openxmlformats.org/drawingml/2006/table">
            <a:tbl>
              <a:tblPr firstRow="1" bandRow="1">
                <a:tableStyleId>{5C22544A-7EE6-4342-B048-85BDC9FD1C3A}</a:tableStyleId>
              </a:tblPr>
              <a:tblGrid>
                <a:gridCol w="390956">
                  <a:extLst>
                    <a:ext uri="{9D8B030D-6E8A-4147-A177-3AD203B41FA5}">
                      <a16:colId xmlns:a16="http://schemas.microsoft.com/office/drawing/2014/main" val="3626445143"/>
                    </a:ext>
                  </a:extLst>
                </a:gridCol>
                <a:gridCol w="1131894">
                  <a:extLst>
                    <a:ext uri="{9D8B030D-6E8A-4147-A177-3AD203B41FA5}">
                      <a16:colId xmlns:a16="http://schemas.microsoft.com/office/drawing/2014/main" val="2953232655"/>
                    </a:ext>
                  </a:extLst>
                </a:gridCol>
                <a:gridCol w="3912022">
                  <a:extLst>
                    <a:ext uri="{9D8B030D-6E8A-4147-A177-3AD203B41FA5}">
                      <a16:colId xmlns:a16="http://schemas.microsoft.com/office/drawing/2014/main" val="3821579811"/>
                    </a:ext>
                  </a:extLst>
                </a:gridCol>
                <a:gridCol w="1167681">
                  <a:extLst>
                    <a:ext uri="{9D8B030D-6E8A-4147-A177-3AD203B41FA5}">
                      <a16:colId xmlns:a16="http://schemas.microsoft.com/office/drawing/2014/main" val="2380278129"/>
                    </a:ext>
                  </a:extLst>
                </a:gridCol>
                <a:gridCol w="555134">
                  <a:extLst>
                    <a:ext uri="{9D8B030D-6E8A-4147-A177-3AD203B41FA5}">
                      <a16:colId xmlns:a16="http://schemas.microsoft.com/office/drawing/2014/main" val="2793329319"/>
                    </a:ext>
                  </a:extLst>
                </a:gridCol>
                <a:gridCol w="555134">
                  <a:extLst>
                    <a:ext uri="{9D8B030D-6E8A-4147-A177-3AD203B41FA5}">
                      <a16:colId xmlns:a16="http://schemas.microsoft.com/office/drawing/2014/main" val="3485699450"/>
                    </a:ext>
                  </a:extLst>
                </a:gridCol>
                <a:gridCol w="555134">
                  <a:extLst>
                    <a:ext uri="{9D8B030D-6E8A-4147-A177-3AD203B41FA5}">
                      <a16:colId xmlns:a16="http://schemas.microsoft.com/office/drawing/2014/main" val="1488332738"/>
                    </a:ext>
                  </a:extLst>
                </a:gridCol>
                <a:gridCol w="555134">
                  <a:extLst>
                    <a:ext uri="{9D8B030D-6E8A-4147-A177-3AD203B41FA5}">
                      <a16:colId xmlns:a16="http://schemas.microsoft.com/office/drawing/2014/main" val="328190594"/>
                    </a:ext>
                  </a:extLst>
                </a:gridCol>
                <a:gridCol w="555134">
                  <a:extLst>
                    <a:ext uri="{9D8B030D-6E8A-4147-A177-3AD203B41FA5}">
                      <a16:colId xmlns:a16="http://schemas.microsoft.com/office/drawing/2014/main" val="304464858"/>
                    </a:ext>
                  </a:extLst>
                </a:gridCol>
              </a:tblGrid>
              <a:tr h="246816">
                <a:tc rowSpan="3">
                  <a:txBody>
                    <a:bodyPr/>
                    <a:lstStyle/>
                    <a:p>
                      <a:r>
                        <a:rPr kumimoji="1" lang="ja-JP" altLang="en-US" sz="1200" b="0">
                          <a:solidFill>
                            <a:schemeClr val="bg1"/>
                          </a:solidFill>
                        </a:rPr>
                        <a:t>区分</a:t>
                      </a:r>
                    </a:p>
                  </a:txBody>
                  <a:tcPr anchor="b">
                    <a:lnL w="12700" cap="flat" cmpd="sng" algn="ctr">
                      <a:solidFill>
                        <a:schemeClr val="bg2"/>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rgbClr val="00588F"/>
                    </a:solidFill>
                  </a:tcPr>
                </a:tc>
                <a:tc rowSpan="3">
                  <a:txBody>
                    <a:bodyPr/>
                    <a:lstStyle/>
                    <a:p>
                      <a:endParaRPr kumimoji="1" lang="ja-JP" altLang="en-US" sz="1200" b="0">
                        <a:solidFill>
                          <a:schemeClr val="bg1"/>
                        </a:solidFill>
                      </a:endParaRPr>
                    </a:p>
                  </a:txBody>
                  <a:tcPr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rgbClr val="00588F"/>
                    </a:solidFill>
                  </a:tcPr>
                </a:tc>
                <a:tc rowSpan="3">
                  <a:txBody>
                    <a:bodyPr/>
                    <a:lstStyle/>
                    <a:p>
                      <a:r>
                        <a:rPr kumimoji="1" lang="ja-JP" altLang="en-US" sz="1100" b="0">
                          <a:solidFill>
                            <a:schemeClr val="bg1"/>
                          </a:solidFill>
                        </a:rPr>
                        <a:t>テスト観点</a:t>
                      </a:r>
                    </a:p>
                  </a:txBody>
                  <a:tcPr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rgbClr val="00588F"/>
                    </a:solidFill>
                  </a:tcPr>
                </a:tc>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solidFill>
                            <a:schemeClr val="bg1"/>
                          </a:solidFill>
                        </a:rPr>
                        <a:t>役割分担</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588F"/>
                    </a:solidFill>
                  </a:tcPr>
                </a:tc>
                <a:tc hMerge="1">
                  <a:txBody>
                    <a:bodyPr/>
                    <a:lstStyle/>
                    <a:p>
                      <a:endParaRPr kumimoji="1" lang="ja-JP" altLang="en-US" sz="1200" b="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588F"/>
                    </a:solidFill>
                  </a:tcPr>
                </a:tc>
                <a:tc hMerge="1">
                  <a:txBody>
                    <a:bodyPr/>
                    <a:lstStyle/>
                    <a:p>
                      <a:endParaRPr kumimoji="1" lang="ja-JP" altLang="en-US"/>
                    </a:p>
                  </a:txBody>
                  <a:tcPr>
                    <a:lnL w="12700" cap="flat" cmpd="sng" algn="ctr">
                      <a:solidFill>
                        <a:schemeClr val="bg2"/>
                      </a:solidFill>
                      <a:prstDash val="solid"/>
                      <a:round/>
                      <a:headEnd type="none" w="med" len="med"/>
                      <a:tailEnd type="none" w="med" len="med"/>
                    </a:lnL>
                  </a:tcPr>
                </a:tc>
                <a:tc hMerge="1">
                  <a:txBody>
                    <a:bodyPr/>
                    <a:lstStyle/>
                    <a:p>
                      <a:endParaRPr kumimoji="1" lang="ja-JP" altLang="en-US"/>
                    </a:p>
                  </a:txBody>
                  <a:tcPr>
                    <a:lnL w="12700" cap="flat" cmpd="sng" algn="ctr">
                      <a:solidFill>
                        <a:schemeClr val="bg2"/>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987386169"/>
                  </a:ext>
                </a:extLst>
              </a:tr>
              <a:tr h="254295">
                <a:tc v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tc vMerge="1">
                  <a:txBody>
                    <a:bodyPr/>
                    <a:lstStyle/>
                    <a:p>
                      <a:endParaRPr kumimoji="1" lang="ja-JP" altLang="en-US"/>
                    </a:p>
                  </a:txBody>
                  <a:tcPr/>
                </a:tc>
                <a:tc v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tc>
                  <a:txBody>
                    <a:bodyPr/>
                    <a:lstStyle/>
                    <a:p>
                      <a:r>
                        <a:rPr kumimoji="1" lang="en-US" altLang="ja-JP" sz="1100" b="0">
                          <a:solidFill>
                            <a:schemeClr val="bg1"/>
                          </a:solidFill>
                        </a:rPr>
                        <a:t>SMBC/SMCC</a:t>
                      </a:r>
                      <a:endParaRPr kumimoji="1" lang="ja-JP" altLang="en-US" sz="1100" b="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588F"/>
                    </a:solidFill>
                  </a:tcPr>
                </a:tc>
                <a:tc gridSpan="2">
                  <a:txBody>
                    <a:bodyPr/>
                    <a:lstStyle/>
                    <a:p>
                      <a:r>
                        <a:rPr kumimoji="1" lang="en-US" altLang="ja-JP" sz="1100" b="0">
                          <a:solidFill>
                            <a:schemeClr val="bg1"/>
                          </a:solidFill>
                        </a:rPr>
                        <a:t>JRI</a:t>
                      </a:r>
                      <a:endParaRPr kumimoji="1" lang="ja-JP" altLang="en-US" sz="1100" b="0">
                        <a:solidFill>
                          <a:schemeClr val="bg1"/>
                        </a:solidFill>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588F"/>
                    </a:solidFill>
                  </a:tcPr>
                </a:tc>
                <a:tc hMerge="1">
                  <a:txBody>
                    <a:bodyPr/>
                    <a:lstStyle/>
                    <a:p>
                      <a:endParaRPr kumimoji="1" lang="ja-JP" altLang="en-US"/>
                    </a:p>
                  </a:txBody>
                  <a:tcPr>
                    <a:lnL w="12700" cap="flat" cmpd="sng" algn="ctr">
                      <a:solidFill>
                        <a:schemeClr val="bg1">
                          <a:lumMod val="85000"/>
                        </a:schemeClr>
                      </a:solidFill>
                      <a:prstDash val="solid"/>
                      <a:round/>
                      <a:headEnd type="none" w="med" len="med"/>
                      <a:tailEnd type="none" w="med" len="med"/>
                    </a:lnL>
                  </a:tcPr>
                </a:tc>
                <a:tc rowSpan="2">
                  <a:txBody>
                    <a:bodyPr/>
                    <a:lstStyle/>
                    <a:p>
                      <a:pPr algn="ctr"/>
                      <a:r>
                        <a:rPr kumimoji="1" lang="en-US" altLang="ja-JP" sz="1100" b="0">
                          <a:solidFill>
                            <a:schemeClr val="bg1"/>
                          </a:solidFill>
                        </a:rPr>
                        <a:t>JAIS</a:t>
                      </a:r>
                    </a:p>
                  </a:txBody>
                  <a:tcPr marL="0" mar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rgbClr val="00588F"/>
                    </a:solidFill>
                  </a:tcPr>
                </a:tc>
                <a:tc rowSpan="2">
                  <a:txBody>
                    <a:bodyPr/>
                    <a:lstStyle/>
                    <a:p>
                      <a:pPr algn="ctr"/>
                      <a:r>
                        <a:rPr kumimoji="1" lang="ja-JP" altLang="en-US" sz="1100" b="0">
                          <a:solidFill>
                            <a:schemeClr val="bg1"/>
                          </a:solidFill>
                        </a:rPr>
                        <a:t>マイクロ</a:t>
                      </a:r>
                      <a:endParaRPr kumimoji="1" lang="en-US" altLang="ja-JP" sz="1100" b="0">
                        <a:solidFill>
                          <a:schemeClr val="bg1"/>
                        </a:solidFill>
                      </a:endParaRPr>
                    </a:p>
                    <a:p>
                      <a:pPr algn="ctr"/>
                      <a:r>
                        <a:rPr kumimoji="1" lang="ja-JP" altLang="en-US" sz="1100" b="0">
                          <a:solidFill>
                            <a:schemeClr val="bg1"/>
                          </a:solidFill>
                        </a:rPr>
                        <a:t>ソフト</a:t>
                      </a:r>
                      <a:endParaRPr kumimoji="1" lang="en-US" altLang="ja-JP" sz="1100" b="0">
                        <a:solidFill>
                          <a:schemeClr val="bg1"/>
                        </a:solidFill>
                      </a:endParaRPr>
                    </a:p>
                  </a:txBody>
                  <a:tcPr marL="0" mar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rgbClr val="00588F"/>
                    </a:solidFill>
                  </a:tcPr>
                </a:tc>
                <a:tc rowSpan="2">
                  <a:txBody>
                    <a:bodyPr/>
                    <a:lstStyle/>
                    <a:p>
                      <a:pPr algn="ctr"/>
                      <a:r>
                        <a:rPr kumimoji="1" lang="en-US" altLang="ja-JP" sz="1100" b="0">
                          <a:solidFill>
                            <a:schemeClr val="bg1"/>
                          </a:solidFill>
                        </a:rPr>
                        <a:t>IBM</a:t>
                      </a:r>
                    </a:p>
                  </a:txBody>
                  <a:tcPr marL="0" marR="0">
                    <a:lnL w="12700" cap="flat" cmpd="sng" algn="ctr">
                      <a:solidFill>
                        <a:schemeClr val="bg1">
                          <a:lumMod val="85000"/>
                        </a:schemeClr>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rgbClr val="00588F"/>
                    </a:solidFill>
                  </a:tcPr>
                </a:tc>
                <a:extLst>
                  <a:ext uri="{0D108BD9-81ED-4DB2-BD59-A6C34878D82A}">
                    <a16:rowId xmlns:a16="http://schemas.microsoft.com/office/drawing/2014/main" val="2094974220"/>
                  </a:ext>
                </a:extLst>
              </a:tr>
              <a:tr h="388922">
                <a:tc v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tc vMerge="1">
                  <a:txBody>
                    <a:bodyPr/>
                    <a:lstStyle/>
                    <a:p>
                      <a:endParaRPr kumimoji="1" lang="ja-JP" altLang="en-US"/>
                    </a:p>
                  </a:txBody>
                  <a:tcPr/>
                </a:tc>
                <a:tc v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tc>
                  <a:txBody>
                    <a:bodyPr/>
                    <a:lstStyle/>
                    <a:p>
                      <a:pPr algn="ctr"/>
                      <a:r>
                        <a:rPr kumimoji="1" lang="en-US" altLang="ja-JP" sz="1000" b="0">
                          <a:solidFill>
                            <a:schemeClr val="bg1"/>
                          </a:solidFill>
                        </a:rPr>
                        <a:t>RT</a:t>
                      </a:r>
                      <a:r>
                        <a:rPr kumimoji="1" lang="ja-JP" altLang="en-US" sz="1000" b="0">
                          <a:solidFill>
                            <a:schemeClr val="bg1"/>
                          </a:solidFill>
                        </a:rPr>
                        <a:t>企</a:t>
                      </a:r>
                      <a:r>
                        <a:rPr kumimoji="1" lang="en-US" altLang="ja-JP" sz="1000" b="0">
                          <a:solidFill>
                            <a:schemeClr val="bg1"/>
                          </a:solidFill>
                        </a:rPr>
                        <a:t>/RTM/IT</a:t>
                      </a:r>
                      <a:r>
                        <a:rPr kumimoji="1" lang="ja-JP" altLang="en-US" sz="1000" b="0">
                          <a:solidFill>
                            <a:schemeClr val="bg1"/>
                          </a:solidFill>
                        </a:rPr>
                        <a:t>戦</a:t>
                      </a:r>
                      <a:r>
                        <a:rPr kumimoji="1" lang="en-US" altLang="ja-JP" sz="1000" b="0">
                          <a:solidFill>
                            <a:schemeClr val="bg1"/>
                          </a:solidFill>
                        </a:rPr>
                        <a:t>/</a:t>
                      </a:r>
                    </a:p>
                    <a:p>
                      <a:pPr algn="ctr"/>
                      <a:r>
                        <a:rPr kumimoji="1" lang="ja-JP" altLang="en-US" sz="1000" b="0">
                          <a:solidFill>
                            <a:schemeClr val="bg1"/>
                          </a:solidFill>
                        </a:rPr>
                        <a:t>オペ統</a:t>
                      </a:r>
                      <a:r>
                        <a:rPr kumimoji="1" lang="en-US" altLang="ja-JP" sz="1000" b="0">
                          <a:solidFill>
                            <a:schemeClr val="bg1"/>
                          </a:solidFill>
                        </a:rPr>
                        <a:t>/</a:t>
                      </a:r>
                      <a:r>
                        <a:rPr kumimoji="1" lang="ja-JP" altLang="en-US" sz="1000" b="0">
                          <a:solidFill>
                            <a:schemeClr val="bg1"/>
                          </a:solidFill>
                        </a:rPr>
                        <a:t>シス統</a:t>
                      </a:r>
                    </a:p>
                  </a:txBody>
                  <a:tcPr marL="72000" marR="72000">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rgbClr val="00588F"/>
                    </a:solidFill>
                  </a:tcPr>
                </a:tc>
                <a:tc>
                  <a:txBody>
                    <a:bodyPr/>
                    <a:lstStyle/>
                    <a:p>
                      <a:pPr algn="ctr"/>
                      <a:r>
                        <a:rPr kumimoji="1" lang="en-US" altLang="ja-JP" sz="1000" b="0">
                          <a:solidFill>
                            <a:schemeClr val="bg1"/>
                          </a:solidFill>
                        </a:rPr>
                        <a:t>PF</a:t>
                      </a:r>
                    </a:p>
                    <a:p>
                      <a:pPr algn="ctr"/>
                      <a:r>
                        <a:rPr kumimoji="1" lang="ja-JP" altLang="en-US" sz="1000" b="0">
                          <a:solidFill>
                            <a:schemeClr val="bg1"/>
                          </a:solidFill>
                        </a:rPr>
                        <a:t>基盤</a:t>
                      </a:r>
                    </a:p>
                  </a:txBody>
                  <a:tcPr marL="72000" marR="72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rgbClr val="00588F"/>
                    </a:solidFill>
                  </a:tcPr>
                </a:tc>
                <a:tc>
                  <a:txBody>
                    <a:bodyPr/>
                    <a:lstStyle/>
                    <a:p>
                      <a:pPr marL="0" algn="ctr" defTabSz="914400" rtl="0" eaLnBrk="1" latinLnBrk="0" hangingPunct="1"/>
                      <a:r>
                        <a:rPr kumimoji="1" lang="ja-JP" altLang="en-US" sz="1000" b="0" kern="1200">
                          <a:solidFill>
                            <a:schemeClr val="bg1"/>
                          </a:solidFill>
                          <a:latin typeface="+mn-lt"/>
                          <a:ea typeface="+mn-ea"/>
                          <a:cs typeface="+mn-cs"/>
                        </a:rPr>
                        <a:t>関連</a:t>
                      </a:r>
                      <a:endParaRPr kumimoji="1" lang="en-US" altLang="ja-JP" sz="1000" b="0" kern="1200">
                        <a:solidFill>
                          <a:schemeClr val="bg1"/>
                        </a:solidFill>
                        <a:latin typeface="+mn-lt"/>
                        <a:ea typeface="+mn-ea"/>
                        <a:cs typeface="+mn-cs"/>
                      </a:endParaRPr>
                    </a:p>
                    <a:p>
                      <a:pPr marL="0" algn="ctr" defTabSz="914400" rtl="0" eaLnBrk="1" latinLnBrk="0" hangingPunct="1"/>
                      <a:r>
                        <a:rPr kumimoji="1" lang="ja-JP" altLang="en-US" sz="1000" b="0" kern="1200">
                          <a:solidFill>
                            <a:schemeClr val="bg1"/>
                          </a:solidFill>
                          <a:latin typeface="+mn-lt"/>
                          <a:ea typeface="+mn-ea"/>
                          <a:cs typeface="+mn-cs"/>
                        </a:rPr>
                        <a:t>システム</a:t>
                      </a:r>
                      <a:endParaRPr kumimoji="1" lang="en-US" altLang="ja-JP" sz="1000" b="0" kern="1200">
                        <a:solidFill>
                          <a:schemeClr val="bg1"/>
                        </a:solidFill>
                        <a:latin typeface="+mn-lt"/>
                        <a:ea typeface="+mn-ea"/>
                        <a:cs typeface="+mn-cs"/>
                      </a:endParaRPr>
                    </a:p>
                  </a:txBody>
                  <a:tcPr marL="72000" marR="7200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tx1">
                          <a:lumMod val="75000"/>
                          <a:lumOff val="25000"/>
                        </a:schemeClr>
                      </a:solidFill>
                      <a:prstDash val="solid"/>
                      <a:round/>
                      <a:headEnd type="none" w="med" len="med"/>
                      <a:tailEnd type="none" w="med" len="med"/>
                    </a:lnB>
                    <a:solidFill>
                      <a:srgbClr val="00588F"/>
                    </a:solid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212241924"/>
                  </a:ext>
                </a:extLst>
              </a:tr>
              <a:tr h="0">
                <a:tc rowSpan="4">
                  <a:txBody>
                    <a:bodyPr/>
                    <a:lstStyle/>
                    <a:p>
                      <a:pPr algn="ctr"/>
                      <a:r>
                        <a:rPr kumimoji="1" lang="ja-JP" altLang="en-US" sz="1200" b="0">
                          <a:solidFill>
                            <a:schemeClr val="tx1"/>
                          </a:solidFill>
                        </a:rPr>
                        <a:t>結合テスト</a:t>
                      </a:r>
                      <a:endParaRPr kumimoji="1" lang="en-US" altLang="ja-JP" sz="1200" b="0">
                        <a:solidFill>
                          <a:schemeClr val="tx1"/>
                        </a:solidFill>
                      </a:endParaRPr>
                    </a:p>
                  </a:txBody>
                  <a:tcPr vert="eaVert">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dk1"/>
                          </a:solidFill>
                          <a:latin typeface="+mn-lt"/>
                          <a:ea typeface="+mn-ea"/>
                          <a:cs typeface="+mn-cs"/>
                        </a:rPr>
                        <a:t>機能テスト</a:t>
                      </a:r>
                      <a:endParaRPr kumimoji="1" lang="en-US" altLang="ja-JP" sz="1200" kern="1200">
                        <a:solidFill>
                          <a:schemeClr val="dk1"/>
                        </a:solidFill>
                        <a:latin typeface="+mn-lt"/>
                        <a:ea typeface="+mn-ea"/>
                        <a:cs typeface="+mn-cs"/>
                      </a:endParaRP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100" kern="1200">
                        <a:solidFill>
                          <a:schemeClr val="dk1"/>
                        </a:solidFill>
                        <a:latin typeface="+mn-lt"/>
                        <a:ea typeface="+mn-ea"/>
                        <a:cs typeface="+mn-cs"/>
                      </a:endParaRPr>
                    </a:p>
                  </a:txBody>
                  <a:tcPr marT="36000" marB="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n-lt"/>
                          <a:ea typeface="Meiryo UI"/>
                          <a:cs typeface="+mn-cs"/>
                        </a:rPr>
                        <a:t>●</a:t>
                      </a:r>
                      <a:endParaRPr kumimoji="1" lang="en-US" altLang="ja-JP" sz="1200" b="0" i="0" u="none" strike="noStrike" kern="1200" cap="none" spc="0" normalizeH="0" baseline="0" noProof="0">
                        <a:ln>
                          <a:noFill/>
                        </a:ln>
                        <a:solidFill>
                          <a:srgbClr val="292929"/>
                        </a:solidFill>
                        <a:effectLst/>
                        <a:uLnTx/>
                        <a:uFillTx/>
                        <a:latin typeface="+mn-lt"/>
                        <a:ea typeface="Meiryo UI"/>
                        <a:cs typeface="+mn-cs"/>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eiryo UI"/>
                          <a:ea typeface="Meiryo UI"/>
                          <a:cs typeface="+mn-cs"/>
                        </a:rPr>
                        <a:t>〇</a:t>
                      </a: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n-lt"/>
                          <a:ea typeface="Meiryo UI"/>
                          <a:cs typeface="+mn-cs"/>
                        </a:rPr>
                        <a:t>〇</a:t>
                      </a:r>
                      <a:endParaRPr kumimoji="1" lang="en-US" altLang="ja-JP" sz="1200" b="0" i="0" u="none" strike="noStrike" kern="1200" cap="none" spc="0" normalizeH="0" baseline="0" noProof="0">
                        <a:ln>
                          <a:noFill/>
                        </a:ln>
                        <a:solidFill>
                          <a:srgbClr val="292929"/>
                        </a:solidFill>
                        <a:effectLst/>
                        <a:uLnTx/>
                        <a:uFillTx/>
                        <a:latin typeface="+mn-lt"/>
                        <a:ea typeface="Meiryo UI"/>
                        <a:cs typeface="+mn-cs"/>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ー</a:t>
                      </a:r>
                      <a:endParaRPr kumimoji="1" lang="en-US" altLang="ja-JP" sz="1200" b="0">
                        <a:solidFill>
                          <a:schemeClr val="tx1"/>
                        </a:solidFill>
                        <a:latin typeface="+mn-lt"/>
                      </a:endParaRP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a:solidFill>
                            <a:schemeClr val="tx1"/>
                          </a:solidFill>
                          <a:latin typeface="+mn-lt"/>
                        </a:rPr>
                        <a:t>※1</a:t>
                      </a: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eiryo UI"/>
                          <a:ea typeface="Meiryo UI"/>
                          <a:cs typeface="+mn-cs"/>
                        </a:rPr>
                        <a:t>〇</a:t>
                      </a: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571862979"/>
                  </a:ext>
                </a:extLst>
              </a:tr>
              <a:tr h="0">
                <a:tc vMerge="1">
                  <a:txBody>
                    <a:bodyPr/>
                    <a:lstStyle/>
                    <a:p>
                      <a:endParaRPr kumimoji="1" lang="ja-JP" altLang="en-US"/>
                    </a:p>
                  </a:txBody>
                  <a:tcPr>
                    <a:lnT w="12700" cap="flat" cmpd="sng" algn="ctr">
                      <a:solidFill>
                        <a:schemeClr val="bg2"/>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dk1"/>
                          </a:solidFill>
                          <a:latin typeface="+mn-lt"/>
                          <a:ea typeface="+mn-ea"/>
                          <a:cs typeface="+mn-cs"/>
                        </a:rPr>
                        <a:t>信頼性テスト</a:t>
                      </a:r>
                      <a:endParaRPr kumimoji="1" lang="en-US" altLang="ja-JP" sz="1200" kern="120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kern="1200">
                          <a:solidFill>
                            <a:schemeClr val="dk1"/>
                          </a:solidFill>
                          <a:latin typeface="+mn-lt"/>
                          <a:ea typeface="+mn-ea"/>
                          <a:cs typeface="+mn-cs"/>
                        </a:rPr>
                        <a:t>冗長構成の機器</a:t>
                      </a:r>
                      <a:r>
                        <a:rPr kumimoji="1" lang="en-US" altLang="ja-JP" sz="1100" kern="1200">
                          <a:solidFill>
                            <a:schemeClr val="dk1"/>
                          </a:solidFill>
                          <a:latin typeface="+mn-lt"/>
                          <a:ea typeface="+mn-ea"/>
                          <a:cs typeface="+mn-cs"/>
                        </a:rPr>
                        <a:t>/</a:t>
                      </a:r>
                      <a:r>
                        <a:rPr kumimoji="1" lang="ja-JP" altLang="en-US" sz="1100" kern="1200">
                          <a:solidFill>
                            <a:schemeClr val="dk1"/>
                          </a:solidFill>
                          <a:latin typeface="+mn-lt"/>
                          <a:ea typeface="+mn-ea"/>
                          <a:cs typeface="+mn-cs"/>
                        </a:rPr>
                        <a:t>サービスについて、片系障害時業務影響なく</a:t>
                      </a:r>
                      <a:endParaRPr kumimoji="1" lang="en-US" altLang="ja-JP" sz="1100" kern="120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kern="1200">
                          <a:solidFill>
                            <a:schemeClr val="dk1"/>
                          </a:solidFill>
                          <a:latin typeface="+mn-lt"/>
                          <a:ea typeface="+mn-ea"/>
                          <a:cs typeface="+mn-cs"/>
                        </a:rPr>
                        <a:t>動作できること</a:t>
                      </a:r>
                      <a:endParaRPr kumimoji="1" lang="en-US" altLang="ja-JP" sz="1100" kern="1200">
                        <a:solidFill>
                          <a:schemeClr val="dk1"/>
                        </a:solidFill>
                        <a:latin typeface="+mn-lt"/>
                        <a:ea typeface="+mn-ea"/>
                        <a:cs typeface="+mn-cs"/>
                      </a:endParaRPr>
                    </a:p>
                  </a:txBody>
                  <a:tcPr marT="36000" marB="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kumimoji="1" lang="ja-JP" altLang="en-US" sz="1200" b="0" i="0" u="none" strike="noStrike" kern="1200" cap="none" spc="0" normalizeH="0" baseline="0" noProof="0">
                          <a:ln>
                            <a:noFill/>
                          </a:ln>
                          <a:solidFill>
                            <a:srgbClr val="292929"/>
                          </a:solidFill>
                          <a:effectLst/>
                          <a:uLnTx/>
                          <a:uFillTx/>
                          <a:latin typeface="+mn-lt"/>
                          <a:ea typeface="+mn-ea"/>
                          <a:cs typeface="+mn-cs"/>
                        </a:rPr>
                        <a:t>●</a:t>
                      </a:r>
                      <a:endParaRPr kumimoji="1" lang="ja-JP" altLang="en-US" sz="1200">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n-lt"/>
                          <a:ea typeface="+mn-ea"/>
                          <a:cs typeface="+mn-cs"/>
                        </a:rPr>
                        <a:t>〇</a:t>
                      </a: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kumimoji="1" lang="ja-JP" altLang="en-US" sz="1200">
                          <a:latin typeface="+mn-lt"/>
                        </a:rPr>
                        <a:t>▲</a:t>
                      </a: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kumimoji="1" lang="ja-JP" altLang="en-US" sz="1200">
                          <a:latin typeface="+mn-lt"/>
                        </a:rPr>
                        <a:t>ー</a:t>
                      </a: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kumimoji="1" lang="en-US" altLang="ja-JP" sz="1200" b="0">
                          <a:solidFill>
                            <a:schemeClr val="tx1"/>
                          </a:solidFill>
                          <a:latin typeface="+mn-lt"/>
                        </a:rPr>
                        <a:t>※1</a:t>
                      </a:r>
                      <a:endParaRPr kumimoji="1" lang="ja-JP" altLang="en-US" sz="1200">
                        <a:latin typeface="+mn-lt"/>
                      </a:endParaRP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eiryo UI"/>
                          <a:ea typeface="Meiryo UI"/>
                          <a:cs typeface="+mn-cs"/>
                        </a:rPr>
                        <a:t>〇</a:t>
                      </a: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410430353"/>
                  </a:ext>
                </a:extLst>
              </a:tr>
              <a:tr h="0">
                <a:tc vMerge="1">
                  <a:txBody>
                    <a:bodyPr/>
                    <a:lstStyle/>
                    <a:p>
                      <a:endParaRPr kumimoji="1" lang="ja-JP" altLang="en-US"/>
                    </a:p>
                  </a:txBody>
                  <a:tcPr>
                    <a:lnT w="12700" cap="flat" cmpd="sng" algn="ctr">
                      <a:solidFill>
                        <a:schemeClr val="tx1">
                          <a:lumMod val="75000"/>
                          <a:lumOff val="25000"/>
                        </a:schemeClr>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dk1"/>
                          </a:solidFill>
                          <a:latin typeface="+mn-lt"/>
                          <a:ea typeface="+mn-ea"/>
                          <a:cs typeface="+mn-cs"/>
                        </a:rPr>
                        <a:t>障害動作確認テスト</a:t>
                      </a:r>
                      <a:endParaRPr kumimoji="1" lang="en-US" altLang="ja-JP" sz="1200" kern="120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kern="1200">
                          <a:solidFill>
                            <a:schemeClr val="dk1"/>
                          </a:solidFill>
                          <a:latin typeface="+mn-lt"/>
                          <a:ea typeface="+mn-ea"/>
                          <a:cs typeface="+mn-cs"/>
                        </a:rPr>
                        <a:t>監視設計にて定めた条件で能動的に監視サーバに対して正常に</a:t>
                      </a:r>
                      <a:endParaRPr kumimoji="1" lang="en-US" altLang="ja-JP" sz="1100" kern="120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kern="1200">
                          <a:solidFill>
                            <a:schemeClr val="dk1"/>
                          </a:solidFill>
                          <a:latin typeface="+mn-lt"/>
                          <a:ea typeface="+mn-ea"/>
                          <a:cs typeface="+mn-cs"/>
                        </a:rPr>
                        <a:t>通知が飛ぶこと</a:t>
                      </a:r>
                      <a:endParaRPr kumimoji="1" lang="en-US" altLang="ja-JP" sz="1100" kern="1200">
                        <a:solidFill>
                          <a:schemeClr val="dk1"/>
                        </a:solidFill>
                        <a:latin typeface="+mn-lt"/>
                        <a:ea typeface="+mn-ea"/>
                        <a:cs typeface="+mn-cs"/>
                      </a:endParaRPr>
                    </a:p>
                  </a:txBody>
                  <a:tcPr marT="36000" marB="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n-lt"/>
                          <a:ea typeface="+mn-ea"/>
                          <a:cs typeface="+mn-cs"/>
                        </a:rPr>
                        <a:t>●</a:t>
                      </a:r>
                      <a:endParaRPr kumimoji="1" lang="en-US" altLang="ja-JP" sz="1200" b="0" i="0" u="none" strike="noStrike" kern="1200" cap="none" spc="0" normalizeH="0" baseline="0" noProof="0">
                        <a:ln>
                          <a:noFill/>
                        </a:ln>
                        <a:solidFill>
                          <a:srgbClr val="292929"/>
                        </a:solidFill>
                        <a:effectLst/>
                        <a:uLnTx/>
                        <a:uFillTx/>
                        <a:latin typeface="+mn-lt"/>
                        <a:ea typeface="Meiryo UI"/>
                        <a:cs typeface="+mn-cs"/>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n-lt"/>
                          <a:ea typeface="+mn-ea"/>
                          <a:cs typeface="+mn-cs"/>
                        </a:rPr>
                        <a:t>〇</a:t>
                      </a: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n-lt"/>
                          <a:ea typeface="Meiryo UI"/>
                          <a:cs typeface="+mn-cs"/>
                        </a:rPr>
                        <a:t>▲</a:t>
                      </a:r>
                      <a:endParaRPr kumimoji="1" lang="en-US" altLang="ja-JP" sz="1200" b="0" i="0" u="none" strike="noStrike" kern="1200" cap="none" spc="0" normalizeH="0" baseline="0" noProof="0">
                        <a:ln>
                          <a:noFill/>
                        </a:ln>
                        <a:solidFill>
                          <a:srgbClr val="292929"/>
                        </a:solidFill>
                        <a:effectLst/>
                        <a:uLnTx/>
                        <a:uFillTx/>
                        <a:latin typeface="+mn-lt"/>
                        <a:ea typeface="Meiryo UI"/>
                        <a:cs typeface="+mn-cs"/>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a:t>
                      </a:r>
                      <a:endParaRPr kumimoji="1" lang="en-US" altLang="ja-JP" sz="1200" b="0">
                        <a:solidFill>
                          <a:schemeClr val="tx1"/>
                        </a:solidFill>
                        <a:latin typeface="+mn-lt"/>
                      </a:endParaRP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a:solidFill>
                            <a:schemeClr val="tx1"/>
                          </a:solidFill>
                          <a:latin typeface="+mn-lt"/>
                        </a:rPr>
                        <a:t>※1</a:t>
                      </a: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eiryo UI"/>
                          <a:ea typeface="Meiryo UI"/>
                          <a:cs typeface="+mn-cs"/>
                        </a:rPr>
                        <a:t>〇</a:t>
                      </a: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631300468"/>
                  </a:ext>
                </a:extLst>
              </a:tr>
              <a:tr h="0">
                <a:tc vMerge="1">
                  <a:txBody>
                    <a:bodyPr/>
                    <a:lstStyle/>
                    <a:p>
                      <a:endParaRPr kumimoji="1" lang="ja-JP" altLang="en-US" sz="1200" b="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dk1"/>
                          </a:solidFill>
                          <a:latin typeface="+mn-lt"/>
                          <a:ea typeface="+mn-ea"/>
                          <a:cs typeface="+mn-cs"/>
                        </a:rPr>
                        <a:t>運用テスト</a:t>
                      </a:r>
                      <a:endParaRPr kumimoji="1" lang="en-US" altLang="ja-JP" sz="1200" kern="120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kern="1200">
                          <a:solidFill>
                            <a:schemeClr val="dk1"/>
                          </a:solidFill>
                          <a:latin typeface="+mn-lt"/>
                          <a:ea typeface="+mn-ea"/>
                          <a:cs typeface="+mn-cs"/>
                        </a:rPr>
                        <a:t>監視、バックアップ等の各種運用機能が正常に動作すること</a:t>
                      </a:r>
                      <a:endParaRPr kumimoji="1" lang="en-US" altLang="ja-JP" sz="1100" kern="1200">
                        <a:solidFill>
                          <a:schemeClr val="dk1"/>
                        </a:solidFill>
                        <a:latin typeface="+mn-lt"/>
                        <a:ea typeface="+mn-ea"/>
                        <a:cs typeface="+mn-cs"/>
                      </a:endParaRPr>
                    </a:p>
                  </a:txBody>
                  <a:tcPr marT="36000" marB="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n-lt"/>
                          <a:ea typeface="+mn-ea"/>
                          <a:cs typeface="+mn-cs"/>
                        </a:rPr>
                        <a:t>●</a:t>
                      </a:r>
                      <a:endParaRPr kumimoji="1" lang="en-US" altLang="ja-JP" sz="1200" b="0" i="0" u="none" strike="noStrike" kern="1200" cap="none" spc="0" normalizeH="0" baseline="0" noProof="0">
                        <a:ln>
                          <a:noFill/>
                        </a:ln>
                        <a:solidFill>
                          <a:srgbClr val="292929"/>
                        </a:solidFill>
                        <a:effectLst/>
                        <a:uLnTx/>
                        <a:uFillTx/>
                        <a:latin typeface="+mn-lt"/>
                        <a:ea typeface="Meiryo UI"/>
                        <a:cs typeface="+mn-cs"/>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n-lt"/>
                          <a:ea typeface="+mn-ea"/>
                          <a:cs typeface="+mn-cs"/>
                        </a:rPr>
                        <a:t>〇</a:t>
                      </a: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n-lt"/>
                          <a:ea typeface="Meiryo UI"/>
                          <a:cs typeface="+mn-cs"/>
                        </a:rPr>
                        <a:t>▲</a:t>
                      </a:r>
                      <a:endParaRPr kumimoji="1" lang="en-US" altLang="ja-JP" sz="1200" b="0" i="0" u="none" strike="noStrike" kern="1200" cap="none" spc="0" normalizeH="0" baseline="0" noProof="0">
                        <a:ln>
                          <a:noFill/>
                        </a:ln>
                        <a:solidFill>
                          <a:srgbClr val="292929"/>
                        </a:solidFill>
                        <a:effectLst/>
                        <a:uLnTx/>
                        <a:uFillTx/>
                        <a:latin typeface="+mn-lt"/>
                        <a:ea typeface="Meiryo UI"/>
                        <a:cs typeface="+mn-cs"/>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a:t>
                      </a:r>
                      <a:endParaRPr kumimoji="1" lang="en-US" altLang="ja-JP" sz="1200" b="0">
                        <a:solidFill>
                          <a:schemeClr val="tx1"/>
                        </a:solidFill>
                        <a:latin typeface="+mn-lt"/>
                      </a:endParaRP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a:solidFill>
                            <a:schemeClr val="tx1"/>
                          </a:solidFill>
                          <a:latin typeface="+mn-lt"/>
                        </a:rPr>
                        <a:t>※1</a:t>
                      </a: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〇</a:t>
                      </a:r>
                      <a:endParaRPr kumimoji="1" lang="en-US" altLang="ja-JP" sz="1200" b="0">
                        <a:solidFill>
                          <a:schemeClr val="tx1"/>
                        </a:solidFill>
                        <a:latin typeface="+mn-lt"/>
                      </a:endParaRPr>
                    </a:p>
                  </a:txBody>
                  <a:tcPr marL="0" marR="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906465072"/>
                  </a:ext>
                </a:extLst>
              </a:tr>
              <a:tr h="0">
                <a:tc rowSpan="4">
                  <a:txBody>
                    <a:bodyPr/>
                    <a:lstStyle/>
                    <a:p>
                      <a:pPr algn="ctr"/>
                      <a:r>
                        <a:rPr kumimoji="1" lang="ja-JP" altLang="en-US" sz="1200" b="0">
                          <a:solidFill>
                            <a:schemeClr val="tx1"/>
                          </a:solidFill>
                        </a:rPr>
                        <a:t>システムテスト</a:t>
                      </a:r>
                    </a:p>
                  </a:txBody>
                  <a:tcPr vert="eaVert"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dk1"/>
                          </a:solidFill>
                          <a:latin typeface="+mn-lt"/>
                          <a:ea typeface="+mn-ea"/>
                          <a:cs typeface="+mn-cs"/>
                        </a:rPr>
                        <a:t>性能テスト</a:t>
                      </a:r>
                      <a:endParaRPr kumimoji="1" lang="en-US" altLang="ja-JP" sz="1200" kern="1200">
                        <a:solidFill>
                          <a:schemeClr val="dk1"/>
                        </a:solidFill>
                        <a:latin typeface="+mn-lt"/>
                        <a:ea typeface="+mn-ea"/>
                        <a:cs typeface="+mn-cs"/>
                      </a:endParaRP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a:solidFill>
                            <a:schemeClr val="dk1"/>
                          </a:solidFill>
                          <a:latin typeface="+mn-lt"/>
                          <a:ea typeface="+mn-ea"/>
                          <a:cs typeface="+mn-cs"/>
                        </a:rPr>
                        <a:t>RPO/RTO</a:t>
                      </a:r>
                      <a:r>
                        <a:rPr kumimoji="1" lang="ja-JP" altLang="en-US" sz="1100" kern="1200">
                          <a:solidFill>
                            <a:schemeClr val="dk1"/>
                          </a:solidFill>
                          <a:latin typeface="+mn-lt"/>
                          <a:ea typeface="+mn-ea"/>
                          <a:cs typeface="+mn-cs"/>
                        </a:rPr>
                        <a:t>が目標値を満たしていること</a:t>
                      </a:r>
                      <a:r>
                        <a:rPr kumimoji="1" lang="en-US" altLang="ja-JP" sz="1100" kern="1200">
                          <a:solidFill>
                            <a:schemeClr val="dk1"/>
                          </a:solidFill>
                          <a:latin typeface="+mn-lt"/>
                          <a:ea typeface="+mn-ea"/>
                          <a:cs typeface="+mn-cs"/>
                        </a:rPr>
                        <a:t>(</a:t>
                      </a:r>
                      <a:r>
                        <a:rPr kumimoji="1" lang="ja-JP" altLang="en-US" sz="1100" kern="1200">
                          <a:solidFill>
                            <a:schemeClr val="dk1"/>
                          </a:solidFill>
                          <a:latin typeface="+mn-lt"/>
                          <a:ea typeface="+mn-ea"/>
                          <a:cs typeface="+mn-cs"/>
                        </a:rPr>
                        <a:t>性能</a:t>
                      </a:r>
                      <a:r>
                        <a:rPr kumimoji="1" lang="en-US" altLang="ja-JP" sz="1100" kern="1200">
                          <a:solidFill>
                            <a:schemeClr val="dk1"/>
                          </a:solidFill>
                          <a:latin typeface="+mn-lt"/>
                          <a:ea typeface="+mn-ea"/>
                          <a:cs typeface="+mn-cs"/>
                        </a:rPr>
                        <a:t>)</a:t>
                      </a:r>
                    </a:p>
                  </a:txBody>
                  <a:tcPr marT="36000" marB="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kumimoji="1" lang="ja-JP" altLang="en-US" sz="1200" b="0" i="0" u="none" strike="noStrike" kern="1200" cap="none" spc="0" normalizeH="0" baseline="0" noProof="0">
                          <a:ln>
                            <a:noFill/>
                          </a:ln>
                          <a:solidFill>
                            <a:srgbClr val="292929"/>
                          </a:solidFill>
                          <a:effectLst/>
                          <a:uLnTx/>
                          <a:uFillTx/>
                          <a:latin typeface="+mn-lt"/>
                          <a:ea typeface="+mn-ea"/>
                          <a:cs typeface="+mn-cs"/>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292929"/>
                          </a:solidFill>
                          <a:effectLst/>
                          <a:uLnTx/>
                          <a:uFillTx/>
                          <a:latin typeface="+mn-lt"/>
                          <a:ea typeface="+mn-ea"/>
                          <a:cs typeface="+mn-cs"/>
                        </a:rPr>
                        <a:t>〇</a:t>
                      </a:r>
                      <a:endParaRPr kumimoji="1" lang="en-US" altLang="ja-JP" sz="1200" b="0" i="0" u="none" strike="noStrike" kern="1200" cap="none" spc="0" normalizeH="0" baseline="0" noProof="0">
                        <a:ln>
                          <a:noFill/>
                        </a:ln>
                        <a:solidFill>
                          <a:srgbClr val="292929"/>
                        </a:solidFill>
                        <a:effectLst/>
                        <a:uLnTx/>
                        <a:uFillTx/>
                        <a:latin typeface="Meiryo UI"/>
                        <a:ea typeface="Meiryo UI"/>
                        <a:cs typeface="+mn-cs"/>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200" b="0">
                          <a:solidFill>
                            <a:schemeClr val="tx1"/>
                          </a:solidFill>
                          <a:latin typeface="+mn-lt"/>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200" b="0">
                          <a:solidFill>
                            <a:schemeClr val="tx1"/>
                          </a:solidFill>
                          <a:latin typeface="+mn-lt"/>
                        </a:rPr>
                        <a:t>ー</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en-US" altLang="ja-JP" sz="1200" b="0">
                          <a:solidFill>
                            <a:schemeClr val="tx1"/>
                          </a:solidFill>
                          <a:latin typeface="+mn-lt"/>
                        </a:rPr>
                        <a:t>※1</a:t>
                      </a: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〇</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25892445"/>
                  </a:ext>
                </a:extLst>
              </a:tr>
              <a:tr h="0">
                <a:tc vMerge="1">
                  <a:txBody>
                    <a:bodyPr/>
                    <a:lstStyle/>
                    <a:p>
                      <a:endParaRPr kumimoji="1" lang="ja-JP" altLang="en-US"/>
                    </a:p>
                  </a:txBody>
                  <a:tcPr>
                    <a:lnT w="12700" cap="flat" cmpd="sng" algn="ctr">
                      <a:solidFill>
                        <a:schemeClr val="bg2"/>
                      </a:solidFill>
                      <a:prstDash val="solid"/>
                      <a:round/>
                      <a:headEnd type="none" w="med" len="med"/>
                      <a:tailEnd type="none" w="med" len="med"/>
                    </a:lnT>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rPr>
                        <a:t>業務シミュレーションテスト</a:t>
                      </a:r>
                      <a:endParaRPr kumimoji="1" lang="en-US" altLang="ja-JP" sz="1200" b="0">
                        <a:solidFill>
                          <a:schemeClr val="tx1"/>
                        </a:solidFill>
                      </a:endParaRP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kern="1200">
                          <a:solidFill>
                            <a:schemeClr val="dk1"/>
                          </a:solidFill>
                          <a:latin typeface="+mn-lt"/>
                          <a:ea typeface="+mn-ea"/>
                          <a:cs typeface="+mn-cs"/>
                        </a:rPr>
                        <a:t>想定されるメンテナンス</a:t>
                      </a:r>
                      <a:r>
                        <a:rPr kumimoji="1" lang="en-US" altLang="ja-JP" sz="1100" kern="1200">
                          <a:solidFill>
                            <a:schemeClr val="dk1"/>
                          </a:solidFill>
                          <a:latin typeface="+mn-lt"/>
                          <a:ea typeface="+mn-ea"/>
                          <a:cs typeface="+mn-cs"/>
                        </a:rPr>
                        <a:t>/</a:t>
                      </a:r>
                      <a:r>
                        <a:rPr kumimoji="1" lang="ja-JP" altLang="en-US" sz="1100" kern="1200">
                          <a:solidFill>
                            <a:schemeClr val="dk1"/>
                          </a:solidFill>
                          <a:latin typeface="+mn-lt"/>
                          <a:ea typeface="+mn-ea"/>
                          <a:cs typeface="+mn-cs"/>
                        </a:rPr>
                        <a:t>保守手順が問題なく実行できること</a:t>
                      </a:r>
                      <a:endParaRPr kumimoji="1" lang="en-US" altLang="ja-JP" sz="1100" kern="1200">
                        <a:solidFill>
                          <a:schemeClr val="dk1"/>
                        </a:solidFill>
                        <a:latin typeface="+mn-lt"/>
                        <a:ea typeface="+mn-ea"/>
                        <a:cs typeface="+mn-cs"/>
                      </a:endParaRPr>
                    </a:p>
                  </a:txBody>
                  <a:tcPr marT="36000" marB="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200" b="0" i="0" u="none" strike="noStrike" kern="1200" cap="none" spc="0" normalizeH="0" baseline="0" noProof="0">
                          <a:ln>
                            <a:noFill/>
                          </a:ln>
                          <a:solidFill>
                            <a:srgbClr val="292929"/>
                          </a:solidFill>
                          <a:effectLst/>
                          <a:uLnTx/>
                          <a:uFillTx/>
                          <a:latin typeface="+mn-lt"/>
                          <a:ea typeface="+mn-ea"/>
                          <a:cs typeface="+mn-cs"/>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〇</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ー</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ー</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〇</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12524141"/>
                  </a:ext>
                </a:extLst>
              </a:tr>
              <a:tr h="0">
                <a:tc vMerge="1">
                  <a:txBody>
                    <a:bodyPr/>
                    <a:lstStyle/>
                    <a:p>
                      <a:endParaRPr kumimoji="1" lang="ja-JP" altLang="en-US"/>
                    </a:p>
                  </a:txBody>
                  <a:tcPr>
                    <a:lnT w="12700" cap="flat" cmpd="sng" algn="ctr">
                      <a:solidFill>
                        <a:schemeClr val="tx1">
                          <a:lumMod val="75000"/>
                          <a:lumOff val="25000"/>
                        </a:schemeClr>
                      </a:solidFill>
                      <a:prstDash val="solid"/>
                      <a:round/>
                      <a:headEnd type="none" w="med" len="med"/>
                      <a:tailEnd type="none" w="med" len="med"/>
                    </a:lnT>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endParaRPr>
                    </a:p>
                  </a:txBody>
                  <a:tcPr>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kern="1200">
                          <a:solidFill>
                            <a:schemeClr val="dk1"/>
                          </a:solidFill>
                          <a:latin typeface="+mn-lt"/>
                          <a:ea typeface="+mn-ea"/>
                          <a:cs typeface="+mn-cs"/>
                        </a:rPr>
                        <a:t>障害</a:t>
                      </a:r>
                      <a:r>
                        <a:rPr kumimoji="1" lang="en-US" altLang="ja-JP" sz="1100" kern="1200">
                          <a:solidFill>
                            <a:schemeClr val="dk1"/>
                          </a:solidFill>
                          <a:latin typeface="+mn-lt"/>
                          <a:ea typeface="+mn-ea"/>
                          <a:cs typeface="+mn-cs"/>
                        </a:rPr>
                        <a:t>/</a:t>
                      </a:r>
                      <a:r>
                        <a:rPr kumimoji="1" lang="ja-JP" altLang="en-US" sz="1100" kern="1200">
                          <a:solidFill>
                            <a:schemeClr val="dk1"/>
                          </a:solidFill>
                          <a:latin typeface="+mn-lt"/>
                          <a:ea typeface="+mn-ea"/>
                          <a:cs typeface="+mn-cs"/>
                        </a:rPr>
                        <a:t>攻撃検知アラート発生時フローに従い、検知</a:t>
                      </a:r>
                      <a:r>
                        <a:rPr kumimoji="1" lang="en-US" altLang="ja-JP" sz="1100" kern="1200">
                          <a:solidFill>
                            <a:schemeClr val="dk1"/>
                          </a:solidFill>
                          <a:latin typeface="+mn-lt"/>
                          <a:ea typeface="+mn-ea"/>
                          <a:cs typeface="+mn-cs"/>
                        </a:rPr>
                        <a:t>/</a:t>
                      </a:r>
                      <a:r>
                        <a:rPr kumimoji="1" lang="ja-JP" altLang="en-US" sz="1100" kern="1200">
                          <a:solidFill>
                            <a:schemeClr val="dk1"/>
                          </a:solidFill>
                          <a:latin typeface="+mn-lt"/>
                          <a:ea typeface="+mn-ea"/>
                          <a:cs typeface="+mn-cs"/>
                        </a:rPr>
                        <a:t>組織間の連携が問題なくできること</a:t>
                      </a:r>
                      <a:endParaRPr kumimoji="1" lang="en-US" altLang="ja-JP" sz="1100" kern="1200">
                        <a:solidFill>
                          <a:schemeClr val="dk1"/>
                        </a:solidFill>
                        <a:latin typeface="+mn-lt"/>
                        <a:ea typeface="+mn-ea"/>
                        <a:cs typeface="+mn-cs"/>
                      </a:endParaRPr>
                    </a:p>
                  </a:txBody>
                  <a:tcPr marT="36000" marB="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200" b="0" i="0" u="none" strike="noStrike" kern="1200" cap="none" spc="0" normalizeH="0" baseline="0" noProof="0">
                          <a:ln>
                            <a:noFill/>
                          </a:ln>
                          <a:solidFill>
                            <a:srgbClr val="292929"/>
                          </a:solidFill>
                          <a:effectLst/>
                          <a:uLnTx/>
                          <a:uFillTx/>
                          <a:latin typeface="+mn-lt"/>
                          <a:ea typeface="+mn-ea"/>
                          <a:cs typeface="+mn-cs"/>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〇</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200" b="0">
                          <a:solidFill>
                            <a:schemeClr val="tx1"/>
                          </a:solidFill>
                          <a:latin typeface="+mn-lt"/>
                        </a:rPr>
                        <a:t>ー</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en-US" altLang="ja-JP" sz="1200" b="0">
                          <a:solidFill>
                            <a:schemeClr val="tx1"/>
                          </a:solidFill>
                          <a:latin typeface="+mn-lt"/>
                        </a:rPr>
                        <a:t>※1</a:t>
                      </a: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〇</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76835632"/>
                  </a:ext>
                </a:extLst>
              </a:tr>
              <a:tr h="0">
                <a:tc vMerge="1">
                  <a:txBody>
                    <a:bodyPr/>
                    <a:lstStyle/>
                    <a:p>
                      <a:pPr algn="ctr"/>
                      <a:endParaRPr kumimoji="1" lang="ja-JP" altLang="en-US" sz="1200" b="0">
                        <a:solidFill>
                          <a:schemeClr val="tx1"/>
                        </a:solidFill>
                      </a:endParaRPr>
                    </a:p>
                  </a:txBody>
                  <a:tcPr vert="eaVert"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chemeClr val="tx1"/>
                          </a:solidFill>
                        </a:rPr>
                        <a:t>【</a:t>
                      </a:r>
                      <a:r>
                        <a:rPr kumimoji="1" lang="ja-JP" altLang="en-US" sz="1200" b="0">
                          <a:solidFill>
                            <a:schemeClr val="tx1"/>
                          </a:solidFill>
                        </a:rPr>
                        <a:t>オペレーション訓練</a:t>
                      </a:r>
                      <a:r>
                        <a:rPr kumimoji="1" lang="en-US" altLang="ja-JP" sz="1200" b="0">
                          <a:solidFill>
                            <a:schemeClr val="tx1"/>
                          </a:solidFill>
                        </a:rPr>
                        <a:t>】</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a:solidFill>
                            <a:schemeClr val="tx1"/>
                          </a:solidFill>
                        </a:rPr>
                        <a:t>【</a:t>
                      </a:r>
                      <a:r>
                        <a:rPr kumimoji="1" lang="ja-JP" altLang="en-US" sz="1100" b="0">
                          <a:solidFill>
                            <a:schemeClr val="tx1"/>
                          </a:solidFill>
                        </a:rPr>
                        <a:t>全体</a:t>
                      </a:r>
                      <a:r>
                        <a:rPr kumimoji="1" lang="en-US" altLang="ja-JP" sz="1100" b="0">
                          <a:solidFill>
                            <a:schemeClr val="tx1"/>
                          </a:solidFill>
                        </a:rPr>
                        <a:t>】</a:t>
                      </a:r>
                      <a:r>
                        <a:rPr kumimoji="1" lang="ja-JP" altLang="en-US" sz="1100" b="0">
                          <a:solidFill>
                            <a:schemeClr val="tx1"/>
                          </a:solidFill>
                        </a:rPr>
                        <a:t>手順どおりリストアを実施し、正常にデータを戻すことができること　</a:t>
                      </a:r>
                      <a:r>
                        <a:rPr kumimoji="1" lang="en-US" altLang="ja-JP" sz="1100" b="0">
                          <a:solidFill>
                            <a:schemeClr val="tx1"/>
                          </a:solidFill>
                        </a:rPr>
                        <a:t>※</a:t>
                      </a:r>
                      <a:r>
                        <a:rPr kumimoji="1" lang="ja-JP" altLang="en-US" sz="1100" b="0">
                          <a:solidFill>
                            <a:schemeClr val="tx1"/>
                          </a:solidFill>
                        </a:rPr>
                        <a:t>体制面を含めて確認</a:t>
                      </a:r>
                      <a:endParaRPr kumimoji="1" lang="en-US" altLang="ja-JP" sz="1100" kern="1200">
                        <a:solidFill>
                          <a:schemeClr val="dk1"/>
                        </a:solidFill>
                        <a:latin typeface="+mn-lt"/>
                        <a:ea typeface="+mn-ea"/>
                        <a:cs typeface="+mn-cs"/>
                      </a:endParaRPr>
                    </a:p>
                  </a:txBody>
                  <a:tcPr marT="36000" marB="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200" b="0" i="0" u="none" strike="noStrike" kern="1200" cap="none" spc="0" normalizeH="0" baseline="0" noProof="0">
                          <a:ln>
                            <a:noFill/>
                          </a:ln>
                          <a:solidFill>
                            <a:srgbClr val="292929"/>
                          </a:solidFill>
                          <a:effectLst/>
                          <a:uLnTx/>
                          <a:uFillTx/>
                          <a:latin typeface="+mn-lt"/>
                          <a:ea typeface="+mn-ea"/>
                          <a:cs typeface="+mn-cs"/>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〇</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200" b="0">
                          <a:solidFill>
                            <a:schemeClr val="tx1"/>
                          </a:solidFill>
                          <a:latin typeface="+mn-lt"/>
                        </a:rPr>
                        <a:t>ー</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200" b="0">
                          <a:solidFill>
                            <a:schemeClr val="tx1"/>
                          </a:solidFill>
                          <a:latin typeface="+mn-lt"/>
                        </a:rPr>
                        <a:t>ー</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〇</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25607914"/>
                  </a:ext>
                </a:extLst>
              </a:tr>
              <a:tr h="0">
                <a:tc>
                  <a:txBody>
                    <a:bodyPr/>
                    <a:lstStyle/>
                    <a:p>
                      <a:pPr algn="ctr"/>
                      <a:r>
                        <a:rPr kumimoji="1" lang="ja-JP" altLang="en-US" sz="1200" b="0">
                          <a:solidFill>
                            <a:schemeClr val="tx1"/>
                          </a:solidFill>
                        </a:rPr>
                        <a:t>その他</a:t>
                      </a:r>
                    </a:p>
                  </a:txBody>
                  <a:tcPr vert="eaVert"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rPr>
                        <a:t>ユーザ受け入れテスト</a:t>
                      </a:r>
                      <a:endParaRPr kumimoji="1" lang="en-US" altLang="ja-JP" sz="1200" b="0">
                        <a:solidFill>
                          <a:schemeClr val="tx1"/>
                        </a:solidFill>
                      </a:endParaRP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100" kern="1200">
                        <a:solidFill>
                          <a:schemeClr val="dk1"/>
                        </a:solidFill>
                        <a:latin typeface="+mn-lt"/>
                        <a:ea typeface="+mn-ea"/>
                        <a:cs typeface="+mn-cs"/>
                      </a:endParaRPr>
                    </a:p>
                  </a:txBody>
                  <a:tcPr marT="36000" marB="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200" b="0">
                          <a:solidFill>
                            <a:schemeClr val="tx1"/>
                          </a:solidFill>
                          <a:latin typeface="+mn-lt"/>
                        </a:rPr>
                        <a:t>〇</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ー</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n-lt"/>
                        </a:rPr>
                        <a:t>▲</a:t>
                      </a:r>
                      <a:endParaRPr kumimoji="1" lang="en-US" altLang="ja-JP" sz="1200" b="0">
                        <a:solidFill>
                          <a:schemeClr val="tx1"/>
                        </a:solidFill>
                        <a:latin typeface="+mn-lt"/>
                      </a:endParaRPr>
                    </a:p>
                  </a:txBody>
                  <a:tcPr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81549356"/>
                  </a:ext>
                </a:extLst>
              </a:tr>
            </a:tbl>
          </a:graphicData>
        </a:graphic>
      </p:graphicFrame>
      <p:sp>
        <p:nvSpPr>
          <p:cNvPr id="4" name="テキスト ボックス 3">
            <a:extLst>
              <a:ext uri="{FF2B5EF4-FFF2-40B4-BE49-F238E27FC236}">
                <a16:creationId xmlns:a16="http://schemas.microsoft.com/office/drawing/2014/main" id="{A50097FB-1C78-2AE5-C7A6-10047CD2E526}"/>
              </a:ext>
            </a:extLst>
          </p:cNvPr>
          <p:cNvSpPr txBox="1"/>
          <p:nvPr/>
        </p:nvSpPr>
        <p:spPr>
          <a:xfrm>
            <a:off x="500922" y="2352094"/>
            <a:ext cx="9220200" cy="2998651"/>
          </a:xfrm>
          <a:prstGeom prst="rect">
            <a:avLst/>
          </a:prstGeom>
          <a:solidFill>
            <a:schemeClr val="accent4">
              <a:alpha val="19000"/>
            </a:schemeClr>
          </a:solidFill>
        </p:spPr>
        <p:txBody>
          <a:bodyPr wrap="square" rtlCol="0" anchor="ctr">
            <a:noAutofit/>
          </a:bodyPr>
          <a:lstStyle/>
          <a:p>
            <a:pPr algn="ctr"/>
            <a:r>
              <a:rPr lang="ja-JP" altLang="en-US" sz="2400" b="1">
                <a:latin typeface="+mn-ea"/>
                <a:ea typeface="+mn-ea"/>
              </a:rPr>
              <a:t>要件定義工程にて詳細化</a:t>
            </a:r>
            <a:endParaRPr kumimoji="1" lang="ja-JP" altLang="en-US" sz="2400" b="1">
              <a:latin typeface="+mn-ea"/>
              <a:ea typeface="+mn-ea"/>
            </a:endParaRPr>
          </a:p>
        </p:txBody>
      </p:sp>
      <p:sp>
        <p:nvSpPr>
          <p:cNvPr id="3" name="テキスト ボックス 2">
            <a:extLst>
              <a:ext uri="{FF2B5EF4-FFF2-40B4-BE49-F238E27FC236}">
                <a16:creationId xmlns:a16="http://schemas.microsoft.com/office/drawing/2014/main" id="{2EBA618D-AB60-4A3B-B8ED-AA6986888608}"/>
              </a:ext>
            </a:extLst>
          </p:cNvPr>
          <p:cNvSpPr txBox="1"/>
          <p:nvPr/>
        </p:nvSpPr>
        <p:spPr>
          <a:xfrm>
            <a:off x="367778" y="5663703"/>
            <a:ext cx="3859448" cy="253916"/>
          </a:xfrm>
          <a:prstGeom prst="rect">
            <a:avLst/>
          </a:prstGeom>
          <a:noFill/>
        </p:spPr>
        <p:txBody>
          <a:bodyPr wrap="square" rtlCol="0">
            <a:spAutoFit/>
          </a:bodyPr>
          <a:lstStyle/>
          <a:p>
            <a:r>
              <a:rPr kumimoji="1" lang="en-US" altLang="ja-JP" sz="1050"/>
              <a:t>【</a:t>
            </a:r>
            <a:r>
              <a:rPr lang="ja-JP" altLang="en-US" sz="1050">
                <a:latin typeface="Meiryo UI" panose="020B0604030504040204" pitchFamily="50" charset="-128"/>
                <a:ea typeface="Meiryo UI" panose="020B0604030504040204" pitchFamily="50" charset="-128"/>
              </a:rPr>
              <a:t>凡例</a:t>
            </a:r>
            <a:r>
              <a:rPr lang="en-US" altLang="ja-JP" sz="1050">
                <a:latin typeface="Meiryo UI" panose="020B0604030504040204" pitchFamily="50" charset="-128"/>
                <a:ea typeface="Meiryo UI" panose="020B0604030504040204" pitchFamily="50" charset="-128"/>
              </a:rPr>
              <a:t>】</a:t>
            </a:r>
            <a:r>
              <a:rPr lang="ja-JP" altLang="en-US" sz="1050">
                <a:latin typeface="Meiryo UI" panose="020B0604030504040204" pitchFamily="50" charset="-128"/>
                <a:ea typeface="Meiryo UI" panose="020B0604030504040204" pitchFamily="50" charset="-128"/>
              </a:rPr>
              <a:t> ○：作成</a:t>
            </a:r>
            <a:r>
              <a:rPr lang="en-US" altLang="ja-JP" sz="1050">
                <a:latin typeface="Meiryo UI" panose="020B0604030504040204" pitchFamily="50" charset="-128"/>
                <a:ea typeface="Meiryo UI" panose="020B0604030504040204" pitchFamily="50" charset="-128"/>
              </a:rPr>
              <a:t>/</a:t>
            </a:r>
            <a:r>
              <a:rPr lang="ja-JP" altLang="en-US" sz="1050">
                <a:latin typeface="Meiryo UI" panose="020B0604030504040204" pitchFamily="50" charset="-128"/>
                <a:ea typeface="Meiryo UI" panose="020B0604030504040204" pitchFamily="50" charset="-128"/>
              </a:rPr>
              <a:t>実施、●：合意</a:t>
            </a:r>
            <a:r>
              <a:rPr lang="en-US" altLang="ja-JP" sz="1050">
                <a:latin typeface="Meiryo UI" panose="020B0604030504040204" pitchFamily="50" charset="-128"/>
                <a:ea typeface="Meiryo UI" panose="020B0604030504040204" pitchFamily="50" charset="-128"/>
              </a:rPr>
              <a:t>/</a:t>
            </a:r>
            <a:r>
              <a:rPr lang="ja-JP" altLang="en-US" sz="1050">
                <a:latin typeface="Meiryo UI" panose="020B0604030504040204" pitchFamily="50" charset="-128"/>
                <a:ea typeface="Meiryo UI" panose="020B0604030504040204" pitchFamily="50" charset="-128"/>
              </a:rPr>
              <a:t>承認、▲：一部作業実施</a:t>
            </a:r>
            <a:endParaRPr kumimoji="1" lang="ja-JP" altLang="en-US" sz="105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92E04654-73D1-E51E-F6B8-756B0E7ACD85}"/>
              </a:ext>
            </a:extLst>
          </p:cNvPr>
          <p:cNvSpPr txBox="1"/>
          <p:nvPr/>
        </p:nvSpPr>
        <p:spPr>
          <a:xfrm>
            <a:off x="4005391" y="5663703"/>
            <a:ext cx="4066812" cy="253916"/>
          </a:xfrm>
          <a:prstGeom prst="rect">
            <a:avLst/>
          </a:prstGeom>
          <a:noFill/>
        </p:spPr>
        <p:txBody>
          <a:bodyPr wrap="square" rtlCol="0">
            <a:spAutoFit/>
          </a:bodyPr>
          <a:lstStyle/>
          <a:p>
            <a:r>
              <a:rPr kumimoji="1" lang="en-US" altLang="ja-JP" sz="1050">
                <a:latin typeface="Meiryo UI" panose="020B0604030504040204" pitchFamily="50" charset="-128"/>
                <a:ea typeface="Meiryo UI" panose="020B0604030504040204" pitchFamily="50" charset="-128"/>
              </a:rPr>
              <a:t>※1 </a:t>
            </a:r>
            <a:r>
              <a:rPr kumimoji="1" lang="ja-JP" altLang="en-US" sz="1050">
                <a:latin typeface="Meiryo UI" panose="020B0604030504040204" pitchFamily="50" charset="-128"/>
                <a:ea typeface="Meiryo UI" panose="020B0604030504040204" pitchFamily="50" charset="-128"/>
              </a:rPr>
              <a:t>一部テスト項目はマイクロソフトのサービス仕様として担保される想定</a:t>
            </a:r>
          </a:p>
        </p:txBody>
      </p:sp>
    </p:spTree>
    <p:extLst>
      <p:ext uri="{BB962C8B-B14F-4D97-AF65-F5344CB8AC3E}">
        <p14:creationId xmlns:p14="http://schemas.microsoft.com/office/powerpoint/2010/main" val="26793810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FBA0FA-425C-4ED2-911A-C502E26D0DF0}"/>
              </a:ext>
            </a:extLst>
          </p:cNvPr>
          <p:cNvSpPr>
            <a:spLocks noGrp="1"/>
          </p:cNvSpPr>
          <p:nvPr>
            <p:ph type="title" idx="4294967295"/>
          </p:nvPr>
        </p:nvSpPr>
        <p:spPr>
          <a:xfrm>
            <a:off x="622169" y="153987"/>
            <a:ext cx="7635875" cy="334962"/>
          </a:xfrm>
          <a:prstGeom prst="rect">
            <a:avLst/>
          </a:prstGeom>
        </p:spPr>
        <p:txBody>
          <a:bodyPr/>
          <a:lstStyle/>
          <a:p>
            <a:r>
              <a:rPr lang="ja-JP" altLang="en-US"/>
              <a:t>６</a:t>
            </a:r>
            <a:r>
              <a:rPr lang="en-US" altLang="ja-JP"/>
              <a:t>-</a:t>
            </a:r>
            <a:r>
              <a:rPr lang="ja-JP" altLang="en-US"/>
              <a:t>３．</a:t>
            </a:r>
            <a:r>
              <a:rPr lang="en-US" altLang="ja-JP"/>
              <a:t>【</a:t>
            </a:r>
            <a:r>
              <a:rPr lang="ja-JP" altLang="en-US"/>
              <a:t>開発管理</a:t>
            </a:r>
            <a:r>
              <a:rPr lang="en-US" altLang="ja-JP"/>
              <a:t>】</a:t>
            </a:r>
            <a:r>
              <a:rPr lang="ja-JP" altLang="en-US"/>
              <a:t>品質管理方針</a:t>
            </a:r>
          </a:p>
        </p:txBody>
      </p:sp>
      <p:sp>
        <p:nvSpPr>
          <p:cNvPr id="4" name="Text Box 3">
            <a:extLst>
              <a:ext uri="{FF2B5EF4-FFF2-40B4-BE49-F238E27FC236}">
                <a16:creationId xmlns:a16="http://schemas.microsoft.com/office/drawing/2014/main" id="{835E8D19-9BDE-4A0B-A81C-6329EFCAABE5}"/>
              </a:ext>
            </a:extLst>
          </p:cNvPr>
          <p:cNvSpPr txBox="1">
            <a:spLocks noChangeArrowheads="1"/>
          </p:cNvSpPr>
          <p:nvPr/>
        </p:nvSpPr>
        <p:spPr bwMode="auto">
          <a:xfrm>
            <a:off x="186638" y="656596"/>
            <a:ext cx="9521242" cy="1087912"/>
          </a:xfrm>
          <a:prstGeom prst="rect">
            <a:avLst/>
          </a:prstGeom>
          <a:noFill/>
          <a:ln w="9525">
            <a:solidFill>
              <a:schemeClr val="tx1"/>
            </a:solidFill>
            <a:miter lim="800000"/>
            <a:headEnd/>
            <a:tailEnd/>
          </a:ln>
        </p:spPr>
        <p:txBody>
          <a:bodyPr lIns="108000" tIns="0" bIns="0" anchor="ctr" anchorCtr="0"/>
          <a:lstStyle>
            <a:lvl1pPr eaLnBrk="0" hangingPunct="0">
              <a:spcBef>
                <a:spcPct val="20000"/>
              </a:spcBef>
              <a:defRPr kumimoji="1" sz="10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0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16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16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1600">
                <a:solidFill>
                  <a:schemeClr val="tx1"/>
                </a:solidFill>
                <a:latin typeface="Times New Roman" pitchFamily="18" charset="0"/>
                <a:ea typeface="ＭＳ Ｐゴシック" pitchFamily="50" charset="-128"/>
              </a:defRPr>
            </a:lvl9pPr>
          </a:lstStyle>
          <a:p>
            <a:pPr marL="285750" indent="-285750" eaLnBrk="1" hangingPunct="1">
              <a:spcBef>
                <a:spcPts val="296"/>
              </a:spcBef>
              <a:buFont typeface="Wingdings" panose="05000000000000000000" pitchFamily="2" charset="2"/>
              <a:buChar char="l"/>
            </a:pPr>
            <a:r>
              <a:rPr lang="ja-JP" altLang="en-US" sz="1400">
                <a:latin typeface="Meiryo UI" panose="020B0604030504040204" pitchFamily="50" charset="-128"/>
                <a:ea typeface="Meiryo UI" panose="020B0604030504040204" pitchFamily="50" charset="-128"/>
              </a:rPr>
              <a:t>品質管理方針については、</a:t>
            </a:r>
            <a:r>
              <a:rPr lang="en-US" altLang="ja-JP" sz="1400">
                <a:latin typeface="Meiryo UI" panose="020B0604030504040204" pitchFamily="50" charset="-128"/>
                <a:ea typeface="Meiryo UI" panose="020B0604030504040204" pitchFamily="50" charset="-128"/>
              </a:rPr>
              <a:t>JRI</a:t>
            </a:r>
            <a:r>
              <a:rPr lang="ja-JP" altLang="en-US" sz="1400">
                <a:latin typeface="Meiryo UI" panose="020B0604030504040204" pitchFamily="50" charset="-128"/>
                <a:ea typeface="Meiryo UI" panose="020B0604030504040204" pitchFamily="50" charset="-128"/>
              </a:rPr>
              <a:t>管理標準および</a:t>
            </a:r>
            <a:r>
              <a:rPr lang="en-US" altLang="ja-JP" sz="1400">
                <a:latin typeface="Meiryo UI" panose="020B0604030504040204" pitchFamily="50" charset="-128"/>
                <a:ea typeface="Meiryo UI" panose="020B0604030504040204" pitchFamily="50" charset="-128"/>
              </a:rPr>
              <a:t>IPA</a:t>
            </a:r>
            <a:r>
              <a:rPr lang="ja-JP" altLang="en-US" sz="1400">
                <a:latin typeface="Meiryo UI" panose="020B0604030504040204" pitchFamily="50" charset="-128"/>
                <a:ea typeface="Meiryo UI" panose="020B0604030504040204" pitchFamily="50" charset="-128"/>
              </a:rPr>
              <a:t>が定める指標を適用する方針で検討</a:t>
            </a:r>
            <a:endParaRPr lang="en-US" altLang="ja-JP" sz="1400">
              <a:latin typeface="Meiryo UI" panose="020B0604030504040204" pitchFamily="50" charset="-128"/>
              <a:ea typeface="Meiryo UI" panose="020B0604030504040204" pitchFamily="50" charset="-128"/>
            </a:endParaRPr>
          </a:p>
          <a:p>
            <a:pPr marL="285750" indent="-285750" eaLnBrk="1" hangingPunct="1">
              <a:spcBef>
                <a:spcPts val="296"/>
              </a:spcBef>
              <a:buFont typeface="Wingdings" panose="05000000000000000000" pitchFamily="2" charset="2"/>
              <a:buChar char="l"/>
            </a:pPr>
            <a:r>
              <a:rPr lang="ja-JP" altLang="en-US" sz="1400">
                <a:latin typeface="Meiryo UI" panose="020B0604030504040204" pitchFamily="50" charset="-128"/>
                <a:ea typeface="Meiryo UI" panose="020B0604030504040204" pitchFamily="50" charset="-128"/>
              </a:rPr>
              <a:t>適用にあたり、事前に</a:t>
            </a:r>
            <a:r>
              <a:rPr lang="en-US" altLang="ja-JP" sz="1400">
                <a:latin typeface="Meiryo UI" panose="020B0604030504040204" pitchFamily="50" charset="-128"/>
                <a:ea typeface="Meiryo UI" panose="020B0604030504040204" pitchFamily="50" charset="-128"/>
              </a:rPr>
              <a:t>JRI/IBM</a:t>
            </a:r>
            <a:r>
              <a:rPr lang="ja-JP" altLang="en-US" sz="1400">
                <a:latin typeface="Meiryo UI" panose="020B0604030504040204" pitchFamily="50" charset="-128"/>
                <a:ea typeface="Meiryo UI" panose="020B0604030504040204" pitchFamily="50" charset="-128"/>
              </a:rPr>
              <a:t>社にて品質基準を合意し、合意した基準をもとに品質報告を実施</a:t>
            </a:r>
            <a:endParaRPr lang="en-US" altLang="ja-JP" sz="1400">
              <a:latin typeface="Meiryo UI" panose="020B0604030504040204" pitchFamily="50" charset="-128"/>
              <a:ea typeface="Meiryo UI" panose="020B0604030504040204" pitchFamily="50" charset="-128"/>
            </a:endParaRPr>
          </a:p>
        </p:txBody>
      </p:sp>
      <p:sp>
        <p:nvSpPr>
          <p:cNvPr id="3" name="四角形: 角を丸くする 2">
            <a:extLst>
              <a:ext uri="{FF2B5EF4-FFF2-40B4-BE49-F238E27FC236}">
                <a16:creationId xmlns:a16="http://schemas.microsoft.com/office/drawing/2014/main" id="{A917BEB4-397C-4E47-8D31-45C6F44E8FF8}"/>
              </a:ext>
            </a:extLst>
          </p:cNvPr>
          <p:cNvSpPr/>
          <p:nvPr/>
        </p:nvSpPr>
        <p:spPr bwMode="gray">
          <a:xfrm>
            <a:off x="2464568" y="3004815"/>
            <a:ext cx="4810610" cy="1903845"/>
          </a:xfrm>
          <a:prstGeom prst="roundRect">
            <a:avLst/>
          </a:prstGeom>
          <a:ln>
            <a:headEnd/>
            <a:tailEnd/>
          </a:ln>
        </p:spPr>
        <p:style>
          <a:lnRef idx="1">
            <a:schemeClr val="accent5"/>
          </a:lnRef>
          <a:fillRef idx="2">
            <a:schemeClr val="accent5"/>
          </a:fillRef>
          <a:effectRef idx="1">
            <a:schemeClr val="accent5"/>
          </a:effectRef>
          <a:fontRef idx="minor">
            <a:schemeClr val="dk1"/>
          </a:fontRef>
        </p:style>
        <p:txBody>
          <a:bodyPr lIns="90000" tIns="45779" rIns="90000" bIns="45779" rtlCol="0" anchor="ctr"/>
          <a:lstStyle/>
          <a:p>
            <a:pPr algn="l" defTabSz="914400" eaLnBrk="1" hangingPunct="1">
              <a:spcBef>
                <a:spcPts val="300"/>
              </a:spcBef>
            </a:pPr>
            <a:r>
              <a:rPr kumimoji="0" lang="en-US" altLang="ja-JP" b="0">
                <a:latin typeface="Meiryo UI" panose="020B0604030504040204" pitchFamily="50" charset="-128"/>
                <a:ea typeface="Meiryo UI" panose="020B0604030504040204" pitchFamily="50" charset="-128"/>
              </a:rPr>
              <a:t>2025</a:t>
            </a:r>
            <a:r>
              <a:rPr kumimoji="0" lang="ja-JP" altLang="en-US" b="0">
                <a:latin typeface="Meiryo UI" panose="020B0604030504040204" pitchFamily="50" charset="-128"/>
                <a:ea typeface="Meiryo UI" panose="020B0604030504040204" pitchFamily="50" charset="-128"/>
              </a:rPr>
              <a:t>年</a:t>
            </a:r>
            <a:r>
              <a:rPr kumimoji="0" lang="en-US" altLang="ja-JP" b="0">
                <a:latin typeface="Meiryo UI" panose="020B0604030504040204" pitchFamily="50" charset="-128"/>
                <a:ea typeface="Meiryo UI" panose="020B0604030504040204" pitchFamily="50" charset="-128"/>
              </a:rPr>
              <a:t>5</a:t>
            </a:r>
            <a:r>
              <a:rPr kumimoji="0" lang="ja-JP" altLang="en-US" b="0">
                <a:latin typeface="Meiryo UI" panose="020B0604030504040204" pitchFamily="50" charset="-128"/>
                <a:ea typeface="Meiryo UI" panose="020B0604030504040204" pitchFamily="50" charset="-128"/>
              </a:rPr>
              <a:t>月　</a:t>
            </a:r>
            <a:r>
              <a:rPr kumimoji="0" lang="en-US" altLang="ja-JP" b="0">
                <a:latin typeface="Meiryo UI" panose="020B0604030504040204" pitchFamily="50" charset="-128"/>
                <a:ea typeface="Meiryo UI" panose="020B0604030504040204" pitchFamily="50" charset="-128"/>
              </a:rPr>
              <a:t>JRI/IBM</a:t>
            </a:r>
            <a:r>
              <a:rPr kumimoji="0" lang="ja-JP" altLang="en-US" b="0">
                <a:latin typeface="Meiryo UI" panose="020B0604030504040204" pitchFamily="50" charset="-128"/>
                <a:ea typeface="Meiryo UI" panose="020B0604030504040204" pitchFamily="50" charset="-128"/>
              </a:rPr>
              <a:t>にて協議予定</a:t>
            </a:r>
            <a:endParaRPr kumimoji="0" lang="en-US" altLang="ja-JP" b="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30633456"/>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967106-4CFF-4BD4-8A91-F378B5A6ABEB}"/>
              </a:ext>
            </a:extLst>
          </p:cNvPr>
          <p:cNvSpPr>
            <a:spLocks noGrp="1"/>
          </p:cNvSpPr>
          <p:nvPr>
            <p:ph type="title" idx="4294967295"/>
          </p:nvPr>
        </p:nvSpPr>
        <p:spPr>
          <a:xfrm>
            <a:off x="677027" y="142565"/>
            <a:ext cx="9004300" cy="334962"/>
          </a:xfrm>
          <a:prstGeom prst="rect">
            <a:avLst/>
          </a:prstGeom>
        </p:spPr>
        <p:txBody>
          <a:bodyPr/>
          <a:lstStyle/>
          <a:p>
            <a:r>
              <a:rPr lang="ja-JP" altLang="en-US"/>
              <a:t>７</a:t>
            </a:r>
            <a:r>
              <a:rPr lang="en-US" altLang="ja-JP"/>
              <a:t>-</a:t>
            </a:r>
            <a:r>
              <a:rPr lang="ja-JP" altLang="en-US"/>
              <a:t>１．</a:t>
            </a:r>
            <a:r>
              <a:rPr lang="en-US" altLang="ja-JP"/>
              <a:t>【</a:t>
            </a:r>
            <a:r>
              <a:rPr lang="ja-JP" altLang="en-US"/>
              <a:t>プロジェクトリスクと対策</a:t>
            </a:r>
            <a:r>
              <a:rPr lang="en-US" altLang="ja-JP"/>
              <a:t>】</a:t>
            </a:r>
            <a:r>
              <a:rPr lang="ja-JP" altLang="en-US"/>
              <a:t>主要リスクと対策</a:t>
            </a:r>
            <a:br>
              <a:rPr lang="ja-JP" altLang="en-US"/>
            </a:br>
            <a:endParaRPr lang="ja-JP" altLang="en-US"/>
          </a:p>
        </p:txBody>
      </p:sp>
      <p:sp>
        <p:nvSpPr>
          <p:cNvPr id="3" name="Text Box 140">
            <a:extLst>
              <a:ext uri="{FF2B5EF4-FFF2-40B4-BE49-F238E27FC236}">
                <a16:creationId xmlns:a16="http://schemas.microsoft.com/office/drawing/2014/main" id="{9AB27492-C114-4D96-A8BD-119B7BFB9AEC}"/>
              </a:ext>
            </a:extLst>
          </p:cNvPr>
          <p:cNvSpPr txBox="1">
            <a:spLocks noChangeArrowheads="1"/>
          </p:cNvSpPr>
          <p:nvPr/>
        </p:nvSpPr>
        <p:spPr bwMode="auto">
          <a:xfrm>
            <a:off x="164578" y="604407"/>
            <a:ext cx="9563884" cy="367804"/>
          </a:xfrm>
          <a:prstGeom prst="rect">
            <a:avLst/>
          </a:prstGeom>
          <a:noFill/>
          <a:ln w="9525">
            <a:noFill/>
            <a:miter lim="800000"/>
            <a:headEnd/>
            <a:tailEnd/>
          </a:ln>
        </p:spPr>
        <p:txBody>
          <a:bodyPr lIns="108000" tIns="0" bIns="0" anchor="ctr" anchorCtr="0"/>
          <a:lstStyle>
            <a:defPPr>
              <a:defRPr lang="ja-JP"/>
            </a:defPPr>
            <a:lvl1pPr marL="285750" indent="-285750">
              <a:spcBef>
                <a:spcPts val="300"/>
              </a:spcBef>
              <a:buFont typeface="Wingdings" panose="05000000000000000000" pitchFamily="2" charset="2"/>
              <a:buChar char="l"/>
              <a:defRPr sz="1400">
                <a:latin typeface="+mn-ea"/>
                <a:ea typeface="+mn-ea"/>
              </a:defRPr>
            </a:lvl1pPr>
            <a:lvl2pPr marL="742950" indent="-285750">
              <a:spcBef>
                <a:spcPct val="20000"/>
              </a:spcBef>
              <a:buChar char="–"/>
              <a:defRPr sz="2800">
                <a:latin typeface="Arial" panose="020B0604020202020204" pitchFamily="34" charset="0"/>
                <a:ea typeface="ＭＳ Ｐゴシック" panose="020B0600070205080204" pitchFamily="50" charset="-128"/>
              </a:defRPr>
            </a:lvl2pPr>
            <a:lvl3pPr marL="1143000" indent="-228600">
              <a:spcBef>
                <a:spcPct val="20000"/>
              </a:spcBef>
              <a:buChar char="•"/>
              <a:defRPr sz="2400">
                <a:latin typeface="Arial" panose="020B0604020202020204" pitchFamily="34" charset="0"/>
                <a:ea typeface="ＭＳ Ｐゴシック" panose="020B0600070205080204" pitchFamily="50" charset="-128"/>
              </a:defRPr>
            </a:lvl3pPr>
            <a:lvl4pPr marL="1600200" indent="-228600">
              <a:spcBef>
                <a:spcPct val="20000"/>
              </a:spcBef>
              <a:buChar char="–"/>
              <a:defRPr sz="2000">
                <a:latin typeface="Arial" panose="020B0604020202020204" pitchFamily="34" charset="0"/>
                <a:ea typeface="ＭＳ Ｐゴシック" panose="020B0600070205080204" pitchFamily="50" charset="-128"/>
              </a:defRPr>
            </a:lvl4pPr>
            <a:lvl5pPr marL="2057400" indent="-228600">
              <a:spcBef>
                <a:spcPct val="20000"/>
              </a:spcBef>
              <a:buChar char="»"/>
              <a:defRPr sz="2000">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sz="2000">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sz="2000">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sz="2000">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sz="2000">
                <a:latin typeface="Arial" panose="020B0604020202020204" pitchFamily="34" charset="0"/>
                <a:ea typeface="ＭＳ Ｐゴシック" panose="020B0600070205080204" pitchFamily="50" charset="-128"/>
              </a:defRPr>
            </a:lvl9pPr>
          </a:lstStyle>
          <a:p>
            <a:r>
              <a:rPr lang="ja-JP" altLang="en-US"/>
              <a:t>現在認識している主要なリスクは以下のとおり。「</a:t>
            </a:r>
            <a:r>
              <a:rPr lang="en-US" altLang="ja-JP"/>
              <a:t>【</a:t>
            </a:r>
            <a:r>
              <a:rPr lang="ja-JP" altLang="en-US"/>
              <a:t>運営要領</a:t>
            </a:r>
            <a:r>
              <a:rPr lang="en-US" altLang="ja-JP"/>
              <a:t>】</a:t>
            </a:r>
            <a:r>
              <a:rPr lang="ja-JP" altLang="en-US"/>
              <a:t>管理帳票」で定義した「リスク管理一覧」にて管理する</a:t>
            </a:r>
            <a:endParaRPr lang="en-US" altLang="ja-JP"/>
          </a:p>
        </p:txBody>
      </p:sp>
      <p:graphicFrame>
        <p:nvGraphicFramePr>
          <p:cNvPr id="4" name="表 3">
            <a:extLst>
              <a:ext uri="{FF2B5EF4-FFF2-40B4-BE49-F238E27FC236}">
                <a16:creationId xmlns:a16="http://schemas.microsoft.com/office/drawing/2014/main" id="{3338338E-94CB-4D51-B54C-C5BFC95ED7C2}"/>
              </a:ext>
            </a:extLst>
          </p:cNvPr>
          <p:cNvGraphicFramePr>
            <a:graphicFrameLocks noGrp="1"/>
          </p:cNvGraphicFramePr>
          <p:nvPr>
            <p:extLst>
              <p:ext uri="{D42A27DB-BD31-4B8C-83A1-F6EECF244321}">
                <p14:modId xmlns:p14="http://schemas.microsoft.com/office/powerpoint/2010/main" val="2909156466"/>
              </p:ext>
            </p:extLst>
          </p:nvPr>
        </p:nvGraphicFramePr>
        <p:xfrm>
          <a:off x="164578" y="1035319"/>
          <a:ext cx="9563882" cy="4642988"/>
        </p:xfrm>
        <a:graphic>
          <a:graphicData uri="http://schemas.openxmlformats.org/drawingml/2006/table">
            <a:tbl>
              <a:tblPr firstRow="1" bandRow="1">
                <a:tableStyleId>{5C22544A-7EE6-4342-B048-85BDC9FD1C3A}</a:tableStyleId>
              </a:tblPr>
              <a:tblGrid>
                <a:gridCol w="265956">
                  <a:extLst>
                    <a:ext uri="{9D8B030D-6E8A-4147-A177-3AD203B41FA5}">
                      <a16:colId xmlns:a16="http://schemas.microsoft.com/office/drawing/2014/main" val="1426283503"/>
                    </a:ext>
                  </a:extLst>
                </a:gridCol>
                <a:gridCol w="391460">
                  <a:extLst>
                    <a:ext uri="{9D8B030D-6E8A-4147-A177-3AD203B41FA5}">
                      <a16:colId xmlns:a16="http://schemas.microsoft.com/office/drawing/2014/main" val="2715006350"/>
                    </a:ext>
                  </a:extLst>
                </a:gridCol>
                <a:gridCol w="391460">
                  <a:extLst>
                    <a:ext uri="{9D8B030D-6E8A-4147-A177-3AD203B41FA5}">
                      <a16:colId xmlns:a16="http://schemas.microsoft.com/office/drawing/2014/main" val="410639361"/>
                    </a:ext>
                  </a:extLst>
                </a:gridCol>
                <a:gridCol w="2378385">
                  <a:extLst>
                    <a:ext uri="{9D8B030D-6E8A-4147-A177-3AD203B41FA5}">
                      <a16:colId xmlns:a16="http://schemas.microsoft.com/office/drawing/2014/main" val="4255609264"/>
                    </a:ext>
                  </a:extLst>
                </a:gridCol>
                <a:gridCol w="526183">
                  <a:extLst>
                    <a:ext uri="{9D8B030D-6E8A-4147-A177-3AD203B41FA5}">
                      <a16:colId xmlns:a16="http://schemas.microsoft.com/office/drawing/2014/main" val="233071075"/>
                    </a:ext>
                  </a:extLst>
                </a:gridCol>
                <a:gridCol w="913513">
                  <a:extLst>
                    <a:ext uri="{9D8B030D-6E8A-4147-A177-3AD203B41FA5}">
                      <a16:colId xmlns:a16="http://schemas.microsoft.com/office/drawing/2014/main" val="2207165141"/>
                    </a:ext>
                  </a:extLst>
                </a:gridCol>
                <a:gridCol w="3602271">
                  <a:extLst>
                    <a:ext uri="{9D8B030D-6E8A-4147-A177-3AD203B41FA5}">
                      <a16:colId xmlns:a16="http://schemas.microsoft.com/office/drawing/2014/main" val="580139536"/>
                    </a:ext>
                  </a:extLst>
                </a:gridCol>
                <a:gridCol w="1094654">
                  <a:extLst>
                    <a:ext uri="{9D8B030D-6E8A-4147-A177-3AD203B41FA5}">
                      <a16:colId xmlns:a16="http://schemas.microsoft.com/office/drawing/2014/main" val="356975706"/>
                    </a:ext>
                  </a:extLst>
                </a:gridCol>
              </a:tblGrid>
              <a:tr h="247178">
                <a:tc>
                  <a:txBody>
                    <a:bodyPr/>
                    <a:lstStyle/>
                    <a:p>
                      <a:pPr algn="ctr"/>
                      <a:endParaRPr kumimoji="1" lang="ja-JP" altLang="en-US" sz="1200">
                        <a:solidFill>
                          <a:schemeClr val="bg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ja-JP" altLang="en-US" sz="1200">
                          <a:solidFill>
                            <a:schemeClr val="bg1"/>
                          </a:solidFill>
                        </a:rPr>
                        <a:t>分類</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ja-JP" altLang="en-US" sz="1200">
                          <a:solidFill>
                            <a:schemeClr val="bg1"/>
                          </a:solidFill>
                        </a:rPr>
                        <a:t>対象</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ja-JP" altLang="en-US" sz="1200">
                          <a:solidFill>
                            <a:schemeClr val="bg1"/>
                          </a:solidFill>
                        </a:rPr>
                        <a:t>主要リスク内容</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a:txBody>
                    <a:bodyPr/>
                    <a:lstStyle/>
                    <a:p>
                      <a:pPr algn="ctr"/>
                      <a:r>
                        <a:rPr kumimoji="1" lang="ja-JP" altLang="en-US" sz="1200">
                          <a:solidFill>
                            <a:schemeClr val="bg1"/>
                          </a:solidFill>
                        </a:rPr>
                        <a:t>区分</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gridSpan="2">
                  <a:txBody>
                    <a:bodyPr/>
                    <a:lstStyle/>
                    <a:p>
                      <a:pPr algn="ctr"/>
                      <a:r>
                        <a:rPr kumimoji="1" lang="ja-JP" altLang="en-US" sz="1200">
                          <a:solidFill>
                            <a:schemeClr val="bg1"/>
                          </a:solidFill>
                        </a:rPr>
                        <a:t>リスク対応計画</a:t>
                      </a:r>
                      <a:endParaRPr kumimoji="1" lang="ja-JP" altLang="en-US" sz="160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88F"/>
                    </a:solidFill>
                  </a:tcPr>
                </a:tc>
                <a:tc hMerge="1">
                  <a:txBody>
                    <a:bodyPr/>
                    <a:lstStyle/>
                    <a:p>
                      <a:endParaRPr kumimoji="1" lang="ja-JP" altLang="en-US"/>
                    </a:p>
                  </a:txBody>
                  <a:tcPr/>
                </a:tc>
                <a:tc>
                  <a:txBody>
                    <a:bodyPr/>
                    <a:lstStyle/>
                    <a:p>
                      <a:pPr algn="ctr"/>
                      <a:r>
                        <a:rPr kumimoji="1" lang="ja-JP" altLang="en-US" sz="1200">
                          <a:solidFill>
                            <a:schemeClr val="bg1"/>
                          </a:solidFill>
                        </a:rPr>
                        <a:t>実施時期</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588F"/>
                    </a:solidFill>
                  </a:tcPr>
                </a:tc>
                <a:extLst>
                  <a:ext uri="{0D108BD9-81ED-4DB2-BD59-A6C34878D82A}">
                    <a16:rowId xmlns:a16="http://schemas.microsoft.com/office/drawing/2014/main" val="3227849395"/>
                  </a:ext>
                </a:extLst>
              </a:tr>
              <a:tr h="497840">
                <a:tc rowSpan="2">
                  <a:txBody>
                    <a:bodyPr/>
                    <a:lstStyle/>
                    <a:p>
                      <a:pPr algn="ctr"/>
                      <a:r>
                        <a:rPr kumimoji="1" lang="en-US" altLang="ja-JP" sz="1200">
                          <a:solidFill>
                            <a:schemeClr val="tx1"/>
                          </a:solidFill>
                          <a:latin typeface="+mj-ea"/>
                          <a:ea typeface="+mj-ea"/>
                        </a:rPr>
                        <a:t>1</a:t>
                      </a:r>
                      <a:endParaRPr kumimoji="1" lang="ja-JP" altLang="en-US" sz="1200">
                        <a:solidFill>
                          <a:schemeClr val="tx1"/>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kumimoji="1" lang="ja-JP" altLang="en-US" sz="1200" kern="1200">
                          <a:solidFill>
                            <a:schemeClr val="tx1"/>
                          </a:solidFill>
                          <a:effectLst/>
                          <a:latin typeface="+mn-ea"/>
                          <a:ea typeface="+mn-ea"/>
                          <a:cs typeface="+mn-cs"/>
                        </a:rPr>
                        <a:t>技術</a:t>
                      </a:r>
                      <a:endParaRPr kumimoji="1" lang="en-US" altLang="ja-JP" sz="1200" kern="1200">
                        <a:solidFill>
                          <a:schemeClr val="tx1"/>
                        </a:solidFill>
                        <a:effectLst/>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kumimoji="1" lang="en-US" altLang="ja-JP" sz="1200" kern="1200">
                        <a:solidFill>
                          <a:schemeClr val="tx1"/>
                        </a:solidFill>
                        <a:effectLst/>
                        <a:latin typeface="+mn-ea"/>
                        <a:ea typeface="+mn-ea"/>
                        <a:cs typeface="+mn-cs"/>
                      </a:endParaRPr>
                    </a:p>
                    <a:p>
                      <a:r>
                        <a:rPr kumimoji="1" lang="en-US" altLang="ja-JP" sz="1200" kern="1200">
                          <a:solidFill>
                            <a:schemeClr val="tx1"/>
                          </a:solidFill>
                          <a:effectLst/>
                          <a:latin typeface="+mn-ea"/>
                          <a:ea typeface="+mn-ea"/>
                          <a:cs typeface="+mn-cs"/>
                        </a:rPr>
                        <a:t>BC</a:t>
                      </a:r>
                    </a:p>
                    <a:p>
                      <a:r>
                        <a:rPr kumimoji="1" lang="en-US" altLang="ja-JP" sz="1200" kern="1200">
                          <a:solidFill>
                            <a:schemeClr val="tx1"/>
                          </a:solidFill>
                          <a:effectLst/>
                          <a:latin typeface="+mn-ea"/>
                          <a:ea typeface="+mn-ea"/>
                          <a:cs typeface="+mn-cs"/>
                        </a:rPr>
                        <a:t>CC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kumimoji="1" lang="ja-JP" altLang="en-US" sz="1100" kern="1200">
                          <a:solidFill>
                            <a:schemeClr val="tx1"/>
                          </a:solidFill>
                          <a:effectLst/>
                          <a:latin typeface="+mn-ea"/>
                          <a:ea typeface="+mn-ea"/>
                          <a:cs typeface="+mn-cs"/>
                        </a:rPr>
                        <a:t>統合</a:t>
                      </a:r>
                      <a:r>
                        <a:rPr kumimoji="1" lang="en-US" altLang="ja-JP" sz="1100" kern="1200">
                          <a:solidFill>
                            <a:schemeClr val="tx1"/>
                          </a:solidFill>
                          <a:effectLst/>
                          <a:latin typeface="+mn-ea"/>
                          <a:ea typeface="+mn-ea"/>
                          <a:cs typeface="+mn-cs"/>
                        </a:rPr>
                        <a:t>FW</a:t>
                      </a:r>
                      <a:r>
                        <a:rPr kumimoji="1" lang="ja-JP" altLang="en-US" sz="1100" kern="1200">
                          <a:solidFill>
                            <a:schemeClr val="tx1"/>
                          </a:solidFill>
                          <a:effectLst/>
                          <a:latin typeface="+mn-ea"/>
                          <a:ea typeface="+mn-ea"/>
                          <a:cs typeface="+mn-cs"/>
                        </a:rPr>
                        <a:t>経由の通信において、</a:t>
                      </a:r>
                      <a:r>
                        <a:rPr kumimoji="1" lang="en-US" altLang="ja-JP" sz="1100" kern="1200">
                          <a:solidFill>
                            <a:schemeClr val="tx1"/>
                          </a:solidFill>
                          <a:effectLst/>
                          <a:latin typeface="+mn-ea"/>
                          <a:ea typeface="+mn-ea"/>
                          <a:cs typeface="+mn-cs"/>
                        </a:rPr>
                        <a:t>M365</a:t>
                      </a:r>
                      <a:r>
                        <a:rPr kumimoji="1" lang="ja-JP" altLang="en-US" sz="1100" kern="1200">
                          <a:solidFill>
                            <a:schemeClr val="tx1"/>
                          </a:solidFill>
                          <a:effectLst/>
                          <a:latin typeface="+mn-ea"/>
                          <a:ea typeface="+mn-ea"/>
                          <a:cs typeface="+mn-cs"/>
                        </a:rPr>
                        <a:t>のアップデート等により</a:t>
                      </a:r>
                      <a:r>
                        <a:rPr kumimoji="1" lang="en-US" altLang="ja-JP" sz="1100" kern="1200">
                          <a:solidFill>
                            <a:schemeClr val="tx1"/>
                          </a:solidFill>
                          <a:effectLst/>
                          <a:latin typeface="+mn-ea"/>
                          <a:ea typeface="+mn-ea"/>
                          <a:cs typeface="+mn-cs"/>
                        </a:rPr>
                        <a:t>OA</a:t>
                      </a:r>
                      <a:r>
                        <a:rPr kumimoji="1" lang="ja-JP" altLang="en-US" sz="1100" kern="1200">
                          <a:solidFill>
                            <a:schemeClr val="tx1"/>
                          </a:solidFill>
                          <a:effectLst/>
                          <a:latin typeface="+mn-ea"/>
                          <a:ea typeface="+mn-ea"/>
                          <a:cs typeface="+mn-cs"/>
                        </a:rPr>
                        <a:t>系の通信が大量に発生することで回線の帯域逼迫や</a:t>
                      </a:r>
                      <a:r>
                        <a:rPr kumimoji="1" lang="en-US" altLang="ja-JP" sz="1100" kern="1200">
                          <a:solidFill>
                            <a:schemeClr val="tx1"/>
                          </a:solidFill>
                          <a:effectLst/>
                          <a:latin typeface="+mn-ea"/>
                          <a:ea typeface="+mn-ea"/>
                          <a:cs typeface="+mn-cs"/>
                        </a:rPr>
                        <a:t>NW</a:t>
                      </a:r>
                      <a:r>
                        <a:rPr kumimoji="1" lang="ja-JP" altLang="en-US" sz="1100" kern="1200">
                          <a:solidFill>
                            <a:schemeClr val="tx1"/>
                          </a:solidFill>
                          <a:effectLst/>
                          <a:latin typeface="+mn-ea"/>
                          <a:ea typeface="+mn-ea"/>
                          <a:cs typeface="+mn-cs"/>
                        </a:rPr>
                        <a:t>機器の処理が飽和し、通信不可となる可能性がある。</a:t>
                      </a:r>
                      <a:endParaRPr kumimoji="1" lang="en-US" altLang="ja-JP" sz="1100" kern="1200">
                        <a:solidFill>
                          <a:schemeClr val="tx1"/>
                        </a:solidFill>
                        <a:effectLst/>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転嫁</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rtl="0">
                        <a:buFont typeface="+mj-ea"/>
                        <a:buNone/>
                      </a:pPr>
                      <a:r>
                        <a:rPr kumimoji="1" lang="en-US" altLang="ja-JP" sz="1100" b="0" i="0" u="none" strike="noStrike" kern="1200" baseline="0">
                          <a:solidFill>
                            <a:schemeClr val="tx1"/>
                          </a:solidFill>
                          <a:latin typeface="+mn-ea"/>
                          <a:ea typeface="+mn-ea"/>
                          <a:cs typeface="Meiryo UI" panose="020B0604030504040204" pitchFamily="50" charset="-128"/>
                        </a:rPr>
                        <a:t>[</a:t>
                      </a:r>
                      <a:r>
                        <a:rPr kumimoji="1" lang="ja-JP" altLang="en-US" sz="1100" b="0" i="0" u="none" strike="noStrike" kern="1200" baseline="0">
                          <a:solidFill>
                            <a:schemeClr val="tx1"/>
                          </a:solidFill>
                          <a:latin typeface="+mn-ea"/>
                          <a:ea typeface="+mn-ea"/>
                          <a:cs typeface="Meiryo UI" panose="020B0604030504040204" pitchFamily="50" charset="-128"/>
                        </a:rPr>
                        <a:t>事前対応</a:t>
                      </a:r>
                      <a:r>
                        <a:rPr kumimoji="1" lang="en-US" altLang="ja-JP" sz="1100" b="0" i="0" u="none" strike="noStrike" kern="1200" baseline="0">
                          <a:solidFill>
                            <a:schemeClr val="tx1"/>
                          </a:solidFill>
                          <a:latin typeface="+mn-ea"/>
                          <a:ea typeface="+mn-ea"/>
                          <a:cs typeface="Meiryo UI" panose="020B0604030504040204" pitchFamily="50" charset="-128"/>
                        </a:rPr>
                        <a:t>]</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rtl="0">
                        <a:buFont typeface="+mj-ea"/>
                        <a:buNone/>
                      </a:pPr>
                      <a:r>
                        <a:rPr kumimoji="1" lang="ja-JP" altLang="en-US" sz="1100" b="0" i="0" u="none" strike="noStrike" kern="1200" baseline="0">
                          <a:solidFill>
                            <a:schemeClr val="tx1"/>
                          </a:solidFill>
                          <a:latin typeface="+mn-ea"/>
                          <a:ea typeface="+mn-ea"/>
                          <a:cs typeface="Meiryo UI" panose="020B0604030504040204" pitchFamily="50" charset="-128"/>
                        </a:rPr>
                        <a:t>スローダウンした場合の挙動を整理し、仮に全く処理出来ない状態になる場合はそれを許容する業務コンティンを定める。</a:t>
                      </a:r>
                      <a:endParaRPr kumimoji="1" lang="en-US" altLang="ja-JP" sz="1100" b="0" i="0" u="none" strike="noStrike" kern="1200" baseline="0">
                        <a:solidFill>
                          <a:schemeClr val="tx1"/>
                        </a:solidFill>
                        <a:latin typeface="+mn-ea"/>
                        <a:ea typeface="+mn-ea"/>
                        <a:cs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kern="1200">
                          <a:solidFill>
                            <a:schemeClr val="tx1"/>
                          </a:solidFill>
                          <a:latin typeface="+mj-ea"/>
                          <a:ea typeface="+mn-ea"/>
                          <a:cs typeface="+mn-cs"/>
                        </a:rPr>
                        <a:t>【</a:t>
                      </a:r>
                      <a:r>
                        <a:rPr kumimoji="1" lang="ja-JP" altLang="en-US" sz="1000" b="0" kern="1200">
                          <a:solidFill>
                            <a:schemeClr val="tx1"/>
                          </a:solidFill>
                          <a:latin typeface="+mj-ea"/>
                          <a:ea typeface="+mn-ea"/>
                          <a:cs typeface="+mn-cs"/>
                        </a:rPr>
                        <a:t>要件定義</a:t>
                      </a:r>
                      <a:r>
                        <a:rPr kumimoji="1" lang="en-US" altLang="ja-JP" sz="1000" b="0" kern="1200">
                          <a:solidFill>
                            <a:schemeClr val="tx1"/>
                          </a:solidFill>
                          <a:latin typeface="+mj-e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kern="1200">
                          <a:solidFill>
                            <a:schemeClr val="tx1"/>
                          </a:solidFill>
                          <a:latin typeface="+mj-ea"/>
                          <a:ea typeface="+mn-ea"/>
                          <a:cs typeface="+mn-cs"/>
                        </a:rPr>
                        <a:t>2025/7</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0629377"/>
                  </a:ext>
                </a:extLst>
              </a:tr>
              <a:tr h="493200">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r>
                        <a:rPr kumimoji="1" lang="en-US" altLang="ja-JP" sz="1100" b="0" i="0" u="none" strike="noStrike" kern="1200" baseline="0">
                          <a:solidFill>
                            <a:schemeClr val="tx1"/>
                          </a:solidFill>
                          <a:latin typeface="+mn-ea"/>
                          <a:ea typeface="+mn-ea"/>
                          <a:cs typeface="Meiryo UI" panose="020B0604030504040204" pitchFamily="50" charset="-128"/>
                        </a:rPr>
                        <a:t>[</a:t>
                      </a:r>
                      <a:r>
                        <a:rPr kumimoji="1" lang="ja-JP" altLang="en-US" sz="1100" b="0" i="0" u="none" strike="noStrike" kern="1200" baseline="0">
                          <a:solidFill>
                            <a:schemeClr val="tx1"/>
                          </a:solidFill>
                          <a:latin typeface="+mn-ea"/>
                          <a:ea typeface="+mn-ea"/>
                          <a:cs typeface="Meiryo UI" panose="020B0604030504040204" pitchFamily="50" charset="-128"/>
                        </a:rPr>
                        <a:t>事後対応</a:t>
                      </a:r>
                      <a:r>
                        <a:rPr kumimoji="1" lang="en-US" altLang="ja-JP" sz="1100" b="0" i="0" u="none" strike="noStrike" kern="1200" baseline="0">
                          <a:solidFill>
                            <a:schemeClr val="tx1"/>
                          </a:solidFill>
                          <a:latin typeface="+mn-ea"/>
                          <a:ea typeface="+mn-ea"/>
                          <a:cs typeface="Meiryo UI" panose="020B0604030504040204" pitchFamily="50" charset="-128"/>
                        </a:rPr>
                        <a:t>]</a:t>
                      </a:r>
                      <a:endParaRPr kumimoji="1" lang="ja-JP" altLang="en-US"/>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100" b="0" i="0" u="none" strike="noStrike" kern="1200" baseline="0">
                          <a:solidFill>
                            <a:schemeClr val="tx1"/>
                          </a:solidFill>
                          <a:latin typeface="+mn-ea"/>
                          <a:ea typeface="+mn-ea"/>
                          <a:cs typeface="Meiryo UI" panose="020B0604030504040204" pitchFamily="50" charset="-128"/>
                        </a:rPr>
                        <a:t>導入後、既存</a:t>
                      </a:r>
                      <a:r>
                        <a:rPr kumimoji="1" lang="en-US" altLang="ja-JP" sz="1100" b="0" i="0" u="none" strike="noStrike" kern="1200" baseline="0">
                          <a:solidFill>
                            <a:schemeClr val="tx1"/>
                          </a:solidFill>
                          <a:latin typeface="+mn-ea"/>
                          <a:ea typeface="+mn-ea"/>
                          <a:cs typeface="Meiryo UI" panose="020B0604030504040204" pitchFamily="50" charset="-128"/>
                        </a:rPr>
                        <a:t>NW</a:t>
                      </a:r>
                      <a:r>
                        <a:rPr kumimoji="1" lang="ja-JP" altLang="en-US" sz="1100" b="0" i="0" u="none" strike="noStrike" kern="1200" baseline="0">
                          <a:solidFill>
                            <a:schemeClr val="tx1"/>
                          </a:solidFill>
                          <a:latin typeface="+mn-ea"/>
                          <a:ea typeface="+mn-ea"/>
                          <a:cs typeface="Meiryo UI" panose="020B0604030504040204" pitchFamily="50" charset="-128"/>
                        </a:rPr>
                        <a:t>への影響を確認し、コンタクトセンター関連</a:t>
                      </a:r>
                      <a:br>
                        <a:rPr kumimoji="1" lang="en-US" altLang="ja-JP" sz="1100" b="0" i="0" u="none" strike="noStrike" kern="1200" baseline="0">
                          <a:solidFill>
                            <a:schemeClr val="tx1"/>
                          </a:solidFill>
                          <a:latin typeface="+mn-ea"/>
                          <a:ea typeface="+mn-ea"/>
                          <a:cs typeface="Meiryo UI" panose="020B0604030504040204" pitchFamily="50" charset="-128"/>
                        </a:rPr>
                      </a:br>
                      <a:r>
                        <a:rPr kumimoji="1" lang="ja-JP" altLang="en-US" sz="1100" b="0" i="0" u="none" strike="noStrike" kern="1200" baseline="0">
                          <a:solidFill>
                            <a:schemeClr val="tx1"/>
                          </a:solidFill>
                          <a:latin typeface="+mn-ea"/>
                          <a:ea typeface="+mn-ea"/>
                          <a:cs typeface="Meiryo UI" panose="020B0604030504040204" pitchFamily="50" charset="-128"/>
                        </a:rPr>
                        <a:t>システム専用</a:t>
                      </a:r>
                      <a:r>
                        <a:rPr kumimoji="1" lang="en-US" altLang="ja-JP" sz="1100" b="0" i="0" u="none" strike="noStrike" kern="1200" baseline="0">
                          <a:solidFill>
                            <a:schemeClr val="tx1"/>
                          </a:solidFill>
                          <a:latin typeface="+mn-ea"/>
                          <a:ea typeface="+mn-ea"/>
                          <a:cs typeface="Meiryo UI" panose="020B0604030504040204" pitchFamily="50" charset="-128"/>
                        </a:rPr>
                        <a:t>NW</a:t>
                      </a:r>
                      <a:r>
                        <a:rPr kumimoji="1" lang="ja-JP" altLang="en-US" sz="1100" b="0" i="0" u="none" strike="noStrike" kern="1200" baseline="0">
                          <a:solidFill>
                            <a:schemeClr val="tx1"/>
                          </a:solidFill>
                          <a:latin typeface="+mn-ea"/>
                          <a:ea typeface="+mn-ea"/>
                          <a:cs typeface="Meiryo UI" panose="020B0604030504040204" pitchFamily="50" charset="-128"/>
                        </a:rPr>
                        <a:t>への移行計画を進める。</a:t>
                      </a:r>
                      <a:endParaRPr kumimoji="1" lang="en-US" altLang="ja-JP" sz="1100" b="0" i="0" u="none" strike="noStrike" kern="1200" baseline="0">
                        <a:solidFill>
                          <a:schemeClr val="tx1"/>
                        </a:solidFill>
                        <a:latin typeface="+mn-ea"/>
                        <a:ea typeface="+mn-ea"/>
                        <a:cs typeface="Meiryo UI" panose="020B0604030504040204" pitchFamily="50" charset="-128"/>
                      </a:endParaRPr>
                    </a:p>
                    <a:p>
                      <a:r>
                        <a:rPr kumimoji="1" lang="ja-JP" altLang="en-US" sz="1100" b="0" i="0" u="none" strike="noStrike" kern="1200" baseline="0">
                          <a:solidFill>
                            <a:schemeClr val="tx1"/>
                          </a:solidFill>
                          <a:latin typeface="+mn-ea"/>
                          <a:ea typeface="+mn-ea"/>
                        </a:rPr>
                        <a:t>コンタクトセンター関連システム専用</a:t>
                      </a:r>
                      <a:r>
                        <a:rPr kumimoji="1" lang="en-US" altLang="ja-JP" sz="1100" b="0" i="0" u="none" strike="noStrike" kern="1200" baseline="0">
                          <a:solidFill>
                            <a:schemeClr val="tx1"/>
                          </a:solidFill>
                          <a:latin typeface="+mn-ea"/>
                          <a:ea typeface="+mn-ea"/>
                        </a:rPr>
                        <a:t>NW</a:t>
                      </a:r>
                      <a:r>
                        <a:rPr kumimoji="1" lang="ja-JP" altLang="en-US" sz="1100" b="0" i="0" u="none" strike="noStrike" kern="1200" baseline="0">
                          <a:solidFill>
                            <a:schemeClr val="tx1"/>
                          </a:solidFill>
                          <a:latin typeface="+mn-ea"/>
                          <a:ea typeface="+mn-ea"/>
                        </a:rPr>
                        <a:t>への相乗り期間について、</a:t>
                      </a:r>
                      <a:endParaRPr kumimoji="1" lang="en-US" altLang="ja-JP" sz="1100" b="0" i="0" u="none" strike="noStrike" kern="1200" baseline="0">
                        <a:solidFill>
                          <a:schemeClr val="tx1"/>
                        </a:solidFill>
                        <a:latin typeface="+mn-ea"/>
                        <a:ea typeface="+mn-ea"/>
                      </a:endParaRPr>
                    </a:p>
                    <a:p>
                      <a:r>
                        <a:rPr kumimoji="1" lang="ja-JP" altLang="en-US" sz="1100" b="0" i="0" u="none" strike="noStrike" kern="1200" baseline="0">
                          <a:solidFill>
                            <a:schemeClr val="tx1"/>
                          </a:solidFill>
                          <a:latin typeface="+mn-ea"/>
                          <a:ea typeface="+mn-ea"/>
                        </a:rPr>
                        <a:t>現状</a:t>
                      </a:r>
                      <a:r>
                        <a:rPr kumimoji="1" lang="en-US" altLang="ja-JP" sz="1100" b="0" i="0" u="none" strike="noStrike" kern="1200" baseline="0">
                          <a:solidFill>
                            <a:schemeClr val="tx1"/>
                          </a:solidFill>
                          <a:latin typeface="+mn-ea"/>
                          <a:ea typeface="+mn-ea"/>
                        </a:rPr>
                        <a:t>2027</a:t>
                      </a:r>
                      <a:r>
                        <a:rPr kumimoji="1" lang="ja-JP" altLang="en-US" sz="1100" b="0" i="0" u="none" strike="noStrike" kern="1200" baseline="0">
                          <a:solidFill>
                            <a:schemeClr val="tx1"/>
                          </a:solidFill>
                          <a:latin typeface="+mn-ea"/>
                          <a:ea typeface="+mn-ea"/>
                        </a:rPr>
                        <a:t>年</a:t>
                      </a:r>
                      <a:r>
                        <a:rPr kumimoji="1" lang="en-US" altLang="ja-JP" sz="1100" b="0" i="0" u="none" strike="noStrike" kern="1200" baseline="0">
                          <a:solidFill>
                            <a:schemeClr val="tx1"/>
                          </a:solidFill>
                          <a:latin typeface="+mn-ea"/>
                          <a:ea typeface="+mn-ea"/>
                        </a:rPr>
                        <a:t>4</a:t>
                      </a:r>
                      <a:r>
                        <a:rPr kumimoji="1" lang="ja-JP" altLang="en-US" sz="1100" b="0" i="0" u="none" strike="noStrike" kern="1200" baseline="0">
                          <a:solidFill>
                            <a:schemeClr val="tx1"/>
                          </a:solidFill>
                          <a:latin typeface="+mn-ea"/>
                          <a:ea typeface="+mn-ea"/>
                        </a:rPr>
                        <a:t>月までの想定ながら、構築および移行の前倒しについても並行して検討を進める。</a:t>
                      </a:r>
                      <a:endParaRPr kumimoji="1" lang="ja-JP" altLang="en-US"/>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kern="1200">
                          <a:solidFill>
                            <a:schemeClr val="tx1"/>
                          </a:solidFill>
                          <a:latin typeface="+mj-ea"/>
                          <a:ea typeface="+mn-ea"/>
                          <a:cs typeface="+mn-cs"/>
                        </a:rPr>
                        <a:t>【</a:t>
                      </a:r>
                      <a:r>
                        <a:rPr kumimoji="1" lang="ja-JP" altLang="en-US" sz="1000" b="0" kern="1200">
                          <a:solidFill>
                            <a:schemeClr val="tx1"/>
                          </a:solidFill>
                          <a:latin typeface="+mj-ea"/>
                          <a:ea typeface="+mn-ea"/>
                          <a:cs typeface="+mn-cs"/>
                        </a:rPr>
                        <a:t>移行・導入</a:t>
                      </a:r>
                      <a:r>
                        <a:rPr kumimoji="1" lang="en-US" altLang="ja-JP" sz="1000" b="0" kern="1200">
                          <a:solidFill>
                            <a:schemeClr val="tx1"/>
                          </a:solidFill>
                          <a:latin typeface="+mj-e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kern="1200">
                          <a:solidFill>
                            <a:schemeClr val="tx1"/>
                          </a:solidFill>
                          <a:latin typeface="+mj-ea"/>
                          <a:ea typeface="+mn-ea"/>
                          <a:cs typeface="+mn-cs"/>
                        </a:rPr>
                        <a:t>2026/3</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36658077"/>
                  </a:ext>
                </a:extLst>
              </a:tr>
              <a:tr h="619760">
                <a:tc rowSpan="2">
                  <a:txBody>
                    <a:bodyPr/>
                    <a:lstStyle/>
                    <a:p>
                      <a:pPr algn="ctr"/>
                      <a:r>
                        <a:rPr kumimoji="1" lang="en-US" altLang="ja-JP" sz="1200">
                          <a:solidFill>
                            <a:schemeClr val="tx1"/>
                          </a:solidFill>
                          <a:latin typeface="+mj-ea"/>
                          <a:ea typeface="+mj-ea"/>
                        </a:rPr>
                        <a:t>2</a:t>
                      </a:r>
                      <a:endParaRPr kumimoji="1" lang="ja-JP" altLang="en-US" sz="1200">
                        <a:solidFill>
                          <a:schemeClr val="tx1"/>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algn="l" defTabSz="914400" rtl="0" eaLnBrk="1" latinLnBrk="0" hangingPunct="1"/>
                      <a:r>
                        <a:rPr kumimoji="1" lang="ja-JP" altLang="en-US" sz="1200" kern="1200">
                          <a:solidFill>
                            <a:schemeClr val="tx1"/>
                          </a:solidFill>
                          <a:effectLst/>
                          <a:latin typeface="+mn-ea"/>
                          <a:ea typeface="+mn-ea"/>
                          <a:cs typeface="+mn-cs"/>
                        </a:rPr>
                        <a:t>外部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algn="l" defTabSz="914400" rtl="0" eaLnBrk="1" latinLnBrk="0" hangingPunct="1"/>
                      <a:r>
                        <a:rPr kumimoji="1" lang="en-US" altLang="ja-JP" sz="1200" kern="1200">
                          <a:solidFill>
                            <a:schemeClr val="tx1"/>
                          </a:solidFill>
                          <a:effectLst/>
                          <a:latin typeface="+mn-ea"/>
                          <a:ea typeface="+mn-ea"/>
                          <a:cs typeface="+mn-cs"/>
                        </a:rPr>
                        <a:t>BC</a:t>
                      </a:r>
                    </a:p>
                    <a:p>
                      <a:pPr marL="0" algn="l" defTabSz="914400" rtl="0" eaLnBrk="1" latinLnBrk="0" hangingPunct="1"/>
                      <a:r>
                        <a:rPr kumimoji="1" lang="en-US" altLang="ja-JP" sz="1200" kern="1200">
                          <a:solidFill>
                            <a:schemeClr val="tx1"/>
                          </a:solidFill>
                          <a:effectLst/>
                          <a:latin typeface="+mn-ea"/>
                          <a:ea typeface="+mn-ea"/>
                          <a:cs typeface="+mn-cs"/>
                        </a:rPr>
                        <a:t>CC</a:t>
                      </a:r>
                      <a:endParaRPr kumimoji="1" lang="ja-JP" altLang="en-US" sz="1200" kern="1200">
                        <a:solidFill>
                          <a:schemeClr val="tx1"/>
                        </a:solidFill>
                        <a:effectLst/>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kumimoji="1" lang="en-US" altLang="ja-JP" sz="1100" kern="1200">
                          <a:solidFill>
                            <a:schemeClr val="tx1"/>
                          </a:solidFill>
                          <a:effectLst/>
                          <a:latin typeface="+mn-ea"/>
                          <a:ea typeface="+mn-ea"/>
                          <a:cs typeface="+mn-cs"/>
                        </a:rPr>
                        <a:t>AOAI</a:t>
                      </a:r>
                      <a:r>
                        <a:rPr kumimoji="1" lang="ja-JP" altLang="en-US" sz="1100" kern="1200">
                          <a:solidFill>
                            <a:schemeClr val="tx1"/>
                          </a:solidFill>
                          <a:effectLst/>
                          <a:latin typeface="+mn-ea"/>
                          <a:ea typeface="+mn-ea"/>
                          <a:cs typeface="+mn-cs"/>
                        </a:rPr>
                        <a:t>のプレビュー版利用について、結合テストを実施する</a:t>
                      </a:r>
                      <a:r>
                        <a:rPr kumimoji="1" lang="en-US" altLang="ja-JP" sz="1100" kern="1200">
                          <a:solidFill>
                            <a:schemeClr val="tx1"/>
                          </a:solidFill>
                          <a:effectLst/>
                          <a:latin typeface="+mn-ea"/>
                          <a:ea typeface="+mn-ea"/>
                          <a:cs typeface="+mn-cs"/>
                        </a:rPr>
                        <a:t>2025</a:t>
                      </a:r>
                      <a:r>
                        <a:rPr kumimoji="1" lang="ja-JP" altLang="en-US" sz="1100" kern="1200">
                          <a:solidFill>
                            <a:schemeClr val="tx1"/>
                          </a:solidFill>
                          <a:effectLst/>
                          <a:latin typeface="+mn-ea"/>
                          <a:ea typeface="+mn-ea"/>
                          <a:cs typeface="+mn-cs"/>
                        </a:rPr>
                        <a:t>年</a:t>
                      </a:r>
                      <a:r>
                        <a:rPr kumimoji="1" lang="en-US" altLang="ja-JP" sz="1100" kern="1200">
                          <a:solidFill>
                            <a:schemeClr val="tx1"/>
                          </a:solidFill>
                          <a:effectLst/>
                          <a:latin typeface="+mn-ea"/>
                          <a:ea typeface="+mn-ea"/>
                          <a:cs typeface="+mn-cs"/>
                        </a:rPr>
                        <a:t>9</a:t>
                      </a:r>
                      <a:r>
                        <a:rPr kumimoji="1" lang="ja-JP" altLang="en-US" sz="1100" kern="1200">
                          <a:solidFill>
                            <a:schemeClr val="tx1"/>
                          </a:solidFill>
                          <a:effectLst/>
                          <a:latin typeface="+mn-ea"/>
                          <a:ea typeface="+mn-ea"/>
                          <a:cs typeface="+mn-cs"/>
                        </a:rPr>
                        <a:t>月までに</a:t>
                      </a:r>
                      <a:r>
                        <a:rPr kumimoji="1" lang="en-US" altLang="ja-JP" sz="1100" kern="1200">
                          <a:solidFill>
                            <a:schemeClr val="tx1"/>
                          </a:solidFill>
                          <a:effectLst/>
                          <a:latin typeface="+mn-ea"/>
                          <a:ea typeface="+mn-ea"/>
                          <a:cs typeface="+mn-cs"/>
                        </a:rPr>
                        <a:t>GA</a:t>
                      </a:r>
                      <a:r>
                        <a:rPr kumimoji="1" lang="ja-JP" altLang="en-US" sz="1100" kern="1200">
                          <a:solidFill>
                            <a:schemeClr val="tx1"/>
                          </a:solidFill>
                          <a:effectLst/>
                          <a:latin typeface="+mn-ea"/>
                          <a:ea typeface="+mn-ea"/>
                          <a:cs typeface="+mn-cs"/>
                        </a:rPr>
                        <a:t>リリースされない場合、</a:t>
                      </a:r>
                      <a:r>
                        <a:rPr kumimoji="1" lang="en-US" altLang="ja-JP" sz="1100" kern="1200">
                          <a:solidFill>
                            <a:schemeClr val="tx1"/>
                          </a:solidFill>
                          <a:effectLst/>
                          <a:latin typeface="+mn-ea"/>
                          <a:ea typeface="+mn-ea"/>
                          <a:cs typeface="+mn-cs"/>
                        </a:rPr>
                        <a:t>GA</a:t>
                      </a:r>
                      <a:r>
                        <a:rPr kumimoji="1" lang="ja-JP" altLang="en-US" sz="1100" kern="1200">
                          <a:solidFill>
                            <a:schemeClr val="tx1"/>
                          </a:solidFill>
                          <a:effectLst/>
                          <a:latin typeface="+mn-ea"/>
                          <a:ea typeface="+mn-ea"/>
                          <a:cs typeface="+mn-cs"/>
                        </a:rPr>
                        <a:t>後に各種テストを実施するため手戻りになり、サービスイン希望日までに構築を終えることが出来ないリスクがある。</a:t>
                      </a:r>
                      <a:endParaRPr kumimoji="1" lang="en-US" altLang="ja-JP" sz="1100" kern="1200">
                        <a:solidFill>
                          <a:schemeClr val="tx1"/>
                        </a:solidFill>
                        <a:effectLst/>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受容</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rtl="0">
                        <a:buFont typeface="+mj-ea"/>
                        <a:buNone/>
                      </a:pPr>
                      <a:r>
                        <a:rPr kumimoji="1" lang="en-US" altLang="ja-JP" sz="1100" b="0" i="0" u="none" strike="noStrike" kern="1200" baseline="0">
                          <a:solidFill>
                            <a:schemeClr val="tx1"/>
                          </a:solidFill>
                          <a:latin typeface="+mn-ea"/>
                          <a:ea typeface="+mn-ea"/>
                          <a:cs typeface="Meiryo UI" panose="020B0604030504040204" pitchFamily="50" charset="-128"/>
                        </a:rPr>
                        <a:t>[</a:t>
                      </a:r>
                      <a:r>
                        <a:rPr kumimoji="1" lang="ja-JP" altLang="en-US" sz="1100" b="0" i="0" u="none" strike="noStrike" kern="1200" baseline="0">
                          <a:solidFill>
                            <a:schemeClr val="tx1"/>
                          </a:solidFill>
                          <a:latin typeface="+mn-ea"/>
                          <a:ea typeface="+mn-ea"/>
                          <a:cs typeface="Meiryo UI" panose="020B0604030504040204" pitchFamily="50" charset="-128"/>
                        </a:rPr>
                        <a:t>事前対応</a:t>
                      </a:r>
                      <a:r>
                        <a:rPr kumimoji="1" lang="en-US" altLang="ja-JP" sz="1100" b="0" i="0" u="none" strike="noStrike" kern="1200" baseline="0">
                          <a:solidFill>
                            <a:schemeClr val="tx1"/>
                          </a:solidFill>
                          <a:latin typeface="+mn-ea"/>
                          <a:ea typeface="+mn-ea"/>
                          <a:cs typeface="Meiryo UI" panose="020B0604030504040204" pitchFamily="50" charset="-128"/>
                        </a:rPr>
                        <a:t>]</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rtl="0">
                        <a:buFont typeface="Arial" panose="020B0604020202020204" pitchFamily="34" charset="0"/>
                        <a:buNone/>
                      </a:pPr>
                      <a:r>
                        <a:rPr kumimoji="1" lang="ja-JP" altLang="en-US" sz="1050" b="0" i="0" u="none" strike="noStrike" kern="1200" baseline="0">
                          <a:solidFill>
                            <a:schemeClr val="tx1"/>
                          </a:solidFill>
                          <a:latin typeface="+mn-ea"/>
                          <a:ea typeface="+mn-ea"/>
                          <a:cs typeface="Meiryo UI" panose="020B0604030504040204" pitchFamily="50" charset="-128"/>
                        </a:rPr>
                        <a:t>対顧リリース不可能。</a:t>
                      </a:r>
                    </a:p>
                    <a:p>
                      <a:pPr marL="0" indent="0" rtl="0">
                        <a:buFont typeface="Arial" panose="020B0604020202020204" pitchFamily="34" charset="0"/>
                        <a:buNone/>
                      </a:pPr>
                      <a:r>
                        <a:rPr kumimoji="1" lang="ja-JP" altLang="en-US" sz="1050" b="0" i="0" u="none" strike="noStrike" kern="1200" baseline="0">
                          <a:solidFill>
                            <a:schemeClr val="tx1"/>
                          </a:solidFill>
                          <a:latin typeface="+mn-ea"/>
                          <a:ea typeface="+mn-ea"/>
                          <a:cs typeface="Meiryo UI" panose="020B0604030504040204" pitchFamily="50" charset="-128"/>
                        </a:rPr>
                        <a:t>絶対的な制約として関係者の認識を合わせ、サービスイン日をずらすよう事前に調整する。</a:t>
                      </a:r>
                      <a:endParaRPr kumimoji="1" lang="en-US" altLang="ja-JP" sz="1050" b="0" i="0" u="none" strike="noStrike" kern="1200" baseline="0">
                        <a:solidFill>
                          <a:schemeClr val="tx1"/>
                        </a:solidFill>
                        <a:latin typeface="+mn-ea"/>
                        <a:ea typeface="+mn-ea"/>
                        <a:cs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kern="1200">
                          <a:solidFill>
                            <a:schemeClr val="tx1"/>
                          </a:solidFill>
                          <a:latin typeface="+mj-ea"/>
                          <a:ea typeface="+mn-ea"/>
                          <a:cs typeface="+mn-cs"/>
                        </a:rPr>
                        <a:t>【</a:t>
                      </a:r>
                      <a:r>
                        <a:rPr kumimoji="1" lang="ja-JP" altLang="en-US" sz="1000" b="0" kern="1200">
                          <a:solidFill>
                            <a:schemeClr val="tx1"/>
                          </a:solidFill>
                          <a:latin typeface="+mj-ea"/>
                          <a:ea typeface="+mn-ea"/>
                          <a:cs typeface="+mn-cs"/>
                        </a:rPr>
                        <a:t>製造</a:t>
                      </a:r>
                      <a:r>
                        <a:rPr kumimoji="1" lang="en-US" altLang="ja-JP" sz="1000" b="0" kern="1200">
                          <a:solidFill>
                            <a:schemeClr val="tx1"/>
                          </a:solidFill>
                          <a:latin typeface="+mj-ea"/>
                          <a:ea typeface="+mn-ea"/>
                          <a:cs typeface="+mn-cs"/>
                        </a:rPr>
                        <a:t>/UT】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kern="1200">
                          <a:solidFill>
                            <a:schemeClr val="tx1"/>
                          </a:solidFill>
                          <a:latin typeface="+mj-ea"/>
                          <a:ea typeface="+mn-ea"/>
                          <a:cs typeface="+mn-cs"/>
                        </a:rPr>
                        <a:t>2025/8</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1391254"/>
                  </a:ext>
                </a:extLst>
              </a:tr>
              <a:tr h="0">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marL="0" indent="0" rtl="0">
                        <a:buFont typeface="+mj-ea"/>
                        <a:buNone/>
                      </a:pPr>
                      <a:r>
                        <a:rPr kumimoji="1" lang="en-US" altLang="ja-JP" sz="1100" b="0" i="0" u="none" strike="noStrike" kern="1200" baseline="0">
                          <a:solidFill>
                            <a:schemeClr val="tx1"/>
                          </a:solidFill>
                          <a:latin typeface="+mn-ea"/>
                          <a:ea typeface="+mn-ea"/>
                          <a:cs typeface="Meiryo UI" panose="020B0604030504040204" pitchFamily="50" charset="-128"/>
                        </a:rPr>
                        <a:t>[</a:t>
                      </a:r>
                      <a:r>
                        <a:rPr kumimoji="1" lang="ja-JP" altLang="en-US" sz="1100" b="0" i="0" u="none" strike="noStrike" kern="1200" baseline="0">
                          <a:solidFill>
                            <a:schemeClr val="tx1"/>
                          </a:solidFill>
                          <a:latin typeface="+mn-ea"/>
                          <a:ea typeface="+mn-ea"/>
                          <a:cs typeface="Meiryo UI" panose="020B0604030504040204" pitchFamily="50" charset="-128"/>
                        </a:rPr>
                        <a:t>事後対応</a:t>
                      </a:r>
                      <a:r>
                        <a:rPr kumimoji="1" lang="en-US" altLang="ja-JP" sz="1100" b="0" i="0" u="none" strike="noStrike" kern="1200" baseline="0">
                          <a:solidFill>
                            <a:schemeClr val="tx1"/>
                          </a:solidFill>
                          <a:latin typeface="+mn-ea"/>
                          <a:ea typeface="+mn-ea"/>
                          <a:cs typeface="Meiryo UI" panose="020B0604030504040204" pitchFamily="50" charset="-128"/>
                        </a:rPr>
                        <a:t>]</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rtl="0">
                        <a:buFont typeface="Arial" panose="020B0604020202020204" pitchFamily="34" charset="0"/>
                        <a:buNone/>
                      </a:pPr>
                      <a:r>
                        <a:rPr kumimoji="1" lang="ja-JP" altLang="en-US" sz="1000" b="0" i="0" u="none" strike="noStrike" kern="1200" baseline="0">
                          <a:solidFill>
                            <a:schemeClr val="tx1"/>
                          </a:solidFill>
                          <a:latin typeface="+mn-ea"/>
                          <a:ea typeface="+mn-ea"/>
                          <a:cs typeface="Meiryo UI" panose="020B0604030504040204" pitchFamily="50" charset="-128"/>
                        </a:rPr>
                        <a:t>既にリリースされている音声ファンデーションモデル以外（</a:t>
                      </a:r>
                      <a:r>
                        <a:rPr kumimoji="1" lang="en-US" altLang="ja-JP" sz="1000" b="0" i="0" u="none" strike="noStrike" kern="1200" baseline="0">
                          <a:solidFill>
                            <a:schemeClr val="tx1"/>
                          </a:solidFill>
                          <a:latin typeface="+mn-ea"/>
                          <a:ea typeface="+mn-ea"/>
                          <a:cs typeface="Meiryo UI" panose="020B0604030504040204" pitchFamily="50" charset="-128"/>
                        </a:rPr>
                        <a:t>STT/TTS</a:t>
                      </a:r>
                      <a:r>
                        <a:rPr kumimoji="1" lang="ja-JP" altLang="en-US" sz="1000" b="0" i="0" u="none" strike="noStrike" kern="1200" baseline="0">
                          <a:solidFill>
                            <a:schemeClr val="tx1"/>
                          </a:solidFill>
                          <a:latin typeface="+mn-ea"/>
                          <a:ea typeface="+mn-ea"/>
                          <a:cs typeface="Meiryo UI" panose="020B0604030504040204" pitchFamily="50" charset="-128"/>
                        </a:rPr>
                        <a:t>方式）で構築した場合の計画を策定する。</a:t>
                      </a:r>
                      <a:endParaRPr kumimoji="1" lang="en-US" altLang="ja-JP" sz="1000" b="0" i="0" u="none" strike="noStrike" kern="1200" baseline="0">
                        <a:solidFill>
                          <a:schemeClr val="tx1"/>
                        </a:solidFill>
                        <a:latin typeface="+mn-ea"/>
                        <a:ea typeface="+mn-ea"/>
                        <a:cs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kern="1200">
                          <a:solidFill>
                            <a:schemeClr val="tx1"/>
                          </a:solidFill>
                          <a:latin typeface="+mj-ea"/>
                          <a:ea typeface="+mn-ea"/>
                          <a:cs typeface="+mn-cs"/>
                        </a:rPr>
                        <a:t>【LT】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kern="1200">
                          <a:solidFill>
                            <a:schemeClr val="tx1"/>
                          </a:solidFill>
                          <a:latin typeface="+mj-ea"/>
                          <a:ea typeface="+mn-ea"/>
                          <a:cs typeface="+mn-cs"/>
                        </a:rPr>
                        <a:t>2025/9</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6638127"/>
                  </a:ext>
                </a:extLst>
              </a:tr>
              <a:tr h="1185168">
                <a:tc rowSpan="2">
                  <a:txBody>
                    <a:bodyPr/>
                    <a:lstStyle/>
                    <a:p>
                      <a:pPr algn="ctr"/>
                      <a:r>
                        <a:rPr kumimoji="1" lang="en-US" altLang="ja-JP" sz="1200">
                          <a:solidFill>
                            <a:schemeClr val="tx1"/>
                          </a:solidFill>
                          <a:latin typeface="+mj-ea"/>
                          <a:ea typeface="+mj-ea"/>
                        </a:rPr>
                        <a:t>3</a:t>
                      </a:r>
                      <a:endParaRPr kumimoji="1" lang="ja-JP" altLang="en-US" sz="1200">
                        <a:solidFill>
                          <a:schemeClr val="tx1"/>
                        </a:solidFill>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kumimoji="1" lang="ja-JP" altLang="en-US" sz="1200" kern="1200">
                          <a:solidFill>
                            <a:schemeClr val="tx1"/>
                          </a:solidFill>
                          <a:effectLst/>
                          <a:latin typeface="+mn-ea"/>
                          <a:ea typeface="+mn-ea"/>
                          <a:cs typeface="+mn-cs"/>
                        </a:rPr>
                        <a:t>外部</a:t>
                      </a:r>
                      <a:endParaRPr kumimoji="1" lang="en-US" altLang="ja-JP" sz="1200" kern="1200">
                        <a:solidFill>
                          <a:schemeClr val="tx1"/>
                        </a:solidFill>
                        <a:effectLst/>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kumimoji="1" lang="en-US" altLang="ja-JP" sz="1200" kern="1200">
                          <a:solidFill>
                            <a:schemeClr val="tx1"/>
                          </a:solidFill>
                          <a:effectLst/>
                          <a:latin typeface="+mn-ea"/>
                          <a:ea typeface="+mn-ea"/>
                          <a:cs typeface="+mn-cs"/>
                        </a:rPr>
                        <a:t>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kumimoji="1" lang="en-US" altLang="ja-JP" sz="1100" kern="1200">
                          <a:solidFill>
                            <a:schemeClr val="tx1"/>
                          </a:solidFill>
                          <a:effectLst/>
                          <a:latin typeface="+mn-ea"/>
                          <a:ea typeface="+mn-ea"/>
                          <a:cs typeface="+mn-cs"/>
                        </a:rPr>
                        <a:t>SMBC</a:t>
                      </a:r>
                      <a:r>
                        <a:rPr kumimoji="1" lang="ja-JP" altLang="en-US" sz="1100" kern="1200">
                          <a:solidFill>
                            <a:schemeClr val="tx1"/>
                          </a:solidFill>
                          <a:effectLst/>
                          <a:latin typeface="+mn-ea"/>
                          <a:ea typeface="+mn-ea"/>
                          <a:cs typeface="+mn-cs"/>
                        </a:rPr>
                        <a:t>アプリから</a:t>
                      </a:r>
                      <a:r>
                        <a:rPr kumimoji="1" lang="en-US" altLang="ja-JP" sz="1100" kern="1200">
                          <a:solidFill>
                            <a:schemeClr val="tx1"/>
                          </a:solidFill>
                          <a:effectLst/>
                          <a:latin typeface="+mn-ea"/>
                          <a:ea typeface="+mn-ea"/>
                          <a:cs typeface="+mn-cs"/>
                        </a:rPr>
                        <a:t>AI</a:t>
                      </a:r>
                      <a:r>
                        <a:rPr kumimoji="1" lang="ja-JP" altLang="en-US" sz="1100" kern="1200">
                          <a:solidFill>
                            <a:schemeClr val="tx1"/>
                          </a:solidFill>
                          <a:effectLst/>
                          <a:latin typeface="+mn-ea"/>
                          <a:ea typeface="+mn-ea"/>
                          <a:cs typeface="+mn-cs"/>
                        </a:rPr>
                        <a:t>オペレータに接続する経路について、インターネット経由の外部接続とする想定。この外部接続がセキュリティレビューで承認が降りない場合、オンプレで構築するための機器発注～納品のリードタイムが想定スケジュールに収まらない。</a:t>
                      </a:r>
                      <a:endParaRPr kumimoji="1" lang="en-US" altLang="ja-JP" sz="1100" kern="1200">
                        <a:solidFill>
                          <a:schemeClr val="tx1"/>
                        </a:solidFill>
                        <a:effectLst/>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a:solidFill>
                            <a:schemeClr val="tx1"/>
                          </a:solidFill>
                          <a:latin typeface="+mn-ea"/>
                          <a:ea typeface="+mn-ea"/>
                        </a:rPr>
                        <a:t>受容</a:t>
                      </a:r>
                      <a:endParaRPr kumimoji="1" lang="en-US" altLang="ja-JP" sz="1100">
                        <a:solidFill>
                          <a:schemeClr val="tx1"/>
                        </a:solidFill>
                        <a:latin typeface="+mn-ea"/>
                        <a:ea typeface="+mn-ea"/>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rtl="0">
                        <a:buFont typeface="+mj-ea"/>
                        <a:buNone/>
                      </a:pPr>
                      <a:r>
                        <a:rPr kumimoji="1" lang="en-US" altLang="ja-JP" sz="1100" b="0" i="0" u="none" strike="noStrike" kern="1200" baseline="0">
                          <a:solidFill>
                            <a:schemeClr val="tx1"/>
                          </a:solidFill>
                          <a:latin typeface="+mn-ea"/>
                          <a:ea typeface="+mn-ea"/>
                          <a:cs typeface="Meiryo UI" panose="020B0604030504040204" pitchFamily="50" charset="-128"/>
                        </a:rPr>
                        <a:t>[</a:t>
                      </a:r>
                      <a:r>
                        <a:rPr kumimoji="1" lang="ja-JP" altLang="en-US" sz="1100" b="0" i="0" u="none" strike="noStrike" kern="1200" baseline="0">
                          <a:solidFill>
                            <a:schemeClr val="tx1"/>
                          </a:solidFill>
                          <a:latin typeface="+mn-ea"/>
                          <a:ea typeface="+mn-ea"/>
                          <a:cs typeface="Meiryo UI" panose="020B0604030504040204" pitchFamily="50" charset="-128"/>
                        </a:rPr>
                        <a:t>事前対応</a:t>
                      </a:r>
                      <a:r>
                        <a:rPr kumimoji="1" lang="en-US" altLang="ja-JP" sz="1100" b="0" i="0" u="none" strike="noStrike" kern="1200" baseline="0">
                          <a:solidFill>
                            <a:schemeClr val="tx1"/>
                          </a:solidFill>
                          <a:latin typeface="+mn-ea"/>
                          <a:ea typeface="+mn-ea"/>
                          <a:cs typeface="Meiryo UI" panose="020B0604030504040204" pitchFamily="50" charset="-128"/>
                        </a:rPr>
                        <a:t>]</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100" b="0" i="0" u="none" strike="noStrike" kern="1200" baseline="0">
                          <a:solidFill>
                            <a:schemeClr val="tx1"/>
                          </a:solidFill>
                          <a:latin typeface="+mn-ea"/>
                          <a:ea typeface="+mn-ea"/>
                          <a:cs typeface="Meiryo UI" panose="020B0604030504040204" pitchFamily="50" charset="-128"/>
                        </a:rPr>
                        <a:t>現状</a:t>
                      </a:r>
                      <a:r>
                        <a:rPr kumimoji="1" lang="en-US" altLang="ja-JP" sz="1100" b="0" i="0" u="none" strike="noStrike" kern="1200" baseline="0">
                          <a:solidFill>
                            <a:schemeClr val="tx1"/>
                          </a:solidFill>
                          <a:latin typeface="+mn-ea"/>
                          <a:ea typeface="+mn-ea"/>
                          <a:cs typeface="Meiryo UI" panose="020B0604030504040204" pitchFamily="50" charset="-128"/>
                        </a:rPr>
                        <a:t>AI</a:t>
                      </a:r>
                      <a:r>
                        <a:rPr kumimoji="1" lang="ja-JP" altLang="en-US" sz="1100" b="0" i="0" u="none" strike="noStrike" kern="1200" baseline="0">
                          <a:solidFill>
                            <a:schemeClr val="tx1"/>
                          </a:solidFill>
                          <a:latin typeface="+mn-ea"/>
                          <a:ea typeface="+mn-ea"/>
                          <a:cs typeface="Meiryo UI" panose="020B0604030504040204" pitchFamily="50" charset="-128"/>
                        </a:rPr>
                        <a:t>チャットは</a:t>
                      </a:r>
                      <a:r>
                        <a:rPr kumimoji="1" lang="en-US" altLang="ja-JP" sz="1100" b="0" i="0" u="none" strike="noStrike" kern="1200" baseline="0">
                          <a:solidFill>
                            <a:schemeClr val="tx1"/>
                          </a:solidFill>
                          <a:latin typeface="+mn-ea"/>
                          <a:ea typeface="+mn-ea"/>
                          <a:cs typeface="Meiryo UI" panose="020B0604030504040204" pitchFamily="50" charset="-128"/>
                        </a:rPr>
                        <a:t>2026</a:t>
                      </a:r>
                      <a:r>
                        <a:rPr kumimoji="1" lang="ja-JP" altLang="en-US" sz="1100" b="0" i="0" u="none" strike="noStrike" kern="1200" baseline="0">
                          <a:solidFill>
                            <a:schemeClr val="tx1"/>
                          </a:solidFill>
                          <a:latin typeface="+mn-ea"/>
                          <a:ea typeface="+mn-ea"/>
                          <a:cs typeface="Meiryo UI" panose="020B0604030504040204" pitchFamily="50" charset="-128"/>
                        </a:rPr>
                        <a:t>年</a:t>
                      </a:r>
                      <a:r>
                        <a:rPr kumimoji="1" lang="en-US" altLang="ja-JP" sz="1100" b="0" i="0" u="none" strike="noStrike" kern="1200" baseline="0">
                          <a:solidFill>
                            <a:schemeClr val="tx1"/>
                          </a:solidFill>
                          <a:latin typeface="+mn-ea"/>
                          <a:ea typeface="+mn-ea"/>
                          <a:cs typeface="Meiryo UI" panose="020B0604030504040204" pitchFamily="50" charset="-128"/>
                        </a:rPr>
                        <a:t>2</a:t>
                      </a:r>
                      <a:r>
                        <a:rPr kumimoji="1" lang="ja-JP" altLang="en-US" sz="1100" b="0" i="0" u="none" strike="noStrike" kern="1200" baseline="0">
                          <a:solidFill>
                            <a:schemeClr val="tx1"/>
                          </a:solidFill>
                          <a:latin typeface="+mn-ea"/>
                          <a:ea typeface="+mn-ea"/>
                          <a:cs typeface="Meiryo UI" panose="020B0604030504040204" pitchFamily="50" charset="-128"/>
                        </a:rPr>
                        <a:t>月のサービスインを計画しているが、サービスイン日は要件定義フェーズでの最終確定としている。</a:t>
                      </a:r>
                      <a:endParaRPr kumimoji="1" lang="en-US" altLang="ja-JP" sz="1100" b="0" i="0" u="none" strike="noStrike" kern="1200" baseline="0">
                        <a:solidFill>
                          <a:schemeClr val="tx1"/>
                        </a:solidFill>
                        <a:latin typeface="+mn-ea"/>
                        <a:ea typeface="+mn-ea"/>
                        <a:cs typeface="Meiryo UI" panose="020B0604030504040204" pitchFamily="50" charset="-128"/>
                      </a:endParaRPr>
                    </a:p>
                    <a:p>
                      <a:pPr marL="0" indent="0" rtl="0">
                        <a:buFont typeface="Arial" panose="020B0604020202020204" pitchFamily="34" charset="0"/>
                        <a:buNone/>
                      </a:pPr>
                      <a:r>
                        <a:rPr kumimoji="1" lang="ja-JP" altLang="en-US" sz="1100" b="0" i="0" u="none" strike="noStrike" kern="1200" baseline="0">
                          <a:solidFill>
                            <a:schemeClr val="tx1"/>
                          </a:solidFill>
                          <a:latin typeface="+mn-ea"/>
                          <a:ea typeface="+mn-ea"/>
                          <a:cs typeface="Meiryo UI" panose="020B0604030504040204" pitchFamily="50" charset="-128"/>
                        </a:rPr>
                        <a:t>オンプレ機器の利用が必須となる</a:t>
                      </a:r>
                      <a:r>
                        <a:rPr kumimoji="1" lang="en-US" altLang="ja-JP" sz="1100" b="0" i="0" u="none" strike="noStrike" kern="1200" baseline="0">
                          <a:solidFill>
                            <a:schemeClr val="tx1"/>
                          </a:solidFill>
                          <a:latin typeface="+mn-ea"/>
                          <a:ea typeface="+mn-ea"/>
                          <a:cs typeface="Meiryo UI" panose="020B0604030504040204" pitchFamily="50" charset="-128"/>
                        </a:rPr>
                        <a:t>AI</a:t>
                      </a:r>
                      <a:r>
                        <a:rPr kumimoji="1" lang="ja-JP" altLang="en-US" sz="1100" b="0" i="0" u="none" strike="noStrike" kern="1200" baseline="0">
                          <a:solidFill>
                            <a:schemeClr val="tx1"/>
                          </a:solidFill>
                          <a:latin typeface="+mn-ea"/>
                          <a:ea typeface="+mn-ea"/>
                          <a:cs typeface="Meiryo UI" panose="020B0604030504040204" pitchFamily="50" charset="-128"/>
                        </a:rPr>
                        <a:t>チャットについて、リリース日の延期も視野に関係者調整を実施する。</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kern="1200">
                          <a:solidFill>
                            <a:schemeClr val="tx1"/>
                          </a:solidFill>
                          <a:latin typeface="+mj-ea"/>
                          <a:ea typeface="+mn-ea"/>
                          <a:cs typeface="+mn-cs"/>
                        </a:rPr>
                        <a:t>【</a:t>
                      </a:r>
                      <a:r>
                        <a:rPr kumimoji="1" lang="ja-JP" altLang="en-US" sz="1000" b="0" kern="1200">
                          <a:solidFill>
                            <a:schemeClr val="tx1"/>
                          </a:solidFill>
                          <a:latin typeface="+mj-ea"/>
                          <a:ea typeface="+mn-ea"/>
                          <a:cs typeface="+mn-cs"/>
                        </a:rPr>
                        <a:t>要件定義</a:t>
                      </a:r>
                      <a:r>
                        <a:rPr kumimoji="1" lang="en-US" altLang="ja-JP" sz="1000" b="0" kern="1200">
                          <a:solidFill>
                            <a:schemeClr val="tx1"/>
                          </a:solidFill>
                          <a:latin typeface="+mj-e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kern="1200">
                          <a:solidFill>
                            <a:schemeClr val="tx1"/>
                          </a:solidFill>
                          <a:latin typeface="+mj-ea"/>
                          <a:ea typeface="+mn-ea"/>
                          <a:cs typeface="+mn-cs"/>
                        </a:rPr>
                        <a:t>2025/5</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7071702"/>
                  </a:ext>
                </a:extLst>
              </a:tr>
              <a:tr h="67818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r>
                        <a:rPr kumimoji="1" lang="en-US" altLang="ja-JP" sz="1100" b="0" i="0" u="none" strike="noStrike" kern="1200" baseline="0">
                          <a:solidFill>
                            <a:schemeClr val="tx1"/>
                          </a:solidFill>
                          <a:latin typeface="+mn-ea"/>
                          <a:ea typeface="+mn-ea"/>
                          <a:cs typeface="Meiryo UI" panose="020B0604030504040204" pitchFamily="50" charset="-128"/>
                        </a:rPr>
                        <a:t>[</a:t>
                      </a:r>
                      <a:r>
                        <a:rPr kumimoji="1" lang="ja-JP" altLang="en-US" sz="1100" b="0" i="0" u="none" strike="noStrike" kern="1200" baseline="0">
                          <a:solidFill>
                            <a:schemeClr val="tx1"/>
                          </a:solidFill>
                          <a:latin typeface="+mn-ea"/>
                          <a:ea typeface="+mn-ea"/>
                          <a:cs typeface="Meiryo UI" panose="020B0604030504040204" pitchFamily="50" charset="-128"/>
                        </a:rPr>
                        <a:t>事後対応</a:t>
                      </a:r>
                      <a:r>
                        <a:rPr kumimoji="1" lang="en-US" altLang="ja-JP" sz="1100" b="0" i="0" u="none" strike="noStrike" kern="1200" baseline="0">
                          <a:solidFill>
                            <a:schemeClr val="tx1"/>
                          </a:solidFill>
                          <a:latin typeface="+mn-ea"/>
                          <a:ea typeface="+mn-ea"/>
                          <a:cs typeface="Meiryo UI" panose="020B0604030504040204" pitchFamily="50" charset="-128"/>
                        </a:rPr>
                        <a:t>]</a:t>
                      </a:r>
                      <a:endParaRPr kumimoji="1" lang="ja-JP" altLang="en-US"/>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100"/>
                        <a:t>ー</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kern="1200">
                          <a:solidFill>
                            <a:schemeClr val="tx1"/>
                          </a:solidFill>
                          <a:latin typeface="+mj-ea"/>
                          <a:ea typeface="+mn-ea"/>
                          <a:cs typeface="+mn-cs"/>
                        </a:rPr>
                        <a:t>ー</a:t>
                      </a:r>
                      <a:endParaRPr kumimoji="1" lang="en-US" altLang="ja-JP" sz="1000" b="0" kern="1200">
                        <a:solidFill>
                          <a:schemeClr val="tx1"/>
                        </a:solidFill>
                        <a:latin typeface="+mj-ea"/>
                        <a:ea typeface="+mn-ea"/>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5884935"/>
                  </a:ext>
                </a:extLst>
              </a:tr>
            </a:tbl>
          </a:graphicData>
        </a:graphic>
      </p:graphicFrame>
      <p:sp>
        <p:nvSpPr>
          <p:cNvPr id="5" name="正方形/長方形 4">
            <a:extLst>
              <a:ext uri="{FF2B5EF4-FFF2-40B4-BE49-F238E27FC236}">
                <a16:creationId xmlns:a16="http://schemas.microsoft.com/office/drawing/2014/main" id="{76B26517-A06A-A08D-5B3F-8051278E60F6}"/>
              </a:ext>
            </a:extLst>
          </p:cNvPr>
          <p:cNvSpPr/>
          <p:nvPr/>
        </p:nvSpPr>
        <p:spPr bwMode="auto">
          <a:xfrm>
            <a:off x="6268243" y="2698387"/>
            <a:ext cx="2118754" cy="194715"/>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kumimoji="1" lang="ja-JP" altLang="en-US" sz="1000" b="1" i="0" u="none" strike="noStrike" cap="none" normalizeH="0" baseline="0">
                <a:ln>
                  <a:noFill/>
                </a:ln>
                <a:solidFill>
                  <a:schemeClr val="tx1"/>
                </a:solidFill>
                <a:effectLst/>
                <a:latin typeface="+mn-ea"/>
                <a:ea typeface="+mn-ea"/>
                <a:cs typeface="Meiryo UI" panose="020B0604030504040204" pitchFamily="50" charset="-128"/>
              </a:rPr>
              <a:t>事前対応方針は事務局間で整理中</a:t>
            </a:r>
          </a:p>
        </p:txBody>
      </p:sp>
    </p:spTree>
    <p:extLst>
      <p:ext uri="{BB962C8B-B14F-4D97-AF65-F5344CB8AC3E}">
        <p14:creationId xmlns:p14="http://schemas.microsoft.com/office/powerpoint/2010/main" val="1675240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 3">
            <a:extLst>
              <a:ext uri="{FF2B5EF4-FFF2-40B4-BE49-F238E27FC236}">
                <a16:creationId xmlns:a16="http://schemas.microsoft.com/office/drawing/2014/main" id="{7A08A437-18B9-37DB-6E1C-F35D9A1D6609}"/>
              </a:ext>
            </a:extLst>
          </p:cNvPr>
          <p:cNvGraphicFramePr>
            <a:graphicFrameLocks noGrp="1"/>
          </p:cNvGraphicFramePr>
          <p:nvPr>
            <p:extLst>
              <p:ext uri="{D42A27DB-BD31-4B8C-83A1-F6EECF244321}">
                <p14:modId xmlns:p14="http://schemas.microsoft.com/office/powerpoint/2010/main" val="324653232"/>
              </p:ext>
            </p:extLst>
          </p:nvPr>
        </p:nvGraphicFramePr>
        <p:xfrm>
          <a:off x="164998" y="622380"/>
          <a:ext cx="9576001" cy="4672920"/>
        </p:xfrm>
        <a:graphic>
          <a:graphicData uri="http://schemas.openxmlformats.org/drawingml/2006/table">
            <a:tbl>
              <a:tblPr firstRow="1" bandRow="1">
                <a:tableStyleId>{5C22544A-7EE6-4342-B048-85BDC9FD1C3A}</a:tableStyleId>
              </a:tblPr>
              <a:tblGrid>
                <a:gridCol w="494927">
                  <a:extLst>
                    <a:ext uri="{9D8B030D-6E8A-4147-A177-3AD203B41FA5}">
                      <a16:colId xmlns:a16="http://schemas.microsoft.com/office/drawing/2014/main" val="3790201450"/>
                    </a:ext>
                  </a:extLst>
                </a:gridCol>
                <a:gridCol w="384015">
                  <a:extLst>
                    <a:ext uri="{9D8B030D-6E8A-4147-A177-3AD203B41FA5}">
                      <a16:colId xmlns:a16="http://schemas.microsoft.com/office/drawing/2014/main" val="243228133"/>
                    </a:ext>
                  </a:extLst>
                </a:gridCol>
                <a:gridCol w="1353243">
                  <a:extLst>
                    <a:ext uri="{9D8B030D-6E8A-4147-A177-3AD203B41FA5}">
                      <a16:colId xmlns:a16="http://schemas.microsoft.com/office/drawing/2014/main" val="3114895577"/>
                    </a:ext>
                  </a:extLst>
                </a:gridCol>
                <a:gridCol w="2804466">
                  <a:extLst>
                    <a:ext uri="{9D8B030D-6E8A-4147-A177-3AD203B41FA5}">
                      <a16:colId xmlns:a16="http://schemas.microsoft.com/office/drawing/2014/main" val="3348671197"/>
                    </a:ext>
                  </a:extLst>
                </a:gridCol>
                <a:gridCol w="3042098">
                  <a:extLst>
                    <a:ext uri="{9D8B030D-6E8A-4147-A177-3AD203B41FA5}">
                      <a16:colId xmlns:a16="http://schemas.microsoft.com/office/drawing/2014/main" val="1861689369"/>
                    </a:ext>
                  </a:extLst>
                </a:gridCol>
                <a:gridCol w="1497252">
                  <a:extLst>
                    <a:ext uri="{9D8B030D-6E8A-4147-A177-3AD203B41FA5}">
                      <a16:colId xmlns:a16="http://schemas.microsoft.com/office/drawing/2014/main" val="579002100"/>
                    </a:ext>
                  </a:extLst>
                </a:gridCol>
              </a:tblGrid>
              <a:tr h="424205">
                <a:tc>
                  <a:txBody>
                    <a:bodyPr/>
                    <a:lstStyle/>
                    <a:p>
                      <a:pPr algn="ctr">
                        <a:spcBef>
                          <a:spcPts val="600"/>
                        </a:spcBef>
                      </a:pPr>
                      <a:r>
                        <a:rPr kumimoji="1" lang="ja-JP" altLang="en-US" sz="1500"/>
                        <a:t>項</a:t>
                      </a:r>
                      <a:br>
                        <a:rPr kumimoji="1" lang="en-US" altLang="ja-JP" sz="1500"/>
                      </a:br>
                      <a:r>
                        <a:rPr kumimoji="1" lang="ja-JP" altLang="en-US" sz="1500"/>
                        <a:t>番</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588F"/>
                    </a:solidFill>
                  </a:tcPr>
                </a:tc>
                <a:tc>
                  <a:txBody>
                    <a:bodyPr/>
                    <a:lstStyle/>
                    <a:p>
                      <a:pPr algn="ctr">
                        <a:spcBef>
                          <a:spcPts val="600"/>
                        </a:spcBef>
                      </a:pPr>
                      <a:r>
                        <a:rPr kumimoji="1" lang="ja-JP" altLang="en-US" sz="1500" b="1" kern="1200">
                          <a:solidFill>
                            <a:schemeClr val="lt1"/>
                          </a:solidFill>
                          <a:latin typeface="+mn-lt"/>
                          <a:ea typeface="+mn-ea"/>
                          <a:cs typeface="+mn-cs"/>
                        </a:rPr>
                        <a:t>対象</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588F"/>
                    </a:solidFill>
                  </a:tcPr>
                </a:tc>
                <a:tc>
                  <a:txBody>
                    <a:bodyPr/>
                    <a:lstStyle/>
                    <a:p>
                      <a:pPr algn="ctr">
                        <a:spcBef>
                          <a:spcPts val="600"/>
                        </a:spcBef>
                      </a:pPr>
                      <a:r>
                        <a:rPr kumimoji="1" lang="ja-JP" altLang="en-US" sz="1500"/>
                        <a:t>課題・懸念事項</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588F"/>
                    </a:solidFill>
                  </a:tcPr>
                </a:tc>
                <a:tc>
                  <a:txBody>
                    <a:bodyPr/>
                    <a:lstStyle/>
                    <a:p>
                      <a:pPr algn="ctr">
                        <a:spcBef>
                          <a:spcPts val="600"/>
                        </a:spcBef>
                      </a:pPr>
                      <a:r>
                        <a:rPr kumimoji="1" lang="ja-JP" altLang="en-US" sz="1500"/>
                        <a:t>詳細</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588F"/>
                    </a:solidFill>
                  </a:tcPr>
                </a:tc>
                <a:tc>
                  <a:txBody>
                    <a:bodyPr/>
                    <a:lstStyle/>
                    <a:p>
                      <a:pPr algn="ctr">
                        <a:spcBef>
                          <a:spcPts val="600"/>
                        </a:spcBef>
                      </a:pPr>
                      <a:r>
                        <a:rPr kumimoji="1" lang="ja-JP" altLang="en-US" sz="1500"/>
                        <a:t>対応方針</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588F"/>
                    </a:solidFill>
                  </a:tcPr>
                </a:tc>
                <a:tc>
                  <a:txBody>
                    <a:bodyPr/>
                    <a:lstStyle/>
                    <a:p>
                      <a:pPr algn="ctr">
                        <a:spcBef>
                          <a:spcPts val="600"/>
                        </a:spcBef>
                      </a:pPr>
                      <a:r>
                        <a:rPr kumimoji="1" lang="ja-JP" altLang="en-US" sz="1500"/>
                        <a:t>対応完了日</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588F"/>
                    </a:solidFill>
                  </a:tcPr>
                </a:tc>
                <a:extLst>
                  <a:ext uri="{0D108BD9-81ED-4DB2-BD59-A6C34878D82A}">
                    <a16:rowId xmlns:a16="http://schemas.microsoft.com/office/drawing/2014/main" val="1488536296"/>
                  </a:ext>
                </a:extLst>
              </a:tr>
              <a:tr h="903991">
                <a:tc>
                  <a:txBody>
                    <a:bodyPr/>
                    <a:lstStyle/>
                    <a:p>
                      <a:pPr algn="ctr">
                        <a:spcBef>
                          <a:spcPts val="0"/>
                        </a:spcBef>
                        <a:spcAft>
                          <a:spcPts val="0"/>
                        </a:spcAft>
                      </a:pPr>
                      <a:r>
                        <a:rPr kumimoji="1" lang="ja-JP" altLang="en-US" sz="1100"/>
                        <a:t>１</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spcBef>
                          <a:spcPts val="0"/>
                        </a:spcBef>
                        <a:spcAft>
                          <a:spcPts val="0"/>
                        </a:spcAft>
                      </a:pPr>
                      <a:r>
                        <a:rPr kumimoji="1" lang="en-US" altLang="ja-JP" sz="1100"/>
                        <a:t>BC</a:t>
                      </a:r>
                    </a:p>
                    <a:p>
                      <a:pPr algn="ctr">
                        <a:spcBef>
                          <a:spcPts val="0"/>
                        </a:spcBef>
                        <a:spcAft>
                          <a:spcPts val="0"/>
                        </a:spcAft>
                      </a:pPr>
                      <a:r>
                        <a:rPr kumimoji="1" lang="en-US" altLang="ja-JP" sz="1100"/>
                        <a:t>CC</a:t>
                      </a:r>
                      <a:endParaRPr kumimoji="1" lang="ja-JP" altLang="en-US" sz="1100"/>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spcBef>
                          <a:spcPts val="0"/>
                        </a:spcBef>
                        <a:spcAft>
                          <a:spcPts val="0"/>
                        </a:spcAft>
                      </a:pPr>
                      <a:r>
                        <a:rPr kumimoji="1" lang="ja-JP" altLang="en-US" sz="1100"/>
                        <a:t>事業会社との</a:t>
                      </a:r>
                      <a:endParaRPr kumimoji="1" lang="en-US" altLang="ja-JP" sz="1100"/>
                    </a:p>
                    <a:p>
                      <a:pPr algn="ctr">
                        <a:spcBef>
                          <a:spcPts val="0"/>
                        </a:spcBef>
                        <a:spcAft>
                          <a:spcPts val="0"/>
                        </a:spcAft>
                      </a:pPr>
                      <a:r>
                        <a:rPr kumimoji="1" lang="ja-JP" altLang="en-US" sz="1100"/>
                        <a:t>スケジュールギャップ</a:t>
                      </a:r>
                      <a:endParaRPr kumimoji="1" lang="en-US" altLang="ja-JP" sz="1100"/>
                    </a:p>
                    <a:p>
                      <a:pPr algn="ctr">
                        <a:spcBef>
                          <a:spcPts val="0"/>
                        </a:spcBef>
                        <a:spcAft>
                          <a:spcPts val="0"/>
                        </a:spcAft>
                      </a:pPr>
                      <a:r>
                        <a:rPr kumimoji="1" lang="ja-JP" altLang="en-US" sz="1100"/>
                        <a:t>について</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spcBef>
                          <a:spcPts val="0"/>
                        </a:spcBef>
                        <a:spcAft>
                          <a:spcPts val="0"/>
                        </a:spcAft>
                      </a:pPr>
                      <a:r>
                        <a:rPr kumimoji="1" lang="en-US" altLang="ja-JP" sz="1100"/>
                        <a:t>SMCC</a:t>
                      </a:r>
                      <a:r>
                        <a:rPr kumimoji="1" lang="ja-JP" altLang="en-US" sz="1100"/>
                        <a:t>からは</a:t>
                      </a:r>
                      <a:r>
                        <a:rPr kumimoji="1" lang="en-US" altLang="ja-JP" sz="1100"/>
                        <a:t>Ph1</a:t>
                      </a:r>
                      <a:r>
                        <a:rPr kumimoji="1" lang="ja-JP" altLang="en-US" sz="1100"/>
                        <a:t>サービスインを</a:t>
                      </a:r>
                      <a:r>
                        <a:rPr kumimoji="1" lang="en-US" altLang="ja-JP" sz="1100"/>
                        <a:t>2025</a:t>
                      </a:r>
                      <a:r>
                        <a:rPr kumimoji="1" lang="ja-JP" altLang="en-US" sz="1100"/>
                        <a:t>年</a:t>
                      </a:r>
                      <a:r>
                        <a:rPr kumimoji="1" lang="en-US" altLang="ja-JP" sz="1100"/>
                        <a:t>12</a:t>
                      </a:r>
                      <a:r>
                        <a:rPr kumimoji="1" lang="ja-JP" altLang="en-US" sz="1100"/>
                        <a:t>月、</a:t>
                      </a:r>
                      <a:endParaRPr kumimoji="1" lang="en-US" altLang="ja-JP" sz="1100"/>
                    </a:p>
                    <a:p>
                      <a:pPr algn="l">
                        <a:spcBef>
                          <a:spcPts val="0"/>
                        </a:spcBef>
                        <a:spcAft>
                          <a:spcPts val="0"/>
                        </a:spcAft>
                      </a:pPr>
                      <a:r>
                        <a:rPr kumimoji="1" lang="en-US" altLang="ja-JP" sz="1100"/>
                        <a:t>Ph2</a:t>
                      </a:r>
                      <a:r>
                        <a:rPr kumimoji="1" lang="ja-JP" altLang="en-US" sz="1100"/>
                        <a:t>サービスインを</a:t>
                      </a:r>
                      <a:r>
                        <a:rPr kumimoji="1" lang="en-US" altLang="ja-JP" sz="1100"/>
                        <a:t>2026</a:t>
                      </a:r>
                      <a:r>
                        <a:rPr kumimoji="1" lang="ja-JP" altLang="en-US" sz="1100"/>
                        <a:t>年</a:t>
                      </a:r>
                      <a:r>
                        <a:rPr kumimoji="1" lang="en-US" altLang="ja-JP" sz="1100"/>
                        <a:t>2</a:t>
                      </a:r>
                      <a:r>
                        <a:rPr kumimoji="1" lang="ja-JP" altLang="en-US" sz="1100"/>
                        <a:t>月に前倒すよう</a:t>
                      </a:r>
                      <a:endParaRPr kumimoji="1" lang="en-US" altLang="ja-JP" sz="1100"/>
                    </a:p>
                    <a:p>
                      <a:pPr algn="l">
                        <a:spcBef>
                          <a:spcPts val="0"/>
                        </a:spcBef>
                        <a:spcAft>
                          <a:spcPts val="0"/>
                        </a:spcAft>
                      </a:pPr>
                      <a:r>
                        <a:rPr kumimoji="1" lang="ja-JP" altLang="en-US" sz="1100"/>
                        <a:t>要望あり。</a:t>
                      </a:r>
                      <a:endParaRPr kumimoji="1" lang="en-US" altLang="ja-JP" sz="1100"/>
                    </a:p>
                    <a:p>
                      <a:pPr algn="l">
                        <a:spcBef>
                          <a:spcPts val="0"/>
                        </a:spcBef>
                        <a:spcAft>
                          <a:spcPts val="0"/>
                        </a:spcAft>
                      </a:pPr>
                      <a:r>
                        <a:rPr kumimoji="1" lang="ja-JP" altLang="en-US" sz="1100"/>
                        <a:t>音声基盤、および運用機能構築について</a:t>
                      </a:r>
                      <a:endParaRPr kumimoji="1" lang="en-US" altLang="ja-JP" sz="1100"/>
                    </a:p>
                    <a:p>
                      <a:pPr algn="l">
                        <a:spcBef>
                          <a:spcPts val="0"/>
                        </a:spcBef>
                        <a:spcAft>
                          <a:spcPts val="0"/>
                        </a:spcAft>
                      </a:pPr>
                      <a:r>
                        <a:rPr kumimoji="1" lang="ja-JP" altLang="en-US" sz="1100"/>
                        <a:t>更なる前倒し案を整理する必要がある。</a:t>
                      </a:r>
                      <a:endParaRPr kumimoji="1" lang="en-US" altLang="ja-JP" sz="1100"/>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spcBef>
                          <a:spcPts val="0"/>
                        </a:spcBef>
                        <a:spcAft>
                          <a:spcPts val="0"/>
                        </a:spcAft>
                      </a:pPr>
                      <a:r>
                        <a:rPr kumimoji="1" lang="ja-JP" altLang="en-US" sz="1100"/>
                        <a:t>音声基盤について、本人確認時の</a:t>
                      </a:r>
                      <a:r>
                        <a:rPr kumimoji="1" lang="en-US" altLang="ja-JP" sz="1100"/>
                        <a:t>DTMF</a:t>
                      </a:r>
                      <a:r>
                        <a:rPr kumimoji="1" lang="ja-JP" altLang="en-US" sz="1100"/>
                        <a:t>入力</a:t>
                      </a:r>
                      <a:endParaRPr kumimoji="1" lang="en-US" altLang="ja-JP" sz="1100"/>
                    </a:p>
                    <a:p>
                      <a:pPr algn="l">
                        <a:spcBef>
                          <a:spcPts val="0"/>
                        </a:spcBef>
                        <a:spcAft>
                          <a:spcPts val="0"/>
                        </a:spcAft>
                      </a:pPr>
                      <a:r>
                        <a:rPr kumimoji="1" lang="ja-JP" altLang="en-US" sz="1100"/>
                        <a:t>（携帯で行う番号入力）を割愛することで、</a:t>
                      </a:r>
                      <a:endParaRPr kumimoji="1" lang="en-US" altLang="ja-JP" sz="1100"/>
                    </a:p>
                    <a:p>
                      <a:pPr algn="l">
                        <a:spcBef>
                          <a:spcPts val="0"/>
                        </a:spcBef>
                        <a:spcAft>
                          <a:spcPts val="0"/>
                        </a:spcAft>
                      </a:pPr>
                      <a:r>
                        <a:rPr kumimoji="1" lang="en-US" altLang="ja-JP" sz="1100"/>
                        <a:t>IVR</a:t>
                      </a:r>
                      <a:r>
                        <a:rPr kumimoji="1" lang="ja-JP" altLang="en-US" sz="1100"/>
                        <a:t>コールフローの構築を割愛出来る見込み。</a:t>
                      </a:r>
                      <a:endParaRPr kumimoji="1" lang="en-US" altLang="ja-JP" sz="1100"/>
                    </a:p>
                    <a:p>
                      <a:pPr algn="l">
                        <a:spcBef>
                          <a:spcPts val="0"/>
                        </a:spcBef>
                        <a:spcAft>
                          <a:spcPts val="0"/>
                        </a:spcAft>
                      </a:pPr>
                      <a:r>
                        <a:rPr kumimoji="1" lang="ja-JP" altLang="en-US" sz="1100"/>
                        <a:t>運用基盤については、一部監視機能等を</a:t>
                      </a:r>
                      <a:r>
                        <a:rPr kumimoji="1" lang="en-US" altLang="ja-JP" sz="1100"/>
                        <a:t>Azure</a:t>
                      </a:r>
                      <a:r>
                        <a:rPr kumimoji="1" lang="ja-JP" altLang="en-US" sz="1100"/>
                        <a:t>内の</a:t>
                      </a:r>
                      <a:endParaRPr kumimoji="1" lang="en-US" altLang="ja-JP" sz="1100"/>
                    </a:p>
                    <a:p>
                      <a:pPr algn="l">
                        <a:spcBef>
                          <a:spcPts val="0"/>
                        </a:spcBef>
                        <a:spcAft>
                          <a:spcPts val="0"/>
                        </a:spcAft>
                      </a:pPr>
                      <a:r>
                        <a:rPr kumimoji="1" lang="ja-JP" altLang="en-US" sz="1100"/>
                        <a:t>機能でメール送信することで代替出来ないかを検討。</a:t>
                      </a:r>
                      <a:endParaRPr kumimoji="1" lang="en-US" altLang="ja-JP" sz="1100"/>
                    </a:p>
                    <a:p>
                      <a:pPr algn="l">
                        <a:spcBef>
                          <a:spcPts val="0"/>
                        </a:spcBef>
                        <a:spcAft>
                          <a:spcPts val="0"/>
                        </a:spcAft>
                      </a:pPr>
                      <a:endParaRPr kumimoji="1" lang="en-US" altLang="ja-JP" sz="1100"/>
                    </a:p>
                    <a:p>
                      <a:pPr algn="l">
                        <a:spcBef>
                          <a:spcPts val="0"/>
                        </a:spcBef>
                        <a:spcAft>
                          <a:spcPts val="0"/>
                        </a:spcAft>
                      </a:pPr>
                      <a:r>
                        <a:rPr kumimoji="1" lang="en-US" altLang="ja-JP" sz="1100"/>
                        <a:t>※ 4</a:t>
                      </a:r>
                      <a:r>
                        <a:rPr kumimoji="1" lang="ja-JP" altLang="en-US" sz="1100"/>
                        <a:t>月</a:t>
                      </a:r>
                      <a:r>
                        <a:rPr kumimoji="1" lang="en-US" altLang="ja-JP" sz="1100"/>
                        <a:t>22</a:t>
                      </a:r>
                      <a:r>
                        <a:rPr kumimoji="1" lang="ja-JP" altLang="en-US" sz="1100"/>
                        <a:t>日現在、前倒し可能な方針で整理実施。</a:t>
                      </a:r>
                      <a:br>
                        <a:rPr kumimoji="1" lang="en-US" altLang="ja-JP" sz="1100"/>
                      </a:br>
                      <a:r>
                        <a:rPr kumimoji="1" lang="ja-JP" altLang="en-US" sz="1100"/>
                        <a:t>　　具体的な対応計画に落とし込んだ上で、可否を</a:t>
                      </a:r>
                      <a:br>
                        <a:rPr kumimoji="1" lang="en-US" altLang="ja-JP" sz="1100"/>
                      </a:br>
                      <a:r>
                        <a:rPr kumimoji="1" lang="ja-JP" altLang="en-US" sz="1100"/>
                        <a:t>　　最終判断予定。</a:t>
                      </a:r>
                      <a:endParaRPr kumimoji="1" lang="en-US" altLang="ja-JP" sz="1100"/>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spcBef>
                          <a:spcPts val="0"/>
                        </a:spcBef>
                        <a:spcAft>
                          <a:spcPts val="0"/>
                        </a:spcAft>
                      </a:pPr>
                      <a:r>
                        <a:rPr kumimoji="1" lang="ja-JP" altLang="en-US" sz="1100"/>
                        <a:t>２０２５年５月２８日</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4529378"/>
                  </a:ext>
                </a:extLst>
              </a:tr>
              <a:tr h="752892">
                <a:tc>
                  <a:txBody>
                    <a:bodyPr/>
                    <a:lstStyle/>
                    <a:p>
                      <a:pPr algn="ctr">
                        <a:spcBef>
                          <a:spcPts val="0"/>
                        </a:spcBef>
                        <a:spcAft>
                          <a:spcPts val="0"/>
                        </a:spcAft>
                      </a:pPr>
                      <a:r>
                        <a:rPr kumimoji="1" lang="ja-JP" altLang="en-US" sz="1100"/>
                        <a:t>２</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spcBef>
                          <a:spcPts val="0"/>
                        </a:spcBef>
                        <a:spcAft>
                          <a:spcPts val="0"/>
                        </a:spcAft>
                      </a:pPr>
                      <a:r>
                        <a:rPr kumimoji="1" lang="en-US" altLang="ja-JP" sz="1100"/>
                        <a:t>BC</a:t>
                      </a:r>
                    </a:p>
                    <a:p>
                      <a:pPr algn="ctr">
                        <a:spcBef>
                          <a:spcPts val="0"/>
                        </a:spcBef>
                        <a:spcAft>
                          <a:spcPts val="0"/>
                        </a:spcAft>
                      </a:pPr>
                      <a:r>
                        <a:rPr kumimoji="1" lang="en-US" altLang="ja-JP" sz="1100"/>
                        <a:t>CC</a:t>
                      </a:r>
                      <a:endParaRPr kumimoji="1" lang="ja-JP" altLang="en-US" sz="1100"/>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spcBef>
                          <a:spcPts val="0"/>
                        </a:spcBef>
                        <a:spcAft>
                          <a:spcPts val="0"/>
                        </a:spcAft>
                      </a:pPr>
                      <a:r>
                        <a:rPr kumimoji="1" lang="ja-JP" altLang="en-US" sz="1100"/>
                        <a:t>精度向上について</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spcBef>
                          <a:spcPts val="0"/>
                        </a:spcBef>
                        <a:spcAft>
                          <a:spcPts val="0"/>
                        </a:spcAft>
                      </a:pPr>
                      <a:r>
                        <a:rPr kumimoji="1" lang="ja-JP" altLang="en-US" sz="1100"/>
                        <a:t>今回利用する</a:t>
                      </a:r>
                      <a:r>
                        <a:rPr kumimoji="1" lang="en-US" altLang="ja-JP" sz="1100" err="1"/>
                        <a:t>AzureOpenAI</a:t>
                      </a:r>
                      <a:r>
                        <a:rPr kumimoji="1" lang="ja-JP" altLang="en-US" sz="1100"/>
                        <a:t>は精度向上</a:t>
                      </a:r>
                      <a:endParaRPr kumimoji="1" lang="en-US" altLang="ja-JP" sz="1100"/>
                    </a:p>
                    <a:p>
                      <a:pPr algn="l">
                        <a:spcBef>
                          <a:spcPts val="0"/>
                        </a:spcBef>
                        <a:spcAft>
                          <a:spcPts val="0"/>
                        </a:spcAft>
                      </a:pPr>
                      <a:r>
                        <a:rPr kumimoji="1" lang="ja-JP" altLang="en-US" sz="1100"/>
                        <a:t>のためにファインチューニングは行わず、</a:t>
                      </a:r>
                      <a:endParaRPr kumimoji="1" lang="en-US" altLang="ja-JP" sz="1100"/>
                    </a:p>
                    <a:p>
                      <a:pPr algn="l">
                        <a:spcBef>
                          <a:spcPts val="0"/>
                        </a:spcBef>
                        <a:spcAft>
                          <a:spcPts val="0"/>
                        </a:spcAft>
                      </a:pPr>
                      <a:r>
                        <a:rPr kumimoji="1" lang="en-US" altLang="ja-JP" sz="1100"/>
                        <a:t>RAG</a:t>
                      </a:r>
                      <a:r>
                        <a:rPr kumimoji="1" lang="ja-JP" altLang="en-US" sz="1100"/>
                        <a:t>の活用により精度向上を目指す。</a:t>
                      </a:r>
                      <a:endParaRPr kumimoji="1" lang="en-US" altLang="ja-JP" sz="1100"/>
                    </a:p>
                    <a:p>
                      <a:pPr algn="l">
                        <a:spcBef>
                          <a:spcPts val="0"/>
                        </a:spcBef>
                        <a:spcAft>
                          <a:spcPts val="0"/>
                        </a:spcAft>
                      </a:pPr>
                      <a:r>
                        <a:rPr kumimoji="1" lang="ja-JP" altLang="en-US" sz="1100"/>
                        <a:t>ただし、</a:t>
                      </a:r>
                      <a:r>
                        <a:rPr kumimoji="1" lang="en-US" altLang="ja-JP" sz="1100"/>
                        <a:t>RAG</a:t>
                      </a:r>
                      <a:r>
                        <a:rPr kumimoji="1" lang="ja-JP" altLang="en-US" sz="1100"/>
                        <a:t>の精度向上においてどれだけの</a:t>
                      </a:r>
                      <a:endParaRPr kumimoji="1" lang="en-US" altLang="ja-JP" sz="1100"/>
                    </a:p>
                    <a:p>
                      <a:pPr algn="l">
                        <a:spcBef>
                          <a:spcPts val="0"/>
                        </a:spcBef>
                        <a:spcAft>
                          <a:spcPts val="0"/>
                        </a:spcAft>
                      </a:pPr>
                      <a:r>
                        <a:rPr kumimoji="1" lang="ja-JP" altLang="en-US" sz="1100"/>
                        <a:t>時間を要するか現状未定。</a:t>
                      </a:r>
                      <a:endParaRPr kumimoji="1" lang="en-US" altLang="ja-JP" sz="1100"/>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spcBef>
                          <a:spcPts val="0"/>
                        </a:spcBef>
                        <a:spcAft>
                          <a:spcPts val="0"/>
                        </a:spcAft>
                      </a:pPr>
                      <a:r>
                        <a:rPr kumimoji="1" lang="ja-JP" altLang="en-US" sz="1100"/>
                        <a:t>２０２５年４月～</a:t>
                      </a:r>
                      <a:r>
                        <a:rPr kumimoji="1" lang="en-US" altLang="ja-JP" sz="1100"/>
                        <a:t>6</a:t>
                      </a:r>
                      <a:r>
                        <a:rPr kumimoji="1" lang="ja-JP" altLang="en-US" sz="1100"/>
                        <a:t>月で実施する要件定義</a:t>
                      </a:r>
                      <a:endParaRPr kumimoji="1" lang="en-US" altLang="ja-JP" sz="1100"/>
                    </a:p>
                    <a:p>
                      <a:pPr algn="l">
                        <a:spcBef>
                          <a:spcPts val="0"/>
                        </a:spcBef>
                        <a:spcAft>
                          <a:spcPts val="0"/>
                        </a:spcAft>
                      </a:pPr>
                      <a:r>
                        <a:rPr kumimoji="1" lang="ja-JP" altLang="en-US" sz="1100"/>
                        <a:t>工程において、事業会社側で実施する</a:t>
                      </a:r>
                      <a:r>
                        <a:rPr kumimoji="1" lang="en-US" altLang="ja-JP" sz="1100"/>
                        <a:t>RAG</a:t>
                      </a:r>
                      <a:r>
                        <a:rPr kumimoji="1" lang="ja-JP" altLang="en-US" sz="1100"/>
                        <a:t>の精度</a:t>
                      </a:r>
                      <a:endParaRPr kumimoji="1" lang="en-US" altLang="ja-JP" sz="1100"/>
                    </a:p>
                    <a:p>
                      <a:pPr algn="l">
                        <a:spcBef>
                          <a:spcPts val="0"/>
                        </a:spcBef>
                        <a:spcAft>
                          <a:spcPts val="0"/>
                        </a:spcAft>
                      </a:pPr>
                      <a:r>
                        <a:rPr kumimoji="1" lang="ja-JP" altLang="en-US" sz="1100"/>
                        <a:t>向上計画を策定。</a:t>
                      </a:r>
                      <a:endParaRPr kumimoji="1" lang="en-US" altLang="ja-JP" sz="1100"/>
                    </a:p>
                    <a:p>
                      <a:pPr algn="l">
                        <a:spcBef>
                          <a:spcPts val="0"/>
                        </a:spcBef>
                        <a:spcAft>
                          <a:spcPts val="0"/>
                        </a:spcAft>
                      </a:pPr>
                      <a:r>
                        <a:rPr kumimoji="1" lang="ja-JP" altLang="en-US" sz="1100"/>
                        <a:t>策定結果を開発スケジュールに取り込み、リリース日</a:t>
                      </a:r>
                      <a:endParaRPr kumimoji="1" lang="en-US" altLang="ja-JP" sz="1100"/>
                    </a:p>
                    <a:p>
                      <a:pPr algn="l">
                        <a:spcBef>
                          <a:spcPts val="0"/>
                        </a:spcBef>
                        <a:spcAft>
                          <a:spcPts val="0"/>
                        </a:spcAft>
                      </a:pPr>
                      <a:r>
                        <a:rPr kumimoji="1" lang="ja-JP" altLang="en-US" sz="1100"/>
                        <a:t>および対象スコープを調整。</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spcBef>
                          <a:spcPts val="0"/>
                        </a:spcBef>
                        <a:spcAft>
                          <a:spcPts val="0"/>
                        </a:spcAft>
                      </a:pPr>
                      <a:r>
                        <a:rPr kumimoji="1" lang="ja-JP" altLang="en-US" sz="1100" kern="1200">
                          <a:solidFill>
                            <a:schemeClr val="dk1"/>
                          </a:solidFill>
                          <a:latin typeface="+mn-lt"/>
                          <a:ea typeface="+mn-ea"/>
                          <a:cs typeface="+mn-cs"/>
                        </a:rPr>
                        <a:t>２０２５年６月３０日</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2722761"/>
                  </a:ext>
                </a:extLst>
              </a:tr>
              <a:tr h="495652">
                <a:tc>
                  <a:txBody>
                    <a:bodyPr/>
                    <a:lstStyle/>
                    <a:p>
                      <a:pPr algn="ctr">
                        <a:spcBef>
                          <a:spcPts val="0"/>
                        </a:spcBef>
                        <a:spcAft>
                          <a:spcPts val="0"/>
                        </a:spcAft>
                      </a:pPr>
                      <a:r>
                        <a:rPr kumimoji="1" lang="ja-JP" altLang="en-US" sz="1100"/>
                        <a:t>３</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spcBef>
                          <a:spcPts val="0"/>
                        </a:spcBef>
                        <a:spcAft>
                          <a:spcPts val="0"/>
                        </a:spcAft>
                      </a:pPr>
                      <a:r>
                        <a:rPr kumimoji="1" lang="en-US" altLang="ja-JP" sz="1100"/>
                        <a:t>CC</a:t>
                      </a:r>
                      <a:endParaRPr kumimoji="1" lang="ja-JP" altLang="en-US" sz="1100"/>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spcBef>
                          <a:spcPts val="0"/>
                        </a:spcBef>
                        <a:spcAft>
                          <a:spcPts val="0"/>
                        </a:spcAft>
                      </a:pPr>
                      <a:r>
                        <a:rPr kumimoji="1" lang="en-US" altLang="ja-JP" sz="1100"/>
                        <a:t>SMCC</a:t>
                      </a:r>
                      <a:r>
                        <a:rPr kumimoji="1" lang="ja-JP" altLang="en-US" sz="1100"/>
                        <a:t>開発環境</a:t>
                      </a:r>
                      <a:endParaRPr kumimoji="1" lang="en-US" altLang="ja-JP" sz="1100"/>
                    </a:p>
                    <a:p>
                      <a:pPr algn="ctr">
                        <a:spcBef>
                          <a:spcPts val="0"/>
                        </a:spcBef>
                        <a:spcAft>
                          <a:spcPts val="0"/>
                        </a:spcAft>
                      </a:pPr>
                      <a:r>
                        <a:rPr kumimoji="1" lang="en-US" altLang="ja-JP" sz="1100"/>
                        <a:t>ExpressRoute</a:t>
                      </a:r>
                      <a:r>
                        <a:rPr kumimoji="1" lang="ja-JP" altLang="en-US" sz="1100"/>
                        <a:t>の</a:t>
                      </a:r>
                      <a:endParaRPr kumimoji="1" lang="en-US" altLang="ja-JP" sz="1100"/>
                    </a:p>
                    <a:p>
                      <a:pPr algn="ctr">
                        <a:spcBef>
                          <a:spcPts val="0"/>
                        </a:spcBef>
                        <a:spcAft>
                          <a:spcPts val="0"/>
                        </a:spcAft>
                      </a:pPr>
                      <a:r>
                        <a:rPr kumimoji="1" lang="ja-JP" altLang="en-US" sz="1100"/>
                        <a:t>新規敷設について</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spcBef>
                          <a:spcPts val="0"/>
                        </a:spcBef>
                        <a:spcAft>
                          <a:spcPts val="0"/>
                        </a:spcAft>
                      </a:pPr>
                      <a:r>
                        <a:rPr kumimoji="1" lang="ja-JP" altLang="en-US" sz="1100"/>
                        <a:t>開発環境の</a:t>
                      </a:r>
                      <a:r>
                        <a:rPr kumimoji="1" lang="en-US" altLang="ja-JP" sz="1100"/>
                        <a:t>ExpressRoute</a:t>
                      </a:r>
                      <a:r>
                        <a:rPr kumimoji="1" lang="ja-JP" altLang="en-US" sz="1100"/>
                        <a:t>について、</a:t>
                      </a:r>
                      <a:endParaRPr kumimoji="1" lang="en-US" altLang="ja-JP" sz="1100"/>
                    </a:p>
                    <a:p>
                      <a:pPr algn="l">
                        <a:spcBef>
                          <a:spcPts val="0"/>
                        </a:spcBef>
                        <a:spcAft>
                          <a:spcPts val="0"/>
                        </a:spcAft>
                      </a:pPr>
                      <a:r>
                        <a:rPr kumimoji="1" lang="en-US" altLang="ja-JP" sz="1100"/>
                        <a:t>SMCC</a:t>
                      </a:r>
                      <a:r>
                        <a:rPr kumimoji="1" lang="ja-JP" altLang="en-US" sz="1100"/>
                        <a:t>用の回線が存在しない。</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spcBef>
                          <a:spcPts val="0"/>
                        </a:spcBef>
                        <a:spcAft>
                          <a:spcPts val="0"/>
                        </a:spcAft>
                      </a:pPr>
                      <a:r>
                        <a:rPr kumimoji="1" lang="en-US" altLang="ja-JP" sz="1100"/>
                        <a:t>4</a:t>
                      </a:r>
                      <a:r>
                        <a:rPr kumimoji="1" lang="ja-JP" altLang="en-US" sz="1100"/>
                        <a:t>月より新規敷設の対応着手想定。</a:t>
                      </a:r>
                      <a:endParaRPr kumimoji="1" lang="en-US" altLang="ja-JP" sz="1100"/>
                    </a:p>
                    <a:p>
                      <a:pPr algn="l">
                        <a:spcBef>
                          <a:spcPts val="0"/>
                        </a:spcBef>
                        <a:spcAft>
                          <a:spcPts val="0"/>
                        </a:spcAft>
                      </a:pPr>
                      <a:r>
                        <a:rPr kumimoji="1" lang="en-US" altLang="ja-JP" sz="1100"/>
                        <a:t>2025</a:t>
                      </a:r>
                      <a:r>
                        <a:rPr kumimoji="1" lang="ja-JP" altLang="en-US" sz="1100"/>
                        <a:t>年</a:t>
                      </a:r>
                      <a:r>
                        <a:rPr kumimoji="1" lang="en-US" altLang="ja-JP" sz="1100"/>
                        <a:t>10</a:t>
                      </a:r>
                      <a:r>
                        <a:rPr kumimoji="1" lang="ja-JP" altLang="en-US" sz="1100"/>
                        <a:t>月より開始する結合テストまでに敷設</a:t>
                      </a:r>
                      <a:endParaRPr kumimoji="1" lang="en-US" altLang="ja-JP" sz="1100"/>
                    </a:p>
                    <a:p>
                      <a:pPr algn="l">
                        <a:spcBef>
                          <a:spcPts val="0"/>
                        </a:spcBef>
                        <a:spcAft>
                          <a:spcPts val="0"/>
                        </a:spcAft>
                      </a:pPr>
                      <a:r>
                        <a:rPr kumimoji="1" lang="ja-JP" altLang="en-US" sz="1100"/>
                        <a:t>出来るよう、関係者調整を進める。</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kern="1200">
                          <a:solidFill>
                            <a:schemeClr val="dk1"/>
                          </a:solidFill>
                          <a:latin typeface="+mn-lt"/>
                          <a:ea typeface="+mn-ea"/>
                          <a:cs typeface="+mn-cs"/>
                        </a:rPr>
                        <a:t>２０２５年５月１３日</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347635"/>
                  </a:ext>
                </a:extLst>
              </a:tr>
              <a:tr h="816940">
                <a:tc>
                  <a:txBody>
                    <a:bodyPr/>
                    <a:lstStyle/>
                    <a:p>
                      <a:pPr algn="ctr">
                        <a:spcBef>
                          <a:spcPts val="0"/>
                        </a:spcBef>
                        <a:spcAft>
                          <a:spcPts val="0"/>
                        </a:spcAft>
                      </a:pPr>
                      <a:r>
                        <a:rPr kumimoji="1" lang="ja-JP" altLang="en-US" sz="1100"/>
                        <a:t>４</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spcBef>
                          <a:spcPts val="0"/>
                        </a:spcBef>
                        <a:spcAft>
                          <a:spcPts val="0"/>
                        </a:spcAft>
                      </a:pPr>
                      <a:r>
                        <a:rPr kumimoji="1" lang="en-US" altLang="ja-JP" sz="1100"/>
                        <a:t>BC</a:t>
                      </a:r>
                    </a:p>
                    <a:p>
                      <a:pPr algn="ctr">
                        <a:spcBef>
                          <a:spcPts val="0"/>
                        </a:spcBef>
                        <a:spcAft>
                          <a:spcPts val="0"/>
                        </a:spcAft>
                      </a:pPr>
                      <a:r>
                        <a:rPr kumimoji="1" lang="en-US" altLang="ja-JP" sz="1100"/>
                        <a:t>CC</a:t>
                      </a:r>
                      <a:endParaRPr kumimoji="1" lang="ja-JP" altLang="en-US" sz="1100"/>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spcBef>
                          <a:spcPts val="0"/>
                        </a:spcBef>
                        <a:spcAft>
                          <a:spcPts val="0"/>
                        </a:spcAft>
                      </a:pPr>
                      <a:r>
                        <a:rPr kumimoji="1" lang="en-US" altLang="ja-JP" sz="1100"/>
                        <a:t>ACS</a:t>
                      </a:r>
                      <a:r>
                        <a:rPr kumimoji="1" lang="ja-JP" altLang="en-US" sz="1100"/>
                        <a:t>と</a:t>
                      </a:r>
                      <a:r>
                        <a:rPr kumimoji="1" lang="en-US" altLang="ja-JP" sz="1100"/>
                        <a:t>AI</a:t>
                      </a:r>
                      <a:r>
                        <a:rPr kumimoji="1" lang="ja-JP" altLang="en-US" sz="1100"/>
                        <a:t>オペレータの</a:t>
                      </a:r>
                      <a:endParaRPr kumimoji="1" lang="en-US" altLang="ja-JP" sz="1100"/>
                    </a:p>
                    <a:p>
                      <a:pPr algn="ctr">
                        <a:spcBef>
                          <a:spcPts val="0"/>
                        </a:spcBef>
                        <a:spcAft>
                          <a:spcPts val="0"/>
                        </a:spcAft>
                      </a:pPr>
                      <a:r>
                        <a:rPr kumimoji="1" lang="ja-JP" altLang="en-US" sz="1100"/>
                        <a:t>接続について</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spcBef>
                          <a:spcPts val="0"/>
                        </a:spcBef>
                        <a:spcAft>
                          <a:spcPts val="0"/>
                        </a:spcAft>
                      </a:pPr>
                      <a:r>
                        <a:rPr kumimoji="1" lang="en-US" altLang="ja-JP" sz="1100"/>
                        <a:t>ACS</a:t>
                      </a:r>
                      <a:r>
                        <a:rPr kumimoji="1" lang="ja-JP" altLang="en-US" sz="1100"/>
                        <a:t>は</a:t>
                      </a:r>
                      <a:r>
                        <a:rPr kumimoji="1" lang="en-US" altLang="ja-JP" sz="1100"/>
                        <a:t>FG</a:t>
                      </a:r>
                      <a:r>
                        <a:rPr kumimoji="1" lang="ja-JP" altLang="en-US" sz="1100"/>
                        <a:t>テナント外の</a:t>
                      </a:r>
                      <a:r>
                        <a:rPr kumimoji="1" lang="en-US" altLang="ja-JP" sz="1100"/>
                        <a:t>PaaS</a:t>
                      </a:r>
                      <a:r>
                        <a:rPr kumimoji="1" lang="ja-JP" altLang="en-US" sz="1100"/>
                        <a:t>となり、</a:t>
                      </a:r>
                      <a:endParaRPr kumimoji="1" lang="en-US" altLang="ja-JP" sz="1100"/>
                    </a:p>
                    <a:p>
                      <a:pPr algn="l">
                        <a:spcBef>
                          <a:spcPts val="0"/>
                        </a:spcBef>
                        <a:spcAft>
                          <a:spcPts val="0"/>
                        </a:spcAft>
                      </a:pPr>
                      <a:r>
                        <a:rPr kumimoji="1" lang="en-US" altLang="ja-JP" sz="1100"/>
                        <a:t>AI</a:t>
                      </a:r>
                      <a:r>
                        <a:rPr kumimoji="1" lang="ja-JP" altLang="en-US" sz="1100"/>
                        <a:t>オペレータと接続する際には外部</a:t>
                      </a:r>
                      <a:r>
                        <a:rPr kumimoji="1" lang="en-US" altLang="ja-JP" sz="1100"/>
                        <a:t>NW</a:t>
                      </a:r>
                      <a:r>
                        <a:rPr kumimoji="1" lang="ja-JP" altLang="en-US" sz="1100"/>
                        <a:t>からの</a:t>
                      </a:r>
                      <a:endParaRPr kumimoji="1" lang="en-US" altLang="ja-JP" sz="1100"/>
                    </a:p>
                    <a:p>
                      <a:pPr algn="l">
                        <a:spcBef>
                          <a:spcPts val="0"/>
                        </a:spcBef>
                        <a:spcAft>
                          <a:spcPts val="0"/>
                        </a:spcAft>
                      </a:pPr>
                      <a:r>
                        <a:rPr kumimoji="1" lang="ja-JP" altLang="en-US" sz="1100"/>
                        <a:t>接続となってしまう。</a:t>
                      </a:r>
                      <a:endParaRPr kumimoji="1" lang="en-US" altLang="ja-JP" sz="1100"/>
                    </a:p>
                    <a:p>
                      <a:pPr algn="l">
                        <a:spcBef>
                          <a:spcPts val="0"/>
                        </a:spcBef>
                        <a:spcAft>
                          <a:spcPts val="0"/>
                        </a:spcAft>
                      </a:pPr>
                      <a:r>
                        <a:rPr kumimoji="1" lang="ja-JP" altLang="en-US" sz="1100"/>
                        <a:t>セキュリティ的に許容されない場合は、踏み台から</a:t>
                      </a:r>
                      <a:endParaRPr kumimoji="1" lang="en-US" altLang="ja-JP" sz="1100"/>
                    </a:p>
                    <a:p>
                      <a:pPr algn="l">
                        <a:spcBef>
                          <a:spcPts val="0"/>
                        </a:spcBef>
                        <a:spcAft>
                          <a:spcPts val="0"/>
                        </a:spcAft>
                      </a:pPr>
                      <a:r>
                        <a:rPr kumimoji="1" lang="ja-JP" altLang="en-US" sz="1100"/>
                        <a:t>接続する等の代替案を検討する必要がある。</a:t>
                      </a:r>
                      <a:endParaRPr kumimoji="1" lang="en-US" altLang="ja-JP" sz="1100"/>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spcBef>
                          <a:spcPts val="0"/>
                        </a:spcBef>
                        <a:spcAft>
                          <a:spcPts val="0"/>
                        </a:spcAft>
                      </a:pPr>
                      <a:r>
                        <a:rPr kumimoji="1" lang="en-US" altLang="ja-JP" sz="1100"/>
                        <a:t>FG</a:t>
                      </a:r>
                      <a:r>
                        <a:rPr kumimoji="1" lang="ja-JP" altLang="en-US" sz="1100"/>
                        <a:t>テナントとは別のテナント（運用管理テナント）に</a:t>
                      </a:r>
                      <a:endParaRPr kumimoji="1" lang="en-US" altLang="ja-JP" sz="1100"/>
                    </a:p>
                    <a:p>
                      <a:pPr algn="l">
                        <a:spcBef>
                          <a:spcPts val="0"/>
                        </a:spcBef>
                        <a:spcAft>
                          <a:spcPts val="0"/>
                        </a:spcAft>
                      </a:pPr>
                      <a:r>
                        <a:rPr kumimoji="1" lang="ja-JP" altLang="en-US" sz="1100"/>
                        <a:t>踏み台を構築し、外部</a:t>
                      </a:r>
                      <a:r>
                        <a:rPr kumimoji="1" lang="en-US" altLang="ja-JP" sz="1100"/>
                        <a:t>DMZ</a:t>
                      </a:r>
                      <a:r>
                        <a:rPr kumimoji="1" lang="ja-JP" altLang="en-US" sz="1100"/>
                        <a:t>経由での接続が可能か</a:t>
                      </a:r>
                      <a:endParaRPr kumimoji="1" lang="en-US" altLang="ja-JP" sz="1100"/>
                    </a:p>
                    <a:p>
                      <a:pPr algn="l">
                        <a:spcBef>
                          <a:spcPts val="0"/>
                        </a:spcBef>
                        <a:spcAft>
                          <a:spcPts val="0"/>
                        </a:spcAft>
                      </a:pPr>
                      <a:r>
                        <a:rPr kumimoji="1" lang="ja-JP" altLang="en-US" sz="1100"/>
                        <a:t>検討中。</a:t>
                      </a:r>
                      <a:endParaRPr kumimoji="1" lang="en-US" altLang="ja-JP" sz="1100"/>
                    </a:p>
                    <a:p>
                      <a:pPr algn="l">
                        <a:spcBef>
                          <a:spcPts val="0"/>
                        </a:spcBef>
                        <a:spcAft>
                          <a:spcPts val="0"/>
                        </a:spcAft>
                      </a:pPr>
                      <a:r>
                        <a:rPr kumimoji="1" lang="en-US" altLang="ja-JP" sz="1100"/>
                        <a:t>ACS</a:t>
                      </a:r>
                      <a:r>
                        <a:rPr kumimoji="1" lang="ja-JP" altLang="en-US" sz="1100"/>
                        <a:t>はクラウド環境用セキュリティソリューションマップ上</a:t>
                      </a:r>
                      <a:endParaRPr kumimoji="1" lang="en-US" altLang="ja-JP" sz="1100"/>
                    </a:p>
                    <a:p>
                      <a:pPr algn="l">
                        <a:spcBef>
                          <a:spcPts val="0"/>
                        </a:spcBef>
                        <a:spcAft>
                          <a:spcPts val="0"/>
                        </a:spcAft>
                      </a:pPr>
                      <a:r>
                        <a:rPr kumimoji="1" lang="ja-JP" altLang="en-US" sz="1100"/>
                        <a:t>では閉域構成で利用可能なアプリケーションの</a:t>
                      </a:r>
                      <a:endParaRPr kumimoji="1" lang="en-US" altLang="ja-JP" sz="1100"/>
                    </a:p>
                    <a:p>
                      <a:pPr algn="l">
                        <a:spcBef>
                          <a:spcPts val="0"/>
                        </a:spcBef>
                        <a:spcAft>
                          <a:spcPts val="0"/>
                        </a:spcAft>
                      </a:pPr>
                      <a:r>
                        <a:rPr kumimoji="1" lang="ja-JP" altLang="en-US" sz="1100"/>
                        <a:t>位置付けとなっているため、クラウド審査でお伺い予定。</a:t>
                      </a:r>
                      <a:endParaRPr kumimoji="1" lang="en-US" altLang="ja-JP" sz="1100"/>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kern="1200">
                          <a:solidFill>
                            <a:schemeClr val="dk1"/>
                          </a:solidFill>
                          <a:latin typeface="+mn-lt"/>
                          <a:ea typeface="+mn-ea"/>
                          <a:cs typeface="+mn-cs"/>
                        </a:rPr>
                        <a:t>２０２５年５月１３日</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5278067"/>
                  </a:ext>
                </a:extLst>
              </a:tr>
            </a:tbl>
          </a:graphicData>
        </a:graphic>
      </p:graphicFrame>
      <p:sp>
        <p:nvSpPr>
          <p:cNvPr id="5" name="タイトル 1">
            <a:extLst>
              <a:ext uri="{FF2B5EF4-FFF2-40B4-BE49-F238E27FC236}">
                <a16:creationId xmlns:a16="http://schemas.microsoft.com/office/drawing/2014/main" id="{CC06DE67-447F-1021-CACD-9546EDA860FA}"/>
              </a:ext>
            </a:extLst>
          </p:cNvPr>
          <p:cNvSpPr txBox="1">
            <a:spLocks/>
          </p:cNvSpPr>
          <p:nvPr/>
        </p:nvSpPr>
        <p:spPr>
          <a:xfrm>
            <a:off x="647176" y="95611"/>
            <a:ext cx="9004300" cy="334962"/>
          </a:xfrm>
          <a:prstGeom prst="rect">
            <a:avLst/>
          </a:prstGeom>
        </p:spPr>
        <p:txBody>
          <a:bodyPr/>
          <a:lst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a:lstStyle>
          <a:p>
            <a:r>
              <a:rPr lang="ja-JP" altLang="en-US" kern="0"/>
              <a:t>７</a:t>
            </a:r>
            <a:r>
              <a:rPr lang="en-US" altLang="ja-JP" kern="0"/>
              <a:t>-</a:t>
            </a:r>
            <a:r>
              <a:rPr lang="ja-JP" altLang="en-US" kern="0"/>
              <a:t>２．</a:t>
            </a:r>
            <a:r>
              <a:rPr lang="en-US" altLang="ja-JP" kern="0"/>
              <a:t> 【</a:t>
            </a:r>
            <a:r>
              <a:rPr lang="ja-JP" altLang="en-US" kern="0"/>
              <a:t>プロジェクトリスクと対策</a:t>
            </a:r>
            <a:r>
              <a:rPr lang="en-US" altLang="ja-JP" kern="0"/>
              <a:t>】</a:t>
            </a:r>
            <a:r>
              <a:rPr lang="ja-JP" altLang="en-US" kern="0"/>
              <a:t>重要課題</a:t>
            </a:r>
          </a:p>
        </p:txBody>
      </p:sp>
    </p:spTree>
    <p:extLst>
      <p:ext uri="{BB962C8B-B14F-4D97-AF65-F5344CB8AC3E}">
        <p14:creationId xmlns:p14="http://schemas.microsoft.com/office/powerpoint/2010/main" val="19162833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SB" val="ColorPalettes"/>
</p:tagLst>
</file>

<file path=ppt/tags/tag2.xml><?xml version="1.0" encoding="utf-8"?>
<p:tagLst xmlns:a="http://schemas.openxmlformats.org/drawingml/2006/main" xmlns:r="http://schemas.openxmlformats.org/officeDocument/2006/relationships" xmlns:p="http://schemas.openxmlformats.org/presentationml/2006/main">
  <p:tag name="SSB" val="ColorPalettes"/>
</p:tagLst>
</file>

<file path=ppt/tags/tag3.xml><?xml version="1.0" encoding="utf-8"?>
<p:tagLst xmlns:a="http://schemas.openxmlformats.org/drawingml/2006/main" xmlns:r="http://schemas.openxmlformats.org/officeDocument/2006/relationships" xmlns:p="http://schemas.openxmlformats.org/presentationml/2006/main">
  <p:tag name="SSB" val="ColorPalettes"/>
</p:tagLst>
</file>

<file path=ppt/tags/tag4.xml><?xml version="1.0" encoding="utf-8"?>
<p:tagLst xmlns:a="http://schemas.openxmlformats.org/drawingml/2006/main" xmlns:r="http://schemas.openxmlformats.org/officeDocument/2006/relationships" xmlns:p="http://schemas.openxmlformats.org/presentationml/2006/main">
  <p:tag name="SSB" val="ColorPalettes"/>
</p:tagLst>
</file>

<file path=ppt/tags/tag5.xml><?xml version="1.0" encoding="utf-8"?>
<p:tagLst xmlns:a="http://schemas.openxmlformats.org/drawingml/2006/main" xmlns:r="http://schemas.openxmlformats.org/officeDocument/2006/relationships" xmlns:p="http://schemas.openxmlformats.org/presentationml/2006/main">
  <p:tag name="SSB" val="ColorPalettes"/>
</p:tagLst>
</file>

<file path=ppt/theme/theme1.xml><?xml version="1.0" encoding="utf-8"?>
<a:theme xmlns:a="http://schemas.openxmlformats.org/drawingml/2006/main" name="JRI">
  <a:themeElements>
    <a:clrScheme name="ユーザー定義 2">
      <a:dk1>
        <a:srgbClr val="292929"/>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JR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1"/>
        </a:solidFill>
        <a:ln w="12700" algn="ctr">
          <a:solidFill>
            <a:schemeClr val="bg2"/>
          </a:solidFill>
          <a:miter lim="800000"/>
          <a:headEnd/>
          <a:tailEnd/>
        </a:ln>
        <a:effectLst/>
      </a:spPr>
      <a:bodyPr lIns="90000" tIns="45779" rIns="90000" bIns="45779" anchor="ctr"/>
      <a:lstStyle>
        <a:defPPr algn="l" defTabSz="914400" eaLnBrk="1" hangingPunct="1">
          <a:spcBef>
            <a:spcPts val="300"/>
          </a:spcBef>
          <a:defRPr kumimoji="0" b="0" dirty="0">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txDef>
      <a:spPr>
        <a:noFill/>
      </a:spPr>
      <a:bodyPr wrap="square" rtlCol="0">
        <a:spAutoFit/>
      </a:bodyPr>
      <a:lstStyle>
        <a:defPPr algn="l">
          <a:defRPr kumimoji="1" dirty="0" smtClean="0">
            <a:latin typeface="+mn-ea"/>
            <a:ea typeface="+mn-ea"/>
          </a:defRPr>
        </a:defPPr>
      </a:lstStyle>
    </a:tx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システム部門 資料テンプレート">
  <a:themeElements>
    <a:clrScheme name="ユーザー定義 1">
      <a:dk1>
        <a:srgbClr val="292929"/>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rtlCol="0" anchor="ctr" anchorCtr="0" compatLnSpc="1">
        <a:prstTxWarp prst="textNoShape">
          <a:avLst/>
        </a:prstTxWarp>
      </a:bodyPr>
      <a:lstStyle>
        <a:defPPr marL="0" marR="0" indent="0" algn="just" defTabSz="742950" rtl="0" eaLnBrk="1" fontAlgn="base" latinLnBrk="0" hangingPunct="1">
          <a:spcBef>
            <a:spcPct val="0"/>
          </a:spcBef>
          <a:spcAft>
            <a:spcPct val="0"/>
          </a:spcAft>
          <a:buClrTx/>
          <a:buSzTx/>
          <a:buFontTx/>
          <a:buNone/>
          <a:tabLst/>
          <a:defRPr kumimoji="1" sz="1000" i="0" u="none" strike="noStrike" cap="none" normalizeH="0" baseline="0" dirty="0">
            <a:ln>
              <a:noFill/>
            </a:ln>
            <a:solidFill>
              <a:schemeClr val="tx1"/>
            </a:solidFill>
            <a:effectLst/>
            <a:latin typeface="+mn-ea"/>
            <a:ea typeface="+mn-ea"/>
            <a:cs typeface="Meiryo UI" panose="020B0604030504040204"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txDef>
      <a:spPr>
        <a:noFill/>
      </a:spPr>
      <a:bodyPr wrap="none" rtlCol="0">
        <a:spAutoFit/>
      </a:bodyPr>
      <a:lstStyle>
        <a:defPPr algn="l">
          <a:defRPr kumimoji="1" sz="1400" dirty="0" smtClean="0">
            <a:latin typeface="+mn-ea"/>
            <a:ea typeface="+mn-ea"/>
            <a:cs typeface="Meiryo UI" panose="020B0604030504040204" pitchFamily="50" charset="-128"/>
          </a:defRPr>
        </a:defPPr>
      </a:lstStyle>
    </a:tx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JRI">
  <a:themeElements>
    <a:clrScheme name="ユーザー定義 2">
      <a:dk1>
        <a:srgbClr val="292929"/>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JR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1"/>
        </a:solidFill>
        <a:ln w="12700" algn="ctr">
          <a:solidFill>
            <a:schemeClr val="bg2"/>
          </a:solidFill>
          <a:miter lim="800000"/>
          <a:headEnd/>
          <a:tailEnd/>
        </a:ln>
        <a:effectLst/>
      </a:spPr>
      <a:bodyPr lIns="90000" tIns="45779" rIns="90000" bIns="45779" anchor="ctr"/>
      <a:lstStyle>
        <a:defPPr algn="l" defTabSz="914400" eaLnBrk="1" hangingPunct="1">
          <a:spcBef>
            <a:spcPts val="300"/>
          </a:spcBef>
          <a:defRPr kumimoji="0" b="0" dirty="0">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txDef>
      <a:spPr>
        <a:noFill/>
      </a:spPr>
      <a:bodyPr wrap="square" rtlCol="0">
        <a:spAutoFit/>
      </a:bodyPr>
      <a:lstStyle>
        <a:defPPr algn="l">
          <a:defRPr kumimoji="1" dirty="0" smtClean="0">
            <a:latin typeface="+mn-ea"/>
            <a:ea typeface="+mn-ea"/>
          </a:defRPr>
        </a:defPPr>
      </a:lstStyle>
    </a:tx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本文/表紙">
  <a:themeElements>
    <a:clrScheme name="ユーザー定義 1">
      <a:dk1>
        <a:srgbClr val="292929"/>
      </a:dk1>
      <a:lt1>
        <a:srgbClr val="FFFFFF"/>
      </a:lt1>
      <a:dk2>
        <a:srgbClr val="003C2C"/>
      </a:dk2>
      <a:lt2>
        <a:srgbClr val="808080"/>
      </a:lt2>
      <a:accent1>
        <a:srgbClr val="99CCFF"/>
      </a:accent1>
      <a:accent2>
        <a:srgbClr val="6666FF"/>
      </a:accent2>
      <a:accent3>
        <a:srgbClr val="FFFFFF"/>
      </a:accent3>
      <a:accent4>
        <a:srgbClr val="212121"/>
      </a:accent4>
      <a:accent5>
        <a:srgbClr val="99CCFF"/>
      </a:accent5>
      <a:accent6>
        <a:srgbClr val="6666FF"/>
      </a:accent6>
      <a:hlink>
        <a:srgbClr val="6666FF"/>
      </a:hlink>
      <a:folHlink>
        <a:srgbClr val="99CCFF"/>
      </a:folHlink>
    </a:clrScheme>
    <a:fontScheme name="1_本文/表紙">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rtlCol="0"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sz="1800" b="1"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txDef>
      <a:spPr>
        <a:noFill/>
      </a:spPr>
      <a:bodyPr wrap="square" rtlCol="0">
        <a:spAutoFit/>
      </a:bodyPr>
      <a:lstStyle>
        <a:defPPr>
          <a:defRPr sz="1400" dirty="0">
            <a:latin typeface="Meiryo UI" panose="020B0604030504040204" pitchFamily="50" charset="-128"/>
            <a:ea typeface="Meiryo UI" panose="020B0604030504040204" pitchFamily="50" charset="-128"/>
          </a:defRPr>
        </a:defPPr>
      </a:lstStyle>
    </a:tx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デザインテーマ_A4横手交用">
  <a:themeElements>
    <a:clrScheme name="ユーザー定義 6">
      <a:dk1>
        <a:srgbClr val="000000"/>
      </a:dk1>
      <a:lt1>
        <a:srgbClr val="FFFFFF"/>
      </a:lt1>
      <a:dk2>
        <a:srgbClr val="82CEBA"/>
      </a:dk2>
      <a:lt2>
        <a:srgbClr val="9ED468"/>
      </a:lt2>
      <a:accent1>
        <a:srgbClr val="E4BB46"/>
      </a:accent1>
      <a:accent2>
        <a:srgbClr val="A2BBDC"/>
      </a:accent2>
      <a:accent3>
        <a:srgbClr val="FCAE91"/>
      </a:accent3>
      <a:accent4>
        <a:srgbClr val="004831"/>
      </a:accent4>
      <a:accent5>
        <a:srgbClr val="C4D700"/>
      </a:accent5>
      <a:accent6>
        <a:srgbClr val="34A44C"/>
      </a:accent6>
      <a:hlink>
        <a:srgbClr val="1E806B"/>
      </a:hlink>
      <a:folHlink>
        <a:srgbClr val="5F5F5F"/>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spPr>
      <a:bodyPr wrap="square" lIns="0" tIns="0" rIns="0" bIns="0" rtlCol="0" anchor="ctr"/>
      <a:lstStyle>
        <a:defPPr algn="ctr">
          <a:defRPr kumimoji="1" dirty="0" smtClean="0">
            <a:latin typeface="+mn-ea"/>
            <a:ea typeface="+mn-ea"/>
          </a:defRPr>
        </a:defPPr>
      </a:lstStyle>
    </a:spDef>
    <a:lnDef>
      <a:spPr bwMode="auto">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rtlCol="0">
        <a:spAutoFit/>
      </a:bodyPr>
      <a:lstStyle>
        <a:defPPr algn="l">
          <a:defRPr kumimoji="1" sz="1200" dirty="0" err="1" smtClean="0">
            <a:latin typeface="Meiryo UI" panose="020B0604030504040204" pitchFamily="50" charset="-128"/>
            <a:ea typeface="Meiryo UI" panose="020B0604030504040204" pitchFamily="50" charset="-128"/>
          </a:defRPr>
        </a:defPPr>
      </a:lstStyle>
    </a:txDef>
  </a:objectDefaults>
  <a:extraClrSchemeLst>
    <a:extraClrScheme>
      <a:clrScheme name="Sumitomo Mitsui Banking Corporation 1">
        <a:dk1>
          <a:srgbClr val="000000"/>
        </a:dk1>
        <a:lt1>
          <a:srgbClr val="FFFFFF"/>
        </a:lt1>
        <a:dk2>
          <a:srgbClr val="8AB68A"/>
        </a:dk2>
        <a:lt2>
          <a:srgbClr val="DADADA"/>
        </a:lt2>
        <a:accent1>
          <a:srgbClr val="7CBC3C"/>
        </a:accent1>
        <a:accent2>
          <a:srgbClr val="55C96E"/>
        </a:accent2>
        <a:accent3>
          <a:srgbClr val="FFFFFF"/>
        </a:accent3>
        <a:accent4>
          <a:srgbClr val="000000"/>
        </a:accent4>
        <a:accent5>
          <a:srgbClr val="BFDAAF"/>
        </a:accent5>
        <a:accent6>
          <a:srgbClr val="4CB663"/>
        </a:accent6>
        <a:hlink>
          <a:srgbClr val="1E806B"/>
        </a:hlink>
        <a:folHlink>
          <a:srgbClr val="C71F0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MBC・SMFGテンプレート(2020年度).potx" id="{13099516-6629-4C5B-B884-AEAB9B5F0F33}" vid="{53E8F117-304A-4357-9DC7-F978CD5104A6}"/>
    </a:ext>
  </a:extLst>
</a:theme>
</file>

<file path=ppt/theme/theme6.xml><?xml version="1.0" encoding="utf-8"?>
<a:theme xmlns:a="http://schemas.openxmlformats.org/drawingml/2006/main" name="2_JRI">
  <a:themeElements>
    <a:clrScheme name="ユーザー定義 2">
      <a:dk1>
        <a:srgbClr val="000000"/>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JR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36000" tIns="36000" rIns="36000" bIns="36000" numCol="1" rtlCol="0" anchor="ctr" anchorCtr="0" compatLnSpc="1">
        <a:prstTxWarp prst="textNoShape">
          <a:avLst/>
        </a:prstTxWarp>
      </a:bodyPr>
      <a:lstStyle>
        <a:defPPr marL="0" marR="0" indent="0" algn="ctr" defTabSz="742950" rtl="0" eaLnBrk="1" fontAlgn="base" latinLnBrk="0" hangingPunct="1">
          <a:spcBef>
            <a:spcPct val="0"/>
          </a:spcBef>
          <a:spcAft>
            <a:spcPct val="0"/>
          </a:spcAft>
          <a:buClrTx/>
          <a:buSzTx/>
          <a:buFontTx/>
          <a:buNone/>
          <a:tabLst/>
          <a:defRPr kumimoji="1" sz="1400" i="0" u="none" strike="noStrike" cap="none" normalizeH="0" baseline="0" dirty="0" err="1" smtClean="0">
            <a:ln>
              <a:noFill/>
            </a:ln>
            <a:solidFill>
              <a:schemeClr val="tx1"/>
            </a:solidFill>
            <a:effectLst/>
            <a:latin typeface="+mn-ea"/>
            <a:ea typeface="+mn-ea"/>
          </a:defRPr>
        </a:defPPr>
      </a:lstStyle>
    </a:spDef>
    <a:ln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rtlCol="0">
        <a:spAutoFit/>
      </a:bodyPr>
      <a:lstStyle>
        <a:defPPr algn="l">
          <a:defRPr kumimoji="1" sz="1200" dirty="0" smtClean="0">
            <a:solidFill>
              <a:srgbClr val="000000"/>
            </a:solidFill>
            <a:latin typeface="+mn-ea"/>
            <a:ea typeface="+mn-ea"/>
          </a:defRPr>
        </a:defPPr>
      </a:lstStyle>
    </a:tx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報告資料フォーマット（ＪＲＩ） .potx" id="{6418D66D-708A-48DF-ADE7-146C750BA411}" vid="{D96D366E-D0DA-4823-A1E4-DF144A0EB2B8}"/>
    </a:ext>
  </a:extLst>
</a:theme>
</file>

<file path=ppt/theme/theme7.xml><?xml version="1.0" encoding="utf-8"?>
<a:theme xmlns:a="http://schemas.openxmlformats.org/drawingml/2006/main" name="3_JRI">
  <a:themeElements>
    <a:clrScheme name="ユーザー定義 2">
      <a:dk1>
        <a:srgbClr val="292929"/>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4_JRI">
  <a:themeElements>
    <a:clrScheme name="ユーザー定義 2">
      <a:dk1>
        <a:srgbClr val="292929"/>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JR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ユーザー定義 1">
    <a:dk1>
      <a:srgbClr val="292929"/>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ec7507e-cf59-4ea8-ae5c-b65d50bedc51" xsi:nil="true"/>
    <lcf76f155ced4ddcb4097134ff3c332f xmlns="105d1499-45c2-40d5-ad89-602623d68ef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AF5F40423075F94787CA812A01EEAF56" ma:contentTypeVersion="12" ma:contentTypeDescription="新しいドキュメントを作成します。" ma:contentTypeScope="" ma:versionID="759e842774c8cd06f049a2afd8901a28">
  <xsd:schema xmlns:xsd="http://www.w3.org/2001/XMLSchema" xmlns:xs="http://www.w3.org/2001/XMLSchema" xmlns:p="http://schemas.microsoft.com/office/2006/metadata/properties" xmlns:ns2="105d1499-45c2-40d5-ad89-602623d68ef9" xmlns:ns3="cec7507e-cf59-4ea8-ae5c-b65d50bedc51" targetNamespace="http://schemas.microsoft.com/office/2006/metadata/properties" ma:root="true" ma:fieldsID="6cb5d0e49f8135aed54192f15754e42c" ns2:_="" ns3:_="">
    <xsd:import namespace="105d1499-45c2-40d5-ad89-602623d68ef9"/>
    <xsd:import namespace="cec7507e-cf59-4ea8-ae5c-b65d50bedc5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5d1499-45c2-40d5-ad89-602623d68e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9d9c9a3c-fcc5-402f-98fe-c7c4e5ec2b6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ec7507e-cf59-4ea8-ae5c-b65d50bedc5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05001e6-0520-4a51-9499-55729d76290e}" ma:internalName="TaxCatchAll" ma:showField="CatchAllData" ma:web="cec7507e-cf59-4ea8-ae5c-b65d50bedc5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6A0283-E002-4988-B9E2-985FB616218F}">
  <ds:schemaRefs>
    <ds:schemaRef ds:uri="http://schemas.microsoft.com/sharepoint/v3/contenttype/forms"/>
  </ds:schemaRefs>
</ds:datastoreItem>
</file>

<file path=customXml/itemProps2.xml><?xml version="1.0" encoding="utf-8"?>
<ds:datastoreItem xmlns:ds="http://schemas.openxmlformats.org/officeDocument/2006/customXml" ds:itemID="{45CE051D-E410-436D-B4DC-DDC5DE3A8A39}">
  <ds:schemaRefs>
    <ds:schemaRef ds:uri="105d1499-45c2-40d5-ad89-602623d68ef9"/>
    <ds:schemaRef ds:uri="http://schemas.microsoft.com/office/2006/metadata/properties"/>
    <ds:schemaRef ds:uri="http://purl.org/dc/terms/"/>
    <ds:schemaRef ds:uri="http://schemas.microsoft.com/office/2006/documentManagement/types"/>
    <ds:schemaRef ds:uri="cec7507e-cf59-4ea8-ae5c-b65d50bedc51"/>
    <ds:schemaRef ds:uri="http://purl.org/dc/elements/1.1/"/>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E399ECD4-7BF6-4B97-B450-9A67E87305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5d1499-45c2-40d5-ad89-602623d68ef9"/>
    <ds:schemaRef ds:uri="cec7507e-cf59-4ea8-ae5c-b65d50bedc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4831</TotalTime>
  <Words>8896</Words>
  <Application>Microsoft Office PowerPoint</Application>
  <PresentationFormat>A4 210 x 297 mm</PresentationFormat>
  <Paragraphs>2134</Paragraphs>
  <Slides>34</Slides>
  <Notes>13</Notes>
  <HiddenSlides>0</HiddenSlides>
  <MMClips>0</MMClips>
  <ScaleCrop>false</ScaleCrop>
  <HeadingPairs>
    <vt:vector size="6" baseType="variant">
      <vt:variant>
        <vt:lpstr>使用されているフォント</vt:lpstr>
      </vt:variant>
      <vt:variant>
        <vt:i4>8</vt:i4>
      </vt:variant>
      <vt:variant>
        <vt:lpstr>テーマ</vt:lpstr>
      </vt:variant>
      <vt:variant>
        <vt:i4>8</vt:i4>
      </vt:variant>
      <vt:variant>
        <vt:lpstr>スライド タイトル</vt:lpstr>
      </vt:variant>
      <vt:variant>
        <vt:i4>34</vt:i4>
      </vt:variant>
    </vt:vector>
  </HeadingPairs>
  <TitlesOfParts>
    <vt:vector size="50" baseType="lpstr">
      <vt:lpstr>Meiryo UI</vt:lpstr>
      <vt:lpstr>ＭＳ Ｐゴシック</vt:lpstr>
      <vt:lpstr>メイリオ</vt:lpstr>
      <vt:lpstr>Arial</vt:lpstr>
      <vt:lpstr>Calibri</vt:lpstr>
      <vt:lpstr>Segoe UI</vt:lpstr>
      <vt:lpstr>Times New Roman</vt:lpstr>
      <vt:lpstr>Wingdings</vt:lpstr>
      <vt:lpstr>JRI</vt:lpstr>
      <vt:lpstr>システム部門 資料テンプレート</vt:lpstr>
      <vt:lpstr>1_JRI</vt:lpstr>
      <vt:lpstr>1_本文/表紙</vt:lpstr>
      <vt:lpstr>デザインテーマ_A4横手交用</vt:lpstr>
      <vt:lpstr>2_JRI</vt:lpstr>
      <vt:lpstr>3_JRI</vt:lpstr>
      <vt:lpstr>4_JRI</vt:lpstr>
      <vt:lpstr>【SMCC CTI基盤更改】 プロジェクト計画書</vt:lpstr>
      <vt:lpstr>改定履歴</vt:lpstr>
      <vt:lpstr>目次</vt:lpstr>
      <vt:lpstr>PowerPoint プレゼンテーション</vt:lpstr>
      <vt:lpstr>【参考①】CTI基盤統合</vt:lpstr>
      <vt:lpstr>【参考②】拠点設置機器のDC（大和・鰻谷）集約</vt:lpstr>
      <vt:lpstr>【参考②】移行ショット数の削減</vt:lpstr>
      <vt:lpstr>【参考②】電話機購入計画（SMCC直商流）</vt:lpstr>
      <vt:lpstr>【参考③】ライセンスの削減</vt:lpstr>
      <vt:lpstr>【参考④】仮想基盤構成の検討</vt:lpstr>
      <vt:lpstr>【参考④】仮想基盤構成の検討：検討事項①アプライアンス導入検討</vt:lpstr>
      <vt:lpstr>【参考④】仮想基盤構成の検討：検討事項②Hyper-V基盤構築検討</vt:lpstr>
      <vt:lpstr>【参考⑤】アウトバウンド製品の選定について</vt:lpstr>
      <vt:lpstr>PowerPoint プレゼンテーション</vt:lpstr>
      <vt:lpstr>PowerPoint プレゼンテーション</vt:lpstr>
      <vt:lpstr>２-１．【プロジェクトスコープ】作業スコープ</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４-１．【スケジュール管理】マスタスケジュール</vt:lpstr>
      <vt:lpstr>４-２．【スケジュール管理】決裁予定</vt:lpstr>
      <vt:lpstr>５-１．【運営要領】会議体（１/２）</vt:lpstr>
      <vt:lpstr>５-２．【運営要領】管理帳票</vt:lpstr>
      <vt:lpstr>５-２．【運営要領】管理帳票</vt:lpstr>
      <vt:lpstr>５-３．【運営要領】管理帳票更新要領(マネジメント調整フロー)</vt:lpstr>
      <vt:lpstr>５-３．【運営要領】管理帳票更新要領(変更運用フロー)_設計工程以降</vt:lpstr>
      <vt:lpstr>６-１．【開発管理】成果物定義</vt:lpstr>
      <vt:lpstr>【参考】要件定義工程 AI基盤想定成果物一覧 </vt:lpstr>
      <vt:lpstr>６-２．【開発管理】テスト方針</vt:lpstr>
      <vt:lpstr>６-３．【開発管理】品質管理方針</vt:lpstr>
      <vt:lpstr>７-１．【プロジェクトリスクと対策】主要リスクと対策 </vt:lpstr>
      <vt:lpstr>PowerPoint プレゼンテーション</vt:lpstr>
    </vt:vector>
  </TitlesOfParts>
  <Company>(株)日本総合研究所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案件名（30ﾎﾟｲﾝﾄ以上：MSPｺﾞｼｯｸ）</dc:title>
  <dc:creator>瀬川 賢一-MSYS</dc:creator>
  <cp:lastModifiedBy>Segawa Kenichi-I-DIGIO</cp:lastModifiedBy>
  <cp:revision>3</cp:revision>
  <cp:lastPrinted>2021-11-29T06:37:18Z</cp:lastPrinted>
  <dcterms:created xsi:type="dcterms:W3CDTF">2005-12-11T06:35:40Z</dcterms:created>
  <dcterms:modified xsi:type="dcterms:W3CDTF">2025-11-17T05:03:56Z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0x010100AF5F40423075F94787CA812A01EEAF56</vt:lpwstr>
  </property>
  <property fmtid="{D5CDD505-2E9C-101B-9397-08002B2CF9AE}" pid="3" name="TaxKeyword">
    <vt:lpwstr/>
  </property>
  <property fmtid="{D5CDD505-2E9C-101B-9397-08002B2CF9AE}" pid="4" name="MediaServiceImageTags">
    <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ies>
</file>