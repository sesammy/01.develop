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50" r:id="rId1"/>
    <p:sldMasterId id="2147483763" r:id="rId2"/>
    <p:sldMasterId id="2147483726" r:id="rId3"/>
    <p:sldMasterId id="2147483738" r:id="rId4"/>
  </p:sldMasterIdLst>
  <p:notesMasterIdLst>
    <p:notesMasterId r:id="rId17"/>
  </p:notesMasterIdLst>
  <p:handoutMasterIdLst>
    <p:handoutMasterId r:id="rId18"/>
  </p:handoutMasterIdLst>
  <p:sldIdLst>
    <p:sldId id="611" r:id="rId5"/>
    <p:sldId id="569" r:id="rId6"/>
    <p:sldId id="614" r:id="rId7"/>
    <p:sldId id="610" r:id="rId8"/>
    <p:sldId id="615" r:id="rId9"/>
    <p:sldId id="584" r:id="rId10"/>
    <p:sldId id="616" r:id="rId11"/>
    <p:sldId id="606" r:id="rId12"/>
    <p:sldId id="617" r:id="rId13"/>
    <p:sldId id="609" r:id="rId14"/>
    <p:sldId id="618" r:id="rId15"/>
    <p:sldId id="608" r:id="rId16"/>
  </p:sldIdLst>
  <p:sldSz cx="9144000" cy="6858000" type="screen4x3"/>
  <p:notesSz cx="6807200" cy="9939338"/>
  <p:defaultTextStyle>
    <a:defPPr>
      <a:defRPr lang="ja-JP"/>
    </a:defPPr>
    <a:lvl1pPr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FFCC"/>
    <a:srgbClr val="0000FF"/>
    <a:srgbClr val="00CCFF"/>
    <a:srgbClr val="FF00FF"/>
    <a:srgbClr val="FF9933"/>
    <a:srgbClr val="FF9966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7" autoAdjust="0"/>
    <p:restoredTop sz="99120" autoAdjust="0"/>
  </p:normalViewPr>
  <p:slideViewPr>
    <p:cSldViewPr snapToGrid="0">
      <p:cViewPr varScale="1">
        <p:scale>
          <a:sx n="74" d="100"/>
          <a:sy n="74" d="100"/>
        </p:scale>
        <p:origin x="121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1854" y="-78"/>
      </p:cViewPr>
      <p:guideLst>
        <p:guide orient="horz" pos="3130"/>
        <p:guide pos="214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>
            <a:lvl1pPr algn="l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>
            <a:lvl1pPr algn="r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863"/>
            <a:ext cx="295116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b" anchorCtr="0" compatLnSpc="1">
            <a:prstTxWarp prst="textNoShape">
              <a:avLst/>
            </a:prstTxWarp>
          </a:bodyPr>
          <a:lstStyle>
            <a:lvl1pPr algn="l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450" y="9440863"/>
            <a:ext cx="295116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b" anchorCtr="0" compatLnSpc="1">
            <a:prstTxWarp prst="textNoShape">
              <a:avLst/>
            </a:prstTxWarp>
          </a:bodyPr>
          <a:lstStyle>
            <a:lvl1pPr algn="r" defTabSz="922338">
              <a:spcBef>
                <a:spcPct val="0"/>
              </a:spcBef>
              <a:defRPr sz="1200"/>
            </a:lvl1pPr>
          </a:lstStyle>
          <a:p>
            <a:fld id="{DE397FE4-A4F2-4E69-AFE5-E09F166466E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01581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>
            <a:lvl1pPr algn="l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>
            <a:lvl1pPr algn="r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7713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0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5116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b" anchorCtr="0" compatLnSpc="1">
            <a:prstTxWarp prst="textNoShape">
              <a:avLst/>
            </a:prstTxWarp>
          </a:bodyPr>
          <a:lstStyle>
            <a:lvl1pPr algn="l" defTabSz="923537">
              <a:spcBef>
                <a:spcPct val="0"/>
              </a:spcBef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51163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182" tIns="46092" rIns="92182" bIns="46092" numCol="1" anchor="b" anchorCtr="0" compatLnSpc="1">
            <a:prstTxWarp prst="textNoShape">
              <a:avLst/>
            </a:prstTxWarp>
          </a:bodyPr>
          <a:lstStyle>
            <a:lvl1pPr algn="r" defTabSz="922338">
              <a:spcBef>
                <a:spcPct val="0"/>
              </a:spcBef>
              <a:defRPr sz="1200"/>
            </a:lvl1pPr>
          </a:lstStyle>
          <a:p>
            <a:fld id="{51E5EA9B-B8FC-4F16-ABEB-5FDF1A3C7AE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282338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D9FF3D13-DA6B-4777-8EBA-1EC9698C5571}" type="slidenum">
              <a:rPr lang="en-US" altLang="ja-JP" sz="1200"/>
              <a:pPr eaLnBrk="1" hangingPunct="1"/>
              <a:t>3</a:t>
            </a:fld>
            <a:endParaRPr lang="en-US" altLang="ja-JP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/>
          </a:p>
        </p:txBody>
      </p:sp>
    </p:spTree>
    <p:extLst>
      <p:ext uri="{BB962C8B-B14F-4D97-AF65-F5344CB8AC3E}">
        <p14:creationId xmlns:p14="http://schemas.microsoft.com/office/powerpoint/2010/main" val="3635853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D2521C59-2318-4CC3-871A-0CF98AC98422}" type="slidenum">
              <a:rPr lang="en-US" altLang="ja-JP" sz="1200"/>
              <a:pPr eaLnBrk="1" hangingPunct="1"/>
              <a:t>7</a:t>
            </a:fld>
            <a:endParaRPr lang="en-US" altLang="ja-JP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/>
          </a:p>
        </p:txBody>
      </p:sp>
    </p:spTree>
    <p:extLst>
      <p:ext uri="{BB962C8B-B14F-4D97-AF65-F5344CB8AC3E}">
        <p14:creationId xmlns:p14="http://schemas.microsoft.com/office/powerpoint/2010/main" val="3108681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CAC6CEBD-D42B-4832-9D66-91F0689C75AC}" type="slidenum">
              <a:rPr lang="en-US" altLang="ja-JP" sz="1200"/>
              <a:pPr eaLnBrk="1" hangingPunct="1"/>
              <a:t>9</a:t>
            </a:fld>
            <a:endParaRPr lang="en-US" altLang="ja-JP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/>
          </a:p>
        </p:txBody>
      </p:sp>
    </p:spTree>
    <p:extLst>
      <p:ext uri="{BB962C8B-B14F-4D97-AF65-F5344CB8AC3E}">
        <p14:creationId xmlns:p14="http://schemas.microsoft.com/office/powerpoint/2010/main" val="2531735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defTabSz="922338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defTabSz="922338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FE36FF2F-5D10-4E45-BE58-251EDD6574EC}" type="slidenum">
              <a:rPr lang="en-US" altLang="ja-JP" sz="1200"/>
              <a:pPr eaLnBrk="1" hangingPunct="1"/>
              <a:t>11</a:t>
            </a:fld>
            <a:endParaRPr lang="en-US" altLang="ja-JP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ja-JP" smtClean="0"/>
          </a:p>
        </p:txBody>
      </p:sp>
    </p:spTree>
    <p:extLst>
      <p:ext uri="{BB962C8B-B14F-4D97-AF65-F5344CB8AC3E}">
        <p14:creationId xmlns:p14="http://schemas.microsoft.com/office/powerpoint/2010/main" val="1839141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A2411-A912-4177-9F7F-1709FC534E1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6C80D-75DB-4A81-8D1A-4C36BF19A77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9116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BD468-6D38-49F6-A5F3-B5AD923BF78D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9C639-A05E-4E88-874D-DBE6829BE82A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903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80163-A3C2-4EAD-8C4A-5E183BF7A957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B5432-A21E-4348-90B4-E5CF84002669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4826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27DD9-D018-4E53-B69E-529DB632EFDC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8E3B66-6AF0-4638-80D7-AA7296472100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5387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60C1F-6FAE-486B-9027-6B48ACFCA63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8FDED-CD78-4136-BF09-4A5EF90DC88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6606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1EC19-A1AD-4C53-A309-FF11F4348084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6D1502-1A4C-4113-AA64-F1344C2B0B2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3588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30778-AA4B-4CD8-B023-A5A343D45B4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4F3819-CA7D-40E1-A5BC-3887B184547C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3056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06169-192F-440B-808E-5FA68A158871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967E6E-5C2A-4FF1-937B-8345BF67A73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7631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BE7F9-498C-4DE9-951B-21EAA3371E2E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84AC1-4B72-49CF-B0A6-6FF085429F4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650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17130-8A30-43D7-B4EB-B5C796565DC9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904C92-A28D-4CA1-AB05-7712BFE4B7A3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3564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D9E31-34D8-493A-87F9-6A80396F6648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A90B4E-3515-4F67-9F1E-FBB8B6A738D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45307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B6486-44AB-4177-8333-60CF534417F2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A1FA29-B944-47B8-9699-5576242AC39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381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95BE0-8118-424E-93EB-48B1EE4BE1CF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EF090-BC47-481D-A9E8-3A8FDA36CE5A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15255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A2F5E-EC5A-4A70-97F5-FDB1B0496F95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2D2D4-C4C3-4038-8C1D-78CE639CB40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122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7065D-F308-46CE-8447-A6DFA6621F6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60741-A20D-4BB6-B26F-A727F6A56B1F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53492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0390F-6752-4CED-9950-65EC5B385407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79E16-407F-4B62-83C2-A12067DC33C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98076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C548F-E545-4578-B310-52C98DA6733B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C4ECC1-5C6E-45B3-9868-DBCA5B376049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239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B1A04-1652-4F55-9839-DDEF86C9359D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5B5920-0CA7-46EF-BA05-E7C60E90C142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30133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73BAF-2234-45A0-9217-67C8923045E9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212F78-109F-42CB-92C2-2B3E59E57FB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20330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46616-50D0-476D-89CA-92FA63F4506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935CB-CF81-42CC-8495-456FBEAFB2C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195315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10C1A-01CB-42F6-A189-769F0E7D1642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11900E-92DE-48C5-BA9E-D503100A21E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89857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CDAC5-AB07-446D-987B-B7E696C33553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C20B09-6CFA-43F5-89FF-19EBE522FA5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75578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08DBF-62D9-4205-AE32-2543144E9DC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B6573-70B6-4D6C-8283-C5BB80353049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504779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378D4-6537-4895-A8F2-5132883FA3D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1795EA-D55E-478D-B26F-9E698C20245B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15275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1978F-B8A0-42D0-A0F6-E5AD95B6BF4C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CE563-C8F4-4FE1-BA43-599275B96E21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38831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B177C-9BD3-4212-BE48-A5D850308431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DF77A-1B41-4E66-907F-9356BA240F6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57191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2DB7E-EDCB-456C-B2B2-E84E5A4F5985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FA196-CE82-45B0-BBEE-202B3201857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49559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C860B-A64C-4830-A0F0-A4918EEF7054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23266-2A7D-4FCF-8DDF-504B45C8C49A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429519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DE729-96E1-4062-AEB4-68601B2AB203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4DF6C-4B80-4B71-858B-96B4ACA2EF0B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916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657D1-B3F8-46D2-8C35-8D7DDB13E20B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8EC4A-8E18-45DA-BB2D-3E343A364612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98186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11DC3-2802-49BC-B05F-6401D41C6A0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06FA9-F90D-4D80-A397-C889276F001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45544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C4960-EDBD-40E9-A3FB-239D86A75AA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B603AA-685B-4C8D-88DB-15FA98B5C549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13030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0FBC5-2185-44FB-821C-0F6C68D5040D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24061-0C54-4FE7-8966-35C8ABB96CE3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632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CAAEC-31F5-46C8-AB17-8755A0FE9D4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CC3F46-1D64-4F51-B2D4-4780753C8C8E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283940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E69B7-701E-43A7-9005-76DA6B26D340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B106A-8309-4E14-BC00-45F3D805DFEB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546688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6CFE8-5844-4D7C-8751-D4641947C1EA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0C73E-F714-43F0-95D5-C7765D77AADC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021282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0FAFC-8061-43FB-AEA1-6ECB750ECF0F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61FDD-60A7-4F4C-81B8-F1213223068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754715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4BF4A-F67A-4045-BC8C-AB79DA4AC9E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0818F-DF33-4DFE-8E27-9CA9262DD9B7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601807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34A10-D864-4527-BD2A-8A32A9286FED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65286-56C1-49D5-B268-0D86EB49C3D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980047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0553D-E479-4B2F-A34E-EC4FCF907B8F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DA47FB-56A8-41EA-8E5E-6F7FA321509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956016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35AC4-DAC8-4166-98E0-C8DE7DEEA81B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E17A84-FE90-4CB7-BB2B-7829401B0D32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13855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0BB00-FCA2-44F8-BFE5-D3FDA5E0AFDC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C76A0-F6BA-4A9C-A93B-0CC3E85E4574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951092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A13AA-002D-44B4-96CF-27531E88ECB3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728F79-79D9-44D1-AE5E-EB07046ACA17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34322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232F8B-7D8A-4824-89D4-287D613B8FF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338E1-D6EE-4084-B59D-E83909F8121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63471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440ED-E55D-475B-87DA-A2C5EBDC77F3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820C0-F0F8-4CFE-80B5-3F341B893A1F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401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fld id="{B4A6000A-155A-4780-A735-5A7F8124B5D9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CAE820A-78D8-460A-B314-6602C2B3B2D7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6" r:id="rId1"/>
    <p:sldLayoutId id="2147484757" r:id="rId2"/>
    <p:sldLayoutId id="2147484758" r:id="rId3"/>
    <p:sldLayoutId id="2147484759" r:id="rId4"/>
    <p:sldLayoutId id="2147484760" r:id="rId5"/>
    <p:sldLayoutId id="2147484761" r:id="rId6"/>
    <p:sldLayoutId id="2147484762" r:id="rId7"/>
    <p:sldLayoutId id="2147484763" r:id="rId8"/>
    <p:sldLayoutId id="2147484764" r:id="rId9"/>
    <p:sldLayoutId id="2147484765" r:id="rId10"/>
    <p:sldLayoutId id="2147484766" r:id="rId11"/>
    <p:sldLayoutId id="2147484767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2051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fld id="{40A86676-CD2E-4E66-A999-9351138FFF7B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34BE874-4CA1-491E-B333-3559914B2F19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68" r:id="rId1"/>
    <p:sldLayoutId id="2147484769" r:id="rId2"/>
    <p:sldLayoutId id="2147484770" r:id="rId3"/>
    <p:sldLayoutId id="2147484771" r:id="rId4"/>
    <p:sldLayoutId id="2147484772" r:id="rId5"/>
    <p:sldLayoutId id="2147484773" r:id="rId6"/>
    <p:sldLayoutId id="2147484774" r:id="rId7"/>
    <p:sldLayoutId id="2147484775" r:id="rId8"/>
    <p:sldLayoutId id="2147484776" r:id="rId9"/>
    <p:sldLayoutId id="2147484777" r:id="rId10"/>
    <p:sldLayoutId id="2147484778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3075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fld id="{60554758-87F0-4C7C-8E26-0D93B22A7CE6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62D500E-1FF9-4E80-B947-0585C78DE351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79" r:id="rId1"/>
    <p:sldLayoutId id="2147484780" r:id="rId2"/>
    <p:sldLayoutId id="2147484781" r:id="rId3"/>
    <p:sldLayoutId id="2147484782" r:id="rId4"/>
    <p:sldLayoutId id="2147484783" r:id="rId5"/>
    <p:sldLayoutId id="2147484784" r:id="rId6"/>
    <p:sldLayoutId id="2147484785" r:id="rId7"/>
    <p:sldLayoutId id="2147484786" r:id="rId8"/>
    <p:sldLayoutId id="2147484787" r:id="rId9"/>
    <p:sldLayoutId id="2147484788" r:id="rId10"/>
    <p:sldLayoutId id="214748478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4099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fld id="{D44BF80F-C5A8-4DE1-B209-971C634D8542}" type="datetimeFigureOut">
              <a:rPr lang="ja-JP" altLang="en-US"/>
              <a:pPr>
                <a:defRPr/>
              </a:pPr>
              <a:t>2019/1/17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D8166F4-4CD0-47C5-8C2E-BEFF28E75E79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90" r:id="rId1"/>
    <p:sldLayoutId id="2147484791" r:id="rId2"/>
    <p:sldLayoutId id="2147484792" r:id="rId3"/>
    <p:sldLayoutId id="2147484793" r:id="rId4"/>
    <p:sldLayoutId id="2147484794" r:id="rId5"/>
    <p:sldLayoutId id="2147484795" r:id="rId6"/>
    <p:sldLayoutId id="2147484796" r:id="rId7"/>
    <p:sldLayoutId id="2147484797" r:id="rId8"/>
    <p:sldLayoutId id="2147484798" r:id="rId9"/>
    <p:sldLayoutId id="2147484799" r:id="rId10"/>
    <p:sldLayoutId id="2147484800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620688"/>
            <a:ext cx="7772400" cy="1470025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1791906"/>
            <a:ext cx="6400800" cy="986696"/>
          </a:xfrm>
        </p:spPr>
        <p:txBody>
          <a:bodyPr/>
          <a:lstStyle/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1-2-1.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処理方式設計（正常系）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702699" y="228525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397811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2-2-1.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処理方式設計（正常系）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685800" y="392384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5130386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3-2-1.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処理方式設計（正常系）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8" name="サブタイトル 2"/>
          <p:cNvSpPr txBox="1">
            <a:spLocks/>
          </p:cNvSpPr>
          <p:nvPr/>
        </p:nvSpPr>
        <p:spPr>
          <a:xfrm>
            <a:off x="1388499" y="274250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MPP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正常時処理方式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9356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1380834" y="1662314"/>
            <a:ext cx="9271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EPM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168359" y="2068714"/>
            <a:ext cx="3579812" cy="3019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MPP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380834" y="3641927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CM/G450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3276309" y="4608714"/>
            <a:ext cx="3370262" cy="373063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Avaya 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Enterprise Linux</a:t>
            </a:r>
          </a:p>
        </p:txBody>
      </p:sp>
      <p:sp>
        <p:nvSpPr>
          <p:cNvPr id="7" name="角丸四角形 55"/>
          <p:cNvSpPr/>
          <p:nvPr/>
        </p:nvSpPr>
        <p:spPr>
          <a:xfrm>
            <a:off x="4182771" y="2356052"/>
            <a:ext cx="2463800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　　　　　　　　　　　　　　　　　　　　　　　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Experience 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Portal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4784434" y="3122814"/>
            <a:ext cx="1222375" cy="73342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MPP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7073609" y="2686252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3" name="直線矢印コネクタ 32"/>
          <p:cNvCxnSpPr>
            <a:stCxn id="8" idx="3"/>
            <a:endCxn id="9" idx="1"/>
          </p:cNvCxnSpPr>
          <p:nvPr/>
        </p:nvCxnSpPr>
        <p:spPr>
          <a:xfrm>
            <a:off x="6006809" y="3489527"/>
            <a:ext cx="1066800" cy="9525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8" name="テキスト ボックス 34"/>
          <p:cNvSpPr txBox="1">
            <a:spLocks noChangeArrowheads="1"/>
          </p:cNvSpPr>
          <p:nvPr/>
        </p:nvSpPr>
        <p:spPr bwMode="auto">
          <a:xfrm>
            <a:off x="2571459" y="2492577"/>
            <a:ext cx="3381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ja-JP" altLang="en-US" sz="1200"/>
              <a:t>①</a:t>
            </a:r>
          </a:p>
        </p:txBody>
      </p:sp>
      <p:sp>
        <p:nvSpPr>
          <p:cNvPr id="32779" name="テキスト ボックス 35"/>
          <p:cNvSpPr txBox="1">
            <a:spLocks noChangeArrowheads="1"/>
          </p:cNvSpPr>
          <p:nvPr/>
        </p:nvSpPr>
        <p:spPr bwMode="auto">
          <a:xfrm>
            <a:off x="2571459" y="4159452"/>
            <a:ext cx="3381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ja-JP" altLang="en-US" sz="1200"/>
              <a:t>③</a:t>
            </a:r>
          </a:p>
        </p:txBody>
      </p:sp>
      <p:sp>
        <p:nvSpPr>
          <p:cNvPr id="32780" name="テキスト ボックス 36"/>
          <p:cNvSpPr txBox="1">
            <a:spLocks noChangeArrowheads="1"/>
          </p:cNvSpPr>
          <p:nvPr/>
        </p:nvSpPr>
        <p:spPr bwMode="auto">
          <a:xfrm>
            <a:off x="6189371" y="3216477"/>
            <a:ext cx="3381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ja-JP" altLang="en-US" sz="1200"/>
              <a:t>④</a:t>
            </a:r>
          </a:p>
        </p:txBody>
      </p:sp>
      <p:sp>
        <p:nvSpPr>
          <p:cNvPr id="32781" name="テキスト ボックス 15"/>
          <p:cNvSpPr txBox="1">
            <a:spLocks noChangeArrowheads="1"/>
          </p:cNvSpPr>
          <p:nvPr/>
        </p:nvSpPr>
        <p:spPr bwMode="auto">
          <a:xfrm>
            <a:off x="2566696" y="2194127"/>
            <a:ext cx="3381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ja-JP" altLang="en-US" sz="1200"/>
              <a:t>②</a:t>
            </a:r>
          </a:p>
        </p:txBody>
      </p:sp>
      <p:sp>
        <p:nvSpPr>
          <p:cNvPr id="16" name="角丸四角形 55"/>
          <p:cNvSpPr/>
          <p:nvPr/>
        </p:nvSpPr>
        <p:spPr>
          <a:xfrm>
            <a:off x="3242971" y="2356052"/>
            <a:ext cx="838200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cxnSp>
        <p:nvCxnSpPr>
          <p:cNvPr id="32783" name="カギ線コネクタ 18"/>
          <p:cNvCxnSpPr>
            <a:cxnSpLocks noChangeShapeType="1"/>
          </p:cNvCxnSpPr>
          <p:nvPr/>
        </p:nvCxnSpPr>
        <p:spPr bwMode="auto">
          <a:xfrm flipV="1">
            <a:off x="2322221" y="3641927"/>
            <a:ext cx="2462213" cy="787400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カギ線コネクタ 14"/>
          <p:cNvCxnSpPr>
            <a:stCxn id="3" idx="3"/>
          </p:cNvCxnSpPr>
          <p:nvPr/>
        </p:nvCxnSpPr>
        <p:spPr>
          <a:xfrm>
            <a:off x="2307934" y="2475114"/>
            <a:ext cx="2476500" cy="811213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 txBox="1">
            <a:spLocks/>
          </p:cNvSpPr>
          <p:nvPr/>
        </p:nvSpPr>
        <p:spPr>
          <a:xfrm>
            <a:off x="702699" y="188600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2985687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2-2-1.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処理方式設計（正常系）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685800" y="352459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 smtClean="0"/>
              <a:t>開発環境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4718262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3-2-1.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処理方式設計（正常系）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8" name="サブタイトル 2"/>
          <p:cNvSpPr txBox="1">
            <a:spLocks/>
          </p:cNvSpPr>
          <p:nvPr/>
        </p:nvSpPr>
        <p:spPr>
          <a:xfrm>
            <a:off x="1388499" y="1133265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ＭＳ Ｐゴシック" pitchFamily="50" charset="-128"/>
              </a:rPr>
              <a:t>MPP</a:t>
            </a:r>
            <a:r>
              <a:rPr lang="ja-JP" altLang="en-US" dirty="0">
                <a:latin typeface="ＭＳ Ｐゴシック" pitchFamily="50" charset="-128"/>
              </a:rPr>
              <a:t>正常時処理シーケンス</a:t>
            </a:r>
          </a:p>
        </p:txBody>
      </p:sp>
    </p:spTree>
    <p:extLst>
      <p:ext uri="{BB962C8B-B14F-4D97-AF65-F5344CB8AC3E}">
        <p14:creationId xmlns:p14="http://schemas.microsoft.com/office/powerpoint/2010/main" val="195751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6629400" y="365125"/>
            <a:ext cx="2209800" cy="3063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>
                <a:latin typeface="+mn-ea"/>
                <a:ea typeface="+mn-ea"/>
              </a:rPr>
              <a:t>WAS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066800" y="381000"/>
            <a:ext cx="1066800" cy="304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 smtClean="0">
                <a:latin typeface="+mn-ea"/>
                <a:ea typeface="+mn-ea"/>
              </a:rPr>
              <a:t>CM/G450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429000" y="365125"/>
            <a:ext cx="2514600" cy="3063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>
                <a:latin typeface="+mn-ea"/>
                <a:ea typeface="+mn-ea"/>
              </a:rPr>
              <a:t>MPP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457200" y="6858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76200" y="685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>
            <a:off x="76200" y="3276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457200" y="960438"/>
            <a:ext cx="354013" cy="20875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>
              <a:defRPr/>
            </a:pPr>
            <a:r>
              <a:rPr lang="ja-JP" altLang="en-US" sz="1100" dirty="0">
                <a:latin typeface="+mn-ea"/>
                <a:ea typeface="+mn-ea"/>
              </a:rPr>
              <a:t>一連の呼処理に紐付くセッション</a:t>
            </a:r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6019800" y="381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5867400" y="6096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>
                <a:latin typeface="+mn-ea"/>
                <a:ea typeface="+mn-ea"/>
              </a:rPr>
              <a:t>Req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5867400" y="11271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>
                <a:latin typeface="+mn-ea"/>
                <a:ea typeface="+mn-ea"/>
              </a:rPr>
              <a:t>Res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5867400" y="16002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>
                <a:latin typeface="+mn-ea"/>
                <a:ea typeface="+mn-ea"/>
              </a:rPr>
              <a:t>Req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5867400" y="21177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>
                <a:latin typeface="+mn-ea"/>
                <a:ea typeface="+mn-ea"/>
              </a:rPr>
              <a:t>Res</a:t>
            </a: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5867400" y="25908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 err="1">
                <a:latin typeface="+mn-ea"/>
                <a:ea typeface="+mn-ea"/>
              </a:rPr>
              <a:t>Req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5867400" y="31083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>
                <a:latin typeface="+mn-ea"/>
                <a:ea typeface="+mn-ea"/>
              </a:rPr>
              <a:t>Res</a:t>
            </a:r>
          </a:p>
        </p:txBody>
      </p:sp>
      <p:sp>
        <p:nvSpPr>
          <p:cNvPr id="11289" name="Rectangle 25"/>
          <p:cNvSpPr>
            <a:spLocks noChangeArrowheads="1"/>
          </p:cNvSpPr>
          <p:nvPr/>
        </p:nvSpPr>
        <p:spPr bwMode="auto">
          <a:xfrm>
            <a:off x="7315200" y="609600"/>
            <a:ext cx="1066800" cy="25908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セッション管理</a:t>
            </a:r>
          </a:p>
        </p:txBody>
      </p:sp>
      <p:grpSp>
        <p:nvGrpSpPr>
          <p:cNvPr id="38929" name="Group 43"/>
          <p:cNvGrpSpPr>
            <a:grpSpLocks/>
          </p:cNvGrpSpPr>
          <p:nvPr/>
        </p:nvGrpSpPr>
        <p:grpSpPr bwMode="auto">
          <a:xfrm>
            <a:off x="1752600" y="838200"/>
            <a:ext cx="6096000" cy="304800"/>
            <a:chOff x="1104" y="624"/>
            <a:chExt cx="3840" cy="192"/>
          </a:xfrm>
        </p:grpSpPr>
        <p:sp>
          <p:nvSpPr>
            <p:cNvPr id="11308" name="Line 44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  <p:sp>
          <p:nvSpPr>
            <p:cNvPr id="11309" name="Line 45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  <p:sp>
          <p:nvSpPr>
            <p:cNvPr id="11310" name="Line 46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</p:grpSp>
      <p:grpSp>
        <p:nvGrpSpPr>
          <p:cNvPr id="38930" name="Group 47"/>
          <p:cNvGrpSpPr>
            <a:grpSpLocks/>
          </p:cNvGrpSpPr>
          <p:nvPr/>
        </p:nvGrpSpPr>
        <p:grpSpPr bwMode="auto">
          <a:xfrm>
            <a:off x="1752600" y="1828800"/>
            <a:ext cx="6096000" cy="304800"/>
            <a:chOff x="1104" y="624"/>
            <a:chExt cx="3840" cy="192"/>
          </a:xfrm>
        </p:grpSpPr>
        <p:sp>
          <p:nvSpPr>
            <p:cNvPr id="11312" name="Line 48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  <p:sp>
          <p:nvSpPr>
            <p:cNvPr id="11313" name="Line 49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  <p:sp>
          <p:nvSpPr>
            <p:cNvPr id="11314" name="Line 50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</p:grpSp>
      <p:grpSp>
        <p:nvGrpSpPr>
          <p:cNvPr id="38931" name="Group 51"/>
          <p:cNvGrpSpPr>
            <a:grpSpLocks/>
          </p:cNvGrpSpPr>
          <p:nvPr/>
        </p:nvGrpSpPr>
        <p:grpSpPr bwMode="auto">
          <a:xfrm>
            <a:off x="1752600" y="2819400"/>
            <a:ext cx="6096000" cy="304800"/>
            <a:chOff x="1104" y="624"/>
            <a:chExt cx="3840" cy="192"/>
          </a:xfrm>
        </p:grpSpPr>
        <p:sp>
          <p:nvSpPr>
            <p:cNvPr id="11316" name="Line 52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  <p:sp>
          <p:nvSpPr>
            <p:cNvPr id="11317" name="Line 53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  <p:sp>
          <p:nvSpPr>
            <p:cNvPr id="11318" name="Line 54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</p:grpSp>
      <p:sp>
        <p:nvSpPr>
          <p:cNvPr id="11336" name="Text Box 72"/>
          <p:cNvSpPr txBox="1">
            <a:spLocks noChangeArrowheads="1"/>
          </p:cNvSpPr>
          <p:nvPr/>
        </p:nvSpPr>
        <p:spPr bwMode="auto">
          <a:xfrm>
            <a:off x="2590800" y="53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①</a:t>
            </a:r>
          </a:p>
        </p:txBody>
      </p:sp>
      <p:sp>
        <p:nvSpPr>
          <p:cNvPr id="11337" name="Text Box 73"/>
          <p:cNvSpPr txBox="1">
            <a:spLocks noChangeArrowheads="1"/>
          </p:cNvSpPr>
          <p:nvPr/>
        </p:nvSpPr>
        <p:spPr bwMode="auto">
          <a:xfrm>
            <a:off x="4343400" y="53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②</a:t>
            </a:r>
          </a:p>
        </p:txBody>
      </p:sp>
      <p:sp>
        <p:nvSpPr>
          <p:cNvPr id="11338" name="Text Box 74"/>
          <p:cNvSpPr txBox="1">
            <a:spLocks noChangeArrowheads="1"/>
          </p:cNvSpPr>
          <p:nvPr/>
        </p:nvSpPr>
        <p:spPr bwMode="auto">
          <a:xfrm>
            <a:off x="6781800" y="53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④</a:t>
            </a:r>
          </a:p>
        </p:txBody>
      </p:sp>
      <p:sp>
        <p:nvSpPr>
          <p:cNvPr id="11339" name="Text Box 75"/>
          <p:cNvSpPr txBox="1">
            <a:spLocks noChangeArrowheads="1"/>
          </p:cNvSpPr>
          <p:nvPr/>
        </p:nvSpPr>
        <p:spPr bwMode="auto">
          <a:xfrm>
            <a:off x="7848600" y="8382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⑤</a:t>
            </a:r>
          </a:p>
        </p:txBody>
      </p:sp>
      <p:sp>
        <p:nvSpPr>
          <p:cNvPr id="11340" name="Text Box 76"/>
          <p:cNvSpPr txBox="1">
            <a:spLocks noChangeArrowheads="1"/>
          </p:cNvSpPr>
          <p:nvPr/>
        </p:nvSpPr>
        <p:spPr bwMode="auto">
          <a:xfrm>
            <a:off x="6781800" y="1143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⑥</a:t>
            </a:r>
          </a:p>
        </p:txBody>
      </p:sp>
      <p:sp>
        <p:nvSpPr>
          <p:cNvPr id="11341" name="Text Box 77"/>
          <p:cNvSpPr txBox="1">
            <a:spLocks noChangeArrowheads="1"/>
          </p:cNvSpPr>
          <p:nvPr/>
        </p:nvSpPr>
        <p:spPr bwMode="auto">
          <a:xfrm>
            <a:off x="3657600" y="1143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⑦</a:t>
            </a:r>
          </a:p>
        </p:txBody>
      </p:sp>
      <p:sp>
        <p:nvSpPr>
          <p:cNvPr id="11342" name="Text Box 78"/>
          <p:cNvSpPr txBox="1">
            <a:spLocks noChangeArrowheads="1"/>
          </p:cNvSpPr>
          <p:nvPr/>
        </p:nvSpPr>
        <p:spPr bwMode="auto">
          <a:xfrm>
            <a:off x="4343400" y="1524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⑧</a:t>
            </a:r>
          </a:p>
        </p:txBody>
      </p:sp>
      <p:sp>
        <p:nvSpPr>
          <p:cNvPr id="11343" name="Text Box 79"/>
          <p:cNvSpPr txBox="1">
            <a:spLocks noChangeArrowheads="1"/>
          </p:cNvSpPr>
          <p:nvPr/>
        </p:nvSpPr>
        <p:spPr bwMode="auto">
          <a:xfrm>
            <a:off x="5334000" y="1524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⑨</a:t>
            </a:r>
          </a:p>
        </p:txBody>
      </p:sp>
      <p:sp>
        <p:nvSpPr>
          <p:cNvPr id="11344" name="Text Box 80"/>
          <p:cNvSpPr txBox="1">
            <a:spLocks noChangeArrowheads="1"/>
          </p:cNvSpPr>
          <p:nvPr/>
        </p:nvSpPr>
        <p:spPr bwMode="auto">
          <a:xfrm>
            <a:off x="6781800" y="15240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⑩</a:t>
            </a:r>
          </a:p>
        </p:txBody>
      </p:sp>
      <p:sp>
        <p:nvSpPr>
          <p:cNvPr id="11345" name="Text Box 81"/>
          <p:cNvSpPr txBox="1">
            <a:spLocks noChangeArrowheads="1"/>
          </p:cNvSpPr>
          <p:nvPr/>
        </p:nvSpPr>
        <p:spPr bwMode="auto">
          <a:xfrm>
            <a:off x="6781800" y="21336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⑪</a:t>
            </a:r>
          </a:p>
        </p:txBody>
      </p:sp>
      <p:sp>
        <p:nvSpPr>
          <p:cNvPr id="11346" name="Text Box 82"/>
          <p:cNvSpPr txBox="1">
            <a:spLocks noChangeArrowheads="1"/>
          </p:cNvSpPr>
          <p:nvPr/>
        </p:nvSpPr>
        <p:spPr bwMode="auto">
          <a:xfrm>
            <a:off x="3657600" y="21336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⑫</a:t>
            </a:r>
          </a:p>
        </p:txBody>
      </p:sp>
      <p:sp>
        <p:nvSpPr>
          <p:cNvPr id="11347" name="Text Box 83"/>
          <p:cNvSpPr txBox="1">
            <a:spLocks noChangeArrowheads="1"/>
          </p:cNvSpPr>
          <p:nvPr/>
        </p:nvSpPr>
        <p:spPr bwMode="auto">
          <a:xfrm>
            <a:off x="3657600" y="31242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⑬</a:t>
            </a:r>
          </a:p>
        </p:txBody>
      </p:sp>
      <p:sp>
        <p:nvSpPr>
          <p:cNvPr id="11350" name="Text Box 86"/>
          <p:cNvSpPr txBox="1">
            <a:spLocks noChangeArrowheads="1"/>
          </p:cNvSpPr>
          <p:nvPr/>
        </p:nvSpPr>
        <p:spPr bwMode="auto">
          <a:xfrm>
            <a:off x="1219200" y="877888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入電</a:t>
            </a:r>
          </a:p>
        </p:txBody>
      </p:sp>
      <p:sp>
        <p:nvSpPr>
          <p:cNvPr id="11355" name="Text Box 91"/>
          <p:cNvSpPr txBox="1">
            <a:spLocks noChangeArrowheads="1"/>
          </p:cNvSpPr>
          <p:nvPr/>
        </p:nvSpPr>
        <p:spPr bwMode="auto">
          <a:xfrm>
            <a:off x="5308600" y="533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③</a:t>
            </a:r>
          </a:p>
        </p:txBody>
      </p:sp>
      <p:sp>
        <p:nvSpPr>
          <p:cNvPr id="11356" name="Text Box 92"/>
          <p:cNvSpPr txBox="1">
            <a:spLocks noChangeArrowheads="1"/>
          </p:cNvSpPr>
          <p:nvPr/>
        </p:nvSpPr>
        <p:spPr bwMode="auto">
          <a:xfrm>
            <a:off x="4330700" y="2514600"/>
            <a:ext cx="4572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⑧’</a:t>
            </a:r>
          </a:p>
        </p:txBody>
      </p:sp>
      <p:sp>
        <p:nvSpPr>
          <p:cNvPr id="11357" name="Text Box 93"/>
          <p:cNvSpPr txBox="1">
            <a:spLocks noChangeArrowheads="1"/>
          </p:cNvSpPr>
          <p:nvPr/>
        </p:nvSpPr>
        <p:spPr bwMode="auto">
          <a:xfrm>
            <a:off x="5346700" y="2514600"/>
            <a:ext cx="4572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⑨’</a:t>
            </a:r>
          </a:p>
        </p:txBody>
      </p:sp>
      <p:sp>
        <p:nvSpPr>
          <p:cNvPr id="11358" name="Text Box 94"/>
          <p:cNvSpPr txBox="1">
            <a:spLocks noChangeArrowheads="1"/>
          </p:cNvSpPr>
          <p:nvPr/>
        </p:nvSpPr>
        <p:spPr bwMode="auto">
          <a:xfrm>
            <a:off x="6781800" y="2514600"/>
            <a:ext cx="5334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⑩’</a:t>
            </a:r>
          </a:p>
        </p:txBody>
      </p:sp>
      <p:sp>
        <p:nvSpPr>
          <p:cNvPr id="11359" name="Text Box 95"/>
          <p:cNvSpPr txBox="1">
            <a:spLocks noChangeArrowheads="1"/>
          </p:cNvSpPr>
          <p:nvPr/>
        </p:nvSpPr>
        <p:spPr bwMode="auto">
          <a:xfrm>
            <a:off x="6781800" y="3124200"/>
            <a:ext cx="5334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⑪’</a:t>
            </a:r>
          </a:p>
        </p:txBody>
      </p:sp>
      <p:sp>
        <p:nvSpPr>
          <p:cNvPr id="81" name="Text Box 89"/>
          <p:cNvSpPr txBox="1">
            <a:spLocks noChangeArrowheads="1"/>
          </p:cNvSpPr>
          <p:nvPr/>
        </p:nvSpPr>
        <p:spPr bwMode="auto">
          <a:xfrm>
            <a:off x="1206500" y="2986088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終電</a:t>
            </a:r>
          </a:p>
        </p:txBody>
      </p:sp>
      <p:sp>
        <p:nvSpPr>
          <p:cNvPr id="77" name="Text Box 16"/>
          <p:cNvSpPr txBox="1">
            <a:spLocks noChangeArrowheads="1"/>
          </p:cNvSpPr>
          <p:nvPr/>
        </p:nvSpPr>
        <p:spPr bwMode="auto">
          <a:xfrm>
            <a:off x="5508625" y="74613"/>
            <a:ext cx="1555750" cy="2778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HTTPS</a:t>
            </a:r>
            <a:r>
              <a:rPr lang="ja-JP" altLang="en-US" sz="1200" dirty="0">
                <a:latin typeface="+mn-ea"/>
                <a:ea typeface="+mn-ea"/>
              </a:rPr>
              <a:t>セッション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620688"/>
            <a:ext cx="7772400" cy="1470025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1791906"/>
            <a:ext cx="6400800" cy="986696"/>
          </a:xfrm>
        </p:spPr>
        <p:txBody>
          <a:bodyPr/>
          <a:lstStyle/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1-2-2.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702699" y="228525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397811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2-2-2.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685800" y="392384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5130386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3-2-2.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8" name="サブタイトル 2"/>
          <p:cNvSpPr txBox="1">
            <a:spLocks/>
          </p:cNvSpPr>
          <p:nvPr/>
        </p:nvSpPr>
        <p:spPr>
          <a:xfrm>
            <a:off x="1388499" y="274250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MPP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異常時処理方式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5935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1277804" y="1546404"/>
            <a:ext cx="927100" cy="1624013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EPM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065329" y="1952804"/>
            <a:ext cx="3579812" cy="3019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MPP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277804" y="3526017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CM/G450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3173279" y="4492804"/>
            <a:ext cx="3370262" cy="373063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Avaya 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Enterprise Linux</a:t>
            </a:r>
          </a:p>
        </p:txBody>
      </p:sp>
      <p:sp>
        <p:nvSpPr>
          <p:cNvPr id="7" name="角丸四角形 55"/>
          <p:cNvSpPr/>
          <p:nvPr/>
        </p:nvSpPr>
        <p:spPr>
          <a:xfrm>
            <a:off x="4079741" y="2240142"/>
            <a:ext cx="2463800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>
              <a:defRPr/>
            </a:pP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　　　　　　　　　　　　　　　　　　　　　　　　</a:t>
            </a:r>
            <a:r>
              <a:rPr lang="en-US" altLang="ja-JP" sz="1200" dirty="0" smtClean="0">
                <a:solidFill>
                  <a:schemeClr val="tx1"/>
                </a:solidFill>
                <a:latin typeface="+mn-ea"/>
              </a:rPr>
              <a:t>Experience </a:t>
            </a: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Portal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4681404" y="3006904"/>
            <a:ext cx="1222375" cy="73342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</a:rPr>
              <a:t>MPP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6970579" y="2570342"/>
            <a:ext cx="927100" cy="162401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WAS</a:t>
            </a:r>
            <a:endParaRPr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3" name="直線矢印コネクタ 32"/>
          <p:cNvCxnSpPr>
            <a:stCxn id="8" idx="3"/>
            <a:endCxn id="9" idx="1"/>
          </p:cNvCxnSpPr>
          <p:nvPr/>
        </p:nvCxnSpPr>
        <p:spPr>
          <a:xfrm>
            <a:off x="5903779" y="3373617"/>
            <a:ext cx="1066800" cy="9525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55"/>
          <p:cNvSpPr/>
          <p:nvPr/>
        </p:nvSpPr>
        <p:spPr>
          <a:xfrm>
            <a:off x="3139941" y="2240142"/>
            <a:ext cx="838200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HTTP</a:t>
            </a:r>
            <a:r>
              <a:rPr lang="ja-JP" altLang="en-US" sz="1200" dirty="0">
                <a:solidFill>
                  <a:schemeClr val="tx1"/>
                </a:solidFill>
                <a:latin typeface="+mn-ea"/>
              </a:rPr>
              <a:t>サーバ</a:t>
            </a:r>
          </a:p>
        </p:txBody>
      </p:sp>
      <p:cxnSp>
        <p:nvCxnSpPr>
          <p:cNvPr id="33803" name="カギ線コネクタ 18"/>
          <p:cNvCxnSpPr>
            <a:cxnSpLocks noChangeShapeType="1"/>
          </p:cNvCxnSpPr>
          <p:nvPr/>
        </p:nvCxnSpPr>
        <p:spPr bwMode="auto">
          <a:xfrm flipV="1">
            <a:off x="2219191" y="3526017"/>
            <a:ext cx="2462213" cy="787400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miter lim="800000"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カギ線コネクタ 14"/>
          <p:cNvCxnSpPr>
            <a:stCxn id="3" idx="3"/>
          </p:cNvCxnSpPr>
          <p:nvPr/>
        </p:nvCxnSpPr>
        <p:spPr>
          <a:xfrm>
            <a:off x="2204904" y="2359204"/>
            <a:ext cx="2476500" cy="811213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1600066" y="2232204"/>
            <a:ext cx="2825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A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317991" y="3235504"/>
            <a:ext cx="28098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dirty="0">
                <a:solidFill>
                  <a:schemeClr val="bg1"/>
                </a:solidFill>
                <a:latin typeface="+mn-ea"/>
                <a:ea typeface="+mn-ea"/>
              </a:rPr>
              <a:t>B</a:t>
            </a:r>
            <a:endParaRPr lang="ja-JP" altLang="en-US" sz="12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7286491" y="3235504"/>
            <a:ext cx="285750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C</a:t>
            </a:r>
            <a:endParaRPr lang="ja-JP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 txBox="1">
            <a:spLocks/>
          </p:cNvSpPr>
          <p:nvPr/>
        </p:nvSpPr>
        <p:spPr>
          <a:xfrm>
            <a:off x="702699" y="192464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037203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2-2-2.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685800" y="356323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4769778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3-2-2.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8" name="サブタイトル 2"/>
          <p:cNvSpPr txBox="1">
            <a:spLocks/>
          </p:cNvSpPr>
          <p:nvPr/>
        </p:nvSpPr>
        <p:spPr>
          <a:xfrm>
            <a:off x="798490" y="991673"/>
            <a:ext cx="7482625" cy="1196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ＭＳ Ｐゴシック" pitchFamily="50" charset="-128"/>
              </a:rPr>
              <a:t>MPP</a:t>
            </a:r>
            <a:r>
              <a:rPr lang="ja-JP" altLang="en-US" dirty="0">
                <a:latin typeface="ＭＳ Ｐゴシック" pitchFamily="50" charset="-128"/>
              </a:rPr>
              <a:t>異常時処理シーケンス（新規の呼に対し、</a:t>
            </a:r>
            <a:r>
              <a:rPr lang="en-US" altLang="ja-JP" dirty="0">
                <a:latin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</a:rPr>
              <a:t>からの応答がない場合）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234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6629400" y="1381125"/>
            <a:ext cx="2209800" cy="1158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>
                <a:latin typeface="+mn-ea"/>
                <a:ea typeface="+mn-ea"/>
              </a:rPr>
              <a:t>WAS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1066800" y="1381125"/>
            <a:ext cx="1066800" cy="1158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 smtClean="0">
                <a:latin typeface="+mn-ea"/>
                <a:ea typeface="+mn-ea"/>
              </a:rPr>
              <a:t>CM/G450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3429000" y="1381125"/>
            <a:ext cx="2514600" cy="1158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>
                <a:latin typeface="+mn-ea"/>
                <a:ea typeface="+mn-ea"/>
              </a:rPr>
              <a:t>MPP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4127" name="Line 31"/>
          <p:cNvSpPr>
            <a:spLocks noChangeShapeType="1"/>
          </p:cNvSpPr>
          <p:nvPr/>
        </p:nvSpPr>
        <p:spPr bwMode="auto">
          <a:xfrm>
            <a:off x="457200" y="1422400"/>
            <a:ext cx="0" cy="111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28" name="Line 32"/>
          <p:cNvSpPr>
            <a:spLocks noChangeShapeType="1"/>
          </p:cNvSpPr>
          <p:nvPr/>
        </p:nvSpPr>
        <p:spPr bwMode="auto">
          <a:xfrm>
            <a:off x="76200" y="1422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29" name="Line 33"/>
          <p:cNvSpPr>
            <a:spLocks noChangeShapeType="1"/>
          </p:cNvSpPr>
          <p:nvPr/>
        </p:nvSpPr>
        <p:spPr bwMode="auto">
          <a:xfrm>
            <a:off x="76200" y="2540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33" name="Line 37"/>
          <p:cNvSpPr>
            <a:spLocks noChangeShapeType="1"/>
          </p:cNvSpPr>
          <p:nvPr/>
        </p:nvSpPr>
        <p:spPr bwMode="auto">
          <a:xfrm>
            <a:off x="6019800" y="138112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34" name="Text Box 38"/>
          <p:cNvSpPr txBox="1">
            <a:spLocks noChangeArrowheads="1"/>
          </p:cNvSpPr>
          <p:nvPr/>
        </p:nvSpPr>
        <p:spPr bwMode="auto">
          <a:xfrm>
            <a:off x="5892800" y="17367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 err="1">
                <a:latin typeface="+mn-ea"/>
                <a:ea typeface="+mn-ea"/>
              </a:rPr>
              <a:t>Req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4141" name="Rectangle 45"/>
          <p:cNvSpPr>
            <a:spLocks noChangeArrowheads="1"/>
          </p:cNvSpPr>
          <p:nvPr/>
        </p:nvSpPr>
        <p:spPr bwMode="auto">
          <a:xfrm>
            <a:off x="7315200" y="1778000"/>
            <a:ext cx="1066800" cy="6096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セッション管理</a:t>
            </a: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1752600" y="2006600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94" name="Text Box 98"/>
          <p:cNvSpPr txBox="1">
            <a:spLocks noChangeArrowheads="1"/>
          </p:cNvSpPr>
          <p:nvPr/>
        </p:nvSpPr>
        <p:spPr bwMode="auto">
          <a:xfrm>
            <a:off x="2590800" y="1701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①</a:t>
            </a:r>
          </a:p>
        </p:txBody>
      </p:sp>
      <p:sp>
        <p:nvSpPr>
          <p:cNvPr id="4195" name="Text Box 99"/>
          <p:cNvSpPr txBox="1">
            <a:spLocks noChangeArrowheads="1"/>
          </p:cNvSpPr>
          <p:nvPr/>
        </p:nvSpPr>
        <p:spPr bwMode="auto">
          <a:xfrm>
            <a:off x="4254500" y="17176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②</a:t>
            </a:r>
          </a:p>
        </p:txBody>
      </p:sp>
      <p:sp>
        <p:nvSpPr>
          <p:cNvPr id="4209" name="Text Box 113"/>
          <p:cNvSpPr txBox="1">
            <a:spLocks noChangeArrowheads="1"/>
          </p:cNvSpPr>
          <p:nvPr/>
        </p:nvSpPr>
        <p:spPr bwMode="auto">
          <a:xfrm>
            <a:off x="1219200" y="16510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200">
                <a:latin typeface="+mn-ea"/>
                <a:ea typeface="+mn-ea"/>
              </a:rPr>
              <a:t>入電</a:t>
            </a:r>
          </a:p>
        </p:txBody>
      </p:sp>
      <p:sp>
        <p:nvSpPr>
          <p:cNvPr id="4210" name="Text Box 114"/>
          <p:cNvSpPr txBox="1">
            <a:spLocks noChangeArrowheads="1"/>
          </p:cNvSpPr>
          <p:nvPr/>
        </p:nvSpPr>
        <p:spPr bwMode="auto">
          <a:xfrm>
            <a:off x="1219200" y="2198688"/>
            <a:ext cx="533400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終電</a:t>
            </a:r>
          </a:p>
        </p:txBody>
      </p:sp>
      <p:sp>
        <p:nvSpPr>
          <p:cNvPr id="39952" name="Text Box 117"/>
          <p:cNvSpPr txBox="1">
            <a:spLocks noChangeArrowheads="1"/>
          </p:cNvSpPr>
          <p:nvPr/>
        </p:nvSpPr>
        <p:spPr bwMode="auto">
          <a:xfrm>
            <a:off x="0" y="0"/>
            <a:ext cx="518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ja-JP" altLang="en-US"/>
              <a:t>障害シーケンスパターン１（新規接続呼－応答なし）</a:t>
            </a:r>
          </a:p>
        </p:txBody>
      </p:sp>
      <p:sp>
        <p:nvSpPr>
          <p:cNvPr id="4214" name="Text Box 118"/>
          <p:cNvSpPr txBox="1">
            <a:spLocks noChangeArrowheads="1"/>
          </p:cNvSpPr>
          <p:nvPr/>
        </p:nvSpPr>
        <p:spPr bwMode="auto">
          <a:xfrm>
            <a:off x="5486400" y="17176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③</a:t>
            </a:r>
          </a:p>
        </p:txBody>
      </p:sp>
      <p:sp>
        <p:nvSpPr>
          <p:cNvPr id="58" name="Text Box 15"/>
          <p:cNvSpPr txBox="1">
            <a:spLocks noChangeArrowheads="1"/>
          </p:cNvSpPr>
          <p:nvPr/>
        </p:nvSpPr>
        <p:spPr bwMode="auto">
          <a:xfrm>
            <a:off x="458788" y="1328738"/>
            <a:ext cx="608012" cy="1303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>
              <a:defRPr/>
            </a:pPr>
            <a:r>
              <a:rPr lang="ja-JP" altLang="en-US" sz="1100" dirty="0">
                <a:latin typeface="+mn-ea"/>
                <a:ea typeface="+mn-ea"/>
              </a:rPr>
              <a:t>一連の呼処理に</a:t>
            </a:r>
            <a:endParaRPr lang="en-US" altLang="ja-JP" sz="1100" dirty="0">
              <a:latin typeface="+mn-ea"/>
              <a:ea typeface="+mn-ea"/>
            </a:endParaRPr>
          </a:p>
          <a:p>
            <a:pPr algn="ctr">
              <a:defRPr/>
            </a:pPr>
            <a:r>
              <a:rPr lang="ja-JP" altLang="en-US" sz="1100" dirty="0">
                <a:latin typeface="+mn-ea"/>
                <a:ea typeface="+mn-ea"/>
              </a:rPr>
              <a:t>紐付くセッション</a:t>
            </a:r>
          </a:p>
        </p:txBody>
      </p: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5508625" y="1104900"/>
            <a:ext cx="155575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HTTPS</a:t>
            </a:r>
            <a:r>
              <a:rPr lang="ja-JP" altLang="en-US" sz="1200" dirty="0">
                <a:latin typeface="+mn-ea"/>
                <a:ea typeface="+mn-ea"/>
              </a:rPr>
              <a:t>セッション</a:t>
            </a:r>
          </a:p>
        </p:txBody>
      </p:sp>
      <p:sp>
        <p:nvSpPr>
          <p:cNvPr id="47" name="爆発 1 46"/>
          <p:cNvSpPr/>
          <p:nvPr/>
        </p:nvSpPr>
        <p:spPr>
          <a:xfrm>
            <a:off x="6540500" y="1674813"/>
            <a:ext cx="914400" cy="723900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</a:rPr>
              <a:t>障害</a:t>
            </a:r>
          </a:p>
        </p:txBody>
      </p:sp>
      <p:sp>
        <p:nvSpPr>
          <p:cNvPr id="45" name="Line 68"/>
          <p:cNvSpPr>
            <a:spLocks noChangeShapeType="1"/>
          </p:cNvSpPr>
          <p:nvPr/>
        </p:nvSpPr>
        <p:spPr bwMode="auto">
          <a:xfrm flipH="1">
            <a:off x="1752600" y="2319338"/>
            <a:ext cx="47752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>
            <a:off x="6527800" y="20224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9" name="Text Box 119"/>
          <p:cNvSpPr txBox="1">
            <a:spLocks noChangeArrowheads="1"/>
          </p:cNvSpPr>
          <p:nvPr/>
        </p:nvSpPr>
        <p:spPr bwMode="auto">
          <a:xfrm>
            <a:off x="4254500" y="2280701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400" dirty="0">
                <a:latin typeface="+mn-ea"/>
                <a:ea typeface="+mn-ea"/>
              </a:rPr>
              <a:t>④</a:t>
            </a:r>
            <a:endParaRPr lang="en-US" altLang="ja-JP" sz="14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 txBox="1">
            <a:spLocks/>
          </p:cNvSpPr>
          <p:nvPr/>
        </p:nvSpPr>
        <p:spPr>
          <a:xfrm>
            <a:off x="702699" y="192464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037203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2-2-2.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685800" y="356323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4769778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3-2-2.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8" name="サブタイトル 2"/>
          <p:cNvSpPr txBox="1">
            <a:spLocks/>
          </p:cNvSpPr>
          <p:nvPr/>
        </p:nvSpPr>
        <p:spPr>
          <a:xfrm>
            <a:off x="798490" y="991673"/>
            <a:ext cx="7482625" cy="1196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ＭＳ Ｐゴシック" pitchFamily="50" charset="-128"/>
              </a:rPr>
              <a:t>MPP</a:t>
            </a:r>
            <a:r>
              <a:rPr lang="ja-JP" altLang="en-US" dirty="0">
                <a:latin typeface="ＭＳ Ｐゴシック" pitchFamily="50" charset="-128"/>
              </a:rPr>
              <a:t>障害時処理シーケンス（新規の呼に対し、</a:t>
            </a:r>
            <a:r>
              <a:rPr lang="en-US" altLang="ja-JP" dirty="0">
                <a:latin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</a:rPr>
              <a:t>からエラー応答が返る場合）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543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6629400" y="1381125"/>
            <a:ext cx="2209800" cy="1158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>
                <a:latin typeface="+mn-ea"/>
                <a:ea typeface="+mn-ea"/>
              </a:rPr>
              <a:t>WAS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1066800" y="1381125"/>
            <a:ext cx="1066800" cy="1158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 smtClean="0">
                <a:latin typeface="+mn-ea"/>
                <a:ea typeface="+mn-ea"/>
              </a:rPr>
              <a:t>CM/G450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3429000" y="1381125"/>
            <a:ext cx="2514600" cy="11588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>
                <a:latin typeface="+mn-ea"/>
                <a:ea typeface="+mn-ea"/>
              </a:rPr>
              <a:t>MPP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4127" name="Line 31"/>
          <p:cNvSpPr>
            <a:spLocks noChangeShapeType="1"/>
          </p:cNvSpPr>
          <p:nvPr/>
        </p:nvSpPr>
        <p:spPr bwMode="auto">
          <a:xfrm>
            <a:off x="457200" y="1422400"/>
            <a:ext cx="0" cy="111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28" name="Line 32"/>
          <p:cNvSpPr>
            <a:spLocks noChangeShapeType="1"/>
          </p:cNvSpPr>
          <p:nvPr/>
        </p:nvSpPr>
        <p:spPr bwMode="auto">
          <a:xfrm>
            <a:off x="76200" y="1422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29" name="Line 33"/>
          <p:cNvSpPr>
            <a:spLocks noChangeShapeType="1"/>
          </p:cNvSpPr>
          <p:nvPr/>
        </p:nvSpPr>
        <p:spPr bwMode="auto">
          <a:xfrm>
            <a:off x="76200" y="2540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33" name="Line 37"/>
          <p:cNvSpPr>
            <a:spLocks noChangeShapeType="1"/>
          </p:cNvSpPr>
          <p:nvPr/>
        </p:nvSpPr>
        <p:spPr bwMode="auto">
          <a:xfrm>
            <a:off x="6019800" y="138112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34" name="Text Box 38"/>
          <p:cNvSpPr txBox="1">
            <a:spLocks noChangeArrowheads="1"/>
          </p:cNvSpPr>
          <p:nvPr/>
        </p:nvSpPr>
        <p:spPr bwMode="auto">
          <a:xfrm>
            <a:off x="5892800" y="17367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 err="1">
                <a:latin typeface="+mn-ea"/>
                <a:ea typeface="+mn-ea"/>
              </a:rPr>
              <a:t>Req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4141" name="Rectangle 45"/>
          <p:cNvSpPr>
            <a:spLocks noChangeArrowheads="1"/>
          </p:cNvSpPr>
          <p:nvPr/>
        </p:nvSpPr>
        <p:spPr bwMode="auto">
          <a:xfrm>
            <a:off x="7315200" y="1663700"/>
            <a:ext cx="1066800" cy="6096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セッション管理</a:t>
            </a: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1752600" y="2006600"/>
            <a:ext cx="531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194" name="Text Box 98"/>
          <p:cNvSpPr txBox="1">
            <a:spLocks noChangeArrowheads="1"/>
          </p:cNvSpPr>
          <p:nvPr/>
        </p:nvSpPr>
        <p:spPr bwMode="auto">
          <a:xfrm>
            <a:off x="2590800" y="1701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①</a:t>
            </a:r>
          </a:p>
        </p:txBody>
      </p:sp>
      <p:sp>
        <p:nvSpPr>
          <p:cNvPr id="4195" name="Text Box 99"/>
          <p:cNvSpPr txBox="1">
            <a:spLocks noChangeArrowheads="1"/>
          </p:cNvSpPr>
          <p:nvPr/>
        </p:nvSpPr>
        <p:spPr bwMode="auto">
          <a:xfrm>
            <a:off x="4254500" y="17176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②</a:t>
            </a:r>
          </a:p>
        </p:txBody>
      </p:sp>
      <p:sp>
        <p:nvSpPr>
          <p:cNvPr id="4209" name="Text Box 113"/>
          <p:cNvSpPr txBox="1">
            <a:spLocks noChangeArrowheads="1"/>
          </p:cNvSpPr>
          <p:nvPr/>
        </p:nvSpPr>
        <p:spPr bwMode="auto">
          <a:xfrm>
            <a:off x="1219200" y="16510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200">
                <a:latin typeface="+mn-ea"/>
                <a:ea typeface="+mn-ea"/>
              </a:rPr>
              <a:t>入電</a:t>
            </a:r>
          </a:p>
        </p:txBody>
      </p:sp>
      <p:sp>
        <p:nvSpPr>
          <p:cNvPr id="4210" name="Text Box 114"/>
          <p:cNvSpPr txBox="1">
            <a:spLocks noChangeArrowheads="1"/>
          </p:cNvSpPr>
          <p:nvPr/>
        </p:nvSpPr>
        <p:spPr bwMode="auto">
          <a:xfrm>
            <a:off x="1219200" y="2198688"/>
            <a:ext cx="533400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200" dirty="0">
                <a:latin typeface="+mn-ea"/>
                <a:ea typeface="+mn-ea"/>
              </a:rPr>
              <a:t>終電</a:t>
            </a:r>
          </a:p>
        </p:txBody>
      </p:sp>
      <p:sp>
        <p:nvSpPr>
          <p:cNvPr id="40976" name="Text Box 117"/>
          <p:cNvSpPr txBox="1">
            <a:spLocks noChangeArrowheads="1"/>
          </p:cNvSpPr>
          <p:nvPr/>
        </p:nvSpPr>
        <p:spPr bwMode="auto">
          <a:xfrm>
            <a:off x="0" y="0"/>
            <a:ext cx="518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ja-JP" altLang="en-US"/>
              <a:t>障害シーケンスパターン１（新規接続呼－応答なし）</a:t>
            </a:r>
          </a:p>
        </p:txBody>
      </p:sp>
      <p:sp>
        <p:nvSpPr>
          <p:cNvPr id="4214" name="Text Box 118"/>
          <p:cNvSpPr txBox="1">
            <a:spLocks noChangeArrowheads="1"/>
          </p:cNvSpPr>
          <p:nvPr/>
        </p:nvSpPr>
        <p:spPr bwMode="auto">
          <a:xfrm>
            <a:off x="5486400" y="17176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③</a:t>
            </a:r>
          </a:p>
        </p:txBody>
      </p:sp>
      <p:sp>
        <p:nvSpPr>
          <p:cNvPr id="58" name="Text Box 15"/>
          <p:cNvSpPr txBox="1">
            <a:spLocks noChangeArrowheads="1"/>
          </p:cNvSpPr>
          <p:nvPr/>
        </p:nvSpPr>
        <p:spPr bwMode="auto">
          <a:xfrm>
            <a:off x="458788" y="1328738"/>
            <a:ext cx="608012" cy="1303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>
              <a:defRPr/>
            </a:pPr>
            <a:r>
              <a:rPr lang="ja-JP" altLang="en-US" sz="1100" dirty="0">
                <a:latin typeface="+mn-ea"/>
                <a:ea typeface="+mn-ea"/>
              </a:rPr>
              <a:t>一連の呼処理に</a:t>
            </a:r>
            <a:endParaRPr lang="en-US" altLang="ja-JP" sz="1100" dirty="0">
              <a:latin typeface="+mn-ea"/>
              <a:ea typeface="+mn-ea"/>
            </a:endParaRPr>
          </a:p>
          <a:p>
            <a:pPr algn="ctr">
              <a:defRPr/>
            </a:pPr>
            <a:r>
              <a:rPr lang="ja-JP" altLang="en-US" sz="1100" dirty="0">
                <a:latin typeface="+mn-ea"/>
                <a:ea typeface="+mn-ea"/>
              </a:rPr>
              <a:t>紐付くセッション</a:t>
            </a:r>
          </a:p>
        </p:txBody>
      </p: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5508625" y="1104900"/>
            <a:ext cx="155575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HTTPS</a:t>
            </a:r>
            <a:r>
              <a:rPr lang="ja-JP" altLang="en-US" sz="1200" dirty="0">
                <a:latin typeface="+mn-ea"/>
                <a:ea typeface="+mn-ea"/>
              </a:rPr>
              <a:t>セッション</a:t>
            </a:r>
          </a:p>
        </p:txBody>
      </p:sp>
      <p:sp>
        <p:nvSpPr>
          <p:cNvPr id="47" name="爆発 1 46"/>
          <p:cNvSpPr/>
          <p:nvPr/>
        </p:nvSpPr>
        <p:spPr>
          <a:xfrm>
            <a:off x="7035800" y="1908175"/>
            <a:ext cx="914400" cy="723900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</a:rPr>
              <a:t>障害</a:t>
            </a:r>
          </a:p>
        </p:txBody>
      </p:sp>
      <p:sp>
        <p:nvSpPr>
          <p:cNvPr id="45" name="Line 68"/>
          <p:cNvSpPr>
            <a:spLocks noChangeShapeType="1"/>
          </p:cNvSpPr>
          <p:nvPr/>
        </p:nvSpPr>
        <p:spPr bwMode="auto">
          <a:xfrm flipH="1" flipV="1">
            <a:off x="1752600" y="2332038"/>
            <a:ext cx="53117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>
            <a:off x="7064375" y="20224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23" name="Text Box 72"/>
          <p:cNvSpPr txBox="1">
            <a:spLocks noChangeArrowheads="1"/>
          </p:cNvSpPr>
          <p:nvPr/>
        </p:nvSpPr>
        <p:spPr bwMode="auto">
          <a:xfrm>
            <a:off x="6654800" y="1703388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④</a:t>
            </a:r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5905500" y="23463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Res</a:t>
            </a:r>
          </a:p>
        </p:txBody>
      </p:sp>
      <p:sp>
        <p:nvSpPr>
          <p:cNvPr id="25" name="Text Box 119"/>
          <p:cNvSpPr txBox="1">
            <a:spLocks noChangeArrowheads="1"/>
          </p:cNvSpPr>
          <p:nvPr/>
        </p:nvSpPr>
        <p:spPr bwMode="auto">
          <a:xfrm>
            <a:off x="4254500" y="2280701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400" dirty="0">
                <a:latin typeface="+mn-ea"/>
                <a:ea typeface="+mn-ea"/>
              </a:rPr>
              <a:t>⑤</a:t>
            </a:r>
            <a:endParaRPr lang="en-US" altLang="ja-JP" sz="14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 txBox="1">
            <a:spLocks/>
          </p:cNvSpPr>
          <p:nvPr/>
        </p:nvSpPr>
        <p:spPr>
          <a:xfrm>
            <a:off x="702699" y="192464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037203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2-2-2.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685800" y="356323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03</a:t>
            </a:r>
            <a:r>
              <a:rPr lang="ja-JP" altLang="en-US" dirty="0" smtClean="0"/>
              <a:t>　</a:t>
            </a:r>
            <a:r>
              <a:rPr lang="ja-JP" altLang="en-US" dirty="0"/>
              <a:t>開発</a:t>
            </a:r>
            <a:r>
              <a:rPr lang="ja-JP" altLang="en-US" dirty="0" smtClean="0"/>
              <a:t>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4769778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3-2-2.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8" name="サブタイトル 2"/>
          <p:cNvSpPr txBox="1">
            <a:spLocks/>
          </p:cNvSpPr>
          <p:nvPr/>
        </p:nvSpPr>
        <p:spPr>
          <a:xfrm>
            <a:off x="798490" y="991673"/>
            <a:ext cx="7482625" cy="1196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latin typeface="ＭＳ Ｐゴシック" pitchFamily="50" charset="-128"/>
              </a:rPr>
              <a:t>MPP</a:t>
            </a:r>
            <a:r>
              <a:rPr lang="ja-JP" altLang="en-US" dirty="0">
                <a:latin typeface="ＭＳ Ｐゴシック" pitchFamily="50" charset="-128"/>
              </a:rPr>
              <a:t>障害時処理シーケンス（呼処理中に</a:t>
            </a:r>
            <a:r>
              <a:rPr lang="en-US" altLang="ja-JP" dirty="0">
                <a:latin typeface="ＭＳ Ｐゴシック" pitchFamily="50" charset="-128"/>
              </a:rPr>
              <a:t>WAS</a:t>
            </a:r>
            <a:r>
              <a:rPr lang="ja-JP" altLang="en-US" dirty="0">
                <a:latin typeface="ＭＳ Ｐゴシック" pitchFamily="50" charset="-128"/>
              </a:rPr>
              <a:t>に障害が発生した場合）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856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8" name="Rectangle 110"/>
          <p:cNvSpPr>
            <a:spLocks noChangeArrowheads="1"/>
          </p:cNvSpPr>
          <p:nvPr/>
        </p:nvSpPr>
        <p:spPr bwMode="auto">
          <a:xfrm>
            <a:off x="6553200" y="792163"/>
            <a:ext cx="2209800" cy="225583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>
                <a:latin typeface="+mn-ea"/>
                <a:ea typeface="+mn-ea"/>
              </a:rPr>
              <a:t>WAS#1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7281" name="Rectangle 113"/>
          <p:cNvSpPr>
            <a:spLocks noChangeArrowheads="1"/>
          </p:cNvSpPr>
          <p:nvPr/>
        </p:nvSpPr>
        <p:spPr bwMode="auto">
          <a:xfrm>
            <a:off x="7239000" y="990600"/>
            <a:ext cx="1066800" cy="1905000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ja-JP" altLang="en-US" sz="1200" dirty="0">
                <a:latin typeface="+mn-ea"/>
                <a:ea typeface="+mn-ea"/>
              </a:rPr>
              <a:t>セッション管理</a:t>
            </a:r>
          </a:p>
        </p:txBody>
      </p:sp>
      <p:sp>
        <p:nvSpPr>
          <p:cNvPr id="7286" name="Text Box 118"/>
          <p:cNvSpPr txBox="1">
            <a:spLocks noChangeArrowheads="1"/>
          </p:cNvSpPr>
          <p:nvPr/>
        </p:nvSpPr>
        <p:spPr bwMode="auto">
          <a:xfrm>
            <a:off x="6692900" y="1065213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④</a:t>
            </a:r>
          </a:p>
        </p:txBody>
      </p:sp>
      <p:sp>
        <p:nvSpPr>
          <p:cNvPr id="7287" name="Text Box 119"/>
          <p:cNvSpPr txBox="1">
            <a:spLocks noChangeArrowheads="1"/>
          </p:cNvSpPr>
          <p:nvPr/>
        </p:nvSpPr>
        <p:spPr bwMode="auto">
          <a:xfrm>
            <a:off x="7848600" y="13874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⑤</a:t>
            </a:r>
          </a:p>
        </p:txBody>
      </p:sp>
      <p:sp>
        <p:nvSpPr>
          <p:cNvPr id="7288" name="Text Box 120"/>
          <p:cNvSpPr txBox="1">
            <a:spLocks noChangeArrowheads="1"/>
          </p:cNvSpPr>
          <p:nvPr/>
        </p:nvSpPr>
        <p:spPr bwMode="auto">
          <a:xfrm>
            <a:off x="6705600" y="16764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⑥</a:t>
            </a:r>
          </a:p>
        </p:txBody>
      </p:sp>
      <p:sp>
        <p:nvSpPr>
          <p:cNvPr id="7289" name="Text Box 121"/>
          <p:cNvSpPr txBox="1">
            <a:spLocks noChangeArrowheads="1"/>
          </p:cNvSpPr>
          <p:nvPr/>
        </p:nvSpPr>
        <p:spPr bwMode="auto">
          <a:xfrm>
            <a:off x="6705600" y="20732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⑩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66800" y="781050"/>
            <a:ext cx="1066800" cy="2266950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 smtClean="0">
                <a:latin typeface="+mn-ea"/>
                <a:ea typeface="+mn-ea"/>
              </a:rPr>
              <a:t>CM/G450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429000" y="792163"/>
            <a:ext cx="2514600" cy="2255837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50000">
                <a:schemeClr val="bg1"/>
              </a:gs>
              <a:gs pos="100000">
                <a:schemeClr val="bg1">
                  <a:lumMod val="65000"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ja-JP" sz="1200" dirty="0">
                <a:latin typeface="+mn-ea"/>
                <a:ea typeface="+mn-ea"/>
              </a:rPr>
              <a:t>MPP</a:t>
            </a:r>
            <a:endParaRPr lang="ja-JP" altLang="en-US" sz="1200" dirty="0">
              <a:latin typeface="+mn-ea"/>
              <a:ea typeface="+mn-ea"/>
            </a:endParaRPr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457200" y="787400"/>
            <a:ext cx="0" cy="226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76200" y="787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>
            <a:off x="76200" y="3048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>
            <a:off x="5969000" y="8286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5892800" y="10922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 err="1">
                <a:latin typeface="+mn-ea"/>
                <a:ea typeface="+mn-ea"/>
              </a:rPr>
              <a:t>Req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5892800" y="16478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Res</a:t>
            </a: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5892800" y="2095500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 err="1">
                <a:latin typeface="+mn-ea"/>
                <a:ea typeface="+mn-ea"/>
              </a:rPr>
              <a:t>Req</a:t>
            </a:r>
            <a:endParaRPr lang="en-US" altLang="ja-JP" sz="1200" dirty="0">
              <a:latin typeface="+mn-ea"/>
              <a:ea typeface="+mn-ea"/>
            </a:endParaRP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5892800" y="2663825"/>
            <a:ext cx="53340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Res</a:t>
            </a:r>
          </a:p>
        </p:txBody>
      </p:sp>
      <p:grpSp>
        <p:nvGrpSpPr>
          <p:cNvPr id="42002" name="Group 53"/>
          <p:cNvGrpSpPr>
            <a:grpSpLocks/>
          </p:cNvGrpSpPr>
          <p:nvPr/>
        </p:nvGrpSpPr>
        <p:grpSpPr bwMode="auto">
          <a:xfrm>
            <a:off x="1752600" y="1371600"/>
            <a:ext cx="6096000" cy="304800"/>
            <a:chOff x="1104" y="624"/>
            <a:chExt cx="3840" cy="192"/>
          </a:xfrm>
        </p:grpSpPr>
        <p:sp>
          <p:nvSpPr>
            <p:cNvPr id="7222" name="Line 54"/>
            <p:cNvSpPr>
              <a:spLocks noChangeShapeType="1"/>
            </p:cNvSpPr>
            <p:nvPr/>
          </p:nvSpPr>
          <p:spPr bwMode="auto">
            <a:xfrm>
              <a:off x="1104" y="624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  <p:sp>
          <p:nvSpPr>
            <p:cNvPr id="7223" name="Line 55"/>
            <p:cNvSpPr>
              <a:spLocks noChangeShapeType="1"/>
            </p:cNvSpPr>
            <p:nvPr/>
          </p:nvSpPr>
          <p:spPr bwMode="auto">
            <a:xfrm>
              <a:off x="4944" y="62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  <p:sp>
          <p:nvSpPr>
            <p:cNvPr id="7224" name="Line 56"/>
            <p:cNvSpPr>
              <a:spLocks noChangeShapeType="1"/>
            </p:cNvSpPr>
            <p:nvPr/>
          </p:nvSpPr>
          <p:spPr bwMode="auto">
            <a:xfrm flipH="1">
              <a:off x="1104" y="816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/>
          </p:spPr>
          <p:txBody>
            <a:bodyPr/>
            <a:lstStyle/>
            <a:p>
              <a:pPr algn="ctr">
                <a:defRPr/>
              </a:pPr>
              <a:endParaRPr lang="ja-JP" altLang="en-US">
                <a:latin typeface="+mn-ea"/>
                <a:ea typeface="+mn-ea"/>
              </a:endParaRPr>
            </a:p>
          </p:txBody>
        </p:sp>
      </p:grpSp>
      <p:sp>
        <p:nvSpPr>
          <p:cNvPr id="7226" name="Line 58"/>
          <p:cNvSpPr>
            <a:spLocks noChangeShapeType="1"/>
          </p:cNvSpPr>
          <p:nvPr/>
        </p:nvSpPr>
        <p:spPr bwMode="auto">
          <a:xfrm>
            <a:off x="1752600" y="2362200"/>
            <a:ext cx="525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7227" name="Line 59"/>
          <p:cNvSpPr>
            <a:spLocks noChangeShapeType="1"/>
          </p:cNvSpPr>
          <p:nvPr/>
        </p:nvSpPr>
        <p:spPr bwMode="auto">
          <a:xfrm>
            <a:off x="70104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7236" name="Line 68"/>
          <p:cNvSpPr>
            <a:spLocks noChangeShapeType="1"/>
          </p:cNvSpPr>
          <p:nvPr/>
        </p:nvSpPr>
        <p:spPr bwMode="auto">
          <a:xfrm flipH="1">
            <a:off x="1752600" y="2667000"/>
            <a:ext cx="52578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/>
        </p:spPr>
        <p:txBody>
          <a:bodyPr/>
          <a:lstStyle/>
          <a:p>
            <a:pPr algn="ctr">
              <a:defRPr/>
            </a:pPr>
            <a:endParaRPr lang="ja-JP" altLang="en-US">
              <a:latin typeface="+mn-ea"/>
              <a:ea typeface="+mn-ea"/>
            </a:endParaRPr>
          </a:p>
        </p:txBody>
      </p:sp>
      <p:sp>
        <p:nvSpPr>
          <p:cNvPr id="7257" name="Text Box 89"/>
          <p:cNvSpPr txBox="1">
            <a:spLocks noChangeArrowheads="1"/>
          </p:cNvSpPr>
          <p:nvPr/>
        </p:nvSpPr>
        <p:spPr bwMode="auto">
          <a:xfrm>
            <a:off x="2590800" y="1065213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①</a:t>
            </a:r>
          </a:p>
        </p:txBody>
      </p:sp>
      <p:sp>
        <p:nvSpPr>
          <p:cNvPr id="7258" name="Text Box 90"/>
          <p:cNvSpPr txBox="1">
            <a:spLocks noChangeArrowheads="1"/>
          </p:cNvSpPr>
          <p:nvPr/>
        </p:nvSpPr>
        <p:spPr bwMode="auto">
          <a:xfrm>
            <a:off x="4152900" y="1065213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②</a:t>
            </a:r>
          </a:p>
        </p:txBody>
      </p:sp>
      <p:sp>
        <p:nvSpPr>
          <p:cNvPr id="7259" name="Text Box 91"/>
          <p:cNvSpPr txBox="1">
            <a:spLocks noChangeArrowheads="1"/>
          </p:cNvSpPr>
          <p:nvPr/>
        </p:nvSpPr>
        <p:spPr bwMode="auto">
          <a:xfrm>
            <a:off x="5410200" y="10826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③</a:t>
            </a:r>
          </a:p>
        </p:txBody>
      </p:sp>
      <p:sp>
        <p:nvSpPr>
          <p:cNvPr id="7264" name="Text Box 96"/>
          <p:cNvSpPr txBox="1">
            <a:spLocks noChangeArrowheads="1"/>
          </p:cNvSpPr>
          <p:nvPr/>
        </p:nvSpPr>
        <p:spPr bwMode="auto">
          <a:xfrm>
            <a:off x="4152900" y="1701800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⑦</a:t>
            </a:r>
          </a:p>
        </p:txBody>
      </p:sp>
      <p:sp>
        <p:nvSpPr>
          <p:cNvPr id="7265" name="Text Box 97"/>
          <p:cNvSpPr txBox="1">
            <a:spLocks noChangeArrowheads="1"/>
          </p:cNvSpPr>
          <p:nvPr/>
        </p:nvSpPr>
        <p:spPr bwMode="auto">
          <a:xfrm>
            <a:off x="5410200" y="20732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>
                <a:latin typeface="+mn-ea"/>
                <a:ea typeface="+mn-ea"/>
              </a:rPr>
              <a:t>⑨</a:t>
            </a:r>
          </a:p>
        </p:txBody>
      </p:sp>
      <p:sp>
        <p:nvSpPr>
          <p:cNvPr id="7272" name="Text Box 104"/>
          <p:cNvSpPr txBox="1">
            <a:spLocks noChangeArrowheads="1"/>
          </p:cNvSpPr>
          <p:nvPr/>
        </p:nvSpPr>
        <p:spPr bwMode="auto">
          <a:xfrm>
            <a:off x="1219200" y="1016000"/>
            <a:ext cx="533400" cy="274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200">
                <a:latin typeface="+mn-ea"/>
                <a:ea typeface="+mn-ea"/>
              </a:rPr>
              <a:t>入電</a:t>
            </a:r>
          </a:p>
        </p:txBody>
      </p:sp>
      <p:sp>
        <p:nvSpPr>
          <p:cNvPr id="42012" name="Text Box 108"/>
          <p:cNvSpPr txBox="1">
            <a:spLocks noChangeArrowheads="1"/>
          </p:cNvSpPr>
          <p:nvPr/>
        </p:nvSpPr>
        <p:spPr bwMode="auto">
          <a:xfrm>
            <a:off x="0" y="0"/>
            <a:ext cx="495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ja-JP" altLang="en-US"/>
              <a:t>障害シーケンスパターン</a:t>
            </a:r>
            <a:r>
              <a:rPr lang="en-US" altLang="ja-JP"/>
              <a:t>3</a:t>
            </a:r>
            <a:r>
              <a:rPr lang="ja-JP" altLang="en-US"/>
              <a:t>（接続中の呼）</a:t>
            </a:r>
          </a:p>
        </p:txBody>
      </p:sp>
      <p:sp>
        <p:nvSpPr>
          <p:cNvPr id="7295" name="Text Box 127"/>
          <p:cNvSpPr txBox="1">
            <a:spLocks noChangeArrowheads="1"/>
          </p:cNvSpPr>
          <p:nvPr/>
        </p:nvSpPr>
        <p:spPr bwMode="auto">
          <a:xfrm>
            <a:off x="4152900" y="2073275"/>
            <a:ext cx="381000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400" dirty="0">
                <a:latin typeface="+mn-ea"/>
                <a:ea typeface="+mn-ea"/>
              </a:rPr>
              <a:t>⑧</a:t>
            </a:r>
          </a:p>
        </p:txBody>
      </p:sp>
      <p:sp>
        <p:nvSpPr>
          <p:cNvPr id="51" name="Text Box 15"/>
          <p:cNvSpPr txBox="1">
            <a:spLocks noChangeArrowheads="1"/>
          </p:cNvSpPr>
          <p:nvPr/>
        </p:nvSpPr>
        <p:spPr bwMode="auto">
          <a:xfrm>
            <a:off x="457200" y="836613"/>
            <a:ext cx="354013" cy="20875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eaVert">
            <a:spAutoFit/>
          </a:bodyPr>
          <a:lstStyle/>
          <a:p>
            <a:pPr algn="ctr">
              <a:defRPr/>
            </a:pPr>
            <a:r>
              <a:rPr lang="ja-JP" altLang="en-US" sz="1100" dirty="0">
                <a:latin typeface="+mn-ea"/>
                <a:ea typeface="+mn-ea"/>
              </a:rPr>
              <a:t>一連の呼処理に紐付くセッション</a:t>
            </a:r>
          </a:p>
        </p:txBody>
      </p:sp>
      <p:sp>
        <p:nvSpPr>
          <p:cNvPr id="54" name="爆発 1 53"/>
          <p:cNvSpPr/>
          <p:nvPr/>
        </p:nvSpPr>
        <p:spPr>
          <a:xfrm>
            <a:off x="6858000" y="2198688"/>
            <a:ext cx="914400" cy="723900"/>
          </a:xfrm>
          <a:prstGeom prst="irregularSeal1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schemeClr val="tx1"/>
                </a:solidFill>
              </a:rPr>
              <a:t>障害</a:t>
            </a:r>
          </a:p>
        </p:txBody>
      </p:sp>
      <p:sp>
        <p:nvSpPr>
          <p:cNvPr id="50" name="Text Box 16"/>
          <p:cNvSpPr txBox="1">
            <a:spLocks noChangeArrowheads="1"/>
          </p:cNvSpPr>
          <p:nvPr/>
        </p:nvSpPr>
        <p:spPr bwMode="auto">
          <a:xfrm>
            <a:off x="5486400" y="503238"/>
            <a:ext cx="1555750" cy="2778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200" dirty="0">
                <a:latin typeface="+mn-ea"/>
                <a:ea typeface="+mn-ea"/>
              </a:rPr>
              <a:t>HTTPS</a:t>
            </a:r>
            <a:r>
              <a:rPr lang="ja-JP" altLang="en-US" sz="1200" dirty="0">
                <a:latin typeface="+mn-ea"/>
                <a:ea typeface="+mn-ea"/>
              </a:rPr>
              <a:t>セッション</a:t>
            </a:r>
          </a:p>
        </p:txBody>
      </p:sp>
      <p:sp>
        <p:nvSpPr>
          <p:cNvPr id="52" name="Text Box 127"/>
          <p:cNvSpPr txBox="1">
            <a:spLocks noChangeArrowheads="1"/>
          </p:cNvSpPr>
          <p:nvPr/>
        </p:nvSpPr>
        <p:spPr bwMode="auto">
          <a:xfrm>
            <a:off x="4152900" y="2679700"/>
            <a:ext cx="381000" cy="307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1400" dirty="0">
                <a:latin typeface="+mn-ea"/>
                <a:ea typeface="+mn-ea"/>
              </a:rPr>
              <a:t>⑪</a:t>
            </a:r>
            <a:endParaRPr lang="en-US" altLang="ja-JP" sz="14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27735</TotalTime>
  <Words>385</Words>
  <Application>Microsoft Office PowerPoint</Application>
  <PresentationFormat>画面に合わせる (4:3)</PresentationFormat>
  <Paragraphs>150</Paragraphs>
  <Slides>12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12</vt:i4>
      </vt:variant>
    </vt:vector>
  </HeadingPairs>
  <TitlesOfParts>
    <vt:vector size="21" baseType="lpstr">
      <vt:lpstr>ＭＳ Ｐゴシック</vt:lpstr>
      <vt:lpstr>ＭＳ Ｐ明朝</vt:lpstr>
      <vt:lpstr>Arial</vt:lpstr>
      <vt:lpstr>Calibri</vt:lpstr>
      <vt:lpstr>Times New Roman</vt:lpstr>
      <vt:lpstr>2_デザインの設定</vt:lpstr>
      <vt:lpstr>3_デザインの設定</vt:lpstr>
      <vt:lpstr>デザインの設定</vt:lpstr>
      <vt:lpstr>1_デザインの設定</vt:lpstr>
      <vt:lpstr>01　本番環境</vt:lpstr>
      <vt:lpstr>PowerPoint プレゼンテーション</vt:lpstr>
      <vt:lpstr>PowerPoint プレゼンテーション</vt:lpstr>
      <vt:lpstr>PowerPoint プレゼンテーション</vt:lpstr>
      <vt:lpstr>01　本番環境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コールセンターＷＧ キックオフ</dc:title>
  <dc:creator>羽根岡 麻衣</dc:creator>
  <cp:lastModifiedBy>梅原 悟志#-MSYS</cp:lastModifiedBy>
  <cp:revision>2019</cp:revision>
  <cp:lastPrinted>2011-09-05T06:55:11Z</cp:lastPrinted>
  <dcterms:created xsi:type="dcterms:W3CDTF">2003-03-07T02:15:41Z</dcterms:created>
  <dcterms:modified xsi:type="dcterms:W3CDTF">2019-01-17T13:52:05Z</dcterms:modified>
</cp:coreProperties>
</file>