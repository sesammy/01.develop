
<file path=[Content_Types].xml><?xml version="1.0" encoding="utf-8"?>
<Types xmlns="http://schemas.openxmlformats.org/package/2006/content-types"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50" r:id="rId1"/>
    <p:sldMasterId id="2147483763" r:id="rId2"/>
    <p:sldMasterId id="2147483726" r:id="rId3"/>
    <p:sldMasterId id="2147483738" r:id="rId4"/>
  </p:sldMasterIdLst>
  <p:notesMasterIdLst>
    <p:notesMasterId r:id="rId29"/>
  </p:notesMasterIdLst>
  <p:handoutMasterIdLst>
    <p:handoutMasterId r:id="rId30"/>
  </p:handoutMasterIdLst>
  <p:sldIdLst>
    <p:sldId id="621" r:id="rId5"/>
    <p:sldId id="559" r:id="rId6"/>
    <p:sldId id="623" r:id="rId7"/>
    <p:sldId id="611" r:id="rId8"/>
    <p:sldId id="625" r:id="rId9"/>
    <p:sldId id="568" r:id="rId10"/>
    <p:sldId id="626" r:id="rId11"/>
    <p:sldId id="567" r:id="rId12"/>
    <p:sldId id="622" r:id="rId13"/>
    <p:sldId id="618" r:id="rId14"/>
    <p:sldId id="628" r:id="rId15"/>
    <p:sldId id="617" r:id="rId16"/>
    <p:sldId id="624" r:id="rId17"/>
    <p:sldId id="620" r:id="rId18"/>
    <p:sldId id="629" r:id="rId19"/>
    <p:sldId id="619" r:id="rId20"/>
    <p:sldId id="627" r:id="rId21"/>
    <p:sldId id="565" r:id="rId22"/>
    <p:sldId id="631" r:id="rId23"/>
    <p:sldId id="633" r:id="rId24"/>
    <p:sldId id="630" r:id="rId25"/>
    <p:sldId id="635" r:id="rId26"/>
    <p:sldId id="632" r:id="rId27"/>
    <p:sldId id="634" r:id="rId28"/>
  </p:sldIdLst>
  <p:sldSz cx="9144000" cy="6858000" type="screen4x3"/>
  <p:notesSz cx="6807200" cy="9939338"/>
  <p:defaultTextStyle>
    <a:defPPr>
      <a:defRPr lang="ja-JP"/>
    </a:defPPr>
    <a:lvl1pPr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FFCC"/>
    <a:srgbClr val="0000FF"/>
    <a:srgbClr val="00CCFF"/>
    <a:srgbClr val="FF00FF"/>
    <a:srgbClr val="FF9933"/>
    <a:srgbClr val="FF9966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8" autoAdjust="0"/>
    <p:restoredTop sz="99120" autoAdjust="0"/>
  </p:normalViewPr>
  <p:slideViewPr>
    <p:cSldViewPr snapToGrid="0">
      <p:cViewPr varScale="1">
        <p:scale>
          <a:sx n="74" d="100"/>
          <a:sy n="74" d="100"/>
        </p:scale>
        <p:origin x="121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1854" y="-78"/>
      </p:cViewPr>
      <p:guideLst>
        <p:guide orient="horz" pos="3130"/>
        <p:guide pos="214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>
            <a:lvl1pPr algn="l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>
            <a:lvl1pPr algn="r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863"/>
            <a:ext cx="295116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b" anchorCtr="0" compatLnSpc="1">
            <a:prstTxWarp prst="textNoShape">
              <a:avLst/>
            </a:prstTxWarp>
          </a:bodyPr>
          <a:lstStyle>
            <a:lvl1pPr algn="l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450" y="9440863"/>
            <a:ext cx="295116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b" anchorCtr="0" compatLnSpc="1">
            <a:prstTxWarp prst="textNoShape">
              <a:avLst/>
            </a:prstTxWarp>
          </a:bodyPr>
          <a:lstStyle>
            <a:lvl1pPr algn="r" defTabSz="922338">
              <a:spcBef>
                <a:spcPct val="0"/>
              </a:spcBef>
              <a:defRPr sz="1200"/>
            </a:lvl1pPr>
          </a:lstStyle>
          <a:p>
            <a:fld id="{DE397FE4-A4F2-4E69-AFE5-E09F166466E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01581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>
            <a:lvl1pPr algn="l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>
            <a:lvl1pPr algn="r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7713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0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5116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b" anchorCtr="0" compatLnSpc="1">
            <a:prstTxWarp prst="textNoShape">
              <a:avLst/>
            </a:prstTxWarp>
          </a:bodyPr>
          <a:lstStyle>
            <a:lvl1pPr algn="l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5116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b" anchorCtr="0" compatLnSpc="1">
            <a:prstTxWarp prst="textNoShape">
              <a:avLst/>
            </a:prstTxWarp>
          </a:bodyPr>
          <a:lstStyle>
            <a:lvl1pPr algn="r" defTabSz="922338">
              <a:spcBef>
                <a:spcPct val="0"/>
              </a:spcBef>
              <a:defRPr sz="1200"/>
            </a:lvl1pPr>
          </a:lstStyle>
          <a:p>
            <a:fld id="{51E5EA9B-B8FC-4F16-ABEB-5FDF1A3C7AE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282338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A2411-A912-4177-9F7F-1709FC534E1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6C80D-75DB-4A81-8D1A-4C36BF19A77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9116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BD468-6D38-49F6-A5F3-B5AD923BF78D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9C639-A05E-4E88-874D-DBE6829BE82A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903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80163-A3C2-4EAD-8C4A-5E183BF7A957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B5432-A21E-4348-90B4-E5CF84002669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4826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27DD9-D018-4E53-B69E-529DB632EFDC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8E3B66-6AF0-4638-80D7-AA7296472100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5387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60C1F-6FAE-486B-9027-6B48ACFCA63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8FDED-CD78-4136-BF09-4A5EF90DC88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6606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1EC19-A1AD-4C53-A309-FF11F4348084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6D1502-1A4C-4113-AA64-F1344C2B0B2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3588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30778-AA4B-4CD8-B023-A5A343D45B4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F3819-CA7D-40E1-A5BC-3887B184547C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3056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06169-192F-440B-808E-5FA68A158871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967E6E-5C2A-4FF1-937B-8345BF67A73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7631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BE7F9-498C-4DE9-951B-21EAA3371E2E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84AC1-4B72-49CF-B0A6-6FF085429F4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650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17130-8A30-43D7-B4EB-B5C796565DC9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904C92-A28D-4CA1-AB05-7712BFE4B7A3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3564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D9E31-34D8-493A-87F9-6A80396F6648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A90B4E-3515-4F67-9F1E-FBB8B6A738D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45307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B6486-44AB-4177-8333-60CF534417F2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A1FA29-B944-47B8-9699-5576242AC39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381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95BE0-8118-424E-93EB-48B1EE4BE1CF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EF090-BC47-481D-A9E8-3A8FDA36CE5A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15255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A2F5E-EC5A-4A70-97F5-FDB1B0496F95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2D2D4-C4C3-4038-8C1D-78CE639CB40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122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7065D-F308-46CE-8447-A6DFA6621F6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60741-A20D-4BB6-B26F-A727F6A56B1F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53492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0390F-6752-4CED-9950-65EC5B385407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79E16-407F-4B62-83C2-A12067DC33C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98076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C548F-E545-4578-B310-52C98DA6733B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C4ECC1-5C6E-45B3-9868-DBCA5B376049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239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B1A04-1652-4F55-9839-DDEF86C9359D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5B5920-0CA7-46EF-BA05-E7C60E90C142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30133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73BAF-2234-45A0-9217-67C8923045E9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212F78-109F-42CB-92C2-2B3E59E57FB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20330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46616-50D0-476D-89CA-92FA63F4506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935CB-CF81-42CC-8495-456FBEAFB2C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195315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10C1A-01CB-42F6-A189-769F0E7D1642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11900E-92DE-48C5-BA9E-D503100A21E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89857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CDAC5-AB07-446D-987B-B7E696C33553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C20B09-6CFA-43F5-89FF-19EBE522FA5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75578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08DBF-62D9-4205-AE32-2543144E9DC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B6573-70B6-4D6C-8283-C5BB80353049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504779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378D4-6537-4895-A8F2-5132883FA3D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1795EA-D55E-478D-B26F-9E698C20245B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15275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1978F-B8A0-42D0-A0F6-E5AD95B6BF4C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CE563-C8F4-4FE1-BA43-599275B96E2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38831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B177C-9BD3-4212-BE48-A5D850308431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DF77A-1B41-4E66-907F-9356BA240F6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57191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2DB7E-EDCB-456C-B2B2-E84E5A4F5985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FA196-CE82-45B0-BBEE-202B3201857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49559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C860B-A64C-4830-A0F0-A4918EEF7054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23266-2A7D-4FCF-8DDF-504B45C8C49A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429519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DE729-96E1-4062-AEB4-68601B2AB203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4DF6C-4B80-4B71-858B-96B4ACA2EF0B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916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657D1-B3F8-46D2-8C35-8D7DDB13E20B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8EC4A-8E18-45DA-BB2D-3E343A364612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98186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11DC3-2802-49BC-B05F-6401D41C6A0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06FA9-F90D-4D80-A397-C889276F001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45544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C4960-EDBD-40E9-A3FB-239D86A75AA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B603AA-685B-4C8D-88DB-15FA98B5C549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13030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0FBC5-2185-44FB-821C-0F6C68D5040D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24061-0C54-4FE7-8966-35C8ABB96CE3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632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CAAEC-31F5-46C8-AB17-8755A0FE9D4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CC3F46-1D64-4F51-B2D4-4780753C8C8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283940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E69B7-701E-43A7-9005-76DA6B26D34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B106A-8309-4E14-BC00-45F3D805DFEB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546688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6CFE8-5844-4D7C-8751-D4641947C1E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0C73E-F714-43F0-95D5-C7765D77AADC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021282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0FAFC-8061-43FB-AEA1-6ECB750ECF0F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61FDD-60A7-4F4C-81B8-F1213223068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754715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4BF4A-F67A-4045-BC8C-AB79DA4AC9E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0818F-DF33-4DFE-8E27-9CA9262DD9B7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601807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34A10-D864-4527-BD2A-8A32A9286FED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65286-56C1-49D5-B268-0D86EB49C3D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980047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0553D-E479-4B2F-A34E-EC4FCF907B8F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DA47FB-56A8-41EA-8E5E-6F7FA321509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956016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35AC4-DAC8-4166-98E0-C8DE7DEEA81B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E17A84-FE90-4CB7-BB2B-7829401B0D32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13855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0BB00-FCA2-44F8-BFE5-D3FDA5E0AFDC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C76A0-F6BA-4A9C-A93B-0CC3E85E457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951092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A13AA-002D-44B4-96CF-27531E88ECB3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728F79-79D9-44D1-AE5E-EB07046ACA17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34322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232F8B-7D8A-4824-89D4-287D613B8FF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338E1-D6EE-4084-B59D-E83909F8121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63471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440ED-E55D-475B-87DA-A2C5EBDC77F3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820C0-F0F8-4CFE-80B5-3F341B893A1F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401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fld id="{B4A6000A-155A-4780-A735-5A7F8124B5D9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CAE820A-78D8-460A-B314-6602C2B3B2D7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6" r:id="rId1"/>
    <p:sldLayoutId id="2147484757" r:id="rId2"/>
    <p:sldLayoutId id="2147484758" r:id="rId3"/>
    <p:sldLayoutId id="2147484759" r:id="rId4"/>
    <p:sldLayoutId id="2147484760" r:id="rId5"/>
    <p:sldLayoutId id="2147484761" r:id="rId6"/>
    <p:sldLayoutId id="2147484762" r:id="rId7"/>
    <p:sldLayoutId id="2147484763" r:id="rId8"/>
    <p:sldLayoutId id="2147484764" r:id="rId9"/>
    <p:sldLayoutId id="2147484765" r:id="rId10"/>
    <p:sldLayoutId id="2147484766" r:id="rId11"/>
    <p:sldLayoutId id="2147484767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2051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fld id="{40A86676-CD2E-4E66-A999-9351138FFF7B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34BE874-4CA1-491E-B333-3559914B2F19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68" r:id="rId1"/>
    <p:sldLayoutId id="2147484769" r:id="rId2"/>
    <p:sldLayoutId id="2147484770" r:id="rId3"/>
    <p:sldLayoutId id="2147484771" r:id="rId4"/>
    <p:sldLayoutId id="2147484772" r:id="rId5"/>
    <p:sldLayoutId id="2147484773" r:id="rId6"/>
    <p:sldLayoutId id="2147484774" r:id="rId7"/>
    <p:sldLayoutId id="2147484775" r:id="rId8"/>
    <p:sldLayoutId id="2147484776" r:id="rId9"/>
    <p:sldLayoutId id="2147484777" r:id="rId10"/>
    <p:sldLayoutId id="2147484778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3075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fld id="{60554758-87F0-4C7C-8E26-0D93B22A7CE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62D500E-1FF9-4E80-B947-0585C78DE351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79" r:id="rId1"/>
    <p:sldLayoutId id="2147484780" r:id="rId2"/>
    <p:sldLayoutId id="2147484781" r:id="rId3"/>
    <p:sldLayoutId id="2147484782" r:id="rId4"/>
    <p:sldLayoutId id="2147484783" r:id="rId5"/>
    <p:sldLayoutId id="2147484784" r:id="rId6"/>
    <p:sldLayoutId id="2147484785" r:id="rId7"/>
    <p:sldLayoutId id="2147484786" r:id="rId8"/>
    <p:sldLayoutId id="2147484787" r:id="rId9"/>
    <p:sldLayoutId id="2147484788" r:id="rId10"/>
    <p:sldLayoutId id="214748478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4099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fld id="{D44BF80F-C5A8-4DE1-B209-971C634D8542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D8166F4-4CD0-47C5-8C2E-BEFF28E75E79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90" r:id="rId1"/>
    <p:sldLayoutId id="2147484791" r:id="rId2"/>
    <p:sldLayoutId id="2147484792" r:id="rId3"/>
    <p:sldLayoutId id="2147484793" r:id="rId4"/>
    <p:sldLayoutId id="2147484794" r:id="rId5"/>
    <p:sldLayoutId id="2147484795" r:id="rId6"/>
    <p:sldLayoutId id="2147484796" r:id="rId7"/>
    <p:sldLayoutId id="2147484797" r:id="rId8"/>
    <p:sldLayoutId id="2147484798" r:id="rId9"/>
    <p:sldLayoutId id="2147484799" r:id="rId10"/>
    <p:sldLayoutId id="2147484800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994176"/>
            <a:ext cx="7772400" cy="1470025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165394"/>
            <a:ext cx="6400800" cy="986696"/>
          </a:xfrm>
        </p:spPr>
        <p:txBody>
          <a:bodyPr/>
          <a:lstStyle/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1-2-1-1 </a:t>
            </a:r>
            <a:r>
              <a:rPr lang="ja-JP" altLang="en-US" dirty="0">
                <a:latin typeface="ＭＳ Ｐゴシック" pitchFamily="50" charset="-128"/>
              </a:rPr>
              <a:t>ライセンス管理方式</a:t>
            </a:r>
            <a:r>
              <a:rPr lang="en-US" altLang="ja-JP" dirty="0">
                <a:latin typeface="ＭＳ Ｐゴシック" pitchFamily="50" charset="-128"/>
              </a:rPr>
              <a:t>]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9" name="タイトル 1"/>
          <p:cNvSpPr txBox="1">
            <a:spLocks/>
          </p:cNvSpPr>
          <p:nvPr/>
        </p:nvSpPr>
        <p:spPr>
          <a:xfrm>
            <a:off x="702699" y="287768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10" name="サブタイトル 2"/>
          <p:cNvSpPr txBox="1">
            <a:spLocks/>
          </p:cNvSpPr>
          <p:nvPr/>
        </p:nvSpPr>
        <p:spPr>
          <a:xfrm>
            <a:off x="1371600" y="3990239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2-2-1-1 </a:t>
            </a:r>
            <a:r>
              <a:rPr lang="ja-JP" altLang="en-US" dirty="0">
                <a:latin typeface="ＭＳ Ｐゴシック" pitchFamily="50" charset="-128"/>
              </a:rPr>
              <a:t>ライセンス管理方式</a:t>
            </a:r>
            <a:r>
              <a:rPr lang="en-US" altLang="ja-JP" dirty="0">
                <a:latin typeface="ＭＳ Ｐゴシック" pitchFamily="50" charset="-128"/>
              </a:rPr>
              <a:t>]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481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657350" y="1506538"/>
            <a:ext cx="4705350" cy="170815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400" dirty="0" smtClean="0">
                <a:solidFill>
                  <a:schemeClr val="tx1"/>
                </a:solidFill>
                <a:latin typeface="+mn-ea"/>
              </a:rPr>
              <a:t>EPM</a:t>
            </a:r>
            <a:endParaRPr lang="ja-JP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7589838" y="1146175"/>
            <a:ext cx="0" cy="4416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/>
          <p:cNvSpPr/>
          <p:nvPr/>
        </p:nvSpPr>
        <p:spPr>
          <a:xfrm>
            <a:off x="1657350" y="3702050"/>
            <a:ext cx="4705350" cy="170815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1901825" y="4011613"/>
            <a:ext cx="3530600" cy="1181100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600" dirty="0" err="1">
                <a:solidFill>
                  <a:schemeClr val="tx1"/>
                </a:solidFill>
                <a:latin typeface="+mn-ea"/>
              </a:rPr>
              <a:t>WebLogic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角丸四角形 12"/>
          <p:cNvSpPr/>
          <p:nvPr/>
        </p:nvSpPr>
        <p:spPr>
          <a:xfrm>
            <a:off x="2641600" y="4430713"/>
            <a:ext cx="2032000" cy="558800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600" dirty="0" err="1">
                <a:solidFill>
                  <a:schemeClr val="bg1"/>
                </a:solidFill>
                <a:latin typeface="+mn-ea"/>
              </a:rPr>
              <a:t>runtimeconfig</a:t>
            </a:r>
            <a:endParaRPr lang="ja-JP" altLang="en-US" sz="1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" name="直線コネクタ 13"/>
          <p:cNvCxnSpPr>
            <a:stCxn id="2" idx="3"/>
          </p:cNvCxnSpPr>
          <p:nvPr/>
        </p:nvCxnSpPr>
        <p:spPr>
          <a:xfrm>
            <a:off x="6362700" y="2360613"/>
            <a:ext cx="1214438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>
            <a:stCxn id="11" idx="3"/>
          </p:cNvCxnSpPr>
          <p:nvPr/>
        </p:nvCxnSpPr>
        <p:spPr>
          <a:xfrm flipV="1">
            <a:off x="6362700" y="4556125"/>
            <a:ext cx="12144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角丸四角形 21"/>
          <p:cNvSpPr/>
          <p:nvPr/>
        </p:nvSpPr>
        <p:spPr>
          <a:xfrm>
            <a:off x="4140200" y="1855788"/>
            <a:ext cx="2032000" cy="1001712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600" dirty="0" err="1">
                <a:solidFill>
                  <a:schemeClr val="bg1"/>
                </a:solidFill>
                <a:latin typeface="+mn-ea"/>
              </a:rPr>
              <a:t>WebLM</a:t>
            </a:r>
            <a:endParaRPr lang="en-US" altLang="ja-JP" sz="16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endParaRPr lang="ja-JP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フリーフォーム 25"/>
          <p:cNvSpPr/>
          <p:nvPr/>
        </p:nvSpPr>
        <p:spPr>
          <a:xfrm>
            <a:off x="4727575" y="2363788"/>
            <a:ext cx="2849563" cy="2346325"/>
          </a:xfrm>
          <a:custGeom>
            <a:avLst/>
            <a:gdLst>
              <a:gd name="connsiteX0" fmla="*/ 0 w 2485232"/>
              <a:gd name="connsiteY0" fmla="*/ 1456849 h 1478597"/>
              <a:gd name="connsiteX1" fmla="*/ 2222500 w 2485232"/>
              <a:gd name="connsiteY1" fmla="*/ 1304449 h 1478597"/>
              <a:gd name="connsiteX2" fmla="*/ 2336800 w 2485232"/>
              <a:gd name="connsiteY2" fmla="*/ 174149 h 1478597"/>
              <a:gd name="connsiteX3" fmla="*/ 1270000 w 2485232"/>
              <a:gd name="connsiteY3" fmla="*/ 21749 h 147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232" h="1478597">
                <a:moveTo>
                  <a:pt x="0" y="1456849"/>
                </a:moveTo>
                <a:cubicBezTo>
                  <a:pt x="916516" y="1487540"/>
                  <a:pt x="1833033" y="1518232"/>
                  <a:pt x="2222500" y="1304449"/>
                </a:cubicBezTo>
                <a:cubicBezTo>
                  <a:pt x="2611967" y="1090666"/>
                  <a:pt x="2495550" y="387932"/>
                  <a:pt x="2336800" y="174149"/>
                </a:cubicBezTo>
                <a:cubicBezTo>
                  <a:pt x="2178050" y="-39634"/>
                  <a:pt x="1724025" y="-8943"/>
                  <a:pt x="1270000" y="21749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+mn-ea"/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1879600" y="2084388"/>
            <a:ext cx="1320800" cy="558800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600" dirty="0" smtClean="0">
                <a:solidFill>
                  <a:schemeClr val="tx1"/>
                </a:solidFill>
                <a:latin typeface="+mn-ea"/>
              </a:rPr>
              <a:t>EPM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直線矢印コネクタ 31"/>
          <p:cNvCxnSpPr>
            <a:stCxn id="30" idx="3"/>
            <a:endCxn id="22" idx="1"/>
          </p:cNvCxnSpPr>
          <p:nvPr/>
        </p:nvCxnSpPr>
        <p:spPr>
          <a:xfrm flipV="1">
            <a:off x="3200400" y="2355850"/>
            <a:ext cx="939800" cy="7938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5"/>
          <p:cNvSpPr txBox="1">
            <a:spLocks noChangeArrowheads="1"/>
          </p:cNvSpPr>
          <p:nvPr/>
        </p:nvSpPr>
        <p:spPr bwMode="auto">
          <a:xfrm>
            <a:off x="6864350" y="838200"/>
            <a:ext cx="1450975" cy="3079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9pPr>
          </a:lstStyle>
          <a:p>
            <a:pPr algn="ctr" eaLnBrk="1" hangingPunct="1">
              <a:defRPr/>
            </a:pPr>
            <a:r>
              <a:rPr lang="ja-JP" altLang="en-US" sz="1400" dirty="0" smtClean="0">
                <a:latin typeface="+mn-ea"/>
                <a:ea typeface="+mn-ea"/>
              </a:rPr>
              <a:t>運用セグメント</a:t>
            </a:r>
            <a:endParaRPr lang="en-US" altLang="ja-JP" sz="1400" dirty="0" smtClean="0">
              <a:latin typeface="+mn-ea"/>
              <a:ea typeface="+mn-ea"/>
            </a:endParaRPr>
          </a:p>
        </p:txBody>
      </p:sp>
      <p:sp>
        <p:nvSpPr>
          <p:cNvPr id="35" name="1 つの角を丸めた四角形 34"/>
          <p:cNvSpPr/>
          <p:nvPr/>
        </p:nvSpPr>
        <p:spPr>
          <a:xfrm>
            <a:off x="4267200" y="2355850"/>
            <a:ext cx="927100" cy="400050"/>
          </a:xfrm>
          <a:prstGeom prst="snip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EPM</a:t>
            </a: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用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1 つの角を丸めた四角形 35"/>
          <p:cNvSpPr/>
          <p:nvPr/>
        </p:nvSpPr>
        <p:spPr>
          <a:xfrm>
            <a:off x="5251450" y="2355850"/>
            <a:ext cx="774700" cy="400050"/>
          </a:xfrm>
          <a:prstGeom prst="snip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D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/>
          <p:cNvSpPr txBox="1">
            <a:spLocks/>
          </p:cNvSpPr>
          <p:nvPr/>
        </p:nvSpPr>
        <p:spPr>
          <a:xfrm>
            <a:off x="685800" y="178595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2992493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3-2-1-1 </a:t>
            </a:r>
            <a:r>
              <a:rPr lang="ja-JP" altLang="en-US" dirty="0">
                <a:latin typeface="ＭＳ Ｐゴシック" pitchFamily="50" charset="-128"/>
              </a:rPr>
              <a:t>ライセンス管理方式</a:t>
            </a:r>
            <a:r>
              <a:rPr lang="en-US" altLang="ja-JP" dirty="0">
                <a:latin typeface="ＭＳ Ｐゴシック" pitchFamily="50" charset="-128"/>
              </a:rPr>
              <a:t>]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8735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657350" y="1506538"/>
            <a:ext cx="4705350" cy="170815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400" dirty="0" smtClean="0">
                <a:solidFill>
                  <a:schemeClr val="tx1"/>
                </a:solidFill>
                <a:latin typeface="+mn-ea"/>
              </a:rPr>
              <a:t>EPM</a:t>
            </a:r>
            <a:endParaRPr lang="ja-JP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7589838" y="1146175"/>
            <a:ext cx="0" cy="4416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/>
          <p:cNvSpPr/>
          <p:nvPr/>
        </p:nvSpPr>
        <p:spPr>
          <a:xfrm>
            <a:off x="1657350" y="3702050"/>
            <a:ext cx="4705350" cy="170815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1901825" y="4011613"/>
            <a:ext cx="3530600" cy="1181100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600" dirty="0" err="1">
                <a:solidFill>
                  <a:schemeClr val="tx1"/>
                </a:solidFill>
                <a:latin typeface="+mn-ea"/>
              </a:rPr>
              <a:t>WebLogic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角丸四角形 12"/>
          <p:cNvSpPr/>
          <p:nvPr/>
        </p:nvSpPr>
        <p:spPr>
          <a:xfrm>
            <a:off x="2641600" y="4430713"/>
            <a:ext cx="2032000" cy="558800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600" dirty="0" err="1">
                <a:solidFill>
                  <a:schemeClr val="bg1"/>
                </a:solidFill>
                <a:latin typeface="+mn-ea"/>
              </a:rPr>
              <a:t>runtimeconfig</a:t>
            </a:r>
            <a:endParaRPr lang="ja-JP" altLang="en-US" sz="1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" name="直線コネクタ 13"/>
          <p:cNvCxnSpPr>
            <a:stCxn id="2" idx="3"/>
          </p:cNvCxnSpPr>
          <p:nvPr/>
        </p:nvCxnSpPr>
        <p:spPr>
          <a:xfrm>
            <a:off x="6362700" y="2360613"/>
            <a:ext cx="1214438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>
            <a:stCxn id="11" idx="3"/>
          </p:cNvCxnSpPr>
          <p:nvPr/>
        </p:nvCxnSpPr>
        <p:spPr>
          <a:xfrm flipV="1">
            <a:off x="6362700" y="4556125"/>
            <a:ext cx="12144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角丸四角形 21"/>
          <p:cNvSpPr/>
          <p:nvPr/>
        </p:nvSpPr>
        <p:spPr>
          <a:xfrm>
            <a:off x="4140200" y="1855788"/>
            <a:ext cx="2032000" cy="1001712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600" dirty="0" err="1">
                <a:solidFill>
                  <a:schemeClr val="bg1"/>
                </a:solidFill>
                <a:latin typeface="+mn-ea"/>
              </a:rPr>
              <a:t>WebLM</a:t>
            </a:r>
            <a:endParaRPr lang="en-US" altLang="ja-JP" sz="16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endParaRPr lang="ja-JP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フリーフォーム 25"/>
          <p:cNvSpPr/>
          <p:nvPr/>
        </p:nvSpPr>
        <p:spPr>
          <a:xfrm>
            <a:off x="4727575" y="2363788"/>
            <a:ext cx="2849563" cy="2346325"/>
          </a:xfrm>
          <a:custGeom>
            <a:avLst/>
            <a:gdLst>
              <a:gd name="connsiteX0" fmla="*/ 0 w 2485232"/>
              <a:gd name="connsiteY0" fmla="*/ 1456849 h 1478597"/>
              <a:gd name="connsiteX1" fmla="*/ 2222500 w 2485232"/>
              <a:gd name="connsiteY1" fmla="*/ 1304449 h 1478597"/>
              <a:gd name="connsiteX2" fmla="*/ 2336800 w 2485232"/>
              <a:gd name="connsiteY2" fmla="*/ 174149 h 1478597"/>
              <a:gd name="connsiteX3" fmla="*/ 1270000 w 2485232"/>
              <a:gd name="connsiteY3" fmla="*/ 21749 h 147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232" h="1478597">
                <a:moveTo>
                  <a:pt x="0" y="1456849"/>
                </a:moveTo>
                <a:cubicBezTo>
                  <a:pt x="916516" y="1487540"/>
                  <a:pt x="1833033" y="1518232"/>
                  <a:pt x="2222500" y="1304449"/>
                </a:cubicBezTo>
                <a:cubicBezTo>
                  <a:pt x="2611967" y="1090666"/>
                  <a:pt x="2495550" y="387932"/>
                  <a:pt x="2336800" y="174149"/>
                </a:cubicBezTo>
                <a:cubicBezTo>
                  <a:pt x="2178050" y="-39634"/>
                  <a:pt x="1724025" y="-8943"/>
                  <a:pt x="1270000" y="21749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+mn-ea"/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1879600" y="2084388"/>
            <a:ext cx="1320800" cy="558800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600" dirty="0" smtClean="0">
                <a:solidFill>
                  <a:schemeClr val="tx1"/>
                </a:solidFill>
                <a:latin typeface="+mn-ea"/>
              </a:rPr>
              <a:t>EPM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直線矢印コネクタ 31"/>
          <p:cNvCxnSpPr>
            <a:stCxn id="30" idx="3"/>
            <a:endCxn id="22" idx="1"/>
          </p:cNvCxnSpPr>
          <p:nvPr/>
        </p:nvCxnSpPr>
        <p:spPr>
          <a:xfrm flipV="1">
            <a:off x="3200400" y="2355850"/>
            <a:ext cx="939800" cy="7938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5"/>
          <p:cNvSpPr txBox="1">
            <a:spLocks noChangeArrowheads="1"/>
          </p:cNvSpPr>
          <p:nvPr/>
        </p:nvSpPr>
        <p:spPr bwMode="auto">
          <a:xfrm>
            <a:off x="6311900" y="838200"/>
            <a:ext cx="2565400" cy="3079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HGPｺﾞｼｯｸE" pitchFamily="50" charset="-128"/>
              </a:defRPr>
            </a:lvl9pPr>
          </a:lstStyle>
          <a:p>
            <a:pPr algn="ctr" eaLnBrk="1" hangingPunct="1">
              <a:defRPr/>
            </a:pPr>
            <a:r>
              <a:rPr lang="ja-JP" altLang="en-US" sz="1400" dirty="0" smtClean="0">
                <a:latin typeface="+mn-ea"/>
                <a:ea typeface="+mn-ea"/>
              </a:rPr>
              <a:t>データ・音声・</a:t>
            </a:r>
            <a:r>
              <a:rPr lang="en-US" altLang="ja-JP" sz="1400" dirty="0" smtClean="0">
                <a:latin typeface="+mn-ea"/>
                <a:ea typeface="+mn-ea"/>
              </a:rPr>
              <a:t>CTI</a:t>
            </a:r>
            <a:r>
              <a:rPr lang="ja-JP" altLang="en-US" sz="1400" dirty="0" smtClean="0">
                <a:latin typeface="+mn-ea"/>
                <a:ea typeface="+mn-ea"/>
              </a:rPr>
              <a:t>セグメント</a:t>
            </a:r>
            <a:endParaRPr lang="en-US" altLang="ja-JP" sz="1400" dirty="0" smtClean="0">
              <a:latin typeface="+mn-ea"/>
              <a:ea typeface="+mn-ea"/>
            </a:endParaRPr>
          </a:p>
        </p:txBody>
      </p:sp>
      <p:sp>
        <p:nvSpPr>
          <p:cNvPr id="35" name="1 つの角を丸めた四角形 34"/>
          <p:cNvSpPr/>
          <p:nvPr/>
        </p:nvSpPr>
        <p:spPr>
          <a:xfrm>
            <a:off x="4267200" y="2355850"/>
            <a:ext cx="927100" cy="400050"/>
          </a:xfrm>
          <a:prstGeom prst="snip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EPM</a:t>
            </a: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用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1 つの角を丸めた四角形 35"/>
          <p:cNvSpPr/>
          <p:nvPr/>
        </p:nvSpPr>
        <p:spPr>
          <a:xfrm>
            <a:off x="5251450" y="2355850"/>
            <a:ext cx="774700" cy="400050"/>
          </a:xfrm>
          <a:prstGeom prst="snip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D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31302"/>
            <a:ext cx="7772400" cy="1470025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002520"/>
            <a:ext cx="6400800" cy="986696"/>
          </a:xfrm>
        </p:spPr>
        <p:txBody>
          <a:bodyPr/>
          <a:lstStyle/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正常時処理方式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12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57150" y="2057400"/>
            <a:ext cx="7423150" cy="46482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1041400" y="2624138"/>
            <a:ext cx="3722688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>
              <a:defRPr/>
            </a:pP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RSC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アダプタ用ドメイン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190500" y="6243638"/>
            <a:ext cx="7188200" cy="373062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Red Hat Enterprise Linux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854575" y="4787900"/>
            <a:ext cx="711200" cy="922338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データソース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4248150" y="85725"/>
            <a:ext cx="9271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AES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17500" y="88900"/>
            <a:ext cx="9271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タンデム</a:t>
            </a:r>
          </a:p>
        </p:txBody>
      </p:sp>
      <p:sp>
        <p:nvSpPr>
          <p:cNvPr id="9" name="角丸四角形 55"/>
          <p:cNvSpPr/>
          <p:nvPr/>
        </p:nvSpPr>
        <p:spPr>
          <a:xfrm>
            <a:off x="1041400" y="3535363"/>
            <a:ext cx="3735388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　　　　　　　　　　　　　　　　　　　　　　　　</a:t>
            </a: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IVR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492250" y="87313"/>
            <a:ext cx="11176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チャネル</a:t>
            </a:r>
            <a:endParaRPr lang="en-US" altLang="ja-JP" sz="120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統合基盤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7816850" y="5602288"/>
            <a:ext cx="927100" cy="1116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IVRDB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862263" y="87313"/>
            <a:ext cx="11176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AP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　　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Rule Zone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5438775" y="88900"/>
            <a:ext cx="11176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DB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　　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DTS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4" name="角丸四角形 13"/>
          <p:cNvSpPr/>
          <p:nvPr/>
        </p:nvSpPr>
        <p:spPr>
          <a:xfrm>
            <a:off x="1193800" y="3756025"/>
            <a:ext cx="1585913" cy="9683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音声フロー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JTIC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クライアント）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角丸四角形 14"/>
          <p:cNvSpPr/>
          <p:nvPr/>
        </p:nvSpPr>
        <p:spPr>
          <a:xfrm>
            <a:off x="3541713" y="4040188"/>
            <a:ext cx="1143000" cy="37623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 smtClean="0">
                <a:solidFill>
                  <a:schemeClr val="bg1"/>
                </a:solidFill>
                <a:latin typeface="+mn-ea"/>
              </a:rPr>
              <a:t>aesconnector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3541713" y="3575050"/>
            <a:ext cx="1117600" cy="361950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>
                <a:solidFill>
                  <a:schemeClr val="bg1"/>
                </a:solidFill>
                <a:latin typeface="+mn-ea"/>
              </a:rPr>
              <a:t>runtimeconfig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1760" name="Picture 64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5838" y="5743575"/>
            <a:ext cx="8413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-828675" y="6459538"/>
            <a:ext cx="52705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+mn-ea"/>
                <a:ea typeface="+mn-ea"/>
              </a:rPr>
              <a:t>SMCC</a:t>
            </a:r>
            <a:endParaRPr lang="ja-JP" altLang="en-US" dirty="0">
              <a:latin typeface="+mn-ea"/>
              <a:ea typeface="+mn-ea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190500" y="5783263"/>
            <a:ext cx="5375275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 </a:t>
            </a:r>
            <a:r>
              <a:rPr lang="en-US" altLang="ja-JP" sz="1200" dirty="0" err="1">
                <a:solidFill>
                  <a:schemeClr val="tx1"/>
                </a:solidFill>
                <a:latin typeface="+mn-ea"/>
              </a:rPr>
              <a:t>WebLogic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 Server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5638800" y="5783263"/>
            <a:ext cx="671513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JP1/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AJS3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-96520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MPP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-482600" y="41957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①</a:t>
            </a: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-514350" y="53133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⑫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1238250" y="2343150"/>
            <a:ext cx="1239838" cy="550863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RSC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アダプタ（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※1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）</a:t>
            </a:r>
          </a:p>
        </p:txBody>
      </p:sp>
      <p:cxnSp>
        <p:nvCxnSpPr>
          <p:cNvPr id="31769" name="カギ線コネクタ 37"/>
          <p:cNvCxnSpPr>
            <a:cxnSpLocks noChangeShapeType="1"/>
          </p:cNvCxnSpPr>
          <p:nvPr/>
        </p:nvCxnSpPr>
        <p:spPr bwMode="auto">
          <a:xfrm rot="16200000" flipV="1">
            <a:off x="851694" y="1488281"/>
            <a:ext cx="631825" cy="1077913"/>
          </a:xfrm>
          <a:prstGeom prst="bentConnector3">
            <a:avLst>
              <a:gd name="adj1" fmla="val 1985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角丸四角形 38"/>
          <p:cNvSpPr/>
          <p:nvPr/>
        </p:nvSpPr>
        <p:spPr>
          <a:xfrm>
            <a:off x="1187450" y="5068888"/>
            <a:ext cx="1358900" cy="47148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管理画面</a:t>
            </a:r>
          </a:p>
        </p:txBody>
      </p:sp>
      <p:cxnSp>
        <p:nvCxnSpPr>
          <p:cNvPr id="31771" name="カギ線コネクタ 63491"/>
          <p:cNvCxnSpPr>
            <a:cxnSpLocks noChangeShapeType="1"/>
            <a:stCxn id="14" idx="3"/>
          </p:cNvCxnSpPr>
          <p:nvPr/>
        </p:nvCxnSpPr>
        <p:spPr bwMode="auto">
          <a:xfrm flipH="1" flipV="1">
            <a:off x="1914525" y="1711325"/>
            <a:ext cx="865188" cy="2528888"/>
          </a:xfrm>
          <a:prstGeom prst="bentConnector4">
            <a:avLst>
              <a:gd name="adj1" fmla="val -26421"/>
              <a:gd name="adj2" fmla="val 7966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正方形/長方形 212"/>
          <p:cNvSpPr/>
          <p:nvPr/>
        </p:nvSpPr>
        <p:spPr>
          <a:xfrm>
            <a:off x="777875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ＭＳ Ｐゴシック" pitchFamily="50" charset="-128"/>
              </a:rPr>
              <a:t>EPM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（</a:t>
            </a:r>
            <a:r>
              <a:rPr lang="en-US" altLang="ja-JP" sz="1200" dirty="0" err="1">
                <a:solidFill>
                  <a:schemeClr val="tx1"/>
                </a:solidFill>
                <a:latin typeface="ＭＳ Ｐゴシック" pitchFamily="50" charset="-128"/>
              </a:rPr>
              <a:t>WebLM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）</a:t>
            </a:r>
          </a:p>
        </p:txBody>
      </p:sp>
      <p:cxnSp>
        <p:nvCxnSpPr>
          <p:cNvPr id="31773" name="カギ線コネクタ 63528"/>
          <p:cNvCxnSpPr>
            <a:cxnSpLocks noChangeShapeType="1"/>
            <a:stCxn id="16" idx="3"/>
            <a:endCxn id="47" idx="1"/>
          </p:cNvCxnSpPr>
          <p:nvPr/>
        </p:nvCxnSpPr>
        <p:spPr bwMode="auto">
          <a:xfrm flipV="1">
            <a:off x="4659313" y="2874963"/>
            <a:ext cx="3119437" cy="8810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カギ線コネクタ 110"/>
          <p:cNvCxnSpPr/>
          <p:nvPr/>
        </p:nvCxnSpPr>
        <p:spPr>
          <a:xfrm flipV="1">
            <a:off x="2779712" y="1684338"/>
            <a:ext cx="576000" cy="2268537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stCxn id="14" idx="2"/>
            <a:endCxn id="11" idx="0"/>
          </p:cNvCxnSpPr>
          <p:nvPr/>
        </p:nvCxnSpPr>
        <p:spPr>
          <a:xfrm rot="16200000" flipH="1">
            <a:off x="4694238" y="2016125"/>
            <a:ext cx="877888" cy="6294437"/>
          </a:xfrm>
          <a:prstGeom prst="bentConnector3">
            <a:avLst>
              <a:gd name="adj1" fmla="val 26853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カギ線コネクタ 123"/>
          <p:cNvCxnSpPr/>
          <p:nvPr/>
        </p:nvCxnSpPr>
        <p:spPr>
          <a:xfrm>
            <a:off x="2546350" y="5305425"/>
            <a:ext cx="5975350" cy="296863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カギ線コネクタ 125"/>
          <p:cNvCxnSpPr>
            <a:stCxn id="15" idx="1"/>
            <a:endCxn id="7" idx="2"/>
          </p:cNvCxnSpPr>
          <p:nvPr/>
        </p:nvCxnSpPr>
        <p:spPr>
          <a:xfrm rot="10800000" flipH="1">
            <a:off x="3541713" y="1709738"/>
            <a:ext cx="1169987" cy="2519362"/>
          </a:xfrm>
          <a:prstGeom prst="bentConnector4">
            <a:avLst>
              <a:gd name="adj1" fmla="val -34767"/>
              <a:gd name="adj2" fmla="val 79949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カギ線コネクタ 145"/>
          <p:cNvCxnSpPr/>
          <p:nvPr/>
        </p:nvCxnSpPr>
        <p:spPr>
          <a:xfrm flipV="1">
            <a:off x="2774950" y="1700213"/>
            <a:ext cx="3240088" cy="2843212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テキスト ボックス 146"/>
          <p:cNvSpPr txBox="1"/>
          <p:nvPr/>
        </p:nvSpPr>
        <p:spPr>
          <a:xfrm>
            <a:off x="2143125" y="1712913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②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49" name="テキスト ボックス 148"/>
          <p:cNvSpPr txBox="1"/>
          <p:nvPr/>
        </p:nvSpPr>
        <p:spPr>
          <a:xfrm>
            <a:off x="3349625" y="1714500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③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0" name="テキスト ボックス 149"/>
          <p:cNvSpPr txBox="1"/>
          <p:nvPr/>
        </p:nvSpPr>
        <p:spPr>
          <a:xfrm>
            <a:off x="4711700" y="1704975"/>
            <a:ext cx="33813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④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3" name="テキスト ボックス 152"/>
          <p:cNvSpPr txBox="1"/>
          <p:nvPr/>
        </p:nvSpPr>
        <p:spPr>
          <a:xfrm>
            <a:off x="6008688" y="1704975"/>
            <a:ext cx="3397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⑤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6980238" y="2592388"/>
            <a:ext cx="3381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⑥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5" name="テキスト ボックス 154"/>
          <p:cNvSpPr txBox="1"/>
          <p:nvPr/>
        </p:nvSpPr>
        <p:spPr>
          <a:xfrm>
            <a:off x="6810375" y="4651375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⑦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6" name="テキスト ボックス 155"/>
          <p:cNvSpPr txBox="1"/>
          <p:nvPr/>
        </p:nvSpPr>
        <p:spPr>
          <a:xfrm>
            <a:off x="8535988" y="5284788"/>
            <a:ext cx="3397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⑧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1973263" y="3297238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⑨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649288" y="1714500"/>
            <a:ext cx="3397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⑩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62" name="角丸四角形 161"/>
          <p:cNvSpPr/>
          <p:nvPr/>
        </p:nvSpPr>
        <p:spPr>
          <a:xfrm>
            <a:off x="6373813" y="5783263"/>
            <a:ext cx="1004887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Client</a:t>
            </a:r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7478713" y="56816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⑪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51" name="角丸四角形 50"/>
          <p:cNvSpPr/>
          <p:nvPr/>
        </p:nvSpPr>
        <p:spPr>
          <a:xfrm>
            <a:off x="5638800" y="5389563"/>
            <a:ext cx="671513" cy="320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バッチ</a:t>
            </a:r>
          </a:p>
        </p:txBody>
      </p:sp>
      <p:cxnSp>
        <p:nvCxnSpPr>
          <p:cNvPr id="164" name="カギ線コネクタ 163"/>
          <p:cNvCxnSpPr>
            <a:stCxn id="21" idx="0"/>
          </p:cNvCxnSpPr>
          <p:nvPr/>
        </p:nvCxnSpPr>
        <p:spPr>
          <a:xfrm rot="16200000" flipH="1">
            <a:off x="6801644" y="4955382"/>
            <a:ext cx="187325" cy="1843087"/>
          </a:xfrm>
          <a:prstGeom prst="bentConnector4">
            <a:avLst>
              <a:gd name="adj1" fmla="val -74427"/>
              <a:gd name="adj2" fmla="val 64702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角丸四角形 57"/>
          <p:cNvSpPr/>
          <p:nvPr/>
        </p:nvSpPr>
        <p:spPr>
          <a:xfrm>
            <a:off x="137509" y="3514748"/>
            <a:ext cx="819150" cy="218122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sp>
        <p:nvSpPr>
          <p:cNvPr id="59" name="角丸四角形 4"/>
          <p:cNvSpPr/>
          <p:nvPr/>
        </p:nvSpPr>
        <p:spPr>
          <a:xfrm>
            <a:off x="137509" y="2609873"/>
            <a:ext cx="819150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cxnSp>
        <p:nvCxnSpPr>
          <p:cNvPr id="31765" name="カギ線コネクタ 22"/>
          <p:cNvCxnSpPr>
            <a:cxnSpLocks noChangeShapeType="1"/>
            <a:stCxn id="22" idx="2"/>
            <a:endCxn id="14" idx="1"/>
          </p:cNvCxnSpPr>
          <p:nvPr/>
        </p:nvCxnSpPr>
        <p:spPr bwMode="auto">
          <a:xfrm rot="16200000" flipH="1">
            <a:off x="69056" y="3115469"/>
            <a:ext cx="554038" cy="16954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カギ線コネクタ 71"/>
          <p:cNvCxnSpPr>
            <a:stCxn id="0" idx="0"/>
            <a:endCxn id="39" idx="1"/>
          </p:cNvCxnSpPr>
          <p:nvPr/>
        </p:nvCxnSpPr>
        <p:spPr>
          <a:xfrm rot="5400000" flipH="1" flipV="1">
            <a:off x="92075" y="4648200"/>
            <a:ext cx="438150" cy="1752600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カギ線コネクタ 18"/>
          <p:cNvCxnSpPr/>
          <p:nvPr/>
        </p:nvCxnSpPr>
        <p:spPr>
          <a:xfrm rot="16200000" flipV="1">
            <a:off x="950913" y="2747962"/>
            <a:ext cx="1295400" cy="720725"/>
          </a:xfrm>
          <a:prstGeom prst="bentConnector4">
            <a:avLst>
              <a:gd name="adj1" fmla="val 24889"/>
              <a:gd name="adj2" fmla="val 15684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91911"/>
            <a:ext cx="7772400" cy="1465690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363128"/>
            <a:ext cx="6400800" cy="986696"/>
          </a:xfrm>
        </p:spPr>
        <p:txBody>
          <a:bodyPr/>
          <a:lstStyle/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異常時処理方式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3131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57150" y="2057400"/>
            <a:ext cx="7423150" cy="46482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1041400" y="2624138"/>
            <a:ext cx="3722688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>
              <a:defRPr/>
            </a:pP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RSC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アダプタ用ドメイン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190500" y="6243638"/>
            <a:ext cx="7188200" cy="373062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Red Hat Enterprise Linux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854575" y="4787900"/>
            <a:ext cx="711200" cy="922338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データソース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4248150" y="85725"/>
            <a:ext cx="9271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AES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17500" y="88900"/>
            <a:ext cx="9271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タンデム</a:t>
            </a:r>
          </a:p>
        </p:txBody>
      </p:sp>
      <p:sp>
        <p:nvSpPr>
          <p:cNvPr id="9" name="角丸四角形 55"/>
          <p:cNvSpPr/>
          <p:nvPr/>
        </p:nvSpPr>
        <p:spPr>
          <a:xfrm>
            <a:off x="1054100" y="3535363"/>
            <a:ext cx="3722688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　　　　　　　　　　　　　　　　　　　　　　　　</a:t>
            </a: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IVR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492250" y="87313"/>
            <a:ext cx="11176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チャネル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統合基盤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7816850" y="5602288"/>
            <a:ext cx="927100" cy="1116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IVRDB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862263" y="87313"/>
            <a:ext cx="11176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AP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　　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Rule Zone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5438775" y="88900"/>
            <a:ext cx="11176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DB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　　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DTS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4" name="角丸四角形 13"/>
          <p:cNvSpPr/>
          <p:nvPr/>
        </p:nvSpPr>
        <p:spPr>
          <a:xfrm>
            <a:off x="1193800" y="3756025"/>
            <a:ext cx="1585913" cy="9683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音声フロー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JTIC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クライアント）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角丸四角形 14"/>
          <p:cNvSpPr/>
          <p:nvPr/>
        </p:nvSpPr>
        <p:spPr>
          <a:xfrm>
            <a:off x="3455988" y="4040188"/>
            <a:ext cx="1249362" cy="37623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 smtClean="0">
                <a:solidFill>
                  <a:schemeClr val="bg1"/>
                </a:solidFill>
                <a:latin typeface="+mn-ea"/>
              </a:rPr>
              <a:t>aesconnector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3455986" y="3587751"/>
            <a:ext cx="1249364" cy="361950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>
                <a:solidFill>
                  <a:schemeClr val="bg1"/>
                </a:solidFill>
                <a:latin typeface="+mn-ea"/>
              </a:rPr>
              <a:t>runtimeconfig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736" name="Picture 64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5838" y="5743575"/>
            <a:ext cx="8413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-828675" y="6459538"/>
            <a:ext cx="52705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+mn-ea"/>
                <a:ea typeface="+mn-ea"/>
              </a:rPr>
              <a:t>SMCC</a:t>
            </a:r>
            <a:endParaRPr lang="ja-JP" altLang="en-US" dirty="0">
              <a:latin typeface="+mn-ea"/>
              <a:ea typeface="+mn-ea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190500" y="5783263"/>
            <a:ext cx="5375275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 </a:t>
            </a:r>
            <a:r>
              <a:rPr lang="en-US" altLang="ja-JP" sz="1200" dirty="0" err="1">
                <a:solidFill>
                  <a:schemeClr val="tx1"/>
                </a:solidFill>
                <a:latin typeface="+mn-ea"/>
              </a:rPr>
              <a:t>WebLogic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 Server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5638800" y="5783263"/>
            <a:ext cx="671513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JP1/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AJS3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-96520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MPP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1187450" y="5068888"/>
            <a:ext cx="1358900" cy="47148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管理画面</a:t>
            </a:r>
          </a:p>
        </p:txBody>
      </p:sp>
      <p:sp>
        <p:nvSpPr>
          <p:cNvPr id="47" name="正方形/長方形 212"/>
          <p:cNvSpPr/>
          <p:nvPr/>
        </p:nvSpPr>
        <p:spPr>
          <a:xfrm>
            <a:off x="777875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ＭＳ Ｐゴシック" pitchFamily="50" charset="-128"/>
              </a:rPr>
              <a:t>EPM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（</a:t>
            </a:r>
            <a:r>
              <a:rPr lang="en-US" altLang="ja-JP" sz="1200" dirty="0" err="1">
                <a:solidFill>
                  <a:schemeClr val="tx1"/>
                </a:solidFill>
                <a:latin typeface="ＭＳ Ｐゴシック" pitchFamily="50" charset="-128"/>
              </a:rPr>
              <a:t>WebLM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）</a:t>
            </a:r>
          </a:p>
        </p:txBody>
      </p:sp>
      <p:cxnSp>
        <p:nvCxnSpPr>
          <p:cNvPr id="30744" name="カギ線コネクタ 63528"/>
          <p:cNvCxnSpPr>
            <a:cxnSpLocks noChangeShapeType="1"/>
            <a:stCxn id="16" idx="3"/>
            <a:endCxn id="47" idx="1"/>
          </p:cNvCxnSpPr>
          <p:nvPr/>
        </p:nvCxnSpPr>
        <p:spPr bwMode="auto">
          <a:xfrm flipV="1">
            <a:off x="4705350" y="2874169"/>
            <a:ext cx="3073400" cy="89455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カギ線コネクタ 110"/>
          <p:cNvCxnSpPr/>
          <p:nvPr/>
        </p:nvCxnSpPr>
        <p:spPr>
          <a:xfrm flipV="1">
            <a:off x="2779712" y="1684338"/>
            <a:ext cx="576000" cy="2268537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stCxn id="14" idx="2"/>
            <a:endCxn id="11" idx="0"/>
          </p:cNvCxnSpPr>
          <p:nvPr/>
        </p:nvCxnSpPr>
        <p:spPr>
          <a:xfrm rot="16200000" flipH="1">
            <a:off x="4694238" y="2016125"/>
            <a:ext cx="877888" cy="6294437"/>
          </a:xfrm>
          <a:prstGeom prst="bentConnector3">
            <a:avLst>
              <a:gd name="adj1" fmla="val 25407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カギ線コネクタ 123"/>
          <p:cNvCxnSpPr/>
          <p:nvPr/>
        </p:nvCxnSpPr>
        <p:spPr>
          <a:xfrm>
            <a:off x="2546350" y="5305425"/>
            <a:ext cx="5975350" cy="296863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カギ線コネクタ 125"/>
          <p:cNvCxnSpPr>
            <a:stCxn id="15" idx="1"/>
            <a:endCxn id="7" idx="2"/>
          </p:cNvCxnSpPr>
          <p:nvPr/>
        </p:nvCxnSpPr>
        <p:spPr>
          <a:xfrm rot="10800000" flipH="1">
            <a:off x="3455988" y="1709739"/>
            <a:ext cx="1255712" cy="2518569"/>
          </a:xfrm>
          <a:prstGeom prst="bentConnector4">
            <a:avLst>
              <a:gd name="adj1" fmla="val -26410"/>
              <a:gd name="adj2" fmla="val 79814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カギ線コネクタ 145"/>
          <p:cNvCxnSpPr/>
          <p:nvPr/>
        </p:nvCxnSpPr>
        <p:spPr>
          <a:xfrm flipV="1">
            <a:off x="2774950" y="1700213"/>
            <a:ext cx="3240088" cy="2843212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角丸四角形 161"/>
          <p:cNvSpPr/>
          <p:nvPr/>
        </p:nvSpPr>
        <p:spPr>
          <a:xfrm>
            <a:off x="6373813" y="5783263"/>
            <a:ext cx="1004887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Client</a:t>
            </a:r>
          </a:p>
        </p:txBody>
      </p:sp>
      <p:sp>
        <p:nvSpPr>
          <p:cNvPr id="51" name="角丸四角形 50"/>
          <p:cNvSpPr/>
          <p:nvPr/>
        </p:nvSpPr>
        <p:spPr>
          <a:xfrm>
            <a:off x="5638800" y="5389563"/>
            <a:ext cx="671513" cy="320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バッチ</a:t>
            </a:r>
          </a:p>
        </p:txBody>
      </p:sp>
      <p:cxnSp>
        <p:nvCxnSpPr>
          <p:cNvPr id="164" name="カギ線コネクタ 163"/>
          <p:cNvCxnSpPr>
            <a:stCxn id="21" idx="0"/>
          </p:cNvCxnSpPr>
          <p:nvPr/>
        </p:nvCxnSpPr>
        <p:spPr>
          <a:xfrm rot="16200000" flipH="1">
            <a:off x="6801644" y="4955382"/>
            <a:ext cx="187325" cy="1843087"/>
          </a:xfrm>
          <a:prstGeom prst="bentConnector4">
            <a:avLst>
              <a:gd name="adj1" fmla="val -74426"/>
              <a:gd name="adj2" fmla="val 64702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/>
          <p:cNvSpPr txBox="1"/>
          <p:nvPr/>
        </p:nvSpPr>
        <p:spPr>
          <a:xfrm>
            <a:off x="-642938" y="2735263"/>
            <a:ext cx="2825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A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3713163" y="5832475"/>
            <a:ext cx="28575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C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2382961" y="3853333"/>
            <a:ext cx="285750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D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4458058" y="4076521"/>
            <a:ext cx="27305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E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2270125" y="5162550"/>
            <a:ext cx="26987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F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452938" y="3636963"/>
            <a:ext cx="290512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G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8131175" y="2735263"/>
            <a:ext cx="222250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I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5075238" y="5402263"/>
            <a:ext cx="2698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J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642938" y="762000"/>
            <a:ext cx="2762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K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1917700" y="762000"/>
            <a:ext cx="26670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L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3270250" y="749300"/>
            <a:ext cx="3016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M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856288" y="749300"/>
            <a:ext cx="28257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N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4565650" y="749300"/>
            <a:ext cx="29368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O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9" name="角丸四角形 68"/>
          <p:cNvSpPr/>
          <p:nvPr/>
        </p:nvSpPr>
        <p:spPr>
          <a:xfrm>
            <a:off x="1238250" y="2343150"/>
            <a:ext cx="1239838" cy="550863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RSC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アダプタ（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※1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）</a:t>
            </a:r>
          </a:p>
        </p:txBody>
      </p:sp>
      <p:cxnSp>
        <p:nvCxnSpPr>
          <p:cNvPr id="30768" name="カギ線コネクタ 37"/>
          <p:cNvCxnSpPr>
            <a:cxnSpLocks noChangeShapeType="1"/>
          </p:cNvCxnSpPr>
          <p:nvPr/>
        </p:nvCxnSpPr>
        <p:spPr bwMode="auto">
          <a:xfrm rot="16200000" flipV="1">
            <a:off x="851694" y="1488281"/>
            <a:ext cx="631825" cy="1077913"/>
          </a:xfrm>
          <a:prstGeom prst="bentConnector3">
            <a:avLst>
              <a:gd name="adj1" fmla="val 1985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9" name="カギ線コネクタ 63491"/>
          <p:cNvCxnSpPr>
            <a:cxnSpLocks noChangeShapeType="1"/>
          </p:cNvCxnSpPr>
          <p:nvPr/>
        </p:nvCxnSpPr>
        <p:spPr bwMode="auto">
          <a:xfrm flipH="1" flipV="1">
            <a:off x="1914525" y="1711325"/>
            <a:ext cx="865188" cy="2528888"/>
          </a:xfrm>
          <a:prstGeom prst="bentConnector4">
            <a:avLst>
              <a:gd name="adj1" fmla="val -26421"/>
              <a:gd name="adj2" fmla="val 7966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テキスト ボックス 63"/>
          <p:cNvSpPr txBox="1"/>
          <p:nvPr/>
        </p:nvSpPr>
        <p:spPr>
          <a:xfrm>
            <a:off x="2171700" y="2611438"/>
            <a:ext cx="2825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H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8140700" y="6021388"/>
            <a:ext cx="279400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P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5" name="角丸四角形 74"/>
          <p:cNvSpPr/>
          <p:nvPr/>
        </p:nvSpPr>
        <p:spPr>
          <a:xfrm>
            <a:off x="137509" y="3514748"/>
            <a:ext cx="819150" cy="218122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sp>
        <p:nvSpPr>
          <p:cNvPr id="76" name="角丸四角形 4"/>
          <p:cNvSpPr/>
          <p:nvPr/>
        </p:nvSpPr>
        <p:spPr>
          <a:xfrm>
            <a:off x="137509" y="2609873"/>
            <a:ext cx="819150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cxnSp>
        <p:nvCxnSpPr>
          <p:cNvPr id="30741" name="カギ線コネクタ 22"/>
          <p:cNvCxnSpPr>
            <a:cxnSpLocks noChangeShapeType="1"/>
            <a:stCxn id="22" idx="2"/>
            <a:endCxn id="14" idx="1"/>
          </p:cNvCxnSpPr>
          <p:nvPr/>
        </p:nvCxnSpPr>
        <p:spPr bwMode="auto">
          <a:xfrm rot="16200000" flipH="1">
            <a:off x="69056" y="3115469"/>
            <a:ext cx="554038" cy="16954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カギ線コネクタ 71"/>
          <p:cNvCxnSpPr>
            <a:stCxn id="0" idx="0"/>
            <a:endCxn id="39" idx="1"/>
          </p:cNvCxnSpPr>
          <p:nvPr/>
        </p:nvCxnSpPr>
        <p:spPr>
          <a:xfrm rot="5400000" flipH="1" flipV="1">
            <a:off x="92075" y="4648200"/>
            <a:ext cx="438150" cy="1752600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カギ線コネクタ 80"/>
          <p:cNvCxnSpPr/>
          <p:nvPr/>
        </p:nvCxnSpPr>
        <p:spPr>
          <a:xfrm rot="16200000" flipV="1">
            <a:off x="950913" y="2747962"/>
            <a:ext cx="1295400" cy="720725"/>
          </a:xfrm>
          <a:prstGeom prst="bentConnector4">
            <a:avLst>
              <a:gd name="adj1" fmla="val 24889"/>
              <a:gd name="adj2" fmla="val 15684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 txBox="1">
            <a:spLocks/>
          </p:cNvSpPr>
          <p:nvPr/>
        </p:nvSpPr>
        <p:spPr>
          <a:xfrm>
            <a:off x="702699" y="228525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397811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正常時処理方式</a:t>
            </a:r>
          </a:p>
        </p:txBody>
      </p:sp>
    </p:spTree>
    <p:extLst>
      <p:ext uri="{BB962C8B-B14F-4D97-AF65-F5344CB8AC3E}">
        <p14:creationId xmlns:p14="http://schemas.microsoft.com/office/powerpoint/2010/main" val="91084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57150" y="2057400"/>
            <a:ext cx="7423150" cy="46482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1041400" y="2624138"/>
            <a:ext cx="3722688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>
              <a:defRPr/>
            </a:pP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RSC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アダプタ用ドメイン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190500" y="6243638"/>
            <a:ext cx="7188200" cy="373062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Red Hat Enterprise Linux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854575" y="4787900"/>
            <a:ext cx="711200" cy="922338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データソース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4248150" y="85725"/>
            <a:ext cx="9271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AES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17500" y="88900"/>
            <a:ext cx="9271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タンデム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（開発）</a:t>
            </a:r>
          </a:p>
          <a:p>
            <a:pPr>
              <a:defRPr/>
            </a:pP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角丸四角形 55"/>
          <p:cNvSpPr/>
          <p:nvPr/>
        </p:nvSpPr>
        <p:spPr>
          <a:xfrm>
            <a:off x="1041400" y="3535363"/>
            <a:ext cx="3735388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　　　　　　　　　　　　　　　　　　　　　　　　</a:t>
            </a: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IVR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492250" y="87313"/>
            <a:ext cx="11176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チャネル</a:t>
            </a:r>
            <a:endParaRPr lang="en-US" altLang="ja-JP" sz="120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基盤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050" dirty="0">
                <a:solidFill>
                  <a:schemeClr val="tx1"/>
                </a:solidFill>
                <a:latin typeface="+mn-ea"/>
              </a:rPr>
              <a:t>ST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機）</a:t>
            </a:r>
          </a:p>
          <a:p>
            <a:pPr>
              <a:spcBef>
                <a:spcPts val="0"/>
              </a:spcBef>
              <a:defRPr/>
            </a:pP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7816850" y="5602288"/>
            <a:ext cx="927100" cy="1116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IVRDB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862263" y="87313"/>
            <a:ext cx="11176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AP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050" dirty="0">
                <a:solidFill>
                  <a:schemeClr val="tx1"/>
                </a:solidFill>
                <a:latin typeface="+mn-ea"/>
              </a:rPr>
              <a:t>ST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機）</a:t>
            </a: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Rule Zone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5438775" y="88900"/>
            <a:ext cx="11176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DB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050" dirty="0">
                <a:solidFill>
                  <a:schemeClr val="tx1"/>
                </a:solidFill>
                <a:latin typeface="+mn-ea"/>
              </a:rPr>
              <a:t>ST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機）</a:t>
            </a:r>
            <a:endParaRPr lang="en-US" altLang="ja-JP" sz="160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DTS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4" name="角丸四角形 13"/>
          <p:cNvSpPr/>
          <p:nvPr/>
        </p:nvSpPr>
        <p:spPr>
          <a:xfrm>
            <a:off x="1193800" y="3756025"/>
            <a:ext cx="1585913" cy="9683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音声フロー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JTIC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クライアント）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角丸四角形 14"/>
          <p:cNvSpPr/>
          <p:nvPr/>
        </p:nvSpPr>
        <p:spPr>
          <a:xfrm>
            <a:off x="3541713" y="4040188"/>
            <a:ext cx="1143000" cy="37623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 smtClean="0">
                <a:solidFill>
                  <a:schemeClr val="bg1"/>
                </a:solidFill>
                <a:latin typeface="+mn-ea"/>
              </a:rPr>
              <a:t>aesconnector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3541713" y="3575050"/>
            <a:ext cx="1117600" cy="361950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>
                <a:solidFill>
                  <a:schemeClr val="bg1"/>
                </a:solidFill>
                <a:latin typeface="+mn-ea"/>
              </a:rPr>
              <a:t>runtimeconfig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1760" name="Picture 64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5838" y="5743575"/>
            <a:ext cx="8413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-828675" y="6459538"/>
            <a:ext cx="52705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+mn-ea"/>
                <a:ea typeface="+mn-ea"/>
              </a:rPr>
              <a:t>SMCC</a:t>
            </a:r>
            <a:endParaRPr lang="ja-JP" altLang="en-US" dirty="0">
              <a:latin typeface="+mn-ea"/>
              <a:ea typeface="+mn-ea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190500" y="5783263"/>
            <a:ext cx="5375275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 </a:t>
            </a:r>
            <a:r>
              <a:rPr lang="en-US" altLang="ja-JP" sz="1200" dirty="0" err="1">
                <a:solidFill>
                  <a:schemeClr val="tx1"/>
                </a:solidFill>
                <a:latin typeface="+mn-ea"/>
              </a:rPr>
              <a:t>WebLogic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 Server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5638800" y="5783263"/>
            <a:ext cx="671513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JP1/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AJS3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-96520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MPP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-482600" y="41957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①</a:t>
            </a: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-514350" y="53133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⑫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1238250" y="2343150"/>
            <a:ext cx="1239838" cy="550863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RSC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アダプタ（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※1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）</a:t>
            </a:r>
          </a:p>
        </p:txBody>
      </p:sp>
      <p:cxnSp>
        <p:nvCxnSpPr>
          <p:cNvPr id="31769" name="カギ線コネクタ 37"/>
          <p:cNvCxnSpPr>
            <a:cxnSpLocks noChangeShapeType="1"/>
          </p:cNvCxnSpPr>
          <p:nvPr/>
        </p:nvCxnSpPr>
        <p:spPr bwMode="auto">
          <a:xfrm rot="16200000" flipV="1">
            <a:off x="851694" y="1488281"/>
            <a:ext cx="631825" cy="1077913"/>
          </a:xfrm>
          <a:prstGeom prst="bentConnector3">
            <a:avLst>
              <a:gd name="adj1" fmla="val 1985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角丸四角形 38"/>
          <p:cNvSpPr/>
          <p:nvPr/>
        </p:nvSpPr>
        <p:spPr>
          <a:xfrm>
            <a:off x="1187450" y="5068888"/>
            <a:ext cx="1358900" cy="47148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管理画面</a:t>
            </a:r>
          </a:p>
        </p:txBody>
      </p:sp>
      <p:cxnSp>
        <p:nvCxnSpPr>
          <p:cNvPr id="31771" name="カギ線コネクタ 63491"/>
          <p:cNvCxnSpPr>
            <a:cxnSpLocks noChangeShapeType="1"/>
            <a:stCxn id="14" idx="3"/>
          </p:cNvCxnSpPr>
          <p:nvPr/>
        </p:nvCxnSpPr>
        <p:spPr bwMode="auto">
          <a:xfrm flipH="1" flipV="1">
            <a:off x="1914525" y="1711325"/>
            <a:ext cx="865188" cy="2528888"/>
          </a:xfrm>
          <a:prstGeom prst="bentConnector4">
            <a:avLst>
              <a:gd name="adj1" fmla="val -26421"/>
              <a:gd name="adj2" fmla="val 7966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正方形/長方形 212"/>
          <p:cNvSpPr/>
          <p:nvPr/>
        </p:nvSpPr>
        <p:spPr>
          <a:xfrm>
            <a:off x="777875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ＭＳ Ｐゴシック" pitchFamily="50" charset="-128"/>
              </a:rPr>
              <a:t>EPM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（</a:t>
            </a:r>
            <a:r>
              <a:rPr lang="en-US" altLang="ja-JP" sz="1200" dirty="0" err="1">
                <a:solidFill>
                  <a:schemeClr val="tx1"/>
                </a:solidFill>
                <a:latin typeface="ＭＳ Ｐゴシック" pitchFamily="50" charset="-128"/>
              </a:rPr>
              <a:t>WebLM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）</a:t>
            </a:r>
          </a:p>
        </p:txBody>
      </p:sp>
      <p:cxnSp>
        <p:nvCxnSpPr>
          <p:cNvPr id="31773" name="カギ線コネクタ 63528"/>
          <p:cNvCxnSpPr>
            <a:cxnSpLocks noChangeShapeType="1"/>
            <a:stCxn id="16" idx="3"/>
            <a:endCxn id="47" idx="1"/>
          </p:cNvCxnSpPr>
          <p:nvPr/>
        </p:nvCxnSpPr>
        <p:spPr bwMode="auto">
          <a:xfrm flipV="1">
            <a:off x="4659313" y="2874963"/>
            <a:ext cx="3119437" cy="8810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カギ線コネクタ 110"/>
          <p:cNvCxnSpPr/>
          <p:nvPr/>
        </p:nvCxnSpPr>
        <p:spPr>
          <a:xfrm flipV="1">
            <a:off x="2779712" y="1684338"/>
            <a:ext cx="576000" cy="2268537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stCxn id="14" idx="2"/>
            <a:endCxn id="11" idx="0"/>
          </p:cNvCxnSpPr>
          <p:nvPr/>
        </p:nvCxnSpPr>
        <p:spPr>
          <a:xfrm rot="16200000" flipH="1">
            <a:off x="4694238" y="2016125"/>
            <a:ext cx="877888" cy="6294437"/>
          </a:xfrm>
          <a:prstGeom prst="bentConnector3">
            <a:avLst>
              <a:gd name="adj1" fmla="val 26853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カギ線コネクタ 123"/>
          <p:cNvCxnSpPr/>
          <p:nvPr/>
        </p:nvCxnSpPr>
        <p:spPr>
          <a:xfrm>
            <a:off x="2546350" y="5305425"/>
            <a:ext cx="5975350" cy="296863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カギ線コネクタ 125"/>
          <p:cNvCxnSpPr>
            <a:stCxn id="15" idx="1"/>
            <a:endCxn id="7" idx="2"/>
          </p:cNvCxnSpPr>
          <p:nvPr/>
        </p:nvCxnSpPr>
        <p:spPr>
          <a:xfrm rot="10800000" flipH="1">
            <a:off x="3541713" y="1709738"/>
            <a:ext cx="1169987" cy="2519362"/>
          </a:xfrm>
          <a:prstGeom prst="bentConnector4">
            <a:avLst>
              <a:gd name="adj1" fmla="val -34767"/>
              <a:gd name="adj2" fmla="val 79949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カギ線コネクタ 145"/>
          <p:cNvCxnSpPr/>
          <p:nvPr/>
        </p:nvCxnSpPr>
        <p:spPr>
          <a:xfrm flipV="1">
            <a:off x="2774950" y="1700213"/>
            <a:ext cx="3240088" cy="2843212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テキスト ボックス 146"/>
          <p:cNvSpPr txBox="1"/>
          <p:nvPr/>
        </p:nvSpPr>
        <p:spPr>
          <a:xfrm>
            <a:off x="2143125" y="1712913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②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49" name="テキスト ボックス 148"/>
          <p:cNvSpPr txBox="1"/>
          <p:nvPr/>
        </p:nvSpPr>
        <p:spPr>
          <a:xfrm>
            <a:off x="3349625" y="1714500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③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0" name="テキスト ボックス 149"/>
          <p:cNvSpPr txBox="1"/>
          <p:nvPr/>
        </p:nvSpPr>
        <p:spPr>
          <a:xfrm>
            <a:off x="4711700" y="1704975"/>
            <a:ext cx="33813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④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3" name="テキスト ボックス 152"/>
          <p:cNvSpPr txBox="1"/>
          <p:nvPr/>
        </p:nvSpPr>
        <p:spPr>
          <a:xfrm>
            <a:off x="6008688" y="1704975"/>
            <a:ext cx="3397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⑤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6980238" y="2592388"/>
            <a:ext cx="3381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⑥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5" name="テキスト ボックス 154"/>
          <p:cNvSpPr txBox="1"/>
          <p:nvPr/>
        </p:nvSpPr>
        <p:spPr>
          <a:xfrm>
            <a:off x="6810375" y="4651375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⑦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6" name="テキスト ボックス 155"/>
          <p:cNvSpPr txBox="1"/>
          <p:nvPr/>
        </p:nvSpPr>
        <p:spPr>
          <a:xfrm>
            <a:off x="8535988" y="5284788"/>
            <a:ext cx="3397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⑧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1973263" y="3297238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⑨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649288" y="1714500"/>
            <a:ext cx="3397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⑩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62" name="角丸四角形 161"/>
          <p:cNvSpPr/>
          <p:nvPr/>
        </p:nvSpPr>
        <p:spPr>
          <a:xfrm>
            <a:off x="6373813" y="5783263"/>
            <a:ext cx="1004887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Client</a:t>
            </a:r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7478713" y="56816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⑪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51" name="角丸四角形 50"/>
          <p:cNvSpPr/>
          <p:nvPr/>
        </p:nvSpPr>
        <p:spPr>
          <a:xfrm>
            <a:off x="5638800" y="5389563"/>
            <a:ext cx="671513" cy="320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バッチ</a:t>
            </a:r>
          </a:p>
        </p:txBody>
      </p:sp>
      <p:cxnSp>
        <p:nvCxnSpPr>
          <p:cNvPr id="164" name="カギ線コネクタ 163"/>
          <p:cNvCxnSpPr>
            <a:stCxn id="21" idx="0"/>
          </p:cNvCxnSpPr>
          <p:nvPr/>
        </p:nvCxnSpPr>
        <p:spPr>
          <a:xfrm rot="16200000" flipH="1">
            <a:off x="6801644" y="4955382"/>
            <a:ext cx="187325" cy="1843087"/>
          </a:xfrm>
          <a:prstGeom prst="bentConnector4">
            <a:avLst>
              <a:gd name="adj1" fmla="val -74427"/>
              <a:gd name="adj2" fmla="val 64702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角丸四角形 57"/>
          <p:cNvSpPr/>
          <p:nvPr/>
        </p:nvSpPr>
        <p:spPr>
          <a:xfrm>
            <a:off x="137509" y="3514748"/>
            <a:ext cx="819150" cy="218122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sp>
        <p:nvSpPr>
          <p:cNvPr id="59" name="角丸四角形 4"/>
          <p:cNvSpPr/>
          <p:nvPr/>
        </p:nvSpPr>
        <p:spPr>
          <a:xfrm>
            <a:off x="137509" y="2609873"/>
            <a:ext cx="819150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cxnSp>
        <p:nvCxnSpPr>
          <p:cNvPr id="31765" name="カギ線コネクタ 22"/>
          <p:cNvCxnSpPr>
            <a:cxnSpLocks noChangeShapeType="1"/>
            <a:stCxn id="22" idx="2"/>
            <a:endCxn id="14" idx="1"/>
          </p:cNvCxnSpPr>
          <p:nvPr/>
        </p:nvCxnSpPr>
        <p:spPr bwMode="auto">
          <a:xfrm rot="16200000" flipH="1">
            <a:off x="69056" y="3115469"/>
            <a:ext cx="554038" cy="16954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カギ線コネクタ 71"/>
          <p:cNvCxnSpPr>
            <a:endCxn id="39" idx="1"/>
          </p:cNvCxnSpPr>
          <p:nvPr/>
        </p:nvCxnSpPr>
        <p:spPr>
          <a:xfrm rot="5400000" flipH="1" flipV="1">
            <a:off x="92075" y="4648200"/>
            <a:ext cx="438150" cy="1752600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カギ線コネクタ 18"/>
          <p:cNvCxnSpPr/>
          <p:nvPr/>
        </p:nvCxnSpPr>
        <p:spPr>
          <a:xfrm rot="16200000" flipV="1">
            <a:off x="950913" y="2747962"/>
            <a:ext cx="1295400" cy="720725"/>
          </a:xfrm>
          <a:prstGeom prst="bentConnector4">
            <a:avLst>
              <a:gd name="adj1" fmla="val 24889"/>
              <a:gd name="adj2" fmla="val 15684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61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 txBox="1">
            <a:spLocks/>
          </p:cNvSpPr>
          <p:nvPr/>
        </p:nvSpPr>
        <p:spPr>
          <a:xfrm>
            <a:off x="702699" y="228525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397811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</a:t>
            </a:r>
            <a:r>
              <a:rPr lang="zh-TW" altLang="en-US" dirty="0" smtClean="0">
                <a:latin typeface="ＭＳ Ｐゴシック" pitchFamily="50" charset="-128"/>
                <a:ea typeface="ＭＳ Ｐゴシック" pitchFamily="50" charset="-128"/>
              </a:rPr>
              <a:t>時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</a:t>
            </a:r>
          </a:p>
        </p:txBody>
      </p:sp>
    </p:spTree>
    <p:extLst>
      <p:ext uri="{BB962C8B-B14F-4D97-AF65-F5344CB8AC3E}">
        <p14:creationId xmlns:p14="http://schemas.microsoft.com/office/powerpoint/2010/main" val="298498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57150" y="2057400"/>
            <a:ext cx="7423150" cy="46482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1041400" y="2624138"/>
            <a:ext cx="3722688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>
              <a:defRPr/>
            </a:pP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RSC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アダプタ用ドメイン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190500" y="6243638"/>
            <a:ext cx="7188200" cy="373062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Red Hat Enterprise Linux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854575" y="4787900"/>
            <a:ext cx="711200" cy="922338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データソース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4248150" y="85725"/>
            <a:ext cx="9271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AES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17500" y="88900"/>
            <a:ext cx="9271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タンデム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（開発）</a:t>
            </a:r>
          </a:p>
          <a:p>
            <a:pPr>
              <a:defRPr/>
            </a:pP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角丸四角形 55"/>
          <p:cNvSpPr/>
          <p:nvPr/>
        </p:nvSpPr>
        <p:spPr>
          <a:xfrm>
            <a:off x="1054100" y="3535363"/>
            <a:ext cx="3722688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　　　　　　　　　　　　　　　　　　　　　　　　</a:t>
            </a: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IVR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492250" y="87313"/>
            <a:ext cx="11176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チャネル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基盤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050" dirty="0">
                <a:solidFill>
                  <a:schemeClr val="tx1"/>
                </a:solidFill>
                <a:latin typeface="+mn-ea"/>
              </a:rPr>
              <a:t>ST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機）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7816850" y="5602288"/>
            <a:ext cx="927100" cy="1116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IVRDB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862263" y="87313"/>
            <a:ext cx="11176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AP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050" dirty="0">
                <a:solidFill>
                  <a:schemeClr val="tx1"/>
                </a:solidFill>
                <a:latin typeface="+mn-ea"/>
              </a:rPr>
              <a:t>ST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機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）</a:t>
            </a:r>
            <a:endParaRPr lang="en-US" altLang="ja-JP" sz="105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Rule Zone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5438775" y="88900"/>
            <a:ext cx="11176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DB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050" dirty="0">
                <a:solidFill>
                  <a:schemeClr val="tx1"/>
                </a:solidFill>
                <a:latin typeface="+mn-ea"/>
              </a:rPr>
              <a:t>ST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機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）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DTS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4" name="角丸四角形 13"/>
          <p:cNvSpPr/>
          <p:nvPr/>
        </p:nvSpPr>
        <p:spPr>
          <a:xfrm>
            <a:off x="1193800" y="3756025"/>
            <a:ext cx="1585913" cy="9683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音声フロー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JTIC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クライアント）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角丸四角形 14"/>
          <p:cNvSpPr/>
          <p:nvPr/>
        </p:nvSpPr>
        <p:spPr>
          <a:xfrm>
            <a:off x="3455988" y="4040188"/>
            <a:ext cx="1249362" cy="37623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 smtClean="0">
                <a:solidFill>
                  <a:schemeClr val="bg1"/>
                </a:solidFill>
                <a:latin typeface="+mn-ea"/>
              </a:rPr>
              <a:t>aesconnector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3455986" y="3587751"/>
            <a:ext cx="1249364" cy="361950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>
                <a:solidFill>
                  <a:schemeClr val="bg1"/>
                </a:solidFill>
                <a:latin typeface="+mn-ea"/>
              </a:rPr>
              <a:t>runtimeconfig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736" name="Picture 64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5838" y="5743575"/>
            <a:ext cx="8413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-828675" y="6459538"/>
            <a:ext cx="52705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+mn-ea"/>
                <a:ea typeface="+mn-ea"/>
              </a:rPr>
              <a:t>SMCC</a:t>
            </a:r>
            <a:endParaRPr lang="ja-JP" altLang="en-US" dirty="0">
              <a:latin typeface="+mn-ea"/>
              <a:ea typeface="+mn-ea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190500" y="5783263"/>
            <a:ext cx="5375275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 </a:t>
            </a:r>
            <a:r>
              <a:rPr lang="en-US" altLang="ja-JP" sz="1200" dirty="0" err="1">
                <a:solidFill>
                  <a:schemeClr val="tx1"/>
                </a:solidFill>
                <a:latin typeface="+mn-ea"/>
              </a:rPr>
              <a:t>WebLogic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 Server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5638800" y="5783263"/>
            <a:ext cx="671513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JP1/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AJS3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-96520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MPP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1187450" y="5068888"/>
            <a:ext cx="1358900" cy="47148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管理画面</a:t>
            </a:r>
          </a:p>
        </p:txBody>
      </p:sp>
      <p:sp>
        <p:nvSpPr>
          <p:cNvPr id="47" name="正方形/長方形 212"/>
          <p:cNvSpPr/>
          <p:nvPr/>
        </p:nvSpPr>
        <p:spPr>
          <a:xfrm>
            <a:off x="777875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ＭＳ Ｐゴシック" pitchFamily="50" charset="-128"/>
              </a:rPr>
              <a:t>EPM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（</a:t>
            </a:r>
            <a:r>
              <a:rPr lang="en-US" altLang="ja-JP" sz="1200" dirty="0" err="1">
                <a:solidFill>
                  <a:schemeClr val="tx1"/>
                </a:solidFill>
                <a:latin typeface="ＭＳ Ｐゴシック" pitchFamily="50" charset="-128"/>
              </a:rPr>
              <a:t>WebLM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）</a:t>
            </a:r>
          </a:p>
        </p:txBody>
      </p:sp>
      <p:cxnSp>
        <p:nvCxnSpPr>
          <p:cNvPr id="30744" name="カギ線コネクタ 63528"/>
          <p:cNvCxnSpPr>
            <a:cxnSpLocks noChangeShapeType="1"/>
            <a:stCxn id="16" idx="3"/>
            <a:endCxn id="47" idx="1"/>
          </p:cNvCxnSpPr>
          <p:nvPr/>
        </p:nvCxnSpPr>
        <p:spPr bwMode="auto">
          <a:xfrm flipV="1">
            <a:off x="4705350" y="2874169"/>
            <a:ext cx="3073400" cy="89455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カギ線コネクタ 110"/>
          <p:cNvCxnSpPr/>
          <p:nvPr/>
        </p:nvCxnSpPr>
        <p:spPr>
          <a:xfrm flipV="1">
            <a:off x="2779712" y="1684338"/>
            <a:ext cx="576000" cy="2268537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stCxn id="14" idx="2"/>
            <a:endCxn id="11" idx="0"/>
          </p:cNvCxnSpPr>
          <p:nvPr/>
        </p:nvCxnSpPr>
        <p:spPr>
          <a:xfrm rot="16200000" flipH="1">
            <a:off x="4694238" y="2016125"/>
            <a:ext cx="877888" cy="6294437"/>
          </a:xfrm>
          <a:prstGeom prst="bentConnector3">
            <a:avLst>
              <a:gd name="adj1" fmla="val 25407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カギ線コネクタ 123"/>
          <p:cNvCxnSpPr/>
          <p:nvPr/>
        </p:nvCxnSpPr>
        <p:spPr>
          <a:xfrm>
            <a:off x="2546350" y="5305425"/>
            <a:ext cx="5975350" cy="296863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カギ線コネクタ 125"/>
          <p:cNvCxnSpPr>
            <a:stCxn id="15" idx="1"/>
            <a:endCxn id="7" idx="2"/>
          </p:cNvCxnSpPr>
          <p:nvPr/>
        </p:nvCxnSpPr>
        <p:spPr>
          <a:xfrm rot="10800000" flipH="1">
            <a:off x="3455988" y="1709739"/>
            <a:ext cx="1255712" cy="2518569"/>
          </a:xfrm>
          <a:prstGeom prst="bentConnector4">
            <a:avLst>
              <a:gd name="adj1" fmla="val -26410"/>
              <a:gd name="adj2" fmla="val 79814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カギ線コネクタ 145"/>
          <p:cNvCxnSpPr/>
          <p:nvPr/>
        </p:nvCxnSpPr>
        <p:spPr>
          <a:xfrm flipV="1">
            <a:off x="2774950" y="1700213"/>
            <a:ext cx="3240088" cy="2843212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角丸四角形 161"/>
          <p:cNvSpPr/>
          <p:nvPr/>
        </p:nvSpPr>
        <p:spPr>
          <a:xfrm>
            <a:off x="6373813" y="5783263"/>
            <a:ext cx="1004887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Client</a:t>
            </a:r>
          </a:p>
        </p:txBody>
      </p:sp>
      <p:sp>
        <p:nvSpPr>
          <p:cNvPr id="51" name="角丸四角形 50"/>
          <p:cNvSpPr/>
          <p:nvPr/>
        </p:nvSpPr>
        <p:spPr>
          <a:xfrm>
            <a:off x="5638800" y="5389563"/>
            <a:ext cx="671513" cy="320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バッチ</a:t>
            </a:r>
          </a:p>
        </p:txBody>
      </p:sp>
      <p:cxnSp>
        <p:nvCxnSpPr>
          <p:cNvPr id="164" name="カギ線コネクタ 163"/>
          <p:cNvCxnSpPr>
            <a:stCxn id="21" idx="0"/>
          </p:cNvCxnSpPr>
          <p:nvPr/>
        </p:nvCxnSpPr>
        <p:spPr>
          <a:xfrm rot="16200000" flipH="1">
            <a:off x="6801644" y="4955382"/>
            <a:ext cx="187325" cy="1843087"/>
          </a:xfrm>
          <a:prstGeom prst="bentConnector4">
            <a:avLst>
              <a:gd name="adj1" fmla="val -74426"/>
              <a:gd name="adj2" fmla="val 64702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/>
          <p:cNvSpPr txBox="1"/>
          <p:nvPr/>
        </p:nvSpPr>
        <p:spPr>
          <a:xfrm>
            <a:off x="-642938" y="2735263"/>
            <a:ext cx="2825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A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3713163" y="5832475"/>
            <a:ext cx="28575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C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2382961" y="3853333"/>
            <a:ext cx="285750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D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4458058" y="4076521"/>
            <a:ext cx="27305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E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2270125" y="5162550"/>
            <a:ext cx="26987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F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452938" y="3636963"/>
            <a:ext cx="290512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G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8131175" y="2735263"/>
            <a:ext cx="222250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I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5075238" y="5402263"/>
            <a:ext cx="2698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J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642938" y="762000"/>
            <a:ext cx="2762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K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1917700" y="762000"/>
            <a:ext cx="26670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L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3270250" y="749300"/>
            <a:ext cx="3016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M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856288" y="749300"/>
            <a:ext cx="28257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N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4565650" y="749300"/>
            <a:ext cx="29368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O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9" name="角丸四角形 68"/>
          <p:cNvSpPr/>
          <p:nvPr/>
        </p:nvSpPr>
        <p:spPr>
          <a:xfrm>
            <a:off x="1238250" y="2343150"/>
            <a:ext cx="1239838" cy="550863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RSC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アダプタ（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※1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）</a:t>
            </a:r>
          </a:p>
        </p:txBody>
      </p:sp>
      <p:cxnSp>
        <p:nvCxnSpPr>
          <p:cNvPr id="30768" name="カギ線コネクタ 37"/>
          <p:cNvCxnSpPr>
            <a:cxnSpLocks noChangeShapeType="1"/>
          </p:cNvCxnSpPr>
          <p:nvPr/>
        </p:nvCxnSpPr>
        <p:spPr bwMode="auto">
          <a:xfrm rot="16200000" flipV="1">
            <a:off x="851694" y="1488281"/>
            <a:ext cx="631825" cy="1077913"/>
          </a:xfrm>
          <a:prstGeom prst="bentConnector3">
            <a:avLst>
              <a:gd name="adj1" fmla="val 1985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9" name="カギ線コネクタ 63491"/>
          <p:cNvCxnSpPr>
            <a:cxnSpLocks noChangeShapeType="1"/>
          </p:cNvCxnSpPr>
          <p:nvPr/>
        </p:nvCxnSpPr>
        <p:spPr bwMode="auto">
          <a:xfrm flipH="1" flipV="1">
            <a:off x="1914525" y="1711325"/>
            <a:ext cx="865188" cy="2528888"/>
          </a:xfrm>
          <a:prstGeom prst="bentConnector4">
            <a:avLst>
              <a:gd name="adj1" fmla="val -26421"/>
              <a:gd name="adj2" fmla="val 7966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テキスト ボックス 63"/>
          <p:cNvSpPr txBox="1"/>
          <p:nvPr/>
        </p:nvSpPr>
        <p:spPr>
          <a:xfrm>
            <a:off x="2171700" y="2611438"/>
            <a:ext cx="2825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H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8140700" y="6021388"/>
            <a:ext cx="279400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P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5" name="角丸四角形 74"/>
          <p:cNvSpPr/>
          <p:nvPr/>
        </p:nvSpPr>
        <p:spPr>
          <a:xfrm>
            <a:off x="137509" y="3514748"/>
            <a:ext cx="819150" cy="218122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sp>
        <p:nvSpPr>
          <p:cNvPr id="76" name="角丸四角形 4"/>
          <p:cNvSpPr/>
          <p:nvPr/>
        </p:nvSpPr>
        <p:spPr>
          <a:xfrm>
            <a:off x="137509" y="2609873"/>
            <a:ext cx="819150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cxnSp>
        <p:nvCxnSpPr>
          <p:cNvPr id="30741" name="カギ線コネクタ 22"/>
          <p:cNvCxnSpPr>
            <a:cxnSpLocks noChangeShapeType="1"/>
            <a:stCxn id="22" idx="2"/>
            <a:endCxn id="14" idx="1"/>
          </p:cNvCxnSpPr>
          <p:nvPr/>
        </p:nvCxnSpPr>
        <p:spPr bwMode="auto">
          <a:xfrm rot="16200000" flipH="1">
            <a:off x="69056" y="3115469"/>
            <a:ext cx="554038" cy="16954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カギ線コネクタ 71"/>
          <p:cNvCxnSpPr>
            <a:endCxn id="39" idx="1"/>
          </p:cNvCxnSpPr>
          <p:nvPr/>
        </p:nvCxnSpPr>
        <p:spPr>
          <a:xfrm rot="5400000" flipH="1" flipV="1">
            <a:off x="92075" y="4648200"/>
            <a:ext cx="438150" cy="1752600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カギ線コネクタ 80"/>
          <p:cNvCxnSpPr/>
          <p:nvPr/>
        </p:nvCxnSpPr>
        <p:spPr>
          <a:xfrm rot="16200000" flipV="1">
            <a:off x="950913" y="2747962"/>
            <a:ext cx="1295400" cy="720725"/>
          </a:xfrm>
          <a:prstGeom prst="bentConnector4">
            <a:avLst>
              <a:gd name="adj1" fmla="val 24889"/>
              <a:gd name="adj2" fmla="val 15684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410895" y="4525963"/>
            <a:ext cx="282575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B</a:t>
            </a:r>
            <a:endParaRPr lang="ja-JP" altLang="en-US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815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/>
          <p:cNvSpPr txBox="1">
            <a:spLocks/>
          </p:cNvSpPr>
          <p:nvPr/>
        </p:nvSpPr>
        <p:spPr>
          <a:xfrm>
            <a:off x="685800" y="210792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3314464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zh-TW" altLang="en-US" dirty="0" smtClean="0">
                <a:latin typeface="ＭＳ Ｐゴシック" pitchFamily="50" charset="-128"/>
                <a:ea typeface="ＭＳ Ｐゴシック" pitchFamily="50" charset="-128"/>
              </a:rPr>
              <a:t>正常時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</a:t>
            </a:r>
          </a:p>
        </p:txBody>
      </p:sp>
    </p:spTree>
    <p:extLst>
      <p:ext uri="{BB962C8B-B14F-4D97-AF65-F5344CB8AC3E}">
        <p14:creationId xmlns:p14="http://schemas.microsoft.com/office/powerpoint/2010/main" val="2570800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57150" y="2057400"/>
            <a:ext cx="7423150" cy="46482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1041400" y="2624138"/>
            <a:ext cx="3722688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>
              <a:defRPr/>
            </a:pP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RSC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アダプタ用ドメイン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190500" y="6243638"/>
            <a:ext cx="7188200" cy="373062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Red Hat Enterprise Linux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854575" y="4787900"/>
            <a:ext cx="711200" cy="922338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データソース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4248150" y="85725"/>
            <a:ext cx="9271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AES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17500" y="88900"/>
            <a:ext cx="9271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タンデム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（開発）</a:t>
            </a:r>
          </a:p>
          <a:p>
            <a:pPr>
              <a:defRPr/>
            </a:pP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角丸四角形 55"/>
          <p:cNvSpPr/>
          <p:nvPr/>
        </p:nvSpPr>
        <p:spPr>
          <a:xfrm>
            <a:off x="1041400" y="3535363"/>
            <a:ext cx="3735388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　　　　　　　　　　　　　　　　　　　　　　　　</a:t>
            </a: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IVR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492250" y="87313"/>
            <a:ext cx="11176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チャネル</a:t>
            </a:r>
            <a:endParaRPr lang="en-US" altLang="ja-JP" sz="120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基盤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（開発）</a:t>
            </a:r>
            <a:endParaRPr lang="ja-JP" altLang="en-US" sz="105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7816850" y="5602288"/>
            <a:ext cx="927100" cy="1116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IVRDB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862263" y="87313"/>
            <a:ext cx="11176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AP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開発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）</a:t>
            </a:r>
            <a:endParaRPr lang="ja-JP" altLang="en-US" sz="105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Rule Zone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5438775" y="88900"/>
            <a:ext cx="11176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DB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開発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）</a:t>
            </a:r>
            <a:endParaRPr lang="en-US" altLang="ja-JP" sz="160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DTS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4" name="角丸四角形 13"/>
          <p:cNvSpPr/>
          <p:nvPr/>
        </p:nvSpPr>
        <p:spPr>
          <a:xfrm>
            <a:off x="1193800" y="3756025"/>
            <a:ext cx="1585913" cy="9683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音声フロー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JTIC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クライアント）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角丸四角形 14"/>
          <p:cNvSpPr/>
          <p:nvPr/>
        </p:nvSpPr>
        <p:spPr>
          <a:xfrm>
            <a:off x="3541713" y="4040188"/>
            <a:ext cx="1143000" cy="37623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 smtClean="0">
                <a:solidFill>
                  <a:schemeClr val="bg1"/>
                </a:solidFill>
                <a:latin typeface="+mn-ea"/>
              </a:rPr>
              <a:t>aesconnector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3541713" y="3575050"/>
            <a:ext cx="1117600" cy="361950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>
                <a:solidFill>
                  <a:schemeClr val="bg1"/>
                </a:solidFill>
                <a:latin typeface="+mn-ea"/>
              </a:rPr>
              <a:t>runtimeconfig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1760" name="Picture 64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5838" y="5743575"/>
            <a:ext cx="8413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-828675" y="6459538"/>
            <a:ext cx="52705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+mn-ea"/>
                <a:ea typeface="+mn-ea"/>
              </a:rPr>
              <a:t>SMCC</a:t>
            </a:r>
            <a:endParaRPr lang="ja-JP" altLang="en-US" dirty="0">
              <a:latin typeface="+mn-ea"/>
              <a:ea typeface="+mn-ea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190500" y="5783263"/>
            <a:ext cx="5375275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 </a:t>
            </a:r>
            <a:r>
              <a:rPr lang="en-US" altLang="ja-JP" sz="1200" dirty="0" err="1">
                <a:solidFill>
                  <a:schemeClr val="tx1"/>
                </a:solidFill>
                <a:latin typeface="+mn-ea"/>
              </a:rPr>
              <a:t>WebLogic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 Server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5638800" y="5783263"/>
            <a:ext cx="671513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JP1/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AJS3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-96520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MPP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-482600" y="41957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①</a:t>
            </a: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-514350" y="53133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⑫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1238250" y="2343150"/>
            <a:ext cx="1239838" cy="550863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RSC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アダプタ（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※1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）</a:t>
            </a:r>
          </a:p>
        </p:txBody>
      </p:sp>
      <p:cxnSp>
        <p:nvCxnSpPr>
          <p:cNvPr id="31769" name="カギ線コネクタ 37"/>
          <p:cNvCxnSpPr>
            <a:cxnSpLocks noChangeShapeType="1"/>
          </p:cNvCxnSpPr>
          <p:nvPr/>
        </p:nvCxnSpPr>
        <p:spPr bwMode="auto">
          <a:xfrm rot="16200000" flipV="1">
            <a:off x="851694" y="1488281"/>
            <a:ext cx="631825" cy="1077913"/>
          </a:xfrm>
          <a:prstGeom prst="bentConnector3">
            <a:avLst>
              <a:gd name="adj1" fmla="val 1985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角丸四角形 38"/>
          <p:cNvSpPr/>
          <p:nvPr/>
        </p:nvSpPr>
        <p:spPr>
          <a:xfrm>
            <a:off x="1187450" y="5068888"/>
            <a:ext cx="1358900" cy="47148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管理画面</a:t>
            </a:r>
          </a:p>
        </p:txBody>
      </p:sp>
      <p:cxnSp>
        <p:nvCxnSpPr>
          <p:cNvPr id="31771" name="カギ線コネクタ 63491"/>
          <p:cNvCxnSpPr>
            <a:cxnSpLocks noChangeShapeType="1"/>
            <a:stCxn id="14" idx="3"/>
          </p:cNvCxnSpPr>
          <p:nvPr/>
        </p:nvCxnSpPr>
        <p:spPr bwMode="auto">
          <a:xfrm flipH="1" flipV="1">
            <a:off x="1914525" y="1711325"/>
            <a:ext cx="865188" cy="2528888"/>
          </a:xfrm>
          <a:prstGeom prst="bentConnector4">
            <a:avLst>
              <a:gd name="adj1" fmla="val -26421"/>
              <a:gd name="adj2" fmla="val 7966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正方形/長方形 212"/>
          <p:cNvSpPr/>
          <p:nvPr/>
        </p:nvSpPr>
        <p:spPr>
          <a:xfrm>
            <a:off x="777875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ＭＳ Ｐゴシック" pitchFamily="50" charset="-128"/>
              </a:rPr>
              <a:t>EPM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（</a:t>
            </a:r>
            <a:r>
              <a:rPr lang="en-US" altLang="ja-JP" sz="1200" dirty="0" err="1">
                <a:solidFill>
                  <a:schemeClr val="tx1"/>
                </a:solidFill>
                <a:latin typeface="ＭＳ Ｐゴシック" pitchFamily="50" charset="-128"/>
              </a:rPr>
              <a:t>WebLM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）</a:t>
            </a:r>
          </a:p>
        </p:txBody>
      </p:sp>
      <p:cxnSp>
        <p:nvCxnSpPr>
          <p:cNvPr id="31773" name="カギ線コネクタ 63528"/>
          <p:cNvCxnSpPr>
            <a:cxnSpLocks noChangeShapeType="1"/>
            <a:stCxn id="16" idx="3"/>
            <a:endCxn id="47" idx="1"/>
          </p:cNvCxnSpPr>
          <p:nvPr/>
        </p:nvCxnSpPr>
        <p:spPr bwMode="auto">
          <a:xfrm flipV="1">
            <a:off x="4659313" y="2874963"/>
            <a:ext cx="3119437" cy="8810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カギ線コネクタ 110"/>
          <p:cNvCxnSpPr/>
          <p:nvPr/>
        </p:nvCxnSpPr>
        <p:spPr>
          <a:xfrm flipV="1">
            <a:off x="2779712" y="1684338"/>
            <a:ext cx="576000" cy="2268537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stCxn id="14" idx="2"/>
            <a:endCxn id="11" idx="0"/>
          </p:cNvCxnSpPr>
          <p:nvPr/>
        </p:nvCxnSpPr>
        <p:spPr>
          <a:xfrm rot="16200000" flipH="1">
            <a:off x="4694238" y="2016125"/>
            <a:ext cx="877888" cy="6294437"/>
          </a:xfrm>
          <a:prstGeom prst="bentConnector3">
            <a:avLst>
              <a:gd name="adj1" fmla="val 26853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カギ線コネクタ 123"/>
          <p:cNvCxnSpPr/>
          <p:nvPr/>
        </p:nvCxnSpPr>
        <p:spPr>
          <a:xfrm>
            <a:off x="2546350" y="5305425"/>
            <a:ext cx="5975350" cy="296863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カギ線コネクタ 125"/>
          <p:cNvCxnSpPr>
            <a:stCxn id="15" idx="1"/>
            <a:endCxn id="7" idx="2"/>
          </p:cNvCxnSpPr>
          <p:nvPr/>
        </p:nvCxnSpPr>
        <p:spPr>
          <a:xfrm rot="10800000" flipH="1">
            <a:off x="3541713" y="1709738"/>
            <a:ext cx="1169987" cy="2519362"/>
          </a:xfrm>
          <a:prstGeom prst="bentConnector4">
            <a:avLst>
              <a:gd name="adj1" fmla="val -34767"/>
              <a:gd name="adj2" fmla="val 79949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カギ線コネクタ 145"/>
          <p:cNvCxnSpPr/>
          <p:nvPr/>
        </p:nvCxnSpPr>
        <p:spPr>
          <a:xfrm flipV="1">
            <a:off x="2774950" y="1700213"/>
            <a:ext cx="3240088" cy="2843212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テキスト ボックス 146"/>
          <p:cNvSpPr txBox="1"/>
          <p:nvPr/>
        </p:nvSpPr>
        <p:spPr>
          <a:xfrm>
            <a:off x="2143125" y="1712913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②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49" name="テキスト ボックス 148"/>
          <p:cNvSpPr txBox="1"/>
          <p:nvPr/>
        </p:nvSpPr>
        <p:spPr>
          <a:xfrm>
            <a:off x="3349625" y="1714500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③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0" name="テキスト ボックス 149"/>
          <p:cNvSpPr txBox="1"/>
          <p:nvPr/>
        </p:nvSpPr>
        <p:spPr>
          <a:xfrm>
            <a:off x="4711700" y="1704975"/>
            <a:ext cx="33813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④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3" name="テキスト ボックス 152"/>
          <p:cNvSpPr txBox="1"/>
          <p:nvPr/>
        </p:nvSpPr>
        <p:spPr>
          <a:xfrm>
            <a:off x="6008688" y="1704975"/>
            <a:ext cx="3397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⑤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6980238" y="2592388"/>
            <a:ext cx="3381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⑥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5" name="テキスト ボックス 154"/>
          <p:cNvSpPr txBox="1"/>
          <p:nvPr/>
        </p:nvSpPr>
        <p:spPr>
          <a:xfrm>
            <a:off x="6810375" y="4651375"/>
            <a:ext cx="33813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⑦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6" name="テキスト ボックス 155"/>
          <p:cNvSpPr txBox="1"/>
          <p:nvPr/>
        </p:nvSpPr>
        <p:spPr>
          <a:xfrm>
            <a:off x="8535988" y="5284788"/>
            <a:ext cx="3397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⑧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1973263" y="3297238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⑨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649288" y="1714500"/>
            <a:ext cx="3397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⑩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62" name="角丸四角形 161"/>
          <p:cNvSpPr/>
          <p:nvPr/>
        </p:nvSpPr>
        <p:spPr>
          <a:xfrm>
            <a:off x="6373813" y="5783263"/>
            <a:ext cx="1004887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Client</a:t>
            </a:r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7478713" y="5681663"/>
            <a:ext cx="338137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⑪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51" name="角丸四角形 50"/>
          <p:cNvSpPr/>
          <p:nvPr/>
        </p:nvSpPr>
        <p:spPr>
          <a:xfrm>
            <a:off x="5638800" y="5389563"/>
            <a:ext cx="671513" cy="320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バッチ</a:t>
            </a:r>
          </a:p>
        </p:txBody>
      </p:sp>
      <p:cxnSp>
        <p:nvCxnSpPr>
          <p:cNvPr id="164" name="カギ線コネクタ 163"/>
          <p:cNvCxnSpPr>
            <a:stCxn id="21" idx="0"/>
          </p:cNvCxnSpPr>
          <p:nvPr/>
        </p:nvCxnSpPr>
        <p:spPr>
          <a:xfrm rot="16200000" flipH="1">
            <a:off x="6801644" y="4955382"/>
            <a:ext cx="187325" cy="1843087"/>
          </a:xfrm>
          <a:prstGeom prst="bentConnector4">
            <a:avLst>
              <a:gd name="adj1" fmla="val -74427"/>
              <a:gd name="adj2" fmla="val 64702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角丸四角形 57"/>
          <p:cNvSpPr/>
          <p:nvPr/>
        </p:nvSpPr>
        <p:spPr>
          <a:xfrm>
            <a:off x="137509" y="3514748"/>
            <a:ext cx="819150" cy="218122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sp>
        <p:nvSpPr>
          <p:cNvPr id="59" name="角丸四角形 4"/>
          <p:cNvSpPr/>
          <p:nvPr/>
        </p:nvSpPr>
        <p:spPr>
          <a:xfrm>
            <a:off x="137509" y="2609873"/>
            <a:ext cx="819150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cxnSp>
        <p:nvCxnSpPr>
          <p:cNvPr id="31765" name="カギ線コネクタ 22"/>
          <p:cNvCxnSpPr>
            <a:cxnSpLocks noChangeShapeType="1"/>
            <a:stCxn id="22" idx="2"/>
            <a:endCxn id="14" idx="1"/>
          </p:cNvCxnSpPr>
          <p:nvPr/>
        </p:nvCxnSpPr>
        <p:spPr bwMode="auto">
          <a:xfrm rot="16200000" flipH="1">
            <a:off x="69056" y="3115469"/>
            <a:ext cx="554038" cy="16954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カギ線コネクタ 71"/>
          <p:cNvCxnSpPr>
            <a:endCxn id="39" idx="1"/>
          </p:cNvCxnSpPr>
          <p:nvPr/>
        </p:nvCxnSpPr>
        <p:spPr>
          <a:xfrm rot="5400000" flipH="1" flipV="1">
            <a:off x="92075" y="4648200"/>
            <a:ext cx="438150" cy="1752600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カギ線コネクタ 18"/>
          <p:cNvCxnSpPr/>
          <p:nvPr/>
        </p:nvCxnSpPr>
        <p:spPr>
          <a:xfrm rot="16200000" flipV="1">
            <a:off x="950913" y="2747962"/>
            <a:ext cx="1295400" cy="720725"/>
          </a:xfrm>
          <a:prstGeom prst="bentConnector4">
            <a:avLst>
              <a:gd name="adj1" fmla="val 24889"/>
              <a:gd name="adj2" fmla="val 15684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51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/>
          <p:cNvSpPr txBox="1">
            <a:spLocks/>
          </p:cNvSpPr>
          <p:nvPr/>
        </p:nvSpPr>
        <p:spPr>
          <a:xfrm>
            <a:off x="685800" y="210792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3314464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異常</a:t>
            </a:r>
            <a:r>
              <a:rPr lang="zh-TW" altLang="en-US" dirty="0" smtClean="0">
                <a:latin typeface="ＭＳ Ｐゴシック" pitchFamily="50" charset="-128"/>
                <a:ea typeface="ＭＳ Ｐゴシック" pitchFamily="50" charset="-128"/>
              </a:rPr>
              <a:t>時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</a:t>
            </a:r>
          </a:p>
        </p:txBody>
      </p:sp>
    </p:spTree>
    <p:extLst>
      <p:ext uri="{BB962C8B-B14F-4D97-AF65-F5344CB8AC3E}">
        <p14:creationId xmlns:p14="http://schemas.microsoft.com/office/powerpoint/2010/main" val="859926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57150" y="2057400"/>
            <a:ext cx="7423150" cy="46482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1041400" y="2624138"/>
            <a:ext cx="3722688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r">
              <a:defRPr/>
            </a:pP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RSC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アダプタ用ドメイン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190500" y="6243638"/>
            <a:ext cx="7188200" cy="373062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Red Hat Enterprise Linux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854575" y="4787900"/>
            <a:ext cx="711200" cy="922338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データソース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4248150" y="85725"/>
            <a:ext cx="9271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AES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17500" y="88900"/>
            <a:ext cx="9271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タンデム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（開発）</a:t>
            </a:r>
          </a:p>
          <a:p>
            <a:pPr>
              <a:defRPr/>
            </a:pP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角丸四角形 55"/>
          <p:cNvSpPr/>
          <p:nvPr/>
        </p:nvSpPr>
        <p:spPr>
          <a:xfrm>
            <a:off x="1054100" y="3535363"/>
            <a:ext cx="3722688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　　　　　　　　　　　　　　　　　　　　　　　　</a:t>
            </a:r>
            <a:r>
              <a:rPr lang="en-US" altLang="ja-JP" sz="1200" dirty="0">
                <a:solidFill>
                  <a:schemeClr val="tx1"/>
                </a:solidFill>
                <a:latin typeface="ＭＳ Ｐゴシック" pitchFamily="50" charset="-128"/>
              </a:rPr>
              <a:t>IVR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用ドメイン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492250" y="87313"/>
            <a:ext cx="11176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チャネル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基盤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開発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）</a:t>
            </a:r>
            <a:endParaRPr lang="ja-JP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7816850" y="5602288"/>
            <a:ext cx="927100" cy="1116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IVRDB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862263" y="87313"/>
            <a:ext cx="1117600" cy="1622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AP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開発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）</a:t>
            </a:r>
            <a:endParaRPr lang="en-US" altLang="ja-JP" sz="105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Rule Zone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5438775" y="88900"/>
            <a:ext cx="11176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統合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DB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ja-JP" altLang="en-US" sz="1050" dirty="0">
                <a:solidFill>
                  <a:schemeClr val="tx1"/>
                </a:solidFill>
                <a:latin typeface="+mn-ea"/>
              </a:rPr>
              <a:t>開発</a:t>
            </a:r>
            <a:r>
              <a:rPr lang="ja-JP" altLang="en-US" sz="1050" dirty="0" smtClean="0">
                <a:solidFill>
                  <a:schemeClr val="tx1"/>
                </a:solidFill>
                <a:latin typeface="+mn-ea"/>
              </a:rPr>
              <a:t>）</a:t>
            </a:r>
            <a:endParaRPr lang="en-US" altLang="ja-JP" sz="1200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 smtClean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DTS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14" name="角丸四角形 13"/>
          <p:cNvSpPr/>
          <p:nvPr/>
        </p:nvSpPr>
        <p:spPr>
          <a:xfrm>
            <a:off x="1193800" y="3756025"/>
            <a:ext cx="1585913" cy="9683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音声フロー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JTIC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クライアント）</a:t>
            </a:r>
            <a:endParaRPr lang="en-US" altLang="ja-JP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角丸四角形 14"/>
          <p:cNvSpPr/>
          <p:nvPr/>
        </p:nvSpPr>
        <p:spPr>
          <a:xfrm>
            <a:off x="3455988" y="4040188"/>
            <a:ext cx="1249362" cy="37623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 smtClean="0">
                <a:solidFill>
                  <a:schemeClr val="bg1"/>
                </a:solidFill>
                <a:latin typeface="+mn-ea"/>
              </a:rPr>
              <a:t>aesconnector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3455986" y="3587751"/>
            <a:ext cx="1249364" cy="361950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 err="1">
                <a:solidFill>
                  <a:schemeClr val="bg1"/>
                </a:solidFill>
                <a:latin typeface="+mn-ea"/>
              </a:rPr>
              <a:t>runtimeconfig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736" name="Picture 64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5838" y="5743575"/>
            <a:ext cx="8413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-828675" y="6459538"/>
            <a:ext cx="52705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+mn-ea"/>
                <a:ea typeface="+mn-ea"/>
              </a:rPr>
              <a:t>SMCC</a:t>
            </a:r>
            <a:endParaRPr lang="ja-JP" altLang="en-US" dirty="0">
              <a:latin typeface="+mn-ea"/>
              <a:ea typeface="+mn-ea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190500" y="5783263"/>
            <a:ext cx="5375275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 </a:t>
            </a:r>
            <a:r>
              <a:rPr lang="en-US" altLang="ja-JP" sz="1200" dirty="0" err="1">
                <a:solidFill>
                  <a:schemeClr val="tx1"/>
                </a:solidFill>
                <a:latin typeface="+mn-ea"/>
              </a:rPr>
              <a:t>WebLogic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 Server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5638800" y="5783263"/>
            <a:ext cx="671513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JP1/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AJS3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-96520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MPP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1187450" y="5068888"/>
            <a:ext cx="1358900" cy="47148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管理画面</a:t>
            </a:r>
          </a:p>
        </p:txBody>
      </p:sp>
      <p:sp>
        <p:nvSpPr>
          <p:cNvPr id="47" name="正方形/長方形 212"/>
          <p:cNvSpPr/>
          <p:nvPr/>
        </p:nvSpPr>
        <p:spPr>
          <a:xfrm>
            <a:off x="7778750" y="2062163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ＭＳ Ｐゴシック" pitchFamily="50" charset="-128"/>
              </a:rPr>
              <a:t>EPM</a:t>
            </a:r>
            <a:endParaRPr lang="en-US" altLang="ja-JP" sz="1200" dirty="0">
              <a:solidFill>
                <a:schemeClr val="tx1"/>
              </a:solidFill>
              <a:latin typeface="ＭＳ Ｐゴシック" pitchFamily="50" charset="-128"/>
            </a:endParaRPr>
          </a:p>
          <a:p>
            <a:pPr>
              <a:spcBef>
                <a:spcPts val="0"/>
              </a:spcBef>
              <a:defRPr/>
            </a:pP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（</a:t>
            </a:r>
            <a:r>
              <a:rPr lang="en-US" altLang="ja-JP" sz="1200" dirty="0" err="1">
                <a:solidFill>
                  <a:schemeClr val="tx1"/>
                </a:solidFill>
                <a:latin typeface="ＭＳ Ｐゴシック" pitchFamily="50" charset="-128"/>
              </a:rPr>
              <a:t>WebLM</a:t>
            </a:r>
            <a:r>
              <a:rPr lang="ja-JP" altLang="en-US" sz="1200" dirty="0">
                <a:solidFill>
                  <a:schemeClr val="tx1"/>
                </a:solidFill>
                <a:latin typeface="ＭＳ Ｐゴシック" pitchFamily="50" charset="-128"/>
              </a:rPr>
              <a:t>）</a:t>
            </a:r>
          </a:p>
        </p:txBody>
      </p:sp>
      <p:cxnSp>
        <p:nvCxnSpPr>
          <p:cNvPr id="30744" name="カギ線コネクタ 63528"/>
          <p:cNvCxnSpPr>
            <a:cxnSpLocks noChangeShapeType="1"/>
            <a:stCxn id="16" idx="3"/>
            <a:endCxn id="47" idx="1"/>
          </p:cNvCxnSpPr>
          <p:nvPr/>
        </p:nvCxnSpPr>
        <p:spPr bwMode="auto">
          <a:xfrm flipV="1">
            <a:off x="4705350" y="2874169"/>
            <a:ext cx="3073400" cy="89455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カギ線コネクタ 110"/>
          <p:cNvCxnSpPr/>
          <p:nvPr/>
        </p:nvCxnSpPr>
        <p:spPr>
          <a:xfrm flipV="1">
            <a:off x="2779712" y="1684338"/>
            <a:ext cx="576000" cy="2268537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stCxn id="14" idx="2"/>
            <a:endCxn id="11" idx="0"/>
          </p:cNvCxnSpPr>
          <p:nvPr/>
        </p:nvCxnSpPr>
        <p:spPr>
          <a:xfrm rot="16200000" flipH="1">
            <a:off x="4694238" y="2016125"/>
            <a:ext cx="877888" cy="6294437"/>
          </a:xfrm>
          <a:prstGeom prst="bentConnector3">
            <a:avLst>
              <a:gd name="adj1" fmla="val 25407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カギ線コネクタ 123"/>
          <p:cNvCxnSpPr/>
          <p:nvPr/>
        </p:nvCxnSpPr>
        <p:spPr>
          <a:xfrm>
            <a:off x="2546350" y="5305425"/>
            <a:ext cx="5975350" cy="296863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カギ線コネクタ 125"/>
          <p:cNvCxnSpPr>
            <a:stCxn id="15" idx="1"/>
            <a:endCxn id="7" idx="2"/>
          </p:cNvCxnSpPr>
          <p:nvPr/>
        </p:nvCxnSpPr>
        <p:spPr>
          <a:xfrm rot="10800000" flipH="1">
            <a:off x="3455988" y="1709739"/>
            <a:ext cx="1255712" cy="2518569"/>
          </a:xfrm>
          <a:prstGeom prst="bentConnector4">
            <a:avLst>
              <a:gd name="adj1" fmla="val -26410"/>
              <a:gd name="adj2" fmla="val 79814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カギ線コネクタ 145"/>
          <p:cNvCxnSpPr/>
          <p:nvPr/>
        </p:nvCxnSpPr>
        <p:spPr>
          <a:xfrm flipV="1">
            <a:off x="2774950" y="1700213"/>
            <a:ext cx="3240088" cy="2843212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角丸四角形 161"/>
          <p:cNvSpPr/>
          <p:nvPr/>
        </p:nvSpPr>
        <p:spPr>
          <a:xfrm>
            <a:off x="6373813" y="5783263"/>
            <a:ext cx="1004887" cy="373062"/>
          </a:xfrm>
          <a:prstGeom prst="roundRect">
            <a:avLst/>
          </a:prstGeom>
          <a:gradFill>
            <a:gsLst>
              <a:gs pos="0">
                <a:srgbClr val="66FFCC"/>
              </a:gs>
              <a:gs pos="50000">
                <a:schemeClr val="bg1"/>
              </a:gs>
              <a:gs pos="100000">
                <a:srgbClr val="66FFCC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Oracle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Client</a:t>
            </a:r>
          </a:p>
        </p:txBody>
      </p:sp>
      <p:sp>
        <p:nvSpPr>
          <p:cNvPr id="51" name="角丸四角形 50"/>
          <p:cNvSpPr/>
          <p:nvPr/>
        </p:nvSpPr>
        <p:spPr>
          <a:xfrm>
            <a:off x="5638800" y="5389563"/>
            <a:ext cx="671513" cy="320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バッチ</a:t>
            </a:r>
          </a:p>
        </p:txBody>
      </p:sp>
      <p:cxnSp>
        <p:nvCxnSpPr>
          <p:cNvPr id="164" name="カギ線コネクタ 163"/>
          <p:cNvCxnSpPr>
            <a:stCxn id="21" idx="0"/>
          </p:cNvCxnSpPr>
          <p:nvPr/>
        </p:nvCxnSpPr>
        <p:spPr>
          <a:xfrm rot="16200000" flipH="1">
            <a:off x="6801644" y="4955382"/>
            <a:ext cx="187325" cy="1843087"/>
          </a:xfrm>
          <a:prstGeom prst="bentConnector4">
            <a:avLst>
              <a:gd name="adj1" fmla="val -74426"/>
              <a:gd name="adj2" fmla="val 64702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/>
          <p:cNvSpPr txBox="1"/>
          <p:nvPr/>
        </p:nvSpPr>
        <p:spPr>
          <a:xfrm>
            <a:off x="-642938" y="2735263"/>
            <a:ext cx="2825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A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3713163" y="5832475"/>
            <a:ext cx="28575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C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2382961" y="3853333"/>
            <a:ext cx="285750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D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4458058" y="4076521"/>
            <a:ext cx="27305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E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2270125" y="5162550"/>
            <a:ext cx="26987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F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452938" y="3636963"/>
            <a:ext cx="290512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G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8131175" y="2735263"/>
            <a:ext cx="222250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I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5075238" y="5402263"/>
            <a:ext cx="2698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J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642938" y="762000"/>
            <a:ext cx="2762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K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1917700" y="762000"/>
            <a:ext cx="266700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L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3270250" y="749300"/>
            <a:ext cx="3016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M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856288" y="749300"/>
            <a:ext cx="28257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N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4565650" y="749300"/>
            <a:ext cx="29368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O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69" name="角丸四角形 68"/>
          <p:cNvSpPr/>
          <p:nvPr/>
        </p:nvSpPr>
        <p:spPr>
          <a:xfrm>
            <a:off x="1238250" y="2343150"/>
            <a:ext cx="1239838" cy="550863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RSC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アダプタ（</a:t>
            </a: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※1</a:t>
            </a:r>
            <a:r>
              <a:rPr lang="ja-JP" altLang="en-US" sz="1200" dirty="0">
                <a:solidFill>
                  <a:schemeClr val="bg1"/>
                </a:solidFill>
                <a:latin typeface="+mn-ea"/>
              </a:rPr>
              <a:t>）</a:t>
            </a:r>
          </a:p>
        </p:txBody>
      </p:sp>
      <p:cxnSp>
        <p:nvCxnSpPr>
          <p:cNvPr id="30768" name="カギ線コネクタ 37"/>
          <p:cNvCxnSpPr>
            <a:cxnSpLocks noChangeShapeType="1"/>
          </p:cNvCxnSpPr>
          <p:nvPr/>
        </p:nvCxnSpPr>
        <p:spPr bwMode="auto">
          <a:xfrm rot="16200000" flipV="1">
            <a:off x="851694" y="1488281"/>
            <a:ext cx="631825" cy="1077913"/>
          </a:xfrm>
          <a:prstGeom prst="bentConnector3">
            <a:avLst>
              <a:gd name="adj1" fmla="val 1985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9" name="カギ線コネクタ 63491"/>
          <p:cNvCxnSpPr>
            <a:cxnSpLocks noChangeShapeType="1"/>
          </p:cNvCxnSpPr>
          <p:nvPr/>
        </p:nvCxnSpPr>
        <p:spPr bwMode="auto">
          <a:xfrm flipH="1" flipV="1">
            <a:off x="1914525" y="1711325"/>
            <a:ext cx="865188" cy="2528888"/>
          </a:xfrm>
          <a:prstGeom prst="bentConnector4">
            <a:avLst>
              <a:gd name="adj1" fmla="val -26421"/>
              <a:gd name="adj2" fmla="val 79662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テキスト ボックス 63"/>
          <p:cNvSpPr txBox="1"/>
          <p:nvPr/>
        </p:nvSpPr>
        <p:spPr>
          <a:xfrm>
            <a:off x="2171700" y="2611438"/>
            <a:ext cx="2825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solidFill>
                  <a:schemeClr val="bg1"/>
                </a:solidFill>
                <a:latin typeface="+mn-ea"/>
                <a:ea typeface="+mn-ea"/>
              </a:rPr>
              <a:t>H</a:t>
            </a:r>
            <a:endParaRPr lang="ja-JP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8140700" y="6021388"/>
            <a:ext cx="279400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P</a:t>
            </a:r>
            <a:endParaRPr lang="ja-JP" altLang="en-US" sz="1200" b="1" dirty="0">
              <a:latin typeface="+mn-ea"/>
              <a:ea typeface="+mn-ea"/>
            </a:endParaRPr>
          </a:p>
        </p:txBody>
      </p:sp>
      <p:sp>
        <p:nvSpPr>
          <p:cNvPr id="75" name="角丸四角形 74"/>
          <p:cNvSpPr/>
          <p:nvPr/>
        </p:nvSpPr>
        <p:spPr>
          <a:xfrm>
            <a:off x="137509" y="3514748"/>
            <a:ext cx="819150" cy="218122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sp>
        <p:nvSpPr>
          <p:cNvPr id="76" name="角丸四角形 4"/>
          <p:cNvSpPr/>
          <p:nvPr/>
        </p:nvSpPr>
        <p:spPr>
          <a:xfrm>
            <a:off x="137509" y="2609873"/>
            <a:ext cx="819150" cy="7016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cxnSp>
        <p:nvCxnSpPr>
          <p:cNvPr id="30741" name="カギ線コネクタ 22"/>
          <p:cNvCxnSpPr>
            <a:cxnSpLocks noChangeShapeType="1"/>
            <a:stCxn id="22" idx="2"/>
            <a:endCxn id="14" idx="1"/>
          </p:cNvCxnSpPr>
          <p:nvPr/>
        </p:nvCxnSpPr>
        <p:spPr bwMode="auto">
          <a:xfrm rot="16200000" flipH="1">
            <a:off x="69056" y="3115469"/>
            <a:ext cx="554038" cy="16954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カギ線コネクタ 71"/>
          <p:cNvCxnSpPr>
            <a:endCxn id="39" idx="1"/>
          </p:cNvCxnSpPr>
          <p:nvPr/>
        </p:nvCxnSpPr>
        <p:spPr>
          <a:xfrm rot="5400000" flipH="1" flipV="1">
            <a:off x="92075" y="4648200"/>
            <a:ext cx="438150" cy="1752600"/>
          </a:xfrm>
          <a:prstGeom prst="bentConnector2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カギ線コネクタ 80"/>
          <p:cNvCxnSpPr/>
          <p:nvPr/>
        </p:nvCxnSpPr>
        <p:spPr>
          <a:xfrm rot="16200000" flipV="1">
            <a:off x="950913" y="2747962"/>
            <a:ext cx="1295400" cy="720725"/>
          </a:xfrm>
          <a:prstGeom prst="bentConnector4">
            <a:avLst>
              <a:gd name="adj1" fmla="val 24889"/>
              <a:gd name="adj2" fmla="val 15684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410895" y="4525963"/>
            <a:ext cx="282575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b="1" dirty="0">
                <a:latin typeface="+mn-ea"/>
                <a:ea typeface="+mn-ea"/>
              </a:rPr>
              <a:t>B</a:t>
            </a:r>
            <a:endParaRPr lang="ja-JP" altLang="en-US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520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024486"/>
            <a:ext cx="7772400" cy="1470025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195704"/>
            <a:ext cx="6400800" cy="986696"/>
          </a:xfrm>
        </p:spPr>
        <p:txBody>
          <a:bodyPr/>
          <a:lstStyle/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1-3-1-1 </a:t>
            </a:r>
            <a:r>
              <a:rPr lang="ja-JP" altLang="en-US" dirty="0">
                <a:latin typeface="ＭＳ Ｐゴシック" pitchFamily="50" charset="-128"/>
              </a:rPr>
              <a:t>ドメイン・サーバ設計</a:t>
            </a:r>
            <a:r>
              <a:rPr lang="en-US" altLang="ja-JP" dirty="0">
                <a:latin typeface="ＭＳ Ｐゴシック" pitchFamily="50" charset="-128"/>
              </a:rPr>
              <a:t>]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8939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/>
          <p:cNvGrpSpPr/>
          <p:nvPr/>
        </p:nvGrpSpPr>
        <p:grpSpPr>
          <a:xfrm>
            <a:off x="399782" y="101600"/>
            <a:ext cx="8364090" cy="4000500"/>
            <a:chOff x="399782" y="101600"/>
            <a:chExt cx="8364090" cy="4000500"/>
          </a:xfrm>
        </p:grpSpPr>
        <p:grpSp>
          <p:nvGrpSpPr>
            <p:cNvPr id="2" name="グループ化 1"/>
            <p:cNvGrpSpPr/>
            <p:nvPr/>
          </p:nvGrpSpPr>
          <p:grpSpPr>
            <a:xfrm>
              <a:off x="399782" y="101600"/>
              <a:ext cx="4120703" cy="4000500"/>
              <a:chOff x="399782" y="101600"/>
              <a:chExt cx="4120703" cy="4000500"/>
            </a:xfrm>
          </p:grpSpPr>
          <p:sp>
            <p:nvSpPr>
              <p:cNvPr id="39" name="正方形/長方形 38"/>
              <p:cNvSpPr/>
              <p:nvPr/>
            </p:nvSpPr>
            <p:spPr>
              <a:xfrm>
                <a:off x="399782" y="101600"/>
                <a:ext cx="4120703" cy="40005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+mn-ea"/>
                  </a:rPr>
                  <a:t>ACD1</a:t>
                </a:r>
                <a:endParaRPr lang="ja-JP" altLang="en-US" sz="16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5" name="正方形/長方形 34"/>
              <p:cNvSpPr/>
              <p:nvPr/>
            </p:nvSpPr>
            <p:spPr>
              <a:xfrm>
                <a:off x="655369" y="469900"/>
                <a:ext cx="1724026" cy="3543300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マシン（</a:t>
                </a:r>
                <a:r>
                  <a:rPr lang="en-US" altLang="ja-JP" sz="1100" dirty="0">
                    <a:solidFill>
                      <a:schemeClr val="tx1"/>
                    </a:solidFill>
                    <a:latin typeface="+mn-ea"/>
                  </a:rPr>
                  <a:t>WAS#1</a:t>
                </a: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）</a:t>
                </a:r>
              </a:p>
            </p:txBody>
          </p:sp>
          <p:sp>
            <p:nvSpPr>
              <p:cNvPr id="36" name="正方形/長方形 35"/>
              <p:cNvSpPr/>
              <p:nvPr/>
            </p:nvSpPr>
            <p:spPr>
              <a:xfrm>
                <a:off x="2533382" y="469900"/>
                <a:ext cx="1724025" cy="3543300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マシン（</a:t>
                </a:r>
                <a:r>
                  <a:rPr lang="en-US" altLang="ja-JP" sz="1100" dirty="0">
                    <a:solidFill>
                      <a:schemeClr val="tx1"/>
                    </a:solidFill>
                    <a:latin typeface="+mn-ea"/>
                  </a:rPr>
                  <a:t>WAS#2</a:t>
                </a: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）</a:t>
                </a:r>
              </a:p>
            </p:txBody>
          </p:sp>
          <p:sp>
            <p:nvSpPr>
              <p:cNvPr id="37" name="角丸四角形 36"/>
              <p:cNvSpPr/>
              <p:nvPr/>
            </p:nvSpPr>
            <p:spPr>
              <a:xfrm>
                <a:off x="655369" y="2336800"/>
                <a:ext cx="3598322" cy="1600200"/>
              </a:xfrm>
              <a:prstGeom prst="roundRect">
                <a:avLst/>
              </a:prstGeom>
              <a:solidFill>
                <a:srgbClr val="00C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r>
                  <a:rPr lang="en-US" altLang="ja-JP" sz="1200" dirty="0">
                    <a:solidFill>
                      <a:schemeClr val="tx1"/>
                    </a:solidFill>
                    <a:latin typeface="+mn-ea"/>
                  </a:rPr>
                  <a:t>IVR</a:t>
                </a:r>
                <a:r>
                  <a:rPr lang="ja-JP" altLang="en-US" sz="1200" dirty="0">
                    <a:solidFill>
                      <a:schemeClr val="tx1"/>
                    </a:solidFill>
                    <a:latin typeface="+mn-ea"/>
                  </a:rPr>
                  <a:t>用ドメイン</a:t>
                </a:r>
              </a:p>
            </p:txBody>
          </p:sp>
          <p:sp>
            <p:nvSpPr>
              <p:cNvPr id="38" name="角丸四角形 37"/>
              <p:cNvSpPr/>
              <p:nvPr/>
            </p:nvSpPr>
            <p:spPr>
              <a:xfrm>
                <a:off x="768082" y="2822575"/>
                <a:ext cx="1530350" cy="1076325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（管理画面サーバ）</a:t>
                </a: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（音声フロー）</a:t>
                </a: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</a:t>
                </a:r>
                <a:r>
                  <a:rPr lang="en-US" altLang="ja-JP" sz="1100" dirty="0">
                    <a:latin typeface="+mn-ea"/>
                  </a:rPr>
                  <a:t>JTIC</a:t>
                </a:r>
                <a:r>
                  <a:rPr lang="ja-JP" altLang="en-US" sz="1100" dirty="0">
                    <a:latin typeface="+mn-ea"/>
                  </a:rPr>
                  <a:t>クライアント）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46" name="角丸四角形 45"/>
              <p:cNvSpPr/>
              <p:nvPr/>
            </p:nvSpPr>
            <p:spPr>
              <a:xfrm>
                <a:off x="2634982" y="2824163"/>
                <a:ext cx="1530350" cy="1074737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（音声フロー）</a:t>
                </a: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</a:t>
                </a:r>
                <a:r>
                  <a:rPr lang="en-US" altLang="ja-JP" sz="1100" dirty="0">
                    <a:latin typeface="+mn-ea"/>
                  </a:rPr>
                  <a:t>JTIC</a:t>
                </a:r>
                <a:r>
                  <a:rPr lang="ja-JP" altLang="en-US" sz="1100" dirty="0">
                    <a:latin typeface="+mn-ea"/>
                  </a:rPr>
                  <a:t>クライアント）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45" name="角丸四角形 44"/>
              <p:cNvSpPr/>
              <p:nvPr/>
            </p:nvSpPr>
            <p:spPr>
              <a:xfrm>
                <a:off x="655376" y="728663"/>
                <a:ext cx="3597269" cy="1508125"/>
              </a:xfrm>
              <a:prstGeom prst="roundRect">
                <a:avLst/>
              </a:prstGeom>
              <a:solidFill>
                <a:srgbClr val="00C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algn="r">
                  <a:defRPr/>
                </a:pPr>
                <a:r>
                  <a:rPr lang="en-US" altLang="ja-JP" sz="1200" dirty="0">
                    <a:solidFill>
                      <a:schemeClr val="tx1"/>
                    </a:solidFill>
                    <a:latin typeface="+mn-ea"/>
                  </a:rPr>
                  <a:t>RSC</a:t>
                </a:r>
                <a:r>
                  <a:rPr lang="ja-JP" altLang="en-US" sz="1200" dirty="0">
                    <a:solidFill>
                      <a:schemeClr val="tx1"/>
                    </a:solidFill>
                    <a:latin typeface="+mn-ea"/>
                  </a:rPr>
                  <a:t>アダプタ用ドメイン</a:t>
                </a:r>
              </a:p>
            </p:txBody>
          </p:sp>
          <p:sp>
            <p:nvSpPr>
              <p:cNvPr id="41" name="角丸四角形 40"/>
              <p:cNvSpPr/>
              <p:nvPr/>
            </p:nvSpPr>
            <p:spPr>
              <a:xfrm>
                <a:off x="755382" y="1306513"/>
                <a:ext cx="1530350" cy="579437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</a:t>
                </a:r>
                <a:r>
                  <a:rPr lang="en-US" altLang="ja-JP" sz="1100" dirty="0">
                    <a:latin typeface="+mn-ea"/>
                  </a:rPr>
                  <a:t>RSC</a:t>
                </a:r>
                <a:r>
                  <a:rPr lang="ja-JP" altLang="en-US" sz="1100" dirty="0">
                    <a:latin typeface="+mn-ea"/>
                  </a:rPr>
                  <a:t>アダプタ）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48" name="角丸四角形 47"/>
              <p:cNvSpPr/>
              <p:nvPr/>
            </p:nvSpPr>
            <p:spPr>
              <a:xfrm>
                <a:off x="2634982" y="1306513"/>
                <a:ext cx="1530350" cy="579437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</a:t>
                </a:r>
                <a:r>
                  <a:rPr lang="en-US" altLang="ja-JP" sz="1100" dirty="0">
                    <a:latin typeface="+mn-ea"/>
                  </a:rPr>
                  <a:t>RSC</a:t>
                </a:r>
                <a:r>
                  <a:rPr lang="ja-JP" altLang="en-US" sz="1100" dirty="0">
                    <a:latin typeface="+mn-ea"/>
                  </a:rPr>
                  <a:t>アダプタ）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57" name="角丸四角形 56"/>
              <p:cNvSpPr/>
              <p:nvPr/>
            </p:nvSpPr>
            <p:spPr>
              <a:xfrm>
                <a:off x="750619" y="882650"/>
                <a:ext cx="1533526" cy="284163"/>
              </a:xfrm>
              <a:prstGeom prst="roundRect">
                <a:avLst/>
              </a:prstGeom>
              <a:solidFill>
                <a:srgbClr val="FF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管理サーバ</a:t>
                </a:r>
                <a:endParaRPr lang="en-US" altLang="ja-JP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9" name="角丸四角形 48"/>
              <p:cNvSpPr/>
              <p:nvPr/>
            </p:nvSpPr>
            <p:spPr>
              <a:xfrm>
                <a:off x="2638157" y="2452688"/>
                <a:ext cx="1533525" cy="284162"/>
              </a:xfrm>
              <a:prstGeom prst="roundRect">
                <a:avLst/>
              </a:prstGeom>
              <a:solidFill>
                <a:srgbClr val="FF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管理サーバ</a:t>
                </a:r>
                <a:endParaRPr lang="en-US" altLang="ja-JP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3" name="グループ化 2"/>
            <p:cNvGrpSpPr/>
            <p:nvPr/>
          </p:nvGrpSpPr>
          <p:grpSpPr>
            <a:xfrm>
              <a:off x="4674472" y="101600"/>
              <a:ext cx="4089400" cy="4000500"/>
              <a:chOff x="4674472" y="101600"/>
              <a:chExt cx="4089400" cy="4000500"/>
            </a:xfrm>
          </p:grpSpPr>
          <p:sp>
            <p:nvSpPr>
              <p:cNvPr id="40" name="正方形/長方形 39"/>
              <p:cNvSpPr/>
              <p:nvPr/>
            </p:nvSpPr>
            <p:spPr>
              <a:xfrm>
                <a:off x="4674472" y="101600"/>
                <a:ext cx="4089400" cy="40005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+mn-ea"/>
                  </a:rPr>
                  <a:t>ACD2</a:t>
                </a:r>
                <a:endParaRPr lang="ja-JP" altLang="en-US" sz="16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7" name="正方形/長方形 46"/>
              <p:cNvSpPr/>
              <p:nvPr/>
            </p:nvSpPr>
            <p:spPr>
              <a:xfrm>
                <a:off x="4930060" y="469900"/>
                <a:ext cx="1724025" cy="3543300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マシン（</a:t>
                </a:r>
                <a:r>
                  <a:rPr lang="en-US" altLang="ja-JP" sz="1100" dirty="0" smtClean="0">
                    <a:solidFill>
                      <a:schemeClr val="tx1"/>
                    </a:solidFill>
                    <a:latin typeface="+mn-ea"/>
                  </a:rPr>
                  <a:t>WAS#3</a:t>
                </a:r>
                <a:r>
                  <a:rPr lang="ja-JP" altLang="en-US" sz="1100" dirty="0" smtClean="0">
                    <a:solidFill>
                      <a:schemeClr val="tx1"/>
                    </a:solidFill>
                    <a:latin typeface="+mn-ea"/>
                  </a:rPr>
                  <a:t>）</a:t>
                </a:r>
                <a:endParaRPr lang="ja-JP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50" name="正方形/長方形 49"/>
              <p:cNvSpPr/>
              <p:nvPr/>
            </p:nvSpPr>
            <p:spPr>
              <a:xfrm>
                <a:off x="6808072" y="469900"/>
                <a:ext cx="1724025" cy="3543300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マシン（</a:t>
                </a:r>
                <a:r>
                  <a:rPr lang="en-US" altLang="ja-JP" sz="1100" dirty="0" smtClean="0">
                    <a:solidFill>
                      <a:schemeClr val="tx1"/>
                    </a:solidFill>
                    <a:latin typeface="+mn-ea"/>
                  </a:rPr>
                  <a:t>WAS#4</a:t>
                </a:r>
                <a:r>
                  <a:rPr lang="ja-JP" altLang="en-US" sz="1100" dirty="0" smtClean="0">
                    <a:solidFill>
                      <a:schemeClr val="tx1"/>
                    </a:solidFill>
                    <a:latin typeface="+mn-ea"/>
                  </a:rPr>
                  <a:t>）</a:t>
                </a:r>
                <a:endParaRPr lang="ja-JP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51" name="角丸四角形 50"/>
              <p:cNvSpPr/>
              <p:nvPr/>
            </p:nvSpPr>
            <p:spPr>
              <a:xfrm>
                <a:off x="4930051" y="2336800"/>
                <a:ext cx="3602046" cy="1600200"/>
              </a:xfrm>
              <a:prstGeom prst="roundRect">
                <a:avLst/>
              </a:prstGeom>
              <a:solidFill>
                <a:srgbClr val="00C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r>
                  <a:rPr lang="en-US" altLang="ja-JP" sz="1200" dirty="0">
                    <a:solidFill>
                      <a:schemeClr val="tx1"/>
                    </a:solidFill>
                    <a:latin typeface="+mn-ea"/>
                  </a:rPr>
                  <a:t>IVR</a:t>
                </a:r>
                <a:r>
                  <a:rPr lang="ja-JP" altLang="en-US" sz="1200" dirty="0">
                    <a:solidFill>
                      <a:schemeClr val="tx1"/>
                    </a:solidFill>
                    <a:latin typeface="+mn-ea"/>
                  </a:rPr>
                  <a:t>用ドメイン</a:t>
                </a:r>
              </a:p>
            </p:txBody>
          </p:sp>
          <p:sp>
            <p:nvSpPr>
              <p:cNvPr id="52" name="角丸四角形 51"/>
              <p:cNvSpPr/>
              <p:nvPr/>
            </p:nvSpPr>
            <p:spPr>
              <a:xfrm>
                <a:off x="5042772" y="2822575"/>
                <a:ext cx="1530350" cy="1076325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（管理画面サーバ）</a:t>
                </a: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（音声フロー）</a:t>
                </a: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</a:t>
                </a:r>
                <a:r>
                  <a:rPr lang="en-US" altLang="ja-JP" sz="1100" dirty="0">
                    <a:latin typeface="+mn-ea"/>
                  </a:rPr>
                  <a:t>JTIC</a:t>
                </a:r>
                <a:r>
                  <a:rPr lang="ja-JP" altLang="en-US" sz="1100" dirty="0">
                    <a:latin typeface="+mn-ea"/>
                  </a:rPr>
                  <a:t>クライアント）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54" name="角丸四角形 53"/>
              <p:cNvSpPr/>
              <p:nvPr/>
            </p:nvSpPr>
            <p:spPr>
              <a:xfrm>
                <a:off x="6909673" y="2824163"/>
                <a:ext cx="1530350" cy="1074737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（音声フロー）</a:t>
                </a: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</a:t>
                </a:r>
                <a:r>
                  <a:rPr lang="en-US" altLang="ja-JP" sz="1100" dirty="0">
                    <a:latin typeface="+mn-ea"/>
                  </a:rPr>
                  <a:t>JTIC</a:t>
                </a:r>
                <a:r>
                  <a:rPr lang="ja-JP" altLang="en-US" sz="1100" dirty="0">
                    <a:latin typeface="+mn-ea"/>
                  </a:rPr>
                  <a:t>クライアント）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55" name="角丸四角形 54"/>
              <p:cNvSpPr/>
              <p:nvPr/>
            </p:nvSpPr>
            <p:spPr>
              <a:xfrm>
                <a:off x="4930060" y="728663"/>
                <a:ext cx="3600992" cy="1508125"/>
              </a:xfrm>
              <a:prstGeom prst="roundRect">
                <a:avLst/>
              </a:prstGeom>
              <a:solidFill>
                <a:srgbClr val="00C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r">
                  <a:defRPr/>
                </a:pPr>
                <a:r>
                  <a:rPr lang="en-US" altLang="ja-JP" sz="1200" dirty="0">
                    <a:solidFill>
                      <a:schemeClr val="tx1"/>
                    </a:solidFill>
                    <a:latin typeface="+mn-ea"/>
                  </a:rPr>
                  <a:t>RSC</a:t>
                </a:r>
                <a:r>
                  <a:rPr lang="ja-JP" altLang="en-US" sz="1200" dirty="0">
                    <a:solidFill>
                      <a:schemeClr val="tx1"/>
                    </a:solidFill>
                    <a:latin typeface="+mn-ea"/>
                  </a:rPr>
                  <a:t>アダプタ用ドメイン</a:t>
                </a:r>
              </a:p>
            </p:txBody>
          </p:sp>
          <p:sp>
            <p:nvSpPr>
              <p:cNvPr id="56" name="角丸四角形 55"/>
              <p:cNvSpPr/>
              <p:nvPr/>
            </p:nvSpPr>
            <p:spPr>
              <a:xfrm>
                <a:off x="5030072" y="1306513"/>
                <a:ext cx="1530350" cy="579437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</a:t>
                </a:r>
                <a:r>
                  <a:rPr lang="en-US" altLang="ja-JP" sz="1100" dirty="0">
                    <a:latin typeface="+mn-ea"/>
                  </a:rPr>
                  <a:t>RSC</a:t>
                </a:r>
                <a:r>
                  <a:rPr lang="ja-JP" altLang="en-US" sz="1100" dirty="0">
                    <a:latin typeface="+mn-ea"/>
                  </a:rPr>
                  <a:t>アダプタ）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59" name="角丸四角形 58"/>
              <p:cNvSpPr/>
              <p:nvPr/>
            </p:nvSpPr>
            <p:spPr>
              <a:xfrm>
                <a:off x="6909673" y="1306513"/>
                <a:ext cx="1530350" cy="579437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</a:t>
                </a:r>
                <a:r>
                  <a:rPr lang="en-US" altLang="ja-JP" sz="1100" dirty="0">
                    <a:latin typeface="+mn-ea"/>
                  </a:rPr>
                  <a:t>RSC</a:t>
                </a:r>
                <a:r>
                  <a:rPr lang="ja-JP" altLang="en-US" sz="1100" dirty="0">
                    <a:latin typeface="+mn-ea"/>
                  </a:rPr>
                  <a:t>アダプタ）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60" name="角丸四角形 59"/>
              <p:cNvSpPr/>
              <p:nvPr/>
            </p:nvSpPr>
            <p:spPr>
              <a:xfrm>
                <a:off x="5025310" y="882650"/>
                <a:ext cx="1533525" cy="284163"/>
              </a:xfrm>
              <a:prstGeom prst="roundRect">
                <a:avLst/>
              </a:prstGeom>
              <a:solidFill>
                <a:srgbClr val="FF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管理サーバ</a:t>
                </a:r>
                <a:endParaRPr lang="en-US" altLang="ja-JP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61" name="角丸四角形 60"/>
              <p:cNvSpPr/>
              <p:nvPr/>
            </p:nvSpPr>
            <p:spPr>
              <a:xfrm>
                <a:off x="6912848" y="2452688"/>
                <a:ext cx="1533525" cy="284162"/>
              </a:xfrm>
              <a:prstGeom prst="roundRect">
                <a:avLst/>
              </a:prstGeom>
              <a:solidFill>
                <a:srgbClr val="FF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管理サーバ</a:t>
                </a:r>
                <a:endParaRPr lang="en-US" altLang="ja-JP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024486"/>
            <a:ext cx="7772400" cy="1470025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195704"/>
            <a:ext cx="6400800" cy="986696"/>
          </a:xfrm>
        </p:spPr>
        <p:txBody>
          <a:bodyPr/>
          <a:lstStyle/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1-3-2-1 </a:t>
            </a:r>
            <a:r>
              <a:rPr lang="ja-JP" altLang="en-US" dirty="0">
                <a:latin typeface="ＭＳ Ｐゴシック" pitchFamily="50" charset="-128"/>
              </a:rPr>
              <a:t>データソース設計</a:t>
            </a:r>
            <a:r>
              <a:rPr lang="en-US" altLang="ja-JP" dirty="0">
                <a:latin typeface="ＭＳ Ｐゴシック" pitchFamily="50" charset="-128"/>
              </a:rPr>
              <a:t>]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778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グループ化 69"/>
          <p:cNvGrpSpPr/>
          <p:nvPr/>
        </p:nvGrpSpPr>
        <p:grpSpPr>
          <a:xfrm>
            <a:off x="722336" y="381000"/>
            <a:ext cx="7680145" cy="5692775"/>
            <a:chOff x="722336" y="381000"/>
            <a:chExt cx="7680145" cy="5692775"/>
          </a:xfrm>
        </p:grpSpPr>
        <p:sp>
          <p:nvSpPr>
            <p:cNvPr id="11" name="正方形/長方形 10"/>
            <p:cNvSpPr/>
            <p:nvPr/>
          </p:nvSpPr>
          <p:spPr>
            <a:xfrm>
              <a:off x="2690813" y="4300538"/>
              <a:ext cx="1724025" cy="1773237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/>
            <a:lstStyle/>
            <a:p>
              <a:pPr algn="ctr">
                <a:defRPr/>
              </a:pPr>
              <a:r>
                <a:rPr lang="en-US" altLang="ja-JP" sz="1600" dirty="0">
                  <a:solidFill>
                    <a:schemeClr val="tx1"/>
                  </a:solidFill>
                  <a:latin typeface="+mn-ea"/>
                </a:rPr>
                <a:t>DB#1</a:t>
              </a:r>
              <a:endParaRPr lang="ja-JP" altLang="en-US" sz="1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角丸四角形 33"/>
            <p:cNvSpPr/>
            <p:nvPr/>
          </p:nvSpPr>
          <p:spPr>
            <a:xfrm>
              <a:off x="2773363" y="4424363"/>
              <a:ext cx="1544637" cy="1052512"/>
            </a:xfrm>
            <a:prstGeom prst="roundRect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1100" dirty="0">
                  <a:solidFill>
                    <a:schemeClr val="bg1"/>
                  </a:solidFill>
                  <a:latin typeface="+mn-ea"/>
                </a:rPr>
                <a:t>本番</a:t>
              </a:r>
              <a:endParaRPr lang="en-US" altLang="ja-JP" sz="1100" dirty="0">
                <a:solidFill>
                  <a:schemeClr val="bg1"/>
                </a:solidFill>
                <a:latin typeface="+mn-ea"/>
              </a:endParaRPr>
            </a:p>
            <a:p>
              <a:pPr algn="ctr">
                <a:defRPr/>
              </a:pPr>
              <a:r>
                <a:rPr lang="ja-JP" altLang="en-US" sz="1100" dirty="0">
                  <a:solidFill>
                    <a:schemeClr val="bg1"/>
                  </a:solidFill>
                  <a:latin typeface="+mn-ea"/>
                </a:rPr>
                <a:t>インスタンス</a:t>
              </a:r>
              <a:endParaRPr lang="en-US" altLang="ja-JP" sz="1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4708525" y="4295775"/>
              <a:ext cx="1724025" cy="1778000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/>
            <a:lstStyle/>
            <a:p>
              <a:pPr algn="ctr">
                <a:defRPr/>
              </a:pPr>
              <a:r>
                <a:rPr lang="en-US" altLang="ja-JP" sz="1600" dirty="0">
                  <a:solidFill>
                    <a:schemeClr val="tx1"/>
                  </a:solidFill>
                  <a:latin typeface="+mn-ea"/>
                </a:rPr>
                <a:t>DB#2</a:t>
              </a:r>
              <a:endParaRPr lang="ja-JP" altLang="en-US" sz="1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5" name="角丸四角形 54"/>
            <p:cNvSpPr/>
            <p:nvPr/>
          </p:nvSpPr>
          <p:spPr>
            <a:xfrm>
              <a:off x="4791075" y="4419600"/>
              <a:ext cx="1544638" cy="1057275"/>
            </a:xfrm>
            <a:prstGeom prst="roundRect">
              <a:avLst/>
            </a:prstGeom>
            <a:solidFill>
              <a:srgbClr val="0000FF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1100" dirty="0">
                  <a:solidFill>
                    <a:schemeClr val="bg1"/>
                  </a:solidFill>
                  <a:latin typeface="+mn-ea"/>
                </a:rPr>
                <a:t>本番</a:t>
              </a:r>
              <a:endParaRPr lang="en-US" altLang="ja-JP" sz="1100" dirty="0">
                <a:solidFill>
                  <a:schemeClr val="bg1"/>
                </a:solidFill>
                <a:latin typeface="+mn-ea"/>
              </a:endParaRPr>
            </a:p>
            <a:p>
              <a:pPr algn="ctr">
                <a:defRPr/>
              </a:pPr>
              <a:r>
                <a:rPr lang="ja-JP" altLang="en-US" sz="1100" dirty="0">
                  <a:solidFill>
                    <a:schemeClr val="bg1"/>
                  </a:solidFill>
                  <a:latin typeface="+mn-ea"/>
                </a:rPr>
                <a:t>インスタンス</a:t>
              </a:r>
              <a:endParaRPr lang="en-US" altLang="ja-JP" sz="110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68" name="グループ化 67"/>
            <p:cNvGrpSpPr/>
            <p:nvPr/>
          </p:nvGrpSpPr>
          <p:grpSpPr>
            <a:xfrm>
              <a:off x="722336" y="381000"/>
              <a:ext cx="3781045" cy="3454400"/>
              <a:chOff x="696578" y="381000"/>
              <a:chExt cx="3781045" cy="3454400"/>
            </a:xfrm>
          </p:grpSpPr>
          <p:sp>
            <p:nvSpPr>
              <p:cNvPr id="2" name="正方形/長方形 1"/>
              <p:cNvSpPr/>
              <p:nvPr/>
            </p:nvSpPr>
            <p:spPr>
              <a:xfrm>
                <a:off x="696578" y="381000"/>
                <a:ext cx="3781045" cy="3454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+mn-ea"/>
                  </a:rPr>
                  <a:t>ACD1</a:t>
                </a:r>
                <a:endParaRPr lang="ja-JP" altLang="en-US" sz="16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06" name="正方形/長方形 105"/>
              <p:cNvSpPr/>
              <p:nvPr/>
            </p:nvSpPr>
            <p:spPr>
              <a:xfrm>
                <a:off x="814053" y="747713"/>
                <a:ext cx="1724025" cy="2963862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マシン（</a:t>
                </a:r>
                <a:r>
                  <a:rPr lang="en-US" altLang="ja-JP" sz="1100" dirty="0">
                    <a:solidFill>
                      <a:schemeClr val="tx1"/>
                    </a:solidFill>
                    <a:latin typeface="+mn-ea"/>
                  </a:rPr>
                  <a:t>WAS#1</a:t>
                </a: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）</a:t>
                </a:r>
              </a:p>
            </p:txBody>
          </p:sp>
          <p:sp>
            <p:nvSpPr>
              <p:cNvPr id="3" name="正方形/長方形 2"/>
              <p:cNvSpPr/>
              <p:nvPr/>
            </p:nvSpPr>
            <p:spPr>
              <a:xfrm>
                <a:off x="2647616" y="747713"/>
                <a:ext cx="1724025" cy="2963862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マシン（</a:t>
                </a:r>
                <a:r>
                  <a:rPr lang="en-US" altLang="ja-JP" sz="1100" dirty="0">
                    <a:solidFill>
                      <a:schemeClr val="tx1"/>
                    </a:solidFill>
                    <a:latin typeface="+mn-ea"/>
                  </a:rPr>
                  <a:t>WAS#2</a:t>
                </a: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）</a:t>
                </a:r>
              </a:p>
            </p:txBody>
          </p:sp>
          <p:sp>
            <p:nvSpPr>
              <p:cNvPr id="4" name="角丸四角形 3"/>
              <p:cNvSpPr/>
              <p:nvPr/>
            </p:nvSpPr>
            <p:spPr>
              <a:xfrm>
                <a:off x="801354" y="1047750"/>
                <a:ext cx="3570288" cy="2573338"/>
              </a:xfrm>
              <a:prstGeom prst="roundRect">
                <a:avLst/>
              </a:prstGeom>
              <a:solidFill>
                <a:srgbClr val="00C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r">
                  <a:defRPr/>
                </a:pPr>
                <a:r>
                  <a:rPr lang="ja-JP" altLang="en-US" sz="1200" dirty="0">
                    <a:solidFill>
                      <a:schemeClr val="tx1"/>
                    </a:solidFill>
                    <a:latin typeface="+mn-ea"/>
                  </a:rPr>
                  <a:t>ドメイン</a:t>
                </a:r>
              </a:p>
            </p:txBody>
          </p:sp>
          <p:sp>
            <p:nvSpPr>
              <p:cNvPr id="22" name="角丸四角形 21"/>
              <p:cNvSpPr/>
              <p:nvPr/>
            </p:nvSpPr>
            <p:spPr>
              <a:xfrm>
                <a:off x="2747628" y="1557338"/>
                <a:ext cx="1530350" cy="2060575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（音声フロー）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23" name="角丸四角形 22"/>
              <p:cNvSpPr/>
              <p:nvPr/>
            </p:nvSpPr>
            <p:spPr>
              <a:xfrm>
                <a:off x="2782553" y="2355850"/>
                <a:ext cx="1457325" cy="123031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dirty="0">
                    <a:solidFill>
                      <a:schemeClr val="tx1"/>
                    </a:solidFill>
                    <a:latin typeface="+mn-ea"/>
                  </a:rPr>
                  <a:t>データソース</a:t>
                </a:r>
              </a:p>
            </p:txBody>
          </p:sp>
          <p:sp>
            <p:nvSpPr>
              <p:cNvPr id="24" name="角丸四角形 23"/>
              <p:cNvSpPr/>
              <p:nvPr/>
            </p:nvSpPr>
            <p:spPr>
              <a:xfrm>
                <a:off x="2838116" y="2652713"/>
                <a:ext cx="1344612" cy="876300"/>
              </a:xfrm>
              <a:prstGeom prst="roundRect">
                <a:avLst/>
              </a:prstGeom>
              <a:solidFill>
                <a:srgbClr val="FF996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dirty="0">
                    <a:solidFill>
                      <a:schemeClr val="tx1"/>
                    </a:solidFill>
                    <a:latin typeface="+mn-ea"/>
                  </a:rPr>
                  <a:t>接続プール</a:t>
                </a:r>
              </a:p>
            </p:txBody>
          </p:sp>
          <p:sp>
            <p:nvSpPr>
              <p:cNvPr id="25" name="角丸四角形 24"/>
              <p:cNvSpPr/>
              <p:nvPr/>
            </p:nvSpPr>
            <p:spPr>
              <a:xfrm>
                <a:off x="2933366" y="2909888"/>
                <a:ext cx="1149350" cy="21431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6" name="角丸四角形 25"/>
              <p:cNvSpPr/>
              <p:nvPr/>
            </p:nvSpPr>
            <p:spPr>
              <a:xfrm>
                <a:off x="2933366" y="3108325"/>
                <a:ext cx="1149350" cy="21272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7" name="角丸四角形 26"/>
              <p:cNvSpPr/>
              <p:nvPr/>
            </p:nvSpPr>
            <p:spPr>
              <a:xfrm>
                <a:off x="2933366" y="3298825"/>
                <a:ext cx="1149350" cy="21431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08" name="角丸四角形 107"/>
              <p:cNvSpPr/>
              <p:nvPr/>
            </p:nvSpPr>
            <p:spPr>
              <a:xfrm>
                <a:off x="904317" y="1557338"/>
                <a:ext cx="1530350" cy="2060575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（音声フロー</a:t>
                </a:r>
                <a:r>
                  <a:rPr lang="en-US" altLang="ja-JP" sz="1100" dirty="0">
                    <a:latin typeface="+mn-ea"/>
                  </a:rPr>
                  <a:t>/</a:t>
                </a:r>
              </a:p>
              <a:p>
                <a:pPr algn="ctr">
                  <a:spcBef>
                    <a:spcPts val="0"/>
                  </a:spcBef>
                  <a:defRPr/>
                </a:pPr>
                <a:r>
                  <a:rPr lang="ja-JP" altLang="en-US" sz="1100" dirty="0">
                    <a:latin typeface="+mn-ea"/>
                  </a:rPr>
                  <a:t>管理画面サーバ）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110" name="角丸四角形 109"/>
              <p:cNvSpPr/>
              <p:nvPr/>
            </p:nvSpPr>
            <p:spPr>
              <a:xfrm>
                <a:off x="939242" y="2355850"/>
                <a:ext cx="1457325" cy="123031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dirty="0">
                    <a:solidFill>
                      <a:schemeClr val="tx1"/>
                    </a:solidFill>
                    <a:latin typeface="+mn-ea"/>
                  </a:rPr>
                  <a:t>データソース</a:t>
                </a:r>
              </a:p>
            </p:txBody>
          </p:sp>
          <p:sp>
            <p:nvSpPr>
              <p:cNvPr id="112" name="角丸四角形 111"/>
              <p:cNvSpPr/>
              <p:nvPr/>
            </p:nvSpPr>
            <p:spPr>
              <a:xfrm>
                <a:off x="994560" y="2652713"/>
                <a:ext cx="1344613" cy="876300"/>
              </a:xfrm>
              <a:prstGeom prst="roundRect">
                <a:avLst/>
              </a:prstGeom>
              <a:solidFill>
                <a:srgbClr val="FF996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dirty="0">
                    <a:solidFill>
                      <a:schemeClr val="tx1"/>
                    </a:solidFill>
                    <a:latin typeface="+mn-ea"/>
                  </a:rPr>
                  <a:t>接続プール</a:t>
                </a:r>
              </a:p>
            </p:txBody>
          </p:sp>
          <p:sp>
            <p:nvSpPr>
              <p:cNvPr id="114" name="角丸四角形 113"/>
              <p:cNvSpPr/>
              <p:nvPr/>
            </p:nvSpPr>
            <p:spPr>
              <a:xfrm>
                <a:off x="1090054" y="2909888"/>
                <a:ext cx="1149351" cy="21431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16" name="角丸四角形 115"/>
              <p:cNvSpPr/>
              <p:nvPr/>
            </p:nvSpPr>
            <p:spPr>
              <a:xfrm>
                <a:off x="1090054" y="3108325"/>
                <a:ext cx="1149351" cy="21272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18" name="角丸四角形 117"/>
              <p:cNvSpPr/>
              <p:nvPr/>
            </p:nvSpPr>
            <p:spPr>
              <a:xfrm>
                <a:off x="1090054" y="3298825"/>
                <a:ext cx="1149351" cy="21431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0" name="角丸四角形 119"/>
              <p:cNvSpPr/>
              <p:nvPr/>
            </p:nvSpPr>
            <p:spPr>
              <a:xfrm>
                <a:off x="945012" y="1138238"/>
                <a:ext cx="1422400" cy="319087"/>
              </a:xfrm>
              <a:prstGeom prst="roundRect">
                <a:avLst/>
              </a:prstGeom>
              <a:solidFill>
                <a:srgbClr val="FF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管理サーバ</a:t>
                </a:r>
              </a:p>
            </p:txBody>
          </p:sp>
        </p:grpSp>
        <p:grpSp>
          <p:nvGrpSpPr>
            <p:cNvPr id="66" name="グループ化 65"/>
            <p:cNvGrpSpPr/>
            <p:nvPr/>
          </p:nvGrpSpPr>
          <p:grpSpPr>
            <a:xfrm>
              <a:off x="4628435" y="385187"/>
              <a:ext cx="3774046" cy="3454400"/>
              <a:chOff x="4606307" y="385187"/>
              <a:chExt cx="3774046" cy="3454400"/>
            </a:xfrm>
          </p:grpSpPr>
          <p:sp>
            <p:nvSpPr>
              <p:cNvPr id="72" name="正方形/長方形 71"/>
              <p:cNvSpPr/>
              <p:nvPr/>
            </p:nvSpPr>
            <p:spPr>
              <a:xfrm>
                <a:off x="4606307" y="385187"/>
                <a:ext cx="3774046" cy="3454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r"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+mn-ea"/>
                  </a:rPr>
                  <a:t>ACD2</a:t>
                </a:r>
                <a:endParaRPr lang="ja-JP" altLang="en-US" sz="16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2" name="正方形/長方形 121"/>
              <p:cNvSpPr/>
              <p:nvPr/>
            </p:nvSpPr>
            <p:spPr>
              <a:xfrm>
                <a:off x="4704732" y="739596"/>
                <a:ext cx="1724025" cy="2963863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マシン（</a:t>
                </a:r>
                <a:r>
                  <a:rPr lang="en-US" altLang="ja-JP" sz="1100" dirty="0" smtClean="0">
                    <a:solidFill>
                      <a:schemeClr val="tx1"/>
                    </a:solidFill>
                    <a:latin typeface="+mn-ea"/>
                  </a:rPr>
                  <a:t>WAS#3</a:t>
                </a:r>
                <a:r>
                  <a:rPr lang="ja-JP" altLang="en-US" sz="1100" dirty="0" smtClean="0">
                    <a:solidFill>
                      <a:schemeClr val="tx1"/>
                    </a:solidFill>
                    <a:latin typeface="+mn-ea"/>
                  </a:rPr>
                  <a:t>）</a:t>
                </a:r>
                <a:endParaRPr lang="ja-JP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4" name="正方形/長方形 123"/>
              <p:cNvSpPr/>
              <p:nvPr/>
            </p:nvSpPr>
            <p:spPr>
              <a:xfrm>
                <a:off x="6539882" y="738009"/>
                <a:ext cx="1724025" cy="2963862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マシン（</a:t>
                </a:r>
                <a:r>
                  <a:rPr lang="en-US" altLang="ja-JP" sz="1100" dirty="0" smtClean="0">
                    <a:solidFill>
                      <a:schemeClr val="tx1"/>
                    </a:solidFill>
                    <a:latin typeface="+mn-ea"/>
                  </a:rPr>
                  <a:t>WAS#4</a:t>
                </a:r>
                <a:r>
                  <a:rPr lang="ja-JP" altLang="en-US" sz="1100" dirty="0" smtClean="0">
                    <a:solidFill>
                      <a:schemeClr val="tx1"/>
                    </a:solidFill>
                    <a:latin typeface="+mn-ea"/>
                  </a:rPr>
                  <a:t>）</a:t>
                </a:r>
                <a:endParaRPr lang="ja-JP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6" name="角丸四角形 125"/>
              <p:cNvSpPr/>
              <p:nvPr/>
            </p:nvSpPr>
            <p:spPr>
              <a:xfrm>
                <a:off x="4704732" y="1038046"/>
                <a:ext cx="3559176" cy="2570163"/>
              </a:xfrm>
              <a:prstGeom prst="roundRect">
                <a:avLst/>
              </a:prstGeom>
              <a:solidFill>
                <a:srgbClr val="00C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r">
                  <a:defRPr/>
                </a:pPr>
                <a:r>
                  <a:rPr lang="ja-JP" altLang="en-US" sz="1200" dirty="0">
                    <a:solidFill>
                      <a:schemeClr val="tx1"/>
                    </a:solidFill>
                    <a:latin typeface="+mn-ea"/>
                  </a:rPr>
                  <a:t>ドメイン</a:t>
                </a:r>
              </a:p>
            </p:txBody>
          </p:sp>
          <p:sp>
            <p:nvSpPr>
              <p:cNvPr id="128" name="角丸四角形 127"/>
              <p:cNvSpPr/>
              <p:nvPr/>
            </p:nvSpPr>
            <p:spPr>
              <a:xfrm>
                <a:off x="6638307" y="1547634"/>
                <a:ext cx="1530350" cy="2060575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（音声フロー）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130" name="角丸四角形 129"/>
              <p:cNvSpPr/>
              <p:nvPr/>
            </p:nvSpPr>
            <p:spPr>
              <a:xfrm>
                <a:off x="6673232" y="2346146"/>
                <a:ext cx="1457325" cy="123031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dirty="0">
                    <a:solidFill>
                      <a:schemeClr val="tx1"/>
                    </a:solidFill>
                    <a:latin typeface="+mn-ea"/>
                  </a:rPr>
                  <a:t>データソース</a:t>
                </a:r>
              </a:p>
            </p:txBody>
          </p:sp>
          <p:sp>
            <p:nvSpPr>
              <p:cNvPr id="132" name="角丸四角形 131"/>
              <p:cNvSpPr/>
              <p:nvPr/>
            </p:nvSpPr>
            <p:spPr>
              <a:xfrm>
                <a:off x="6728795" y="2643009"/>
                <a:ext cx="1344612" cy="876300"/>
              </a:xfrm>
              <a:prstGeom prst="roundRect">
                <a:avLst/>
              </a:prstGeom>
              <a:solidFill>
                <a:srgbClr val="FF996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dirty="0">
                    <a:solidFill>
                      <a:schemeClr val="tx1"/>
                    </a:solidFill>
                    <a:latin typeface="+mn-ea"/>
                  </a:rPr>
                  <a:t>接続プール</a:t>
                </a:r>
              </a:p>
            </p:txBody>
          </p:sp>
          <p:sp>
            <p:nvSpPr>
              <p:cNvPr id="134" name="角丸四角形 133"/>
              <p:cNvSpPr/>
              <p:nvPr/>
            </p:nvSpPr>
            <p:spPr>
              <a:xfrm>
                <a:off x="6824045" y="2900184"/>
                <a:ext cx="1149350" cy="21431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36" name="角丸四角形 135"/>
              <p:cNvSpPr/>
              <p:nvPr/>
            </p:nvSpPr>
            <p:spPr>
              <a:xfrm>
                <a:off x="6824045" y="3111321"/>
                <a:ext cx="1149350" cy="21272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38" name="角丸四角形 137"/>
              <p:cNvSpPr/>
              <p:nvPr/>
            </p:nvSpPr>
            <p:spPr>
              <a:xfrm>
                <a:off x="6824045" y="3289121"/>
                <a:ext cx="1149350" cy="21431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8" name="角丸四角形 147"/>
              <p:cNvSpPr/>
              <p:nvPr/>
            </p:nvSpPr>
            <p:spPr>
              <a:xfrm>
                <a:off x="4801570" y="1547634"/>
                <a:ext cx="1530350" cy="2060575"/>
              </a:xfrm>
              <a:prstGeom prst="roundRect">
                <a:avLst/>
              </a:prstGeom>
              <a:solidFill>
                <a:srgbClr val="00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管理対象サーバ</a:t>
                </a:r>
                <a:endParaRPr lang="en-US" altLang="ja-JP" sz="1100" dirty="0">
                  <a:latin typeface="+mn-ea"/>
                </a:endParaRPr>
              </a:p>
              <a:p>
                <a:pPr algn="ctr">
                  <a:defRPr/>
                </a:pPr>
                <a:r>
                  <a:rPr lang="ja-JP" altLang="en-US" sz="1100" dirty="0">
                    <a:latin typeface="+mn-ea"/>
                  </a:rPr>
                  <a:t>（音声フロー</a:t>
                </a:r>
                <a:r>
                  <a:rPr lang="en-US" altLang="ja-JP" sz="1100" dirty="0">
                    <a:latin typeface="+mn-ea"/>
                  </a:rPr>
                  <a:t>/</a:t>
                </a:r>
              </a:p>
              <a:p>
                <a:pPr algn="ctr">
                  <a:spcBef>
                    <a:spcPts val="0"/>
                  </a:spcBef>
                  <a:defRPr/>
                </a:pPr>
                <a:r>
                  <a:rPr lang="ja-JP" altLang="en-US" sz="1100" dirty="0">
                    <a:latin typeface="+mn-ea"/>
                  </a:rPr>
                  <a:t>管理画面サーバ）</a:t>
                </a:r>
                <a:endParaRPr lang="en-US" altLang="ja-JP" sz="1100" dirty="0">
                  <a:latin typeface="+mn-ea"/>
                </a:endParaRPr>
              </a:p>
            </p:txBody>
          </p:sp>
          <p:sp>
            <p:nvSpPr>
              <p:cNvPr id="149" name="角丸四角形 148"/>
              <p:cNvSpPr/>
              <p:nvPr/>
            </p:nvSpPr>
            <p:spPr>
              <a:xfrm>
                <a:off x="4836495" y="2346146"/>
                <a:ext cx="1457325" cy="123031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dirty="0">
                    <a:solidFill>
                      <a:schemeClr val="tx1"/>
                    </a:solidFill>
                    <a:latin typeface="+mn-ea"/>
                  </a:rPr>
                  <a:t>データソース</a:t>
                </a:r>
              </a:p>
            </p:txBody>
          </p:sp>
          <p:sp>
            <p:nvSpPr>
              <p:cNvPr id="150" name="角丸四角形 149"/>
              <p:cNvSpPr/>
              <p:nvPr/>
            </p:nvSpPr>
            <p:spPr>
              <a:xfrm>
                <a:off x="4892058" y="2643009"/>
                <a:ext cx="1344612" cy="876300"/>
              </a:xfrm>
              <a:prstGeom prst="roundRect">
                <a:avLst/>
              </a:prstGeom>
              <a:solidFill>
                <a:srgbClr val="FF996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ja-JP" altLang="en-US" dirty="0">
                    <a:solidFill>
                      <a:schemeClr val="tx1"/>
                    </a:solidFill>
                    <a:latin typeface="+mn-ea"/>
                  </a:rPr>
                  <a:t>接続プール</a:t>
                </a:r>
              </a:p>
            </p:txBody>
          </p:sp>
          <p:sp>
            <p:nvSpPr>
              <p:cNvPr id="151" name="角丸四角形 150"/>
              <p:cNvSpPr/>
              <p:nvPr/>
            </p:nvSpPr>
            <p:spPr>
              <a:xfrm>
                <a:off x="4987308" y="2900184"/>
                <a:ext cx="1149350" cy="21431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52" name="角丸四角形 151"/>
              <p:cNvSpPr/>
              <p:nvPr/>
            </p:nvSpPr>
            <p:spPr>
              <a:xfrm>
                <a:off x="4987308" y="3098621"/>
                <a:ext cx="1149350" cy="21272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53" name="角丸四角形 152"/>
              <p:cNvSpPr/>
              <p:nvPr/>
            </p:nvSpPr>
            <p:spPr>
              <a:xfrm>
                <a:off x="4987308" y="3289121"/>
                <a:ext cx="1149350" cy="21431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ja-JP" dirty="0">
                    <a:solidFill>
                      <a:schemeClr val="tx1"/>
                    </a:solidFill>
                    <a:latin typeface="+mn-ea"/>
                  </a:rPr>
                  <a:t>Connection</a:t>
                </a:r>
                <a:endParaRPr lang="ja-JP" alt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54" name="角丸四角形 153"/>
              <p:cNvSpPr/>
              <p:nvPr/>
            </p:nvSpPr>
            <p:spPr>
              <a:xfrm>
                <a:off x="4855545" y="1128534"/>
                <a:ext cx="1422400" cy="319087"/>
              </a:xfrm>
              <a:prstGeom prst="roundRect">
                <a:avLst/>
              </a:prstGeom>
              <a:solidFill>
                <a:srgbClr val="FF0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ja-JP" altLang="en-US" sz="1100" dirty="0">
                    <a:solidFill>
                      <a:schemeClr val="tx1"/>
                    </a:solidFill>
                    <a:latin typeface="+mn-ea"/>
                  </a:rPr>
                  <a:t>管理サーバ</a:t>
                </a:r>
              </a:p>
            </p:txBody>
          </p:sp>
        </p:grpSp>
        <p:cxnSp>
          <p:nvCxnSpPr>
            <p:cNvPr id="43" name="直線コネクタ 42"/>
            <p:cNvCxnSpPr>
              <a:stCxn id="114" idx="3"/>
              <a:endCxn id="34" idx="0"/>
            </p:cNvCxnSpPr>
            <p:nvPr/>
          </p:nvCxnSpPr>
          <p:spPr>
            <a:xfrm>
              <a:off x="2265163" y="3017044"/>
              <a:ext cx="1280519" cy="140731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/>
            <p:cNvCxnSpPr>
              <a:stCxn id="116" idx="3"/>
              <a:endCxn id="34" idx="0"/>
            </p:cNvCxnSpPr>
            <p:nvPr/>
          </p:nvCxnSpPr>
          <p:spPr>
            <a:xfrm>
              <a:off x="2265163" y="3214688"/>
              <a:ext cx="1280519" cy="120967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/>
            <p:cNvCxnSpPr>
              <a:stCxn id="118" idx="3"/>
              <a:endCxn id="34" idx="0"/>
            </p:cNvCxnSpPr>
            <p:nvPr/>
          </p:nvCxnSpPr>
          <p:spPr>
            <a:xfrm>
              <a:off x="2265163" y="3405982"/>
              <a:ext cx="1280519" cy="1018381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/>
            <p:cNvCxnSpPr>
              <a:stCxn id="151" idx="1"/>
              <a:endCxn id="34" idx="0"/>
            </p:cNvCxnSpPr>
            <p:nvPr/>
          </p:nvCxnSpPr>
          <p:spPr>
            <a:xfrm flipH="1">
              <a:off x="3545682" y="3007340"/>
              <a:ext cx="1463754" cy="14170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コネクタ 55"/>
            <p:cNvCxnSpPr>
              <a:stCxn id="152" idx="1"/>
              <a:endCxn id="34" idx="0"/>
            </p:cNvCxnSpPr>
            <p:nvPr/>
          </p:nvCxnSpPr>
          <p:spPr>
            <a:xfrm flipH="1">
              <a:off x="3545682" y="3204984"/>
              <a:ext cx="1463754" cy="12193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>
              <a:stCxn id="153" idx="1"/>
              <a:endCxn id="34" idx="0"/>
            </p:cNvCxnSpPr>
            <p:nvPr/>
          </p:nvCxnSpPr>
          <p:spPr>
            <a:xfrm flipH="1">
              <a:off x="3545682" y="3396278"/>
              <a:ext cx="1463754" cy="10280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/>
            <p:cNvCxnSpPr>
              <a:stCxn id="134" idx="1"/>
              <a:endCxn id="34" idx="0"/>
            </p:cNvCxnSpPr>
            <p:nvPr/>
          </p:nvCxnSpPr>
          <p:spPr>
            <a:xfrm flipH="1">
              <a:off x="3545682" y="3007340"/>
              <a:ext cx="3300491" cy="14170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/>
            <p:cNvCxnSpPr>
              <a:stCxn id="136" idx="1"/>
              <a:endCxn id="34" idx="0"/>
            </p:cNvCxnSpPr>
            <p:nvPr/>
          </p:nvCxnSpPr>
          <p:spPr>
            <a:xfrm flipH="1">
              <a:off x="3545682" y="3217684"/>
              <a:ext cx="3300491" cy="12066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コネクタ 63"/>
            <p:cNvCxnSpPr>
              <a:stCxn id="138" idx="1"/>
              <a:endCxn id="34" idx="0"/>
            </p:cNvCxnSpPr>
            <p:nvPr/>
          </p:nvCxnSpPr>
          <p:spPr>
            <a:xfrm flipH="1">
              <a:off x="3545682" y="3396278"/>
              <a:ext cx="3300491" cy="10280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/>
            <p:cNvCxnSpPr>
              <a:stCxn id="27" idx="3"/>
              <a:endCxn id="34" idx="0"/>
            </p:cNvCxnSpPr>
            <p:nvPr/>
          </p:nvCxnSpPr>
          <p:spPr>
            <a:xfrm flipH="1">
              <a:off x="3545682" y="3405982"/>
              <a:ext cx="562792" cy="101838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>
              <a:stCxn id="26" idx="3"/>
              <a:endCxn id="34" idx="0"/>
            </p:cNvCxnSpPr>
            <p:nvPr/>
          </p:nvCxnSpPr>
          <p:spPr>
            <a:xfrm flipH="1">
              <a:off x="3545682" y="3214688"/>
              <a:ext cx="562792" cy="12096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/>
            <p:cNvCxnSpPr>
              <a:stCxn id="25" idx="3"/>
              <a:endCxn id="34" idx="0"/>
            </p:cNvCxnSpPr>
            <p:nvPr/>
          </p:nvCxnSpPr>
          <p:spPr>
            <a:xfrm flipH="1">
              <a:off x="3545682" y="3017044"/>
              <a:ext cx="562792" cy="140731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004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 txBox="1">
            <a:spLocks/>
          </p:cNvSpPr>
          <p:nvPr/>
        </p:nvSpPr>
        <p:spPr>
          <a:xfrm>
            <a:off x="702699" y="228525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397811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2-3-1-1 </a:t>
            </a:r>
            <a:r>
              <a:rPr lang="ja-JP" altLang="en-US" dirty="0">
                <a:latin typeface="ＭＳ Ｐゴシック" pitchFamily="50" charset="-128"/>
              </a:rPr>
              <a:t>ドメイン・サーバ設計</a:t>
            </a:r>
            <a:r>
              <a:rPr lang="en-US" altLang="ja-JP" dirty="0" smtClean="0">
                <a:latin typeface="ＭＳ Ｐゴシック" pitchFamily="50" charset="-128"/>
              </a:rPr>
              <a:t>]</a:t>
            </a:r>
          </a:p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2-3-2-1 </a:t>
            </a:r>
            <a:r>
              <a:rPr lang="ja-JP" altLang="en-US" dirty="0">
                <a:latin typeface="ＭＳ Ｐゴシック" pitchFamily="50" charset="-128"/>
              </a:rPr>
              <a:t>データソース設計</a:t>
            </a:r>
            <a:r>
              <a:rPr lang="en-US" altLang="ja-JP" dirty="0">
                <a:latin typeface="ＭＳ Ｐゴシック" pitchFamily="50" charset="-128"/>
              </a:rPr>
              <a:t>]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8936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/>
          <p:cNvSpPr/>
          <p:nvPr/>
        </p:nvSpPr>
        <p:spPr>
          <a:xfrm>
            <a:off x="2286000" y="360363"/>
            <a:ext cx="5473700" cy="447833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600" dirty="0">
                <a:solidFill>
                  <a:schemeClr val="tx1"/>
                </a:solidFill>
                <a:latin typeface="+mn-ea"/>
              </a:rPr>
              <a:t>ACD2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2541588" y="728663"/>
            <a:ext cx="4964112" cy="4021137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sz="1100" dirty="0">
                <a:solidFill>
                  <a:schemeClr val="tx1"/>
                </a:solidFill>
                <a:latin typeface="+mn-ea"/>
              </a:rPr>
              <a:t>マシン（</a:t>
            </a:r>
            <a:r>
              <a:rPr lang="en-US" altLang="ja-JP" sz="1100" dirty="0">
                <a:solidFill>
                  <a:schemeClr val="tx1"/>
                </a:solidFill>
                <a:latin typeface="+mn-ea"/>
              </a:rPr>
              <a:t>WAS#1</a:t>
            </a:r>
            <a:r>
              <a:rPr lang="ja-JP" altLang="en-US" sz="11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37" name="角丸四角形 36"/>
          <p:cNvSpPr/>
          <p:nvPr/>
        </p:nvSpPr>
        <p:spPr>
          <a:xfrm>
            <a:off x="2570163" y="2019300"/>
            <a:ext cx="4935537" cy="2628900"/>
          </a:xfrm>
          <a:prstGeom prst="roundRect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IVR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用ドメイン</a:t>
            </a:r>
          </a:p>
        </p:txBody>
      </p:sp>
      <p:sp>
        <p:nvSpPr>
          <p:cNvPr id="38" name="角丸四角形 37"/>
          <p:cNvSpPr/>
          <p:nvPr/>
        </p:nvSpPr>
        <p:spPr>
          <a:xfrm>
            <a:off x="2603500" y="2733675"/>
            <a:ext cx="4851400" cy="1843088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sz="1100" dirty="0">
                <a:latin typeface="+mn-ea"/>
              </a:rPr>
              <a:t>管理対象サーバ</a:t>
            </a:r>
            <a:endParaRPr lang="en-US" altLang="ja-JP" sz="1100" dirty="0">
              <a:latin typeface="+mn-ea"/>
            </a:endParaRPr>
          </a:p>
          <a:p>
            <a:pPr algn="ctr">
              <a:defRPr/>
            </a:pPr>
            <a:r>
              <a:rPr lang="ja-JP" altLang="en-US" sz="1100" dirty="0">
                <a:latin typeface="+mn-ea"/>
              </a:rPr>
              <a:t>（管理画面サーバ</a:t>
            </a:r>
            <a:r>
              <a:rPr lang="en-US" altLang="ja-JP" sz="1100" dirty="0">
                <a:latin typeface="+mn-ea"/>
              </a:rPr>
              <a:t>/</a:t>
            </a:r>
            <a:r>
              <a:rPr lang="ja-JP" altLang="en-US" sz="1100" dirty="0">
                <a:latin typeface="+mn-ea"/>
              </a:rPr>
              <a:t>音声フロー</a:t>
            </a:r>
            <a:r>
              <a:rPr lang="en-US" altLang="ja-JP" sz="1100" dirty="0">
                <a:latin typeface="+mn-ea"/>
              </a:rPr>
              <a:t>/JTIC</a:t>
            </a:r>
            <a:r>
              <a:rPr lang="ja-JP" altLang="en-US" sz="1100" dirty="0">
                <a:latin typeface="+mn-ea"/>
              </a:rPr>
              <a:t>クライアント）</a:t>
            </a:r>
            <a:endParaRPr lang="en-US" altLang="ja-JP" sz="1100" dirty="0">
              <a:latin typeface="+mn-ea"/>
            </a:endParaRPr>
          </a:p>
        </p:txBody>
      </p:sp>
      <p:sp>
        <p:nvSpPr>
          <p:cNvPr id="45" name="角丸四角形 44"/>
          <p:cNvSpPr/>
          <p:nvPr/>
        </p:nvSpPr>
        <p:spPr>
          <a:xfrm>
            <a:off x="2570163" y="1025525"/>
            <a:ext cx="4935537" cy="993775"/>
          </a:xfrm>
          <a:prstGeom prst="roundRect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RSC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アダプタ用ドメイン</a:t>
            </a:r>
          </a:p>
        </p:txBody>
      </p:sp>
      <p:sp>
        <p:nvSpPr>
          <p:cNvPr id="41" name="角丸四角形 40"/>
          <p:cNvSpPr/>
          <p:nvPr/>
        </p:nvSpPr>
        <p:spPr>
          <a:xfrm>
            <a:off x="5037138" y="1331913"/>
            <a:ext cx="2247900" cy="57943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sz="1100" dirty="0">
                <a:latin typeface="+mn-ea"/>
              </a:rPr>
              <a:t>管理対象サーバ</a:t>
            </a:r>
            <a:endParaRPr lang="en-US" altLang="ja-JP" sz="1100" dirty="0">
              <a:latin typeface="+mn-ea"/>
            </a:endParaRPr>
          </a:p>
          <a:p>
            <a:pPr algn="ctr">
              <a:defRPr/>
            </a:pPr>
            <a:r>
              <a:rPr lang="ja-JP" altLang="en-US" sz="1100" dirty="0">
                <a:latin typeface="+mn-ea"/>
              </a:rPr>
              <a:t>（</a:t>
            </a:r>
            <a:r>
              <a:rPr lang="en-US" altLang="ja-JP" sz="1100" dirty="0">
                <a:latin typeface="+mn-ea"/>
              </a:rPr>
              <a:t>RSC</a:t>
            </a:r>
            <a:r>
              <a:rPr lang="ja-JP" altLang="en-US" sz="1100" dirty="0">
                <a:latin typeface="+mn-ea"/>
              </a:rPr>
              <a:t>アダプタ）</a:t>
            </a:r>
            <a:endParaRPr lang="en-US" altLang="ja-JP" sz="1100" dirty="0">
              <a:latin typeface="+mn-ea"/>
            </a:endParaRPr>
          </a:p>
        </p:txBody>
      </p:sp>
      <p:sp>
        <p:nvSpPr>
          <p:cNvPr id="57" name="角丸四角形 56"/>
          <p:cNvSpPr/>
          <p:nvPr/>
        </p:nvSpPr>
        <p:spPr>
          <a:xfrm>
            <a:off x="2636838" y="1331913"/>
            <a:ext cx="2252662" cy="284162"/>
          </a:xfrm>
          <a:prstGeom prst="round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100" dirty="0">
                <a:solidFill>
                  <a:schemeClr val="tx1"/>
                </a:solidFill>
                <a:latin typeface="+mn-ea"/>
              </a:rPr>
              <a:t>管理サーバ</a:t>
            </a:r>
            <a:endParaRPr lang="en-US" altLang="ja-JP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2643188" y="2398713"/>
            <a:ext cx="2239962" cy="284162"/>
          </a:xfrm>
          <a:prstGeom prst="round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100" dirty="0">
                <a:solidFill>
                  <a:schemeClr val="tx1"/>
                </a:solidFill>
                <a:latin typeface="+mn-ea"/>
              </a:rPr>
              <a:t>管理サーバ</a:t>
            </a:r>
            <a:endParaRPr lang="en-US" altLang="ja-JP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3143250" y="5010150"/>
            <a:ext cx="1724025" cy="1773238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r>
              <a:rPr lang="en-US" altLang="ja-JP" sz="1600" dirty="0">
                <a:solidFill>
                  <a:schemeClr val="tx1"/>
                </a:solidFill>
                <a:latin typeface="+mn-ea"/>
              </a:rPr>
              <a:t>DB#1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角丸四角形 30"/>
          <p:cNvSpPr/>
          <p:nvPr/>
        </p:nvSpPr>
        <p:spPr>
          <a:xfrm>
            <a:off x="3225800" y="5133975"/>
            <a:ext cx="1544638" cy="1052513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研修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インスタンス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5160963" y="5005388"/>
            <a:ext cx="1724025" cy="1778000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r>
              <a:rPr lang="en-US" altLang="ja-JP" sz="1600" dirty="0">
                <a:solidFill>
                  <a:schemeClr val="tx1"/>
                </a:solidFill>
                <a:latin typeface="+mn-ea"/>
              </a:rPr>
              <a:t>DB#2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角丸四角形 32"/>
          <p:cNvSpPr/>
          <p:nvPr/>
        </p:nvSpPr>
        <p:spPr>
          <a:xfrm>
            <a:off x="5243513" y="5129213"/>
            <a:ext cx="1544637" cy="10572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研修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インスタンス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246563" y="3309938"/>
            <a:ext cx="1457325" cy="12303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データソース</a:t>
            </a:r>
          </a:p>
        </p:txBody>
      </p:sp>
      <p:sp>
        <p:nvSpPr>
          <p:cNvPr id="15" name="角丸四角形 14"/>
          <p:cNvSpPr/>
          <p:nvPr/>
        </p:nvSpPr>
        <p:spPr>
          <a:xfrm>
            <a:off x="4302125" y="3606800"/>
            <a:ext cx="1344613" cy="876300"/>
          </a:xfrm>
          <a:prstGeom prst="roundRect">
            <a:avLst/>
          </a:prstGeom>
          <a:solidFill>
            <a:srgbClr val="FF9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接続プール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4397375" y="3863975"/>
            <a:ext cx="1150938" cy="214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  <a:latin typeface="+mn-ea"/>
              </a:rPr>
              <a:t>Connection</a:t>
            </a:r>
            <a:endParaRPr lang="ja-JP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4397375" y="4062413"/>
            <a:ext cx="1150938" cy="2127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  <a:latin typeface="+mn-ea"/>
              </a:rPr>
              <a:t>Connection</a:t>
            </a:r>
            <a:endParaRPr lang="ja-JP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角丸四角形 17"/>
          <p:cNvSpPr/>
          <p:nvPr/>
        </p:nvSpPr>
        <p:spPr>
          <a:xfrm>
            <a:off x="4397375" y="4252913"/>
            <a:ext cx="1150938" cy="2143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  <a:latin typeface="+mn-ea"/>
              </a:rPr>
              <a:t>Connection</a:t>
            </a:r>
            <a:endParaRPr lang="ja-JP" altLang="en-US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" name="直線コネクタ 2"/>
          <p:cNvCxnSpPr>
            <a:stCxn id="16" idx="1"/>
            <a:endCxn id="31" idx="0"/>
          </p:cNvCxnSpPr>
          <p:nvPr/>
        </p:nvCxnSpPr>
        <p:spPr>
          <a:xfrm flipH="1">
            <a:off x="3998913" y="3970338"/>
            <a:ext cx="398462" cy="1163637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/>
          <p:cNvCxnSpPr>
            <a:stCxn id="17" idx="1"/>
            <a:endCxn id="31" idx="0"/>
          </p:cNvCxnSpPr>
          <p:nvPr/>
        </p:nvCxnSpPr>
        <p:spPr>
          <a:xfrm flipH="1">
            <a:off x="3998913" y="4168775"/>
            <a:ext cx="398462" cy="9652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>
            <a:stCxn id="18" idx="1"/>
            <a:endCxn id="31" idx="0"/>
          </p:cNvCxnSpPr>
          <p:nvPr/>
        </p:nvCxnSpPr>
        <p:spPr>
          <a:xfrm flipH="1">
            <a:off x="3998913" y="4359275"/>
            <a:ext cx="398462" cy="7747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76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/>
          <p:cNvSpPr txBox="1">
            <a:spLocks/>
          </p:cNvSpPr>
          <p:nvPr/>
        </p:nvSpPr>
        <p:spPr>
          <a:xfrm>
            <a:off x="685800" y="209504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3301585"/>
            <a:ext cx="6400800" cy="173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3-3-1-1 </a:t>
            </a:r>
            <a:r>
              <a:rPr lang="ja-JP" altLang="en-US" dirty="0">
                <a:latin typeface="ＭＳ Ｐゴシック" pitchFamily="50" charset="-128"/>
              </a:rPr>
              <a:t>ドメイン・サーバ設計</a:t>
            </a:r>
            <a:r>
              <a:rPr lang="en-US" altLang="ja-JP" dirty="0" smtClean="0">
                <a:latin typeface="ＭＳ Ｐゴシック" pitchFamily="50" charset="-128"/>
              </a:rPr>
              <a:t>]</a:t>
            </a:r>
          </a:p>
          <a:p>
            <a:r>
              <a:rPr lang="en-US" altLang="ja-JP" dirty="0">
                <a:latin typeface="ＭＳ Ｐゴシック" pitchFamily="50" charset="-128"/>
              </a:rPr>
              <a:t>[</a:t>
            </a:r>
            <a:r>
              <a:rPr lang="ja-JP" altLang="en-US" dirty="0">
                <a:latin typeface="ＭＳ Ｐゴシック" pitchFamily="50" charset="-128"/>
              </a:rPr>
              <a:t>図　</a:t>
            </a:r>
            <a:r>
              <a:rPr lang="en-US" altLang="ja-JP" dirty="0">
                <a:latin typeface="ＭＳ Ｐゴシック" pitchFamily="50" charset="-128"/>
              </a:rPr>
              <a:t>3-3-2-1 </a:t>
            </a:r>
            <a:r>
              <a:rPr lang="ja-JP" altLang="en-US" dirty="0">
                <a:latin typeface="ＭＳ Ｐゴシック" pitchFamily="50" charset="-128"/>
              </a:rPr>
              <a:t>データソース設計</a:t>
            </a:r>
            <a:r>
              <a:rPr lang="en-US" altLang="ja-JP" dirty="0">
                <a:latin typeface="ＭＳ Ｐゴシック" pitchFamily="50" charset="-128"/>
              </a:rPr>
              <a:t>]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818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/>
          <p:cNvSpPr/>
          <p:nvPr/>
        </p:nvSpPr>
        <p:spPr>
          <a:xfrm>
            <a:off x="2286000" y="360363"/>
            <a:ext cx="5473700" cy="447833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ja-JP" altLang="en-US" sz="1600" dirty="0">
                <a:solidFill>
                  <a:schemeClr val="tx1"/>
                </a:solidFill>
                <a:latin typeface="+mn-ea"/>
              </a:rPr>
              <a:t>開発</a:t>
            </a:r>
            <a:r>
              <a:rPr lang="en-US" altLang="ja-JP" sz="1600" dirty="0">
                <a:solidFill>
                  <a:schemeClr val="tx1"/>
                </a:solidFill>
                <a:latin typeface="+mn-ea"/>
              </a:rPr>
              <a:t>ACD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2541588" y="728663"/>
            <a:ext cx="4964112" cy="4021137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sz="1100" dirty="0">
                <a:solidFill>
                  <a:schemeClr val="tx1"/>
                </a:solidFill>
                <a:latin typeface="+mn-ea"/>
              </a:rPr>
              <a:t>マシン（</a:t>
            </a:r>
            <a:r>
              <a:rPr lang="en-US" altLang="ja-JP" sz="1100" dirty="0">
                <a:solidFill>
                  <a:schemeClr val="tx1"/>
                </a:solidFill>
                <a:latin typeface="+mn-ea"/>
              </a:rPr>
              <a:t>WAS#1</a:t>
            </a:r>
            <a:r>
              <a:rPr lang="ja-JP" altLang="en-US" sz="11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37" name="角丸四角形 36"/>
          <p:cNvSpPr/>
          <p:nvPr/>
        </p:nvSpPr>
        <p:spPr>
          <a:xfrm>
            <a:off x="2570163" y="2019300"/>
            <a:ext cx="4935537" cy="2628900"/>
          </a:xfrm>
          <a:prstGeom prst="roundRect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IVR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用ドメイン</a:t>
            </a:r>
          </a:p>
        </p:txBody>
      </p:sp>
      <p:sp>
        <p:nvSpPr>
          <p:cNvPr id="38" name="角丸四角形 37"/>
          <p:cNvSpPr/>
          <p:nvPr/>
        </p:nvSpPr>
        <p:spPr>
          <a:xfrm>
            <a:off x="2603500" y="2733675"/>
            <a:ext cx="4851400" cy="1843088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sz="1100" dirty="0">
                <a:latin typeface="+mn-ea"/>
              </a:rPr>
              <a:t>管理対象サーバ</a:t>
            </a:r>
            <a:endParaRPr lang="en-US" altLang="ja-JP" sz="1100" dirty="0">
              <a:latin typeface="+mn-ea"/>
            </a:endParaRPr>
          </a:p>
          <a:p>
            <a:pPr algn="ctr">
              <a:defRPr/>
            </a:pPr>
            <a:r>
              <a:rPr lang="ja-JP" altLang="en-US" sz="1100" dirty="0">
                <a:latin typeface="+mn-ea"/>
              </a:rPr>
              <a:t>（管理画面サーバ</a:t>
            </a:r>
            <a:r>
              <a:rPr lang="en-US" altLang="ja-JP" sz="1100" dirty="0">
                <a:latin typeface="+mn-ea"/>
              </a:rPr>
              <a:t>/</a:t>
            </a:r>
            <a:r>
              <a:rPr lang="ja-JP" altLang="en-US" sz="1100" dirty="0">
                <a:latin typeface="+mn-ea"/>
              </a:rPr>
              <a:t>音声フロー</a:t>
            </a:r>
            <a:r>
              <a:rPr lang="en-US" altLang="ja-JP" sz="1100" dirty="0">
                <a:latin typeface="+mn-ea"/>
              </a:rPr>
              <a:t>/JTIC</a:t>
            </a:r>
            <a:r>
              <a:rPr lang="ja-JP" altLang="en-US" sz="1100" dirty="0">
                <a:latin typeface="+mn-ea"/>
              </a:rPr>
              <a:t>クライアント）</a:t>
            </a:r>
            <a:endParaRPr lang="en-US" altLang="ja-JP" sz="1100" dirty="0">
              <a:latin typeface="+mn-ea"/>
            </a:endParaRPr>
          </a:p>
        </p:txBody>
      </p:sp>
      <p:sp>
        <p:nvSpPr>
          <p:cNvPr id="45" name="角丸四角形 44"/>
          <p:cNvSpPr/>
          <p:nvPr/>
        </p:nvSpPr>
        <p:spPr>
          <a:xfrm>
            <a:off x="2570163" y="1025525"/>
            <a:ext cx="4935537" cy="993775"/>
          </a:xfrm>
          <a:prstGeom prst="roundRect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RSC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アダプタ用ドメイン</a:t>
            </a:r>
          </a:p>
        </p:txBody>
      </p:sp>
      <p:sp>
        <p:nvSpPr>
          <p:cNvPr id="41" name="角丸四角形 40"/>
          <p:cNvSpPr/>
          <p:nvPr/>
        </p:nvSpPr>
        <p:spPr>
          <a:xfrm>
            <a:off x="5037138" y="1331913"/>
            <a:ext cx="2247900" cy="579437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sz="1100" dirty="0">
                <a:latin typeface="+mn-ea"/>
              </a:rPr>
              <a:t>管理対象サーバ</a:t>
            </a:r>
            <a:endParaRPr lang="en-US" altLang="ja-JP" sz="1100" dirty="0">
              <a:latin typeface="+mn-ea"/>
            </a:endParaRPr>
          </a:p>
          <a:p>
            <a:pPr algn="ctr">
              <a:defRPr/>
            </a:pPr>
            <a:r>
              <a:rPr lang="ja-JP" altLang="en-US" sz="1100" dirty="0">
                <a:latin typeface="+mn-ea"/>
              </a:rPr>
              <a:t>（</a:t>
            </a:r>
            <a:r>
              <a:rPr lang="en-US" altLang="ja-JP" sz="1100" dirty="0">
                <a:latin typeface="+mn-ea"/>
              </a:rPr>
              <a:t>RSC</a:t>
            </a:r>
            <a:r>
              <a:rPr lang="ja-JP" altLang="en-US" sz="1100" dirty="0">
                <a:latin typeface="+mn-ea"/>
              </a:rPr>
              <a:t>アダプタ）</a:t>
            </a:r>
            <a:endParaRPr lang="en-US" altLang="ja-JP" sz="1100" dirty="0">
              <a:latin typeface="+mn-ea"/>
            </a:endParaRPr>
          </a:p>
        </p:txBody>
      </p:sp>
      <p:sp>
        <p:nvSpPr>
          <p:cNvPr id="57" name="角丸四角形 56"/>
          <p:cNvSpPr/>
          <p:nvPr/>
        </p:nvSpPr>
        <p:spPr>
          <a:xfrm>
            <a:off x="2636838" y="1331913"/>
            <a:ext cx="2252662" cy="284162"/>
          </a:xfrm>
          <a:prstGeom prst="round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100" dirty="0">
                <a:solidFill>
                  <a:schemeClr val="tx1"/>
                </a:solidFill>
                <a:latin typeface="+mn-ea"/>
              </a:rPr>
              <a:t>管理サーバ</a:t>
            </a:r>
            <a:endParaRPr lang="en-US" altLang="ja-JP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2643188" y="2398713"/>
            <a:ext cx="2239962" cy="284162"/>
          </a:xfrm>
          <a:prstGeom prst="round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100" dirty="0">
                <a:solidFill>
                  <a:schemeClr val="tx1"/>
                </a:solidFill>
                <a:latin typeface="+mn-ea"/>
              </a:rPr>
              <a:t>管理サーバ</a:t>
            </a:r>
            <a:endParaRPr lang="en-US" altLang="ja-JP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3143250" y="5010150"/>
            <a:ext cx="1724025" cy="1773238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r>
              <a:rPr lang="en-US" altLang="ja-JP" sz="1600" dirty="0">
                <a:solidFill>
                  <a:schemeClr val="tx1"/>
                </a:solidFill>
                <a:latin typeface="+mn-ea"/>
              </a:rPr>
              <a:t>DB#1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角丸四角形 30"/>
          <p:cNvSpPr/>
          <p:nvPr/>
        </p:nvSpPr>
        <p:spPr>
          <a:xfrm>
            <a:off x="3225800" y="5133975"/>
            <a:ext cx="1544638" cy="1052513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開発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インスタンス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5160963" y="5005388"/>
            <a:ext cx="1724025" cy="1778000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r>
              <a:rPr lang="en-US" altLang="ja-JP" sz="1600" dirty="0">
                <a:solidFill>
                  <a:schemeClr val="tx1"/>
                </a:solidFill>
                <a:latin typeface="+mn-ea"/>
              </a:rPr>
              <a:t>DB#2</a:t>
            </a:r>
            <a:endParaRPr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角丸四角形 32"/>
          <p:cNvSpPr/>
          <p:nvPr/>
        </p:nvSpPr>
        <p:spPr>
          <a:xfrm>
            <a:off x="5243513" y="5129213"/>
            <a:ext cx="1544637" cy="10572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開発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インスタンス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246563" y="3309938"/>
            <a:ext cx="1457325" cy="12303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データソース</a:t>
            </a:r>
          </a:p>
        </p:txBody>
      </p:sp>
      <p:sp>
        <p:nvSpPr>
          <p:cNvPr id="15" name="角丸四角形 14"/>
          <p:cNvSpPr/>
          <p:nvPr/>
        </p:nvSpPr>
        <p:spPr>
          <a:xfrm>
            <a:off x="4302125" y="3606800"/>
            <a:ext cx="1344613" cy="876300"/>
          </a:xfrm>
          <a:prstGeom prst="roundRect">
            <a:avLst/>
          </a:prstGeom>
          <a:solidFill>
            <a:srgbClr val="FF9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接続プール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4397375" y="3863975"/>
            <a:ext cx="1150938" cy="214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  <a:latin typeface="+mn-ea"/>
              </a:rPr>
              <a:t>Connection</a:t>
            </a:r>
            <a:endParaRPr lang="ja-JP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4397375" y="4062413"/>
            <a:ext cx="1150938" cy="2127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  <a:latin typeface="+mn-ea"/>
              </a:rPr>
              <a:t>Connection</a:t>
            </a:r>
            <a:endParaRPr lang="ja-JP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角丸四角形 17"/>
          <p:cNvSpPr/>
          <p:nvPr/>
        </p:nvSpPr>
        <p:spPr>
          <a:xfrm>
            <a:off x="4397375" y="4252913"/>
            <a:ext cx="1150938" cy="2143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  <a:latin typeface="+mn-ea"/>
              </a:rPr>
              <a:t>Connection</a:t>
            </a:r>
            <a:endParaRPr lang="ja-JP" altLang="en-US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" name="直線コネクタ 2"/>
          <p:cNvCxnSpPr>
            <a:stCxn id="16" idx="1"/>
            <a:endCxn id="31" idx="0"/>
          </p:cNvCxnSpPr>
          <p:nvPr/>
        </p:nvCxnSpPr>
        <p:spPr>
          <a:xfrm flipH="1">
            <a:off x="3998913" y="3970338"/>
            <a:ext cx="398462" cy="1163637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/>
          <p:cNvCxnSpPr>
            <a:stCxn id="17" idx="1"/>
            <a:endCxn id="31" idx="0"/>
          </p:cNvCxnSpPr>
          <p:nvPr/>
        </p:nvCxnSpPr>
        <p:spPr>
          <a:xfrm flipH="1">
            <a:off x="3998913" y="4168775"/>
            <a:ext cx="398462" cy="9652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>
            <a:stCxn id="18" idx="1"/>
            <a:endCxn id="31" idx="0"/>
          </p:cNvCxnSpPr>
          <p:nvPr/>
        </p:nvCxnSpPr>
        <p:spPr>
          <a:xfrm flipH="1">
            <a:off x="3998913" y="4359275"/>
            <a:ext cx="398462" cy="7747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90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27737</TotalTime>
  <Words>863</Words>
  <Application>Microsoft Office PowerPoint</Application>
  <PresentationFormat>画面に合わせる (4:3)</PresentationFormat>
  <Paragraphs>437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24</vt:i4>
      </vt:variant>
    </vt:vector>
  </HeadingPairs>
  <TitlesOfParts>
    <vt:vector size="33" baseType="lpstr">
      <vt:lpstr>ＭＳ Ｐゴシック</vt:lpstr>
      <vt:lpstr>ＭＳ Ｐ明朝</vt:lpstr>
      <vt:lpstr>Arial</vt:lpstr>
      <vt:lpstr>Calibri</vt:lpstr>
      <vt:lpstr>Times New Roman</vt:lpstr>
      <vt:lpstr>2_デザインの設定</vt:lpstr>
      <vt:lpstr>3_デザインの設定</vt:lpstr>
      <vt:lpstr>デザインの設定</vt:lpstr>
      <vt:lpstr>1_デザインの設定</vt:lpstr>
      <vt:lpstr>01　本番環境</vt:lpstr>
      <vt:lpstr>PowerPoint プレゼンテーション</vt:lpstr>
      <vt:lpstr>PowerPoint プレゼンテーション</vt:lpstr>
      <vt:lpstr>PowerPoint プレゼンテーション</vt:lpstr>
      <vt:lpstr>01　本番環境</vt:lpstr>
      <vt:lpstr>PowerPoint プレゼンテーション</vt:lpstr>
      <vt:lpstr>01　本番環境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01　本番環境</vt:lpstr>
      <vt:lpstr>PowerPoint プレゼンテーション</vt:lpstr>
      <vt:lpstr>01　本番環境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コールセンターＷＧ キックオフ</dc:title>
  <dc:creator>羽根岡 麻衣</dc:creator>
  <cp:lastModifiedBy>梅原 悟志#-MSYS</cp:lastModifiedBy>
  <cp:revision>2017</cp:revision>
  <cp:lastPrinted>2011-09-05T06:55:11Z</cp:lastPrinted>
  <dcterms:created xsi:type="dcterms:W3CDTF">2003-03-07T02:15:41Z</dcterms:created>
  <dcterms:modified xsi:type="dcterms:W3CDTF">2019-01-17T14:17:34Z</dcterms:modified>
</cp:coreProperties>
</file>