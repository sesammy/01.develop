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6" r:id="rId2"/>
  </p:sldMasterIdLst>
  <p:notesMasterIdLst>
    <p:notesMasterId r:id="rId9"/>
  </p:notesMasterIdLst>
  <p:handoutMasterIdLst>
    <p:handoutMasterId r:id="rId10"/>
  </p:handoutMasterIdLst>
  <p:sldIdLst>
    <p:sldId id="22345" r:id="rId3"/>
    <p:sldId id="22354" r:id="rId4"/>
    <p:sldId id="22355" r:id="rId5"/>
    <p:sldId id="22356" r:id="rId6"/>
    <p:sldId id="22357" r:id="rId7"/>
    <p:sldId id="22328" r:id="rId8"/>
  </p:sldIdLst>
  <p:sldSz cx="12192000" cy="6858000"/>
  <p:notesSz cx="6797675" cy="99266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1C6"/>
    <a:srgbClr val="E701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F64D81-A753-4315-AFE8-72ECC1185E02}" v="6" dt="2023-07-27T23:49:01.3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42" autoAdjust="0"/>
  </p:normalViewPr>
  <p:slideViewPr>
    <p:cSldViewPr snapToGrid="0">
      <p:cViewPr varScale="1">
        <p:scale>
          <a:sx n="88" d="100"/>
          <a:sy n="88" d="100"/>
        </p:scale>
        <p:origin x="220" y="2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89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MIYAMA KOSUKE-MIHPD10" userId="2ed1f589-80e9-46ff-9f8e-be430a7ec1b9" providerId="ADAL" clId="{8DF64D81-A753-4315-AFE8-72ECC1185E02}"/>
    <pc:docChg chg="custSel modSld">
      <pc:chgData name="KOMIYAMA KOSUKE-MIHPD10" userId="2ed1f589-80e9-46ff-9f8e-be430a7ec1b9" providerId="ADAL" clId="{8DF64D81-A753-4315-AFE8-72ECC1185E02}" dt="2023-07-27T23:49:01.333" v="45"/>
      <pc:docMkLst>
        <pc:docMk/>
      </pc:docMkLst>
      <pc:sldChg chg="addSp delSp modSp mod">
        <pc:chgData name="KOMIYAMA KOSUKE-MIHPD10" userId="2ed1f589-80e9-46ff-9f8e-be430a7ec1b9" providerId="ADAL" clId="{8DF64D81-A753-4315-AFE8-72ECC1185E02}" dt="2023-07-27T23:49:01.333" v="45"/>
        <pc:sldMkLst>
          <pc:docMk/>
          <pc:sldMk cId="1632409107" sldId="22348"/>
        </pc:sldMkLst>
        <pc:picChg chg="add mod">
          <ac:chgData name="KOMIYAMA KOSUKE-MIHPD10" userId="2ed1f589-80e9-46ff-9f8e-be430a7ec1b9" providerId="ADAL" clId="{8DF64D81-A753-4315-AFE8-72ECC1185E02}" dt="2023-07-27T23:48:56.318" v="44" actId="207"/>
          <ac:picMkLst>
            <pc:docMk/>
            <pc:sldMk cId="1632409107" sldId="22348"/>
            <ac:picMk id="5" creationId="{03AFE646-AB91-8F3A-91DB-D828A18788C2}"/>
          </ac:picMkLst>
        </pc:picChg>
        <pc:picChg chg="add mod">
          <ac:chgData name="KOMIYAMA KOSUKE-MIHPD10" userId="2ed1f589-80e9-46ff-9f8e-be430a7ec1b9" providerId="ADAL" clId="{8DF64D81-A753-4315-AFE8-72ECC1185E02}" dt="2023-07-27T23:48:56.318" v="44" actId="207"/>
          <ac:picMkLst>
            <pc:docMk/>
            <pc:sldMk cId="1632409107" sldId="22348"/>
            <ac:picMk id="7" creationId="{B0AA6814-6157-EAA3-A43F-06F6BEAB0C62}"/>
          </ac:picMkLst>
        </pc:picChg>
        <pc:picChg chg="add mod">
          <ac:chgData name="KOMIYAMA KOSUKE-MIHPD10" userId="2ed1f589-80e9-46ff-9f8e-be430a7ec1b9" providerId="ADAL" clId="{8DF64D81-A753-4315-AFE8-72ECC1185E02}" dt="2023-07-27T23:48:15.747" v="37" actId="1582"/>
          <ac:picMkLst>
            <pc:docMk/>
            <pc:sldMk cId="1632409107" sldId="22348"/>
            <ac:picMk id="9" creationId="{3EAFEE47-1339-C9E0-46DB-00EBE82B67A3}"/>
          </ac:picMkLst>
        </pc:picChg>
        <pc:picChg chg="add mod">
          <ac:chgData name="KOMIYAMA KOSUKE-MIHPD10" userId="2ed1f589-80e9-46ff-9f8e-be430a7ec1b9" providerId="ADAL" clId="{8DF64D81-A753-4315-AFE8-72ECC1185E02}" dt="2023-07-27T23:48:56.318" v="44" actId="207"/>
          <ac:picMkLst>
            <pc:docMk/>
            <pc:sldMk cId="1632409107" sldId="22348"/>
            <ac:picMk id="11" creationId="{7C421AFA-9EE8-3B93-701C-B746BFE3FB16}"/>
          </ac:picMkLst>
        </pc:picChg>
        <pc:picChg chg="add mod">
          <ac:chgData name="KOMIYAMA KOSUKE-MIHPD10" userId="2ed1f589-80e9-46ff-9f8e-be430a7ec1b9" providerId="ADAL" clId="{8DF64D81-A753-4315-AFE8-72ECC1185E02}" dt="2023-07-27T23:48:41.147" v="43" actId="1076"/>
          <ac:picMkLst>
            <pc:docMk/>
            <pc:sldMk cId="1632409107" sldId="22348"/>
            <ac:picMk id="13" creationId="{EA2A19C3-603A-D768-6678-A4374C5192CA}"/>
          </ac:picMkLst>
        </pc:picChg>
        <pc:picChg chg="add">
          <ac:chgData name="KOMIYAMA KOSUKE-MIHPD10" userId="2ed1f589-80e9-46ff-9f8e-be430a7ec1b9" providerId="ADAL" clId="{8DF64D81-A753-4315-AFE8-72ECC1185E02}" dt="2023-07-27T23:49:01.333" v="45"/>
          <ac:picMkLst>
            <pc:docMk/>
            <pc:sldMk cId="1632409107" sldId="22348"/>
            <ac:picMk id="15" creationId="{C527E79C-3178-CEA4-6EB1-033548FFA05E}"/>
          </ac:picMkLst>
        </pc:picChg>
        <pc:picChg chg="del mod">
          <ac:chgData name="KOMIYAMA KOSUKE-MIHPD10" userId="2ed1f589-80e9-46ff-9f8e-be430a7ec1b9" providerId="ADAL" clId="{8DF64D81-A753-4315-AFE8-72ECC1185E02}" dt="2023-07-27T23:47:32.210" v="13" actId="21"/>
          <ac:picMkLst>
            <pc:docMk/>
            <pc:sldMk cId="1632409107" sldId="22348"/>
            <ac:picMk id="18" creationId="{2A210EB1-688F-74FB-0809-5E589101902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05B8144-31CE-1C09-EFEA-4E815B6397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0EBA849-AC8A-2C1E-7079-A109A3CFB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5FA0F-4692-4257-9319-14F6A63F306E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D2329F8-3691-D238-156B-7F18BEF522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5D2F8BF-24C6-51D2-D6D7-E39CA90E75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049FA-8899-475E-BADD-E5996F25C4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59289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20154-0A84-4EC4-81A3-631EA9ABC4B9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48AE5-BC4B-4B5B-AD11-0F36065B65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2799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AE7816CD-96C2-FB1D-09EC-99DCDFA32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538" y="1475397"/>
            <a:ext cx="5605177" cy="1248937"/>
          </a:xfrm>
          <a:prstGeom prst="rect">
            <a:avLst/>
          </a:prstGeom>
        </p:spPr>
        <p:txBody>
          <a:bodyPr anchor="t"/>
          <a:lstStyle>
            <a:lvl1pPr algn="l">
              <a:defRPr sz="4400" b="1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0" name="テキスト プレースホルダー 13">
            <a:extLst>
              <a:ext uri="{FF2B5EF4-FFF2-40B4-BE49-F238E27FC236}">
                <a16:creationId xmlns:a16="http://schemas.microsoft.com/office/drawing/2014/main" id="{5C2480EA-EE68-48E3-A8ED-B4EEB01696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0537" y="637382"/>
            <a:ext cx="5308095" cy="361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 dirty="0"/>
              <a:t>宛先</a:t>
            </a:r>
          </a:p>
        </p:txBody>
      </p:sp>
      <p:sp>
        <p:nvSpPr>
          <p:cNvPr id="19" name="テキスト プレースホルダー 13">
            <a:extLst>
              <a:ext uri="{FF2B5EF4-FFF2-40B4-BE49-F238E27FC236}">
                <a16:creationId xmlns:a16="http://schemas.microsoft.com/office/drawing/2014/main" id="{C70C7676-33C1-0336-C720-EE7E68502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0538" y="4031631"/>
            <a:ext cx="5308094" cy="3619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1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 dirty="0"/>
              <a:t>社名</a:t>
            </a:r>
          </a:p>
        </p:txBody>
      </p:sp>
      <p:sp>
        <p:nvSpPr>
          <p:cNvPr id="21" name="テキスト プレースホルダー 13">
            <a:extLst>
              <a:ext uri="{FF2B5EF4-FFF2-40B4-BE49-F238E27FC236}">
                <a16:creationId xmlns:a16="http://schemas.microsoft.com/office/drawing/2014/main" id="{AEEFF096-DB5B-D77A-7CCC-C9009BAB9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0538" y="5458988"/>
            <a:ext cx="5308094" cy="361950"/>
          </a:xfrm>
          <a:prstGeom prst="rect">
            <a:avLst/>
          </a:prstGeom>
        </p:spPr>
        <p:txBody>
          <a:bodyPr lIns="144000"/>
          <a:lstStyle>
            <a:lvl1pPr marL="0" indent="0" algn="l">
              <a:buNone/>
              <a:defRPr sz="1600" b="1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 dirty="0"/>
              <a:t>日付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0E89A37B-B5D7-EBCE-7773-E5EF0899E858}"/>
              </a:ext>
            </a:extLst>
          </p:cNvPr>
          <p:cNvCxnSpPr>
            <a:cxnSpLocks/>
          </p:cNvCxnSpPr>
          <p:nvPr userDrawn="1"/>
        </p:nvCxnSpPr>
        <p:spPr>
          <a:xfrm>
            <a:off x="11848710" y="-148851"/>
            <a:ext cx="0" cy="1119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F6A42F81-46FA-5533-5518-C10DB8BDFD4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792726" y="-148851"/>
            <a:ext cx="0" cy="1119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bject 23">
            <a:extLst>
              <a:ext uri="{FF2B5EF4-FFF2-40B4-BE49-F238E27FC236}">
                <a16:creationId xmlns:a16="http://schemas.microsoft.com/office/drawing/2014/main" id="{3EC42C72-399C-7357-EF32-C02366D05691}"/>
              </a:ext>
            </a:extLst>
          </p:cNvPr>
          <p:cNvSpPr txBox="1"/>
          <p:nvPr userDrawn="1"/>
        </p:nvSpPr>
        <p:spPr>
          <a:xfrm>
            <a:off x="11488261" y="-145130"/>
            <a:ext cx="360000" cy="104525"/>
          </a:xfrm>
          <a:prstGeom prst="rect">
            <a:avLst/>
          </a:prstGeom>
        </p:spPr>
        <p:txBody>
          <a:bodyPr vert="horz" wrap="square" lIns="0" tIns="12074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TEXT</a:t>
            </a: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B4A9CC5-3B9C-CEC3-7D44-7AF5A7988B1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67694" y="866718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965C3C0-261B-4600-CD34-F5F8984B087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2224025" y="866718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BB0E466-6DDD-F3C3-05F2-23970220A09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67695" y="1447497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B15CE4E1-77CC-4010-F801-12D8F16DA76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2224024" y="1447497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904E07D9-F818-CD4F-CF06-AC87CAF63AB3}"/>
              </a:ext>
            </a:extLst>
          </p:cNvPr>
          <p:cNvCxnSpPr>
            <a:cxnSpLocks/>
          </p:cNvCxnSpPr>
          <p:nvPr userDrawn="1"/>
        </p:nvCxnSpPr>
        <p:spPr>
          <a:xfrm>
            <a:off x="333876" y="-148851"/>
            <a:ext cx="0" cy="1119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EB330378-4D09-6C7E-1ECA-95E26799B45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89860" y="-148851"/>
            <a:ext cx="0" cy="1119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bject 23">
            <a:extLst>
              <a:ext uri="{FF2B5EF4-FFF2-40B4-BE49-F238E27FC236}">
                <a16:creationId xmlns:a16="http://schemas.microsoft.com/office/drawing/2014/main" id="{77FD1F36-9E52-7D43-018B-FCBB76C1689C}"/>
              </a:ext>
            </a:extLst>
          </p:cNvPr>
          <p:cNvSpPr txBox="1"/>
          <p:nvPr userDrawn="1"/>
        </p:nvSpPr>
        <p:spPr>
          <a:xfrm>
            <a:off x="474728" y="-145130"/>
            <a:ext cx="360000" cy="104525"/>
          </a:xfrm>
          <a:prstGeom prst="rect">
            <a:avLst/>
          </a:prstGeom>
        </p:spPr>
        <p:txBody>
          <a:bodyPr vert="horz" wrap="square" lIns="0" tIns="12074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TEXT</a:t>
            </a: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E791F5FD-917F-AD52-575E-700C5C43D413}"/>
              </a:ext>
            </a:extLst>
          </p:cNvPr>
          <p:cNvCxnSpPr>
            <a:cxnSpLocks/>
          </p:cNvCxnSpPr>
          <p:nvPr userDrawn="1"/>
        </p:nvCxnSpPr>
        <p:spPr>
          <a:xfrm>
            <a:off x="333876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9B67BE64-B61C-DEFB-74DA-474BC8BB9AE3}"/>
              </a:ext>
            </a:extLst>
          </p:cNvPr>
          <p:cNvCxnSpPr>
            <a:cxnSpLocks/>
          </p:cNvCxnSpPr>
          <p:nvPr userDrawn="1"/>
        </p:nvCxnSpPr>
        <p:spPr>
          <a:xfrm>
            <a:off x="11848710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39367EBB-FDB6-13C1-0846-F2F3268E3FE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67696" y="6284261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DBF9239E-D100-0596-5205-7C1AD9FEEFA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2224023" y="6284261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BF893902-0867-14FE-D915-D0C0FFE6CE73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90884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F6911B69-EC37-F739-27EE-CA6BFE94484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FCC721A2-5E43-5DDA-C3FE-70B8C2978818}"/>
              </a:ext>
            </a:extLst>
          </p:cNvPr>
          <p:cNvCxnSpPr>
            <a:cxnSpLocks/>
          </p:cNvCxnSpPr>
          <p:nvPr userDrawn="1"/>
        </p:nvCxnSpPr>
        <p:spPr>
          <a:xfrm>
            <a:off x="3214422" y="-90884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85D31690-6E2A-761D-56F2-0378A9ED8168}"/>
              </a:ext>
            </a:extLst>
          </p:cNvPr>
          <p:cNvCxnSpPr>
            <a:cxnSpLocks/>
          </p:cNvCxnSpPr>
          <p:nvPr userDrawn="1"/>
        </p:nvCxnSpPr>
        <p:spPr>
          <a:xfrm>
            <a:off x="3214422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8F4C33E4-360E-B608-0FE0-9FBBDD4B8B95}"/>
              </a:ext>
            </a:extLst>
          </p:cNvPr>
          <p:cNvCxnSpPr>
            <a:cxnSpLocks/>
          </p:cNvCxnSpPr>
          <p:nvPr userDrawn="1"/>
        </p:nvCxnSpPr>
        <p:spPr>
          <a:xfrm>
            <a:off x="8975142" y="-90884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65DB54AD-6F15-A77B-8AE5-48FC4317209E}"/>
              </a:ext>
            </a:extLst>
          </p:cNvPr>
          <p:cNvCxnSpPr>
            <a:cxnSpLocks/>
          </p:cNvCxnSpPr>
          <p:nvPr userDrawn="1"/>
        </p:nvCxnSpPr>
        <p:spPr>
          <a:xfrm>
            <a:off x="8975142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図 22" descr="パソコンの画面&#10;&#10;中程度の精度で自動的に生成された説明">
            <a:extLst>
              <a:ext uri="{FF2B5EF4-FFF2-40B4-BE49-F238E27FC236}">
                <a16:creationId xmlns:a16="http://schemas.microsoft.com/office/drawing/2014/main" id="{17184F48-250E-0600-F815-671317E364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268" y="1079267"/>
            <a:ext cx="5483485" cy="5082254"/>
          </a:xfrm>
          <a:prstGeom prst="rect">
            <a:avLst/>
          </a:prstGeom>
        </p:spPr>
      </p:pic>
      <p:sp>
        <p:nvSpPr>
          <p:cNvPr id="2" name="テキスト プレースホルダー 13">
            <a:extLst>
              <a:ext uri="{FF2B5EF4-FFF2-40B4-BE49-F238E27FC236}">
                <a16:creationId xmlns:a16="http://schemas.microsoft.com/office/drawing/2014/main" id="{1C137E66-01C5-D842-4569-E8516E86CB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0538" y="4449337"/>
            <a:ext cx="5308094" cy="95724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600" b="1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 dirty="0"/>
              <a:t>部署</a:t>
            </a:r>
            <a:endParaRPr kumimoji="1" lang="en-US" altLang="ja-JP" dirty="0"/>
          </a:p>
        </p:txBody>
      </p:sp>
      <p:pic>
        <p:nvPicPr>
          <p:cNvPr id="7" name="図 6" descr="図形&#10;&#10;中程度の精度で自動的に生成された説明">
            <a:extLst>
              <a:ext uri="{FF2B5EF4-FFF2-40B4-BE49-F238E27FC236}">
                <a16:creationId xmlns:a16="http://schemas.microsoft.com/office/drawing/2014/main" id="{2C4C6930-887F-C0DE-FEFF-6D8B214BFC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4" y="6351901"/>
            <a:ext cx="1685996" cy="418491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FD3EE398-2275-1D52-0700-9F89CD5EF62C}"/>
              </a:ext>
            </a:extLst>
          </p:cNvPr>
          <p:cNvSpPr txBox="1"/>
          <p:nvPr userDrawn="1"/>
        </p:nvSpPr>
        <p:spPr>
          <a:xfrm>
            <a:off x="8131629" y="6557005"/>
            <a:ext cx="3717090" cy="7554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800" dirty="0"/>
              <a:t>Copyright © Marubeni I-DIGIO GRP. All Rights Reserved.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617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見出し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35D5AD-5A35-F7A2-3820-51148D975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735" y="3014209"/>
            <a:ext cx="8812530" cy="551952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>
              <a:defRPr sz="3600" b="1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台形 5">
            <a:extLst>
              <a:ext uri="{FF2B5EF4-FFF2-40B4-BE49-F238E27FC236}">
                <a16:creationId xmlns:a16="http://schemas.microsoft.com/office/drawing/2014/main" id="{F48FCAA9-6C52-730B-806C-F6F662AE588D}"/>
              </a:ext>
            </a:extLst>
          </p:cNvPr>
          <p:cNvSpPr/>
          <p:nvPr userDrawn="1"/>
        </p:nvSpPr>
        <p:spPr>
          <a:xfrm rot="5400000">
            <a:off x="949098" y="2752817"/>
            <a:ext cx="717845" cy="356892"/>
          </a:xfrm>
          <a:prstGeom prst="trapezoid">
            <a:avLst>
              <a:gd name="adj" fmla="val 2186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台形 6">
            <a:extLst>
              <a:ext uri="{FF2B5EF4-FFF2-40B4-BE49-F238E27FC236}">
                <a16:creationId xmlns:a16="http://schemas.microsoft.com/office/drawing/2014/main" id="{4BC89B8A-001B-927D-DA2B-FABD587C610B}"/>
              </a:ext>
            </a:extLst>
          </p:cNvPr>
          <p:cNvSpPr/>
          <p:nvPr userDrawn="1"/>
        </p:nvSpPr>
        <p:spPr>
          <a:xfrm rot="16200000" flipH="1">
            <a:off x="1277125" y="3034273"/>
            <a:ext cx="418683" cy="212663"/>
          </a:xfrm>
          <a:prstGeom prst="trapezoid">
            <a:avLst>
              <a:gd name="adj" fmla="val 2186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台形 7">
            <a:extLst>
              <a:ext uri="{FF2B5EF4-FFF2-40B4-BE49-F238E27FC236}">
                <a16:creationId xmlns:a16="http://schemas.microsoft.com/office/drawing/2014/main" id="{D2C9A9AB-A2BE-90F9-D5AE-DD5A72C6FE73}"/>
              </a:ext>
            </a:extLst>
          </p:cNvPr>
          <p:cNvSpPr/>
          <p:nvPr userDrawn="1"/>
        </p:nvSpPr>
        <p:spPr>
          <a:xfrm rot="16200000" flipH="1">
            <a:off x="10470795" y="3428954"/>
            <a:ext cx="551952" cy="274415"/>
          </a:xfrm>
          <a:prstGeom prst="trapezoid">
            <a:avLst>
              <a:gd name="adj" fmla="val 2186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台形 8">
            <a:extLst>
              <a:ext uri="{FF2B5EF4-FFF2-40B4-BE49-F238E27FC236}">
                <a16:creationId xmlns:a16="http://schemas.microsoft.com/office/drawing/2014/main" id="{8B50EAB3-6571-DDBA-EA92-D8DD5D0FAABB}"/>
              </a:ext>
            </a:extLst>
          </p:cNvPr>
          <p:cNvSpPr/>
          <p:nvPr userDrawn="1"/>
        </p:nvSpPr>
        <p:spPr>
          <a:xfrm rot="16200000" flipH="1">
            <a:off x="10761901" y="3736673"/>
            <a:ext cx="291871" cy="155522"/>
          </a:xfrm>
          <a:prstGeom prst="trapezoid">
            <a:avLst>
              <a:gd name="adj" fmla="val 2186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endParaRPr kumimoji="1" lang="ja-JP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618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35D5AD-5A35-F7A2-3820-51148D975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81" y="459861"/>
            <a:ext cx="11632737" cy="361789"/>
          </a:xfrm>
          <a:prstGeom prst="rect">
            <a:avLst/>
          </a:prstGeom>
        </p:spPr>
        <p:txBody>
          <a:bodyPr lIns="36000" tIns="36000" rIns="36000" bIns="36000" anchor="t"/>
          <a:lstStyle>
            <a:lvl1pPr>
              <a:defRPr sz="2000" b="1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939478E7-89F0-5307-85D4-E8776FAD6D0A}"/>
              </a:ext>
            </a:extLst>
          </p:cNvPr>
          <p:cNvGrpSpPr/>
          <p:nvPr userDrawn="1"/>
        </p:nvGrpSpPr>
        <p:grpSpPr>
          <a:xfrm>
            <a:off x="269924" y="241749"/>
            <a:ext cx="64141" cy="568120"/>
            <a:chOff x="6148080" y="159808"/>
            <a:chExt cx="927847" cy="605338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9" name="平行四辺形 8">
              <a:extLst>
                <a:ext uri="{FF2B5EF4-FFF2-40B4-BE49-F238E27FC236}">
                  <a16:creationId xmlns:a16="http://schemas.microsoft.com/office/drawing/2014/main" id="{39CB9269-AA90-EC48-F0A1-7F76004071A6}"/>
                </a:ext>
              </a:extLst>
            </p:cNvPr>
            <p:cNvSpPr/>
            <p:nvPr/>
          </p:nvSpPr>
          <p:spPr>
            <a:xfrm rot="5400000">
              <a:off x="5891808" y="416080"/>
              <a:ext cx="1440392" cy="927847"/>
            </a:xfrm>
            <a:prstGeom prst="parallelogram">
              <a:avLst>
                <a:gd name="adj" fmla="val 51103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台形 9">
              <a:extLst>
                <a:ext uri="{FF2B5EF4-FFF2-40B4-BE49-F238E27FC236}">
                  <a16:creationId xmlns:a16="http://schemas.microsoft.com/office/drawing/2014/main" id="{989827B6-5B27-C639-9151-1CC2CD6E39CF}"/>
                </a:ext>
              </a:extLst>
            </p:cNvPr>
            <p:cNvSpPr/>
            <p:nvPr/>
          </p:nvSpPr>
          <p:spPr>
            <a:xfrm rot="5400000" flipH="1" flipV="1">
              <a:off x="4305507" y="3442771"/>
              <a:ext cx="4612993" cy="927847"/>
            </a:xfrm>
            <a:prstGeom prst="trapezoid">
              <a:avLst>
                <a:gd name="adj" fmla="val 55435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テキスト プレースホルダー 13">
            <a:extLst>
              <a:ext uri="{FF2B5EF4-FFF2-40B4-BE49-F238E27FC236}">
                <a16:creationId xmlns:a16="http://schemas.microsoft.com/office/drawing/2014/main" id="{668A44E7-8522-5623-1C55-DAF91ECB7C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0330" y="206306"/>
            <a:ext cx="5308095" cy="239074"/>
          </a:xfrm>
          <a:prstGeom prst="rect">
            <a:avLst/>
          </a:prstGeom>
        </p:spPr>
        <p:txBody>
          <a:bodyPr wrap="none" lIns="36000" tIns="36000" rIns="36000" bIns="36000" anchor="b"/>
          <a:lstStyle>
            <a:lvl1pPr marL="0" indent="0">
              <a:buNone/>
              <a:defRPr sz="1000" b="1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 dirty="0"/>
              <a:t>章　章タイトル</a:t>
            </a:r>
          </a:p>
        </p:txBody>
      </p:sp>
    </p:spTree>
    <p:extLst>
      <p:ext uri="{BB962C8B-B14F-4D97-AF65-F5344CB8AC3E}">
        <p14:creationId xmlns:p14="http://schemas.microsoft.com/office/powerpoint/2010/main" val="3578803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フッター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7931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661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Eo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BF18E60C-72D6-6634-216C-128C17E4F13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2224023" y="6284261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FDF90B30-9D5B-F8D4-9956-43C48E0DE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735" y="3014209"/>
            <a:ext cx="8812530" cy="551952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>
              <a:defRPr sz="3600" b="1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47833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表紙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7DE8B6-53ED-E6E9-3CB7-4FF9E9233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4957" y="1891013"/>
            <a:ext cx="7962086" cy="1248937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F154D355-7955-8189-3FF0-B3A72DEAF4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14957" y="1008480"/>
            <a:ext cx="5308095" cy="3619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1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 dirty="0"/>
              <a:t>宛先</a:t>
            </a:r>
          </a:p>
        </p:txBody>
      </p:sp>
      <p:sp>
        <p:nvSpPr>
          <p:cNvPr id="15" name="テキスト プレースホルダー 13">
            <a:extLst>
              <a:ext uri="{FF2B5EF4-FFF2-40B4-BE49-F238E27FC236}">
                <a16:creationId xmlns:a16="http://schemas.microsoft.com/office/drawing/2014/main" id="{0FCF0DA7-E501-58E1-6904-1EB121F81D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41953" y="4031631"/>
            <a:ext cx="5308094" cy="3619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 dirty="0"/>
              <a:t>社名</a:t>
            </a:r>
          </a:p>
        </p:txBody>
      </p:sp>
      <p:sp>
        <p:nvSpPr>
          <p:cNvPr id="16" name="テキスト プレースホルダー 13">
            <a:extLst>
              <a:ext uri="{FF2B5EF4-FFF2-40B4-BE49-F238E27FC236}">
                <a16:creationId xmlns:a16="http://schemas.microsoft.com/office/drawing/2014/main" id="{3A6661E8-F609-5E3A-9704-DFE51C22430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41953" y="4449337"/>
            <a:ext cx="5308094" cy="9572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 dirty="0"/>
              <a:t>部署</a:t>
            </a:r>
          </a:p>
        </p:txBody>
      </p:sp>
      <p:sp>
        <p:nvSpPr>
          <p:cNvPr id="17" name="テキスト プレースホルダー 13">
            <a:extLst>
              <a:ext uri="{FF2B5EF4-FFF2-40B4-BE49-F238E27FC236}">
                <a16:creationId xmlns:a16="http://schemas.microsoft.com/office/drawing/2014/main" id="{60D9EF83-E477-EE9A-078E-1F193ACFA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41953" y="5458988"/>
            <a:ext cx="5308094" cy="361950"/>
          </a:xfrm>
          <a:prstGeom prst="rect">
            <a:avLst/>
          </a:prstGeom>
        </p:spPr>
        <p:txBody>
          <a:bodyPr lIns="144000"/>
          <a:lstStyle>
            <a:lvl1pPr marL="0" indent="0" algn="ctr">
              <a:buNone/>
              <a:defRPr sz="1600" b="1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 dirty="0"/>
              <a:t>日付</a:t>
            </a:r>
          </a:p>
        </p:txBody>
      </p:sp>
      <p:sp>
        <p:nvSpPr>
          <p:cNvPr id="11" name="平行四辺形 10">
            <a:extLst>
              <a:ext uri="{FF2B5EF4-FFF2-40B4-BE49-F238E27FC236}">
                <a16:creationId xmlns:a16="http://schemas.microsoft.com/office/drawing/2014/main" id="{316C6A3A-062B-D290-FD27-638A9DF7DC2D}"/>
              </a:ext>
            </a:extLst>
          </p:cNvPr>
          <p:cNvSpPr/>
          <p:nvPr userDrawn="1"/>
        </p:nvSpPr>
        <p:spPr>
          <a:xfrm rot="10800000">
            <a:off x="544559" y="693578"/>
            <a:ext cx="1360208" cy="754411"/>
          </a:xfrm>
          <a:prstGeom prst="parallelogram">
            <a:avLst>
              <a:gd name="adj" fmla="val 5110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平行四辺形 11">
            <a:extLst>
              <a:ext uri="{FF2B5EF4-FFF2-40B4-BE49-F238E27FC236}">
                <a16:creationId xmlns:a16="http://schemas.microsoft.com/office/drawing/2014/main" id="{BDC6E201-B759-EB09-8B8F-2790848E898A}"/>
              </a:ext>
            </a:extLst>
          </p:cNvPr>
          <p:cNvSpPr/>
          <p:nvPr userDrawn="1"/>
        </p:nvSpPr>
        <p:spPr>
          <a:xfrm rot="10800000">
            <a:off x="1071706" y="397865"/>
            <a:ext cx="1360208" cy="754411"/>
          </a:xfrm>
          <a:prstGeom prst="parallelogram">
            <a:avLst>
              <a:gd name="adj" fmla="val 51103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平行四辺形 12">
            <a:extLst>
              <a:ext uri="{FF2B5EF4-FFF2-40B4-BE49-F238E27FC236}">
                <a16:creationId xmlns:a16="http://schemas.microsoft.com/office/drawing/2014/main" id="{0949D1C6-EBDB-C39A-AAA7-7EE2753CF864}"/>
              </a:ext>
            </a:extLst>
          </p:cNvPr>
          <p:cNvSpPr/>
          <p:nvPr userDrawn="1"/>
        </p:nvSpPr>
        <p:spPr>
          <a:xfrm rot="10800000">
            <a:off x="10488511" y="3214472"/>
            <a:ext cx="1360208" cy="754411"/>
          </a:xfrm>
          <a:prstGeom prst="parallelogram">
            <a:avLst>
              <a:gd name="adj" fmla="val 51103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D783ED4-F0D8-A9FA-3056-E6609E893127}"/>
              </a:ext>
            </a:extLst>
          </p:cNvPr>
          <p:cNvCxnSpPr>
            <a:cxnSpLocks/>
          </p:cNvCxnSpPr>
          <p:nvPr userDrawn="1"/>
        </p:nvCxnSpPr>
        <p:spPr>
          <a:xfrm>
            <a:off x="11848710" y="-148851"/>
            <a:ext cx="0" cy="1119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F1882BF-7C13-2034-D2D6-B54E151050F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792726" y="-148851"/>
            <a:ext cx="0" cy="1119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bject 23">
            <a:extLst>
              <a:ext uri="{FF2B5EF4-FFF2-40B4-BE49-F238E27FC236}">
                <a16:creationId xmlns:a16="http://schemas.microsoft.com/office/drawing/2014/main" id="{124AB509-D8BB-963E-0084-F57B2EF06588}"/>
              </a:ext>
            </a:extLst>
          </p:cNvPr>
          <p:cNvSpPr txBox="1"/>
          <p:nvPr userDrawn="1"/>
        </p:nvSpPr>
        <p:spPr>
          <a:xfrm>
            <a:off x="11488261" y="-145130"/>
            <a:ext cx="360000" cy="104525"/>
          </a:xfrm>
          <a:prstGeom prst="rect">
            <a:avLst/>
          </a:prstGeom>
        </p:spPr>
        <p:txBody>
          <a:bodyPr vert="horz" wrap="square" lIns="0" tIns="12074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TEXT</a:t>
            </a: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661DADD-483E-6F0D-9928-B68A06ACA359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67694" y="866718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AD766558-07CC-186C-9DC3-DB7794E08DC2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2224025" y="866718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54283003-3C19-D3FF-71E9-618BEC16565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67695" y="1447497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0A32F86F-4597-B8CC-F713-BE8DD48C7C1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2224024" y="1447497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9CC2F1A3-BD62-20B2-1EBC-C4E8E685006E}"/>
              </a:ext>
            </a:extLst>
          </p:cNvPr>
          <p:cNvCxnSpPr>
            <a:cxnSpLocks/>
          </p:cNvCxnSpPr>
          <p:nvPr userDrawn="1"/>
        </p:nvCxnSpPr>
        <p:spPr>
          <a:xfrm>
            <a:off x="11848710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74F0AC2B-8C4A-DE0B-54C6-D0AD951D1C5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67696" y="6284261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FD347BAF-C7F1-C754-0645-965BB2BB9DB6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2224023" y="6284261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5360378F-F5B4-8088-8D13-5C219EE1614B}"/>
              </a:ext>
            </a:extLst>
          </p:cNvPr>
          <p:cNvCxnSpPr>
            <a:cxnSpLocks/>
          </p:cNvCxnSpPr>
          <p:nvPr userDrawn="1"/>
        </p:nvCxnSpPr>
        <p:spPr>
          <a:xfrm>
            <a:off x="333876" y="-148851"/>
            <a:ext cx="0" cy="1119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B1DEB4AD-30A8-BBC2-7226-C15A5C4E978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89860" y="-148851"/>
            <a:ext cx="0" cy="1119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bject 23">
            <a:extLst>
              <a:ext uri="{FF2B5EF4-FFF2-40B4-BE49-F238E27FC236}">
                <a16:creationId xmlns:a16="http://schemas.microsoft.com/office/drawing/2014/main" id="{7FADB56A-7B80-32A1-A5E8-86C240528369}"/>
              </a:ext>
            </a:extLst>
          </p:cNvPr>
          <p:cNvSpPr txBox="1"/>
          <p:nvPr userDrawn="1"/>
        </p:nvSpPr>
        <p:spPr>
          <a:xfrm>
            <a:off x="474728" y="-145130"/>
            <a:ext cx="360000" cy="104525"/>
          </a:xfrm>
          <a:prstGeom prst="rect">
            <a:avLst/>
          </a:prstGeom>
        </p:spPr>
        <p:txBody>
          <a:bodyPr vert="horz" wrap="square" lIns="0" tIns="12074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</a:rPr>
              <a:t>TEXT</a:t>
            </a: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B48A37EC-FC11-5012-3EA7-35D7D15056DF}"/>
              </a:ext>
            </a:extLst>
          </p:cNvPr>
          <p:cNvCxnSpPr>
            <a:cxnSpLocks/>
          </p:cNvCxnSpPr>
          <p:nvPr userDrawn="1"/>
        </p:nvCxnSpPr>
        <p:spPr>
          <a:xfrm>
            <a:off x="333876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7BFD80EA-8CAE-2EF1-C894-560BD99035FF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90884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EFF4F148-679E-8554-AABC-A549A9CFC4C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3CCFB154-E603-43BE-8A33-D08CDBADBC24}"/>
              </a:ext>
            </a:extLst>
          </p:cNvPr>
          <p:cNvCxnSpPr>
            <a:cxnSpLocks/>
          </p:cNvCxnSpPr>
          <p:nvPr userDrawn="1"/>
        </p:nvCxnSpPr>
        <p:spPr>
          <a:xfrm>
            <a:off x="3214422" y="-90884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54E9840A-7A13-5249-94DF-65D32D06AF3A}"/>
              </a:ext>
            </a:extLst>
          </p:cNvPr>
          <p:cNvCxnSpPr>
            <a:cxnSpLocks/>
          </p:cNvCxnSpPr>
          <p:nvPr userDrawn="1"/>
        </p:nvCxnSpPr>
        <p:spPr>
          <a:xfrm>
            <a:off x="3214422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B39E2785-588E-C31E-FEEC-0A33304D473F}"/>
              </a:ext>
            </a:extLst>
          </p:cNvPr>
          <p:cNvCxnSpPr>
            <a:cxnSpLocks/>
          </p:cNvCxnSpPr>
          <p:nvPr userDrawn="1"/>
        </p:nvCxnSpPr>
        <p:spPr>
          <a:xfrm>
            <a:off x="8975142" y="-90884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B8EECCD5-14C7-6DB2-4661-AA169A3AE152}"/>
              </a:ext>
            </a:extLst>
          </p:cNvPr>
          <p:cNvCxnSpPr>
            <a:cxnSpLocks/>
          </p:cNvCxnSpPr>
          <p:nvPr userDrawn="1"/>
        </p:nvCxnSpPr>
        <p:spPr>
          <a:xfrm>
            <a:off x="8975142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1">
            <a:extLst>
              <a:ext uri="{FF2B5EF4-FFF2-40B4-BE49-F238E27FC236}">
                <a16:creationId xmlns:a16="http://schemas.microsoft.com/office/drawing/2014/main" id="{C2C502DF-FCC3-72F4-7435-A979189CC29D}"/>
              </a:ext>
            </a:extLst>
          </p:cNvPr>
          <p:cNvSpPr txBox="1"/>
          <p:nvPr userDrawn="1"/>
        </p:nvSpPr>
        <p:spPr>
          <a:xfrm>
            <a:off x="8131629" y="6557005"/>
            <a:ext cx="3717090" cy="7554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800" dirty="0"/>
              <a:t>Copyright © Marubeni I-</a:t>
            </a:r>
            <a:r>
              <a:rPr lang="en-US" altLang="ja-JP" sz="800" dirty="0" err="1"/>
              <a:t>DIGIO</a:t>
            </a:r>
            <a:r>
              <a:rPr lang="en-US" altLang="ja-JP" sz="800" dirty="0"/>
              <a:t> Holdings </a:t>
            </a:r>
            <a:r>
              <a:rPr lang="en-US" altLang="ja-JP" sz="800" dirty="0" err="1"/>
              <a:t>Co.,Ltd</a:t>
            </a:r>
            <a:r>
              <a:rPr lang="en-US" altLang="ja-JP" sz="800" dirty="0"/>
              <a:t>. All Rights Reserved.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Times New Roman" pitchFamily="18" charset="0"/>
            </a:endParaRPr>
          </a:p>
        </p:txBody>
      </p:sp>
      <p:pic>
        <p:nvPicPr>
          <p:cNvPr id="5" name="図 4" descr="ロゴ&#10;&#10;自動的に生成された説明">
            <a:extLst>
              <a:ext uri="{FF2B5EF4-FFF2-40B4-BE49-F238E27FC236}">
                <a16:creationId xmlns:a16="http://schemas.microsoft.com/office/drawing/2014/main" id="{62911843-B364-7411-4614-BA52E039EA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4" y="6348918"/>
            <a:ext cx="1688910" cy="41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221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見出しスライド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35D5AD-5A35-F7A2-3820-51148D975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735" y="3014209"/>
            <a:ext cx="8812530" cy="551952"/>
          </a:xfrm>
          <a:prstGeom prst="rect">
            <a:avLst/>
          </a:prstGeom>
        </p:spPr>
        <p:txBody>
          <a:bodyPr lIns="36000" tIns="36000" rIns="36000" bIns="36000" anchor="ctr"/>
          <a:lstStyle>
            <a:lvl1pPr algn="ctr">
              <a:defRPr sz="3600" b="1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平行四辺形 2">
            <a:extLst>
              <a:ext uri="{FF2B5EF4-FFF2-40B4-BE49-F238E27FC236}">
                <a16:creationId xmlns:a16="http://schemas.microsoft.com/office/drawing/2014/main" id="{74237423-F262-3ED5-1D70-2C75BD06B2CF}"/>
              </a:ext>
            </a:extLst>
          </p:cNvPr>
          <p:cNvSpPr/>
          <p:nvPr userDrawn="1"/>
        </p:nvSpPr>
        <p:spPr>
          <a:xfrm rot="10800000">
            <a:off x="855265" y="2645458"/>
            <a:ext cx="569917" cy="368751"/>
          </a:xfrm>
          <a:prstGeom prst="parallelogram">
            <a:avLst>
              <a:gd name="adj" fmla="val 5110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平行四辺形 3">
            <a:extLst>
              <a:ext uri="{FF2B5EF4-FFF2-40B4-BE49-F238E27FC236}">
                <a16:creationId xmlns:a16="http://schemas.microsoft.com/office/drawing/2014/main" id="{F28A5DCF-6DBC-FB8E-9DA7-23D03FBD2488}"/>
              </a:ext>
            </a:extLst>
          </p:cNvPr>
          <p:cNvSpPr/>
          <p:nvPr userDrawn="1"/>
        </p:nvSpPr>
        <p:spPr>
          <a:xfrm rot="10800000">
            <a:off x="1221025" y="2276707"/>
            <a:ext cx="569917" cy="368751"/>
          </a:xfrm>
          <a:prstGeom prst="parallelogram">
            <a:avLst>
              <a:gd name="adj" fmla="val 5110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平行四辺形 4">
            <a:extLst>
              <a:ext uri="{FF2B5EF4-FFF2-40B4-BE49-F238E27FC236}">
                <a16:creationId xmlns:a16="http://schemas.microsoft.com/office/drawing/2014/main" id="{DD4DAB22-AA66-3286-D3A5-D92F4B1C1C37}"/>
              </a:ext>
            </a:extLst>
          </p:cNvPr>
          <p:cNvSpPr/>
          <p:nvPr userDrawn="1"/>
        </p:nvSpPr>
        <p:spPr>
          <a:xfrm rot="10800000">
            <a:off x="10881118" y="3835031"/>
            <a:ext cx="569917" cy="368751"/>
          </a:xfrm>
          <a:prstGeom prst="parallelogram">
            <a:avLst>
              <a:gd name="adj" fmla="val 5110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17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コンテンツ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35D5AD-5A35-F7A2-3820-51148D975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81" y="459861"/>
            <a:ext cx="11632737" cy="361789"/>
          </a:xfrm>
          <a:prstGeom prst="rect">
            <a:avLst/>
          </a:prstGeom>
        </p:spPr>
        <p:txBody>
          <a:bodyPr lIns="36000" tIns="36000" rIns="36000" bIns="36000" anchor="t"/>
          <a:lstStyle>
            <a:lvl1pPr>
              <a:defRPr sz="2000" b="1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939478E7-89F0-5307-85D4-E8776FAD6D0A}"/>
              </a:ext>
            </a:extLst>
          </p:cNvPr>
          <p:cNvGrpSpPr/>
          <p:nvPr userDrawn="1"/>
        </p:nvGrpSpPr>
        <p:grpSpPr>
          <a:xfrm>
            <a:off x="269924" y="241749"/>
            <a:ext cx="64141" cy="568120"/>
            <a:chOff x="6148080" y="159808"/>
            <a:chExt cx="927847" cy="605338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9" name="平行四辺形 8">
              <a:extLst>
                <a:ext uri="{FF2B5EF4-FFF2-40B4-BE49-F238E27FC236}">
                  <a16:creationId xmlns:a16="http://schemas.microsoft.com/office/drawing/2014/main" id="{39CB9269-AA90-EC48-F0A1-7F76004071A6}"/>
                </a:ext>
              </a:extLst>
            </p:cNvPr>
            <p:cNvSpPr/>
            <p:nvPr/>
          </p:nvSpPr>
          <p:spPr>
            <a:xfrm rot="5400000">
              <a:off x="5891808" y="416080"/>
              <a:ext cx="1440392" cy="927847"/>
            </a:xfrm>
            <a:prstGeom prst="parallelogram">
              <a:avLst>
                <a:gd name="adj" fmla="val 51103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台形 9">
              <a:extLst>
                <a:ext uri="{FF2B5EF4-FFF2-40B4-BE49-F238E27FC236}">
                  <a16:creationId xmlns:a16="http://schemas.microsoft.com/office/drawing/2014/main" id="{989827B6-5B27-C639-9151-1CC2CD6E39CF}"/>
                </a:ext>
              </a:extLst>
            </p:cNvPr>
            <p:cNvSpPr/>
            <p:nvPr/>
          </p:nvSpPr>
          <p:spPr>
            <a:xfrm rot="5400000" flipH="1" flipV="1">
              <a:off x="4305507" y="3442771"/>
              <a:ext cx="4612993" cy="927847"/>
            </a:xfrm>
            <a:prstGeom prst="trapezoid">
              <a:avLst>
                <a:gd name="adj" fmla="val 55435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テキスト プレースホルダー 13">
            <a:extLst>
              <a:ext uri="{FF2B5EF4-FFF2-40B4-BE49-F238E27FC236}">
                <a16:creationId xmlns:a16="http://schemas.microsoft.com/office/drawing/2014/main" id="{668A44E7-8522-5623-1C55-DAF91ECB7C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0330" y="206306"/>
            <a:ext cx="5308095" cy="239074"/>
          </a:xfrm>
          <a:prstGeom prst="rect">
            <a:avLst/>
          </a:prstGeom>
        </p:spPr>
        <p:txBody>
          <a:bodyPr wrap="none" lIns="36000" tIns="36000" rIns="36000" bIns="36000" anchor="b"/>
          <a:lstStyle>
            <a:lvl1pPr marL="0" indent="0">
              <a:buNone/>
              <a:defRPr sz="1000" b="1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 dirty="0"/>
              <a:t>章　章タイトル</a:t>
            </a:r>
          </a:p>
        </p:txBody>
      </p:sp>
    </p:spTree>
    <p:extLst>
      <p:ext uri="{BB962C8B-B14F-4D97-AF65-F5344CB8AC3E}">
        <p14:creationId xmlns:p14="http://schemas.microsoft.com/office/powerpoint/2010/main" val="235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2.xml"/><Relationship Id="rId9" Type="http://schemas.openxmlformats.org/officeDocument/2006/relationships/image" Target="../media/image7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スライド番号プレースホルダー 4">
            <a:extLst>
              <a:ext uri="{FF2B5EF4-FFF2-40B4-BE49-F238E27FC236}">
                <a16:creationId xmlns:a16="http://schemas.microsoft.com/office/drawing/2014/main" id="{D3DE7160-2142-6929-F8FE-BED5AD0DC2DD}"/>
              </a:ext>
            </a:extLst>
          </p:cNvPr>
          <p:cNvSpPr txBox="1">
            <a:spLocks/>
          </p:cNvSpPr>
          <p:nvPr userDrawn="1"/>
        </p:nvSpPr>
        <p:spPr>
          <a:xfrm>
            <a:off x="5886764" y="6493851"/>
            <a:ext cx="418473" cy="251556"/>
          </a:xfrm>
          <a:prstGeom prst="rect">
            <a:avLst/>
          </a:prstGeom>
        </p:spPr>
        <p:txBody>
          <a:bodyPr wrap="none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2DA652-66EA-4648-B6D7-BBF86267F7B7}" type="slidenum">
              <a:rPr lang="ja-JP" altLang="en-US" sz="1200" smtClean="0">
                <a:solidFill>
                  <a:schemeClr val="tx1"/>
                </a:solidFill>
                <a:latin typeface="+mn-ea"/>
                <a:ea typeface="+mn-ea"/>
              </a:rPr>
              <a:pPr algn="ctr"/>
              <a:t>‹#›</a:t>
            </a:fld>
            <a:endParaRPr lang="ja-JP" altLang="en-US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282C031-1B75-4C25-48F9-94B1A22E07C3}"/>
              </a:ext>
            </a:extLst>
          </p:cNvPr>
          <p:cNvCxnSpPr>
            <a:cxnSpLocks/>
          </p:cNvCxnSpPr>
          <p:nvPr userDrawn="1"/>
        </p:nvCxnSpPr>
        <p:spPr>
          <a:xfrm>
            <a:off x="333876" y="-148851"/>
            <a:ext cx="0" cy="1119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615FC27-A15A-2D6A-F9A1-E175E5539EF6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89860" y="-148851"/>
            <a:ext cx="0" cy="1119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bject 23">
            <a:extLst>
              <a:ext uri="{FF2B5EF4-FFF2-40B4-BE49-F238E27FC236}">
                <a16:creationId xmlns:a16="http://schemas.microsoft.com/office/drawing/2014/main" id="{682D7C4E-C8F3-4949-BF85-70C1CFBB7403}"/>
              </a:ext>
            </a:extLst>
          </p:cNvPr>
          <p:cNvSpPr txBox="1"/>
          <p:nvPr userDrawn="1"/>
        </p:nvSpPr>
        <p:spPr>
          <a:xfrm>
            <a:off x="474728" y="-145130"/>
            <a:ext cx="360000" cy="104525"/>
          </a:xfrm>
          <a:prstGeom prst="rect">
            <a:avLst/>
          </a:prstGeom>
        </p:spPr>
        <p:txBody>
          <a:bodyPr vert="horz" wrap="square" lIns="0" tIns="12074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ea typeface="+mn-ea"/>
              </a:rPr>
              <a:t>TEXT</a:t>
            </a: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EA5D1D4-A4BA-1983-7C8E-D2970FB8BF84}"/>
              </a:ext>
            </a:extLst>
          </p:cNvPr>
          <p:cNvCxnSpPr>
            <a:cxnSpLocks/>
          </p:cNvCxnSpPr>
          <p:nvPr userDrawn="1"/>
        </p:nvCxnSpPr>
        <p:spPr>
          <a:xfrm>
            <a:off x="11848710" y="-148851"/>
            <a:ext cx="0" cy="1119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AC25987-EF3A-2D99-D764-7C0C160DC7C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792726" y="-148851"/>
            <a:ext cx="0" cy="1119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bject 23">
            <a:extLst>
              <a:ext uri="{FF2B5EF4-FFF2-40B4-BE49-F238E27FC236}">
                <a16:creationId xmlns:a16="http://schemas.microsoft.com/office/drawing/2014/main" id="{D63F919C-CFDB-B98C-AF96-43DB00348C35}"/>
              </a:ext>
            </a:extLst>
          </p:cNvPr>
          <p:cNvSpPr txBox="1"/>
          <p:nvPr userDrawn="1"/>
        </p:nvSpPr>
        <p:spPr>
          <a:xfrm>
            <a:off x="11488261" y="-145130"/>
            <a:ext cx="360000" cy="104525"/>
          </a:xfrm>
          <a:prstGeom prst="rect">
            <a:avLst/>
          </a:prstGeom>
        </p:spPr>
        <p:txBody>
          <a:bodyPr vert="horz" wrap="square" lIns="0" tIns="12074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ea typeface="+mn-ea"/>
              </a:rPr>
              <a:t>TEXT</a:t>
            </a: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A2CA8AD-386F-647F-A751-19895DA69BAA}"/>
              </a:ext>
            </a:extLst>
          </p:cNvPr>
          <p:cNvCxnSpPr>
            <a:cxnSpLocks/>
          </p:cNvCxnSpPr>
          <p:nvPr userDrawn="1"/>
        </p:nvCxnSpPr>
        <p:spPr>
          <a:xfrm>
            <a:off x="333876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0CDAE53A-8A58-C630-2255-6D029EC0B909}"/>
              </a:ext>
            </a:extLst>
          </p:cNvPr>
          <p:cNvCxnSpPr>
            <a:cxnSpLocks/>
          </p:cNvCxnSpPr>
          <p:nvPr userDrawn="1"/>
        </p:nvCxnSpPr>
        <p:spPr>
          <a:xfrm>
            <a:off x="11848710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500CAC68-5697-A4A1-B141-ECCD5F999F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67694" y="866718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26DE67ED-08E0-CC74-C5F5-A2728B317AD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2224025" y="866718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E46EF5CD-B92E-E399-68F6-E7ACD3928EAD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67695" y="1447497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293BE642-387E-7BAD-6AF7-12809F7AF934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2224024" y="1447497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D96C67B6-6F7E-FA90-3977-4FB779BC1BF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67696" y="6284261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CE04AD91-F1D9-4DF4-99FF-83C26E961DB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2224023" y="6284261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C527F7E8-F927-9346-BCCC-C83A402D570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90884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B1ECCB43-98A0-0B6D-3E0A-940E20B5F0BF}"/>
              </a:ext>
            </a:extLst>
          </p:cNvPr>
          <p:cNvCxnSpPr>
            <a:cxnSpLocks/>
          </p:cNvCxnSpPr>
          <p:nvPr userDrawn="1"/>
        </p:nvCxnSpPr>
        <p:spPr>
          <a:xfrm>
            <a:off x="6096000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9A05FF8D-D749-9949-9377-4D64C800C10B}"/>
              </a:ext>
            </a:extLst>
          </p:cNvPr>
          <p:cNvCxnSpPr>
            <a:cxnSpLocks/>
          </p:cNvCxnSpPr>
          <p:nvPr userDrawn="1"/>
        </p:nvCxnSpPr>
        <p:spPr>
          <a:xfrm>
            <a:off x="3214422" y="-90884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B953EC0F-CAE6-D6CF-CF2E-BEFFF3AB4BC4}"/>
              </a:ext>
            </a:extLst>
          </p:cNvPr>
          <p:cNvCxnSpPr>
            <a:cxnSpLocks/>
          </p:cNvCxnSpPr>
          <p:nvPr userDrawn="1"/>
        </p:nvCxnSpPr>
        <p:spPr>
          <a:xfrm>
            <a:off x="3214422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52DFFCC7-BFE3-A031-D597-4922F0A242E5}"/>
              </a:ext>
            </a:extLst>
          </p:cNvPr>
          <p:cNvCxnSpPr>
            <a:cxnSpLocks/>
          </p:cNvCxnSpPr>
          <p:nvPr userDrawn="1"/>
        </p:nvCxnSpPr>
        <p:spPr>
          <a:xfrm>
            <a:off x="8975142" y="-90884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B42DDB52-7899-B4D0-6877-6ADA134E353D}"/>
              </a:ext>
            </a:extLst>
          </p:cNvPr>
          <p:cNvCxnSpPr>
            <a:cxnSpLocks/>
          </p:cNvCxnSpPr>
          <p:nvPr userDrawn="1"/>
        </p:nvCxnSpPr>
        <p:spPr>
          <a:xfrm>
            <a:off x="8975142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686F11C7-BCEF-015D-417F-415FB04FF6B7}"/>
              </a:ext>
            </a:extLst>
          </p:cNvPr>
          <p:cNvGrpSpPr/>
          <p:nvPr userDrawn="1"/>
        </p:nvGrpSpPr>
        <p:grpSpPr>
          <a:xfrm>
            <a:off x="5886764" y="6527341"/>
            <a:ext cx="418473" cy="188402"/>
            <a:chOff x="5886764" y="6533377"/>
            <a:chExt cx="418473" cy="188402"/>
          </a:xfrm>
          <a:solidFill>
            <a:schemeClr val="tx1">
              <a:lumMod val="75000"/>
              <a:lumOff val="25000"/>
            </a:schemeClr>
          </a:solidFill>
        </p:grpSpPr>
        <p:pic>
          <p:nvPicPr>
            <p:cNvPr id="12" name="グラフィックス 11">
              <a:extLst>
                <a:ext uri="{FF2B5EF4-FFF2-40B4-BE49-F238E27FC236}">
                  <a16:creationId xmlns:a16="http://schemas.microsoft.com/office/drawing/2014/main" id="{20E2A2AC-4982-10B9-B7F3-97D365FF877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59518" y="6533377"/>
              <a:ext cx="45719" cy="188402"/>
            </a:xfrm>
            <a:prstGeom prst="rect">
              <a:avLst/>
            </a:prstGeom>
          </p:spPr>
        </p:pic>
        <p:pic>
          <p:nvPicPr>
            <p:cNvPr id="15" name="グラフィックス 14">
              <a:extLst>
                <a:ext uri="{FF2B5EF4-FFF2-40B4-BE49-F238E27FC236}">
                  <a16:creationId xmlns:a16="http://schemas.microsoft.com/office/drawing/2014/main" id="{056878E2-9FEC-60BE-CA58-7212639F85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886764" y="6533377"/>
              <a:ext cx="45719" cy="188402"/>
            </a:xfrm>
            <a:prstGeom prst="rect">
              <a:avLst/>
            </a:prstGeom>
          </p:spPr>
        </p:pic>
      </p:grpSp>
      <p:sp>
        <p:nvSpPr>
          <p:cNvPr id="3" name="TextBox 1">
            <a:extLst>
              <a:ext uri="{FF2B5EF4-FFF2-40B4-BE49-F238E27FC236}">
                <a16:creationId xmlns:a16="http://schemas.microsoft.com/office/drawing/2014/main" id="{1A414E8F-5390-DAE3-B295-F5CCFC211F09}"/>
              </a:ext>
            </a:extLst>
          </p:cNvPr>
          <p:cNvSpPr txBox="1"/>
          <p:nvPr userDrawn="1"/>
        </p:nvSpPr>
        <p:spPr>
          <a:xfrm>
            <a:off x="8131629" y="6557005"/>
            <a:ext cx="3717090" cy="7554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800" dirty="0"/>
              <a:t>Copyright © Marubeni I-DIGIO GRP. All Rights Reserved.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Times New Roman" pitchFamily="18" charset="0"/>
            </a:endParaRPr>
          </a:p>
        </p:txBody>
      </p:sp>
      <p:pic>
        <p:nvPicPr>
          <p:cNvPr id="5" name="図 4" descr="図形&#10;&#10;中程度の精度で自動的に生成された説明">
            <a:extLst>
              <a:ext uri="{FF2B5EF4-FFF2-40B4-BE49-F238E27FC236}">
                <a16:creationId xmlns:a16="http://schemas.microsoft.com/office/drawing/2014/main" id="{6881D33A-D8A6-3130-EDB8-EB7A9DDE7608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4" y="6351901"/>
            <a:ext cx="1685996" cy="41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069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0" r:id="rId2"/>
    <p:sldLayoutId id="2147483654" r:id="rId3"/>
    <p:sldLayoutId id="2147483674" r:id="rId4"/>
    <p:sldLayoutId id="2147483688" r:id="rId5"/>
    <p:sldLayoutId id="214748367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282C031-1B75-4C25-48F9-94B1A22E07C3}"/>
              </a:ext>
            </a:extLst>
          </p:cNvPr>
          <p:cNvCxnSpPr>
            <a:cxnSpLocks/>
          </p:cNvCxnSpPr>
          <p:nvPr userDrawn="1"/>
        </p:nvCxnSpPr>
        <p:spPr>
          <a:xfrm>
            <a:off x="333876" y="-148851"/>
            <a:ext cx="0" cy="1119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615FC27-A15A-2D6A-F9A1-E175E5539EF6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89860" y="-148851"/>
            <a:ext cx="0" cy="1119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bject 23">
            <a:extLst>
              <a:ext uri="{FF2B5EF4-FFF2-40B4-BE49-F238E27FC236}">
                <a16:creationId xmlns:a16="http://schemas.microsoft.com/office/drawing/2014/main" id="{682D7C4E-C8F3-4949-BF85-70C1CFBB7403}"/>
              </a:ext>
            </a:extLst>
          </p:cNvPr>
          <p:cNvSpPr txBox="1"/>
          <p:nvPr userDrawn="1"/>
        </p:nvSpPr>
        <p:spPr>
          <a:xfrm>
            <a:off x="474728" y="-145130"/>
            <a:ext cx="360000" cy="104525"/>
          </a:xfrm>
          <a:prstGeom prst="rect">
            <a:avLst/>
          </a:prstGeom>
        </p:spPr>
        <p:txBody>
          <a:bodyPr vert="horz" wrap="square" lIns="0" tIns="12074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ea typeface="+mn-ea"/>
              </a:rPr>
              <a:t>TEXT</a:t>
            </a: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EA5D1D4-A4BA-1983-7C8E-D2970FB8BF84}"/>
              </a:ext>
            </a:extLst>
          </p:cNvPr>
          <p:cNvCxnSpPr>
            <a:cxnSpLocks/>
          </p:cNvCxnSpPr>
          <p:nvPr userDrawn="1"/>
        </p:nvCxnSpPr>
        <p:spPr>
          <a:xfrm>
            <a:off x="11848710" y="-148851"/>
            <a:ext cx="0" cy="1119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AC25987-EF3A-2D99-D764-7C0C160DC7C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792726" y="-148851"/>
            <a:ext cx="0" cy="1119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bject 23">
            <a:extLst>
              <a:ext uri="{FF2B5EF4-FFF2-40B4-BE49-F238E27FC236}">
                <a16:creationId xmlns:a16="http://schemas.microsoft.com/office/drawing/2014/main" id="{D63F919C-CFDB-B98C-AF96-43DB00348C35}"/>
              </a:ext>
            </a:extLst>
          </p:cNvPr>
          <p:cNvSpPr txBox="1"/>
          <p:nvPr userDrawn="1"/>
        </p:nvSpPr>
        <p:spPr>
          <a:xfrm>
            <a:off x="11488261" y="-145130"/>
            <a:ext cx="360000" cy="104525"/>
          </a:xfrm>
          <a:prstGeom prst="rect">
            <a:avLst/>
          </a:prstGeom>
        </p:spPr>
        <p:txBody>
          <a:bodyPr vert="horz" wrap="square" lIns="0" tIns="12074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ea typeface="+mn-ea"/>
              </a:rPr>
              <a:t>TEXT</a:t>
            </a: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A2CA8AD-386F-647F-A751-19895DA69BAA}"/>
              </a:ext>
            </a:extLst>
          </p:cNvPr>
          <p:cNvCxnSpPr>
            <a:cxnSpLocks/>
          </p:cNvCxnSpPr>
          <p:nvPr userDrawn="1"/>
        </p:nvCxnSpPr>
        <p:spPr>
          <a:xfrm>
            <a:off x="333876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0CDAE53A-8A58-C630-2255-6D029EC0B909}"/>
              </a:ext>
            </a:extLst>
          </p:cNvPr>
          <p:cNvCxnSpPr>
            <a:cxnSpLocks/>
          </p:cNvCxnSpPr>
          <p:nvPr userDrawn="1"/>
        </p:nvCxnSpPr>
        <p:spPr>
          <a:xfrm>
            <a:off x="11848710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500CAC68-5697-A4A1-B141-ECCD5F999F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67694" y="866718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26DE67ED-08E0-CC74-C5F5-A2728B317AD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2224025" y="866718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E46EF5CD-B92E-E399-68F6-E7ACD3928EAD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67695" y="1447497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293BE642-387E-7BAD-6AF7-12809F7AF934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2224024" y="1447497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D96C67B6-6F7E-FA90-3977-4FB779BC1BF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67696" y="6284261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CE04AD91-F1D9-4DF4-99FF-83C26E961DB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2224023" y="6284261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C527F7E8-F927-9346-BCCC-C83A402D570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90884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B1ECCB43-98A0-0B6D-3E0A-940E20B5F0BF}"/>
              </a:ext>
            </a:extLst>
          </p:cNvPr>
          <p:cNvCxnSpPr>
            <a:cxnSpLocks/>
          </p:cNvCxnSpPr>
          <p:nvPr userDrawn="1"/>
        </p:nvCxnSpPr>
        <p:spPr>
          <a:xfrm>
            <a:off x="6096000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9A05FF8D-D749-9949-9377-4D64C800C10B}"/>
              </a:ext>
            </a:extLst>
          </p:cNvPr>
          <p:cNvCxnSpPr>
            <a:cxnSpLocks/>
          </p:cNvCxnSpPr>
          <p:nvPr userDrawn="1"/>
        </p:nvCxnSpPr>
        <p:spPr>
          <a:xfrm>
            <a:off x="3214422" y="-90884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B953EC0F-CAE6-D6CF-CF2E-BEFFF3AB4BC4}"/>
              </a:ext>
            </a:extLst>
          </p:cNvPr>
          <p:cNvCxnSpPr>
            <a:cxnSpLocks/>
          </p:cNvCxnSpPr>
          <p:nvPr userDrawn="1"/>
        </p:nvCxnSpPr>
        <p:spPr>
          <a:xfrm>
            <a:off x="3214422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52DFFCC7-BFE3-A031-D597-4922F0A242E5}"/>
              </a:ext>
            </a:extLst>
          </p:cNvPr>
          <p:cNvCxnSpPr>
            <a:cxnSpLocks/>
          </p:cNvCxnSpPr>
          <p:nvPr userDrawn="1"/>
        </p:nvCxnSpPr>
        <p:spPr>
          <a:xfrm>
            <a:off x="8975142" y="-90884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B42DDB52-7899-B4D0-6877-6ADA134E353D}"/>
              </a:ext>
            </a:extLst>
          </p:cNvPr>
          <p:cNvCxnSpPr>
            <a:cxnSpLocks/>
          </p:cNvCxnSpPr>
          <p:nvPr userDrawn="1"/>
        </p:nvCxnSpPr>
        <p:spPr>
          <a:xfrm>
            <a:off x="8975142" y="6886553"/>
            <a:ext cx="0" cy="5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スライド番号プレースホルダー 4">
            <a:extLst>
              <a:ext uri="{FF2B5EF4-FFF2-40B4-BE49-F238E27FC236}">
                <a16:creationId xmlns:a16="http://schemas.microsoft.com/office/drawing/2014/main" id="{7D37527C-248A-A08A-6C0E-EDD710F421A3}"/>
              </a:ext>
            </a:extLst>
          </p:cNvPr>
          <p:cNvSpPr txBox="1">
            <a:spLocks/>
          </p:cNvSpPr>
          <p:nvPr userDrawn="1"/>
        </p:nvSpPr>
        <p:spPr>
          <a:xfrm>
            <a:off x="5886764" y="6493851"/>
            <a:ext cx="418473" cy="251556"/>
          </a:xfrm>
          <a:prstGeom prst="rect">
            <a:avLst/>
          </a:prstGeom>
        </p:spPr>
        <p:txBody>
          <a:bodyPr wrap="none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2DA652-66EA-4648-B6D7-BBF86267F7B7}" type="slidenum">
              <a:rPr lang="ja-JP" altLang="en-US" sz="1200" smtClean="0">
                <a:solidFill>
                  <a:schemeClr val="tx1"/>
                </a:solidFill>
                <a:latin typeface="+mn-ea"/>
                <a:ea typeface="+mn-ea"/>
              </a:rPr>
              <a:pPr algn="ctr"/>
              <a:t>‹#›</a:t>
            </a:fld>
            <a:endParaRPr lang="ja-JP" altLang="en-US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AF988D99-E376-C0C4-4210-4E98A3D05B04}"/>
              </a:ext>
            </a:extLst>
          </p:cNvPr>
          <p:cNvGrpSpPr/>
          <p:nvPr userDrawn="1"/>
        </p:nvGrpSpPr>
        <p:grpSpPr>
          <a:xfrm>
            <a:off x="5886764" y="6527341"/>
            <a:ext cx="418473" cy="188402"/>
            <a:chOff x="5886764" y="6533377"/>
            <a:chExt cx="418473" cy="188402"/>
          </a:xfrm>
          <a:solidFill>
            <a:schemeClr val="tx1">
              <a:lumMod val="75000"/>
              <a:lumOff val="25000"/>
            </a:schemeClr>
          </a:solidFill>
        </p:grpSpPr>
        <p:pic>
          <p:nvPicPr>
            <p:cNvPr id="11" name="グラフィックス 10">
              <a:extLst>
                <a:ext uri="{FF2B5EF4-FFF2-40B4-BE49-F238E27FC236}">
                  <a16:creationId xmlns:a16="http://schemas.microsoft.com/office/drawing/2014/main" id="{4376B858-D19D-8B6A-A723-7B8D03E27F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59518" y="6533377"/>
              <a:ext cx="45719" cy="188402"/>
            </a:xfrm>
            <a:prstGeom prst="rect">
              <a:avLst/>
            </a:prstGeom>
          </p:spPr>
        </p:pic>
        <p:pic>
          <p:nvPicPr>
            <p:cNvPr id="12" name="グラフィックス 11">
              <a:extLst>
                <a:ext uri="{FF2B5EF4-FFF2-40B4-BE49-F238E27FC236}">
                  <a16:creationId xmlns:a16="http://schemas.microsoft.com/office/drawing/2014/main" id="{07580FC9-7AC4-2EFA-F23C-DC6E488CFA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86764" y="6533377"/>
              <a:ext cx="45719" cy="188402"/>
            </a:xfrm>
            <a:prstGeom prst="rect">
              <a:avLst/>
            </a:prstGeom>
          </p:spPr>
        </p:pic>
      </p:grpSp>
      <p:sp>
        <p:nvSpPr>
          <p:cNvPr id="7" name="TextBox 1">
            <a:extLst>
              <a:ext uri="{FF2B5EF4-FFF2-40B4-BE49-F238E27FC236}">
                <a16:creationId xmlns:a16="http://schemas.microsoft.com/office/drawing/2014/main" id="{32209C11-6268-EF34-978E-AB045AA1EA12}"/>
              </a:ext>
            </a:extLst>
          </p:cNvPr>
          <p:cNvSpPr txBox="1"/>
          <p:nvPr userDrawn="1"/>
        </p:nvSpPr>
        <p:spPr>
          <a:xfrm>
            <a:off x="8131629" y="6557005"/>
            <a:ext cx="3717090" cy="7554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800" dirty="0"/>
              <a:t>Copyright © Marubeni I-</a:t>
            </a:r>
            <a:r>
              <a:rPr lang="en-US" altLang="ja-JP" sz="800" dirty="0" err="1"/>
              <a:t>DIGIO</a:t>
            </a:r>
            <a:r>
              <a:rPr lang="en-US" altLang="ja-JP" sz="800" dirty="0"/>
              <a:t> Holdings </a:t>
            </a:r>
            <a:r>
              <a:rPr lang="en-US" altLang="ja-JP" sz="800" dirty="0" err="1"/>
              <a:t>Co.,Ltd</a:t>
            </a:r>
            <a:r>
              <a:rPr lang="en-US" altLang="ja-JP" sz="800" dirty="0"/>
              <a:t>. All Rights Reserved.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Times New Roman" pitchFamily="18" charset="0"/>
            </a:endParaRPr>
          </a:p>
        </p:txBody>
      </p:sp>
      <p:pic>
        <p:nvPicPr>
          <p:cNvPr id="2" name="図 1" descr="ロゴ&#10;&#10;自動的に生成された説明">
            <a:extLst>
              <a:ext uri="{FF2B5EF4-FFF2-40B4-BE49-F238E27FC236}">
                <a16:creationId xmlns:a16="http://schemas.microsoft.com/office/drawing/2014/main" id="{334E539C-24A0-E2F9-9CBB-DDC7E34A471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4" y="6348918"/>
            <a:ext cx="1688910" cy="41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477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2" r:id="rId2"/>
    <p:sldLayoutId id="214748367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mailto:MIHXXXXX@jpn.marubeni-idigio.com" TargetMode="External"/><Relationship Id="rId13" Type="http://schemas.openxmlformats.org/officeDocument/2006/relationships/hyperlink" Target="https://midigio.cloud.redmine.jp/my/page" TargetMode="External"/><Relationship Id="rId18" Type="http://schemas.openxmlformats.org/officeDocument/2006/relationships/hyperlink" Target="https://marubeni.app.box.com/folder/326849800673?s=eenkpcx7aaaag6hvfime7gee7b58c5da" TargetMode="External"/><Relationship Id="rId3" Type="http://schemas.openxmlformats.org/officeDocument/2006/relationships/hyperlink" Target="https://marubeni.box.com/" TargetMode="External"/><Relationship Id="rId7" Type="http://schemas.openxmlformats.org/officeDocument/2006/relationships/hyperlink" Target="https://marubeni-itsol.okta.com/" TargetMode="External"/><Relationship Id="rId12" Type="http://schemas.openxmlformats.org/officeDocument/2006/relationships/hyperlink" Target="https://marubeni.app.box.com/file/1952600456854?s=jvhldpur1y5rauwfsk17schoqziih7cp" TargetMode="External"/><Relationship Id="rId17" Type="http://schemas.openxmlformats.org/officeDocument/2006/relationships/hyperlink" Target="https://us2.concursolutions.com/home" TargetMode="External"/><Relationship Id="rId2" Type="http://schemas.openxmlformats.org/officeDocument/2006/relationships/hyperlink" Target="https://marubenijpn.sharepoint.com/sites/marubeni-idigio-portal" TargetMode="External"/><Relationship Id="rId16" Type="http://schemas.openxmlformats.org/officeDocument/2006/relationships/hyperlink" Target="https://marubenijpn.sharepoint.com/:p:/r/sites/marubeni-idigio-portal/_layouts/15/Doc.aspx?sourcedoc=%7B49DCC8F5-CED1-45A7-8282-1F24A2D3C764%7D&amp;file=%E3%83%AF%E3%83%BC%E3%82%AF%E3%83%95%E3%83%AD%E3%83%BC%E3%82%B7%E3%82%B9%E3%83%86%E3%83%A0%EF%BC%88SmartDB%EF%BC%89%E5%88%A9%E7%94%A8%E3%83%9E%E3%83%8B%E3%83%A5%E3%82%A2%E3%83%AB.pptx&amp;action=edit&amp;mobileredirect=true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marubenijpn-my.sharepoint.com/" TargetMode="External"/><Relationship Id="rId11" Type="http://schemas.openxmlformats.org/officeDocument/2006/relationships/hyperlink" Target="https://ap.sansan.com/v/Home/" TargetMode="External"/><Relationship Id="rId5" Type="http://schemas.openxmlformats.org/officeDocument/2006/relationships/hyperlink" Target="https://myaccount.microsoft.com/" TargetMode="External"/><Relationship Id="rId15" Type="http://schemas.openxmlformats.org/officeDocument/2006/relationships/hyperlink" Target="https://marubeni-idigio.smartdb.jp/hibiki/smartdb/dashboard" TargetMode="External"/><Relationship Id="rId10" Type="http://schemas.openxmlformats.org/officeDocument/2006/relationships/hyperlink" Target="https://marubeni.app.box.com/file/1389598064414?s=bvtemgshcsvlta9lwd8r6mk2mfpewwv4" TargetMode="External"/><Relationship Id="rId4" Type="http://schemas.openxmlformats.org/officeDocument/2006/relationships/hyperlink" Target="https://marubenijpn.sharepoint.com/:p:/s/marubeni-idigio-portal/ESxy7ik0jsVOqVlSQHhyLlcBTfoXbgV_6BXU4rVzLzyPCQ?e=yIxClf" TargetMode="External"/><Relationship Id="rId9" Type="http://schemas.openxmlformats.org/officeDocument/2006/relationships/hyperlink" Target="https://portal.workstyleos.com/login" TargetMode="External"/><Relationship Id="rId14" Type="http://schemas.openxmlformats.org/officeDocument/2006/relationships/hyperlink" Target="https://marubeni.app.box.com/file/1605634211270?s=09seo26y07cwfcndiwenfjdcmogp55v5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dcm3.phoneappli.net/front/login?error=BadCredentialsException" TargetMode="External"/><Relationship Id="rId13" Type="http://schemas.openxmlformats.org/officeDocument/2006/relationships/hyperlink" Target="https://marubeni.app.box.com/file/1646476239819?s=6zzt667elmolpx27ynggc2wueefqj2k1" TargetMode="External"/><Relationship Id="rId3" Type="http://schemas.openxmlformats.org/officeDocument/2006/relationships/hyperlink" Target="https://marubenijpn.sharepoint.com/sites/marubeni-idigio-portal/FY25SegKickoffLib/Forms/AllItems.aspx?id=%2Fsites%2Fmarubeni%2Didigio%2Dportal%2FFY25SegKickoffLib%2F%E3%80%90TeamSpirit%20EX%E3%80%91%EF%BD%9E%E5%8B%A4%E6%80%A0%E3%83%BB%E5%B7%A5%E6%95%B0%EF%BD%9E%E3%83%A6%E3%83%BC%E3%82%B6%E3%83%9E%E3%83%8B%E3%83%A5%E3%82%A2%E3%83%AB%2Epdf&amp;parent=%2Fsites%2Fmarubeni%2Didigio%2Dportal%2FFY25SegKickoffLib" TargetMode="External"/><Relationship Id="rId7" Type="http://schemas.openxmlformats.org/officeDocument/2006/relationships/hyperlink" Target="https://marubeni.app.box.com/folder/344525072615?s=1v1nauig79ytmcpvgik6wmtmcvaa2fx9" TargetMode="External"/><Relationship Id="rId12" Type="http://schemas.openxmlformats.org/officeDocument/2006/relationships/hyperlink" Target="https://www.e-kakushin.com/login/" TargetMode="External"/><Relationship Id="rId2" Type="http://schemas.openxmlformats.org/officeDocument/2006/relationships/hyperlink" Target="https://teamspirit-ex-55168.lightning.force.com/lightning/page/home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hrone-www.obic7.obicnet.ne.jp/cmm250/top.html" TargetMode="External"/><Relationship Id="rId11" Type="http://schemas.openxmlformats.org/officeDocument/2006/relationships/hyperlink" Target="https://marubenijpn.sharepoint.com/:p:/r/sites/marubeni-idigio-portal/_layouts/15/Doc.aspx?sourcedoc=%7B1899F3E7-1753-448B-A0BA-4F920F3276E0%7D&amp;file=%E5%90%8D%E5%88%BA%E4%BD%9C%E6%88%90%E7%94%A8%E3%83%9E%E3%83%8B%E3%83%A5%E3%82%A2%E3%83%AB%EF%BC%88I-DIGIO%E3%82%B0%E3%83%AB%E3%83%BC%E3%83%97%20MIH%E7%89%88%EF%BC%892025%E5%B9%B404%E6%9C%88.pptx&amp;action=edit&amp;mobileredirect=true&amp;wdLOR=cCD200DE0-F3C4-49CB-B323-B76B49A86B70" TargetMode="External"/><Relationship Id="rId5" Type="http://schemas.openxmlformats.org/officeDocument/2006/relationships/hyperlink" Target="https://marubeni.app.box.com/file/363549475680?s=inqqgrsg4h6doscp8q56hpcpb6ffq1r5" TargetMode="External"/><Relationship Id="rId15" Type="http://schemas.openxmlformats.org/officeDocument/2006/relationships/hyperlink" Target="https://marubeni.app.box.com/file/2006785310294?s=3xmtessm4qu0w969xkictiwl78scwz5t" TargetMode="External"/><Relationship Id="rId10" Type="http://schemas.openxmlformats.org/officeDocument/2006/relationships/hyperlink" Target="https://corezo.yamazakura.jp/shop/customer/menu.aspx" TargetMode="External"/><Relationship Id="rId4" Type="http://schemas.openxmlformats.org/officeDocument/2006/relationships/hyperlink" Target="https://talent-p.net/Top" TargetMode="External"/><Relationship Id="rId9" Type="http://schemas.openxmlformats.org/officeDocument/2006/relationships/hyperlink" Target="https://marubeni.app.box.com/folder/159767857409" TargetMode="External"/><Relationship Id="rId14" Type="http://schemas.openxmlformats.org/officeDocument/2006/relationships/hyperlink" Target="https://www.fukuri.jp/fkr/apps/log/AASC10111.cfm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marubeni.app.box.com/file/1489061891062" TargetMode="External"/><Relationship Id="rId3" Type="http://schemas.openxmlformats.org/officeDocument/2006/relationships/hyperlink" Target="https://marubeni.box.com/s/dr35a4vbufgym6as8s9f2cwlxkkdtout" TargetMode="External"/><Relationship Id="rId7" Type="http://schemas.openxmlformats.org/officeDocument/2006/relationships/hyperlink" Target="https://marubeni.box.com/s/nsduw3zzm3meikmzxzc9keaxko17fh01" TargetMode="External"/><Relationship Id="rId2" Type="http://schemas.openxmlformats.org/officeDocument/2006/relationships/hyperlink" Target="https://marubeni.app.box.com/file/1439861125676?s=hmhsu1owi0sox60a8450mdkip27i3e4s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marubeni.box.com/s/zu8fynoakkasj9h82qka4xepqunywc6j" TargetMode="External"/><Relationship Id="rId5" Type="http://schemas.openxmlformats.org/officeDocument/2006/relationships/hyperlink" Target="https://marubeni-itsol.okta.com/" TargetMode="External"/><Relationship Id="rId4" Type="http://schemas.openxmlformats.org/officeDocument/2006/relationships/hyperlink" Target="https://marubeni.box.com/s/jvhldpur1y5rauwfsk17schoqziih7cp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arubeni.box.com/s/6txpz14slmfy2luu3up5bjd955unovpj" TargetMode="External"/><Relationship Id="rId2" Type="http://schemas.openxmlformats.org/officeDocument/2006/relationships/hyperlink" Target="https://marubeni.app.box.com/file/1418771651879?s=dsxx0wb0pw0r9ffaqluwt6b9rybyr3vq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marubeni.box.com/s/6d7sb19a30km0z3vs1u63dhmq8inwxlp" TargetMode="External"/><Relationship Id="rId4" Type="http://schemas.openxmlformats.org/officeDocument/2006/relationships/hyperlink" Target="https://marubeni.box.com/s/w8lbjyyihdtpoh955t21bj2nwhjv7yhk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13F7BB13-967F-82E6-C003-3BC642A3C2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入場者向け</a:t>
            </a:r>
            <a:br>
              <a:rPr lang="en-US" altLang="ja-JP" dirty="0"/>
            </a:br>
            <a:r>
              <a:rPr lang="ja-JP" altLang="en-US" dirty="0"/>
              <a:t>システム説明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6EDC4701-9C42-845E-8578-760C1ADD59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2025</a:t>
            </a:r>
            <a:r>
              <a:rPr lang="ja-JP" altLang="en-US" dirty="0"/>
              <a:t>年 </a:t>
            </a:r>
            <a:r>
              <a:rPr lang="en-US" altLang="ja-JP" dirty="0"/>
              <a:t>11</a:t>
            </a:r>
            <a:r>
              <a:rPr lang="ja-JP" altLang="en-US" dirty="0"/>
              <a:t>月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8B0D7B10-FD15-B5F6-CA4E-CE196051F8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0538" y="4157645"/>
            <a:ext cx="5308094" cy="1248936"/>
          </a:xfrm>
        </p:spPr>
        <p:txBody>
          <a:bodyPr/>
          <a:lstStyle/>
          <a:p>
            <a:r>
              <a:rPr lang="ja-JP" altLang="en-US" dirty="0"/>
              <a:t>丸紅</a:t>
            </a:r>
            <a:r>
              <a:rPr lang="en-US" altLang="ja-JP" dirty="0"/>
              <a:t>I-DIGIO</a:t>
            </a:r>
            <a:r>
              <a:rPr lang="ja-JP" altLang="en-US" dirty="0"/>
              <a:t>グループ</a:t>
            </a:r>
            <a:endParaRPr lang="en-US" altLang="ja-JP" dirty="0"/>
          </a:p>
          <a:p>
            <a:r>
              <a:rPr lang="ja-JP" altLang="en-US" dirty="0"/>
              <a:t>コーポレートセグメント 管理本部 情報企画部</a:t>
            </a:r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70213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1DDC19E8-C586-A2CD-2D71-BE2C0F3B9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573107"/>
              </p:ext>
            </p:extLst>
          </p:nvPr>
        </p:nvGraphicFramePr>
        <p:xfrm>
          <a:off x="348006" y="422048"/>
          <a:ext cx="11539192" cy="6276295"/>
        </p:xfrm>
        <a:graphic>
          <a:graphicData uri="http://schemas.openxmlformats.org/drawingml/2006/table">
            <a:tbl>
              <a:tblPr/>
              <a:tblGrid>
                <a:gridCol w="1442399">
                  <a:extLst>
                    <a:ext uri="{9D8B030D-6E8A-4147-A177-3AD203B41FA5}">
                      <a16:colId xmlns:a16="http://schemas.microsoft.com/office/drawing/2014/main" val="3724678804"/>
                    </a:ext>
                  </a:extLst>
                </a:gridCol>
                <a:gridCol w="1442399">
                  <a:extLst>
                    <a:ext uri="{9D8B030D-6E8A-4147-A177-3AD203B41FA5}">
                      <a16:colId xmlns:a16="http://schemas.microsoft.com/office/drawing/2014/main" val="925346483"/>
                    </a:ext>
                  </a:extLst>
                </a:gridCol>
                <a:gridCol w="1442399">
                  <a:extLst>
                    <a:ext uri="{9D8B030D-6E8A-4147-A177-3AD203B41FA5}">
                      <a16:colId xmlns:a16="http://schemas.microsoft.com/office/drawing/2014/main" val="3486465436"/>
                    </a:ext>
                  </a:extLst>
                </a:gridCol>
                <a:gridCol w="1442399">
                  <a:extLst>
                    <a:ext uri="{9D8B030D-6E8A-4147-A177-3AD203B41FA5}">
                      <a16:colId xmlns:a16="http://schemas.microsoft.com/office/drawing/2014/main" val="3016673567"/>
                    </a:ext>
                  </a:extLst>
                </a:gridCol>
                <a:gridCol w="1442399">
                  <a:extLst>
                    <a:ext uri="{9D8B030D-6E8A-4147-A177-3AD203B41FA5}">
                      <a16:colId xmlns:a16="http://schemas.microsoft.com/office/drawing/2014/main" val="1126740467"/>
                    </a:ext>
                  </a:extLst>
                </a:gridCol>
                <a:gridCol w="1442399">
                  <a:extLst>
                    <a:ext uri="{9D8B030D-6E8A-4147-A177-3AD203B41FA5}">
                      <a16:colId xmlns:a16="http://schemas.microsoft.com/office/drawing/2014/main" val="1145234091"/>
                    </a:ext>
                  </a:extLst>
                </a:gridCol>
                <a:gridCol w="1442399">
                  <a:extLst>
                    <a:ext uri="{9D8B030D-6E8A-4147-A177-3AD203B41FA5}">
                      <a16:colId xmlns:a16="http://schemas.microsoft.com/office/drawing/2014/main" val="620003898"/>
                    </a:ext>
                  </a:extLst>
                </a:gridCol>
                <a:gridCol w="1442399">
                  <a:extLst>
                    <a:ext uri="{9D8B030D-6E8A-4147-A177-3AD203B41FA5}">
                      <a16:colId xmlns:a16="http://schemas.microsoft.com/office/drawing/2014/main" val="2041945804"/>
                    </a:ext>
                  </a:extLst>
                </a:gridCol>
              </a:tblGrid>
              <a:tr h="210961"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サービス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用途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URL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ID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初期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PW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完了条件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マニュアルの所在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問い合わせ先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716036"/>
                  </a:ext>
                </a:extLst>
              </a:tr>
              <a:tr h="611329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ONE-DIGIO PORTAL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ポータル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/>
                        </a:rPr>
                        <a:t>ONE-DIGIO_PORTAL</a:t>
                      </a:r>
                      <a:endParaRPr lang="en-US" sz="1050" b="0" i="0" u="sng" strike="noStrike" dirty="0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MIHXXXXX@jpn.marubeni-idigio.com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自身で設定した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M-IGS ID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PW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アクセスできること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ー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情報企画部</a:t>
                      </a:r>
                      <a:b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【</a:t>
                      </a:r>
                      <a:r>
                        <a:rPr lang="en-US" altLang="ja-JP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SmartDB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】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各種問合わせ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431486"/>
                  </a:ext>
                </a:extLst>
              </a:tr>
              <a:tr h="1027756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Box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ファイル管理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 tooltip="https://marubeni.box.com/"/>
                        </a:rPr>
                        <a:t>https://marubeni.box.com</a:t>
                      </a:r>
                      <a:endParaRPr lang="en-US" sz="1050" b="0" i="0" u="sng" strike="noStrike" dirty="0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Marubeni Box Tenant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ー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・アクセスできること</a:t>
                      </a:r>
                      <a:b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・個人フォルダに入る</a:t>
                      </a:r>
                      <a:b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【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個人フォルダ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】#X_MIH00000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MIGS-ID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）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ja-JP" altLang="en-US" sz="1050" dirty="0">
                          <a:hlinkClick r:id="rId4"/>
                        </a:rPr>
                        <a:t>丸紅</a:t>
                      </a:r>
                      <a:r>
                        <a:rPr lang="en-US" altLang="ja-JP" sz="1050" dirty="0">
                          <a:hlinkClick r:id="rId4"/>
                        </a:rPr>
                        <a:t>I-DIGIO</a:t>
                      </a:r>
                      <a:r>
                        <a:rPr lang="ja-JP" altLang="en-US" sz="1050" dirty="0">
                          <a:hlinkClick r:id="rId4"/>
                        </a:rPr>
                        <a:t>グループ</a:t>
                      </a:r>
                      <a:r>
                        <a:rPr lang="en-US" altLang="ja-JP" sz="1050" dirty="0">
                          <a:hlinkClick r:id="rId4"/>
                        </a:rPr>
                        <a:t>_</a:t>
                      </a:r>
                      <a:r>
                        <a:rPr lang="ja-JP" altLang="en-US" sz="1050" dirty="0">
                          <a:hlinkClick r:id="rId4"/>
                        </a:rPr>
                        <a:t>セグメント経営における丸紅</a:t>
                      </a:r>
                      <a:r>
                        <a:rPr lang="en-US" altLang="ja-JP" sz="1050" dirty="0">
                          <a:hlinkClick r:id="rId4"/>
                        </a:rPr>
                        <a:t>Box</a:t>
                      </a:r>
                      <a:r>
                        <a:rPr lang="ja-JP" altLang="en-US" sz="1050" dirty="0">
                          <a:hlinkClick r:id="rId4"/>
                        </a:rPr>
                        <a:t>フォルダ構成について</a:t>
                      </a:r>
                      <a:r>
                        <a:rPr lang="en-US" altLang="ja-JP" sz="1050" dirty="0">
                          <a:hlinkClick r:id="rId4"/>
                        </a:rPr>
                        <a:t>.pptx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919998"/>
                  </a:ext>
                </a:extLst>
              </a:tr>
              <a:tr h="485283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M365</a:t>
                      </a:r>
                    </a:p>
                    <a:p>
                      <a:pPr marL="72000" algn="l" fontAlgn="ctr">
                        <a:buNone/>
                      </a:pPr>
                      <a:r>
                        <a:rPr lang="ja-JP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マイアカウント画面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オフィス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dirty="0">
                          <a:hlinkClick r:id="rId5"/>
                        </a:rPr>
                        <a:t>My Account</a:t>
                      </a:r>
                      <a:endParaRPr lang="en-US" sz="1050" b="0" i="0" u="sng" strike="noStrike" dirty="0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MIHXXXXX@jpn.marubeni-idigio.com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iPhone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アプリ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【Authenticator】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にて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ログイン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ログインできること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　ー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832109"/>
                  </a:ext>
                </a:extLst>
              </a:tr>
              <a:tr h="365229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OneDrive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オフィス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6"/>
                        </a:rPr>
                        <a:t>ホーム </a:t>
                      </a:r>
                      <a:r>
                        <a:rPr lang="en-US" altLang="ja-JP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6"/>
                        </a:rPr>
                        <a:t>- </a:t>
                      </a:r>
                      <a:r>
                        <a:rPr lang="en-US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6"/>
                        </a:rPr>
                        <a:t>OneDrive</a:t>
                      </a:r>
                      <a:endParaRPr lang="en-US" sz="1050" b="0" i="0" u="sng" strike="noStrike" dirty="0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MIHXXXXX@jpn.marubeni-idigio.com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自身で設定した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M-IGS ID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PW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ログインできること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　ー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812402"/>
                  </a:ext>
                </a:extLst>
              </a:tr>
              <a:tr h="645277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Okta </a:t>
                      </a:r>
                      <a:r>
                        <a:rPr lang="ja-JP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ポータルサイト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認証、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IDaas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0" i="0" u="sng" strike="noStrike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7" tooltip="https://marubeni-itsol.okta.com/"/>
                        </a:rPr>
                        <a:t>https://marubeni-itsol.okta.com</a:t>
                      </a:r>
                      <a:endParaRPr lang="en-US" sz="1050" b="0" i="0" u="sng" strike="noStrike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8"/>
                        </a:rPr>
                        <a:t>MIHXXXXX@jpn.marubeni-idigio.com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自身で設定した</a:t>
                      </a: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Okta</a:t>
                      </a: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</a:t>
                      </a: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PW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・ログインできること</a:t>
                      </a:r>
                      <a:b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・表示された各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SaaS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サービスにログインできる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ー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ONE-DIGIO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サポートセンター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Support@marubeni-idigio.com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126384"/>
                  </a:ext>
                </a:extLst>
              </a:tr>
              <a:tr h="645277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Acall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来訪者受付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dirty="0">
                          <a:hlinkClick r:id="rId9" tooltip="https://portal.workstyleos.com/login"/>
                        </a:rPr>
                        <a:t>https://portal.workstyleos.com/login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※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必要な方のみ要申請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ー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マニュアルに目を通しておく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050" dirty="0">
                          <a:hlinkClick r:id="rId10"/>
                        </a:rPr>
                        <a:t>【HD</a:t>
                      </a:r>
                      <a:r>
                        <a:rPr lang="ja-JP" altLang="en-US" sz="1050" dirty="0">
                          <a:hlinkClick r:id="rId10"/>
                        </a:rPr>
                        <a:t>オフィス統合</a:t>
                      </a:r>
                      <a:r>
                        <a:rPr lang="en-US" altLang="ja-JP" sz="1050" dirty="0">
                          <a:hlinkClick r:id="rId10"/>
                        </a:rPr>
                        <a:t>PJ】</a:t>
                      </a:r>
                      <a:r>
                        <a:rPr lang="ja-JP" altLang="en-US" sz="1050" dirty="0">
                          <a:hlinkClick r:id="rId10"/>
                        </a:rPr>
                        <a:t>受付システム</a:t>
                      </a:r>
                      <a:r>
                        <a:rPr lang="en-US" altLang="ja-JP" sz="1050" dirty="0">
                          <a:hlinkClick r:id="rId10"/>
                        </a:rPr>
                        <a:t>_</a:t>
                      </a:r>
                      <a:r>
                        <a:rPr lang="ja-JP" altLang="en-US" sz="1050" dirty="0">
                          <a:hlinkClick r:id="rId10"/>
                        </a:rPr>
                        <a:t>利用マニュアル</a:t>
                      </a:r>
                      <a:r>
                        <a:rPr lang="en-US" altLang="ja-JP" sz="1050" dirty="0">
                          <a:hlinkClick r:id="rId10"/>
                        </a:rPr>
                        <a:t>.pdf | Powered by Box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618842"/>
                  </a:ext>
                </a:extLst>
              </a:tr>
              <a:tr h="645277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sansan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名刺管理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1"/>
                        </a:rPr>
                        <a:t>(1) </a:t>
                      </a:r>
                      <a:r>
                        <a:rPr lang="en-US" sz="1050" b="0" i="0" u="sng" strike="noStrike" dirty="0" err="1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1"/>
                        </a:rPr>
                        <a:t>Sansan</a:t>
                      </a:r>
                      <a:r>
                        <a:rPr lang="en-US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1"/>
                        </a:rPr>
                        <a:t>｜</a:t>
                      </a:r>
                      <a:r>
                        <a:rPr lang="ja-JP" altLang="en-US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1"/>
                        </a:rPr>
                        <a:t>ホーム</a:t>
                      </a:r>
                      <a:endParaRPr lang="ja-JP" altLang="en-US" sz="1050" b="0" i="0" u="sng" strike="noStrike" dirty="0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Okta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でログイン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ー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ログインできること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dirty="0" err="1">
                          <a:hlinkClick r:id="rId12"/>
                        </a:rPr>
                        <a:t>Sansan</a:t>
                      </a:r>
                      <a:r>
                        <a:rPr lang="ja-JP" altLang="en-US" sz="1050" dirty="0">
                          <a:hlinkClick r:id="rId12"/>
                        </a:rPr>
                        <a:t>基本機能ガイド</a:t>
                      </a:r>
                      <a:r>
                        <a:rPr lang="en-US" altLang="ja-JP" sz="1050" dirty="0">
                          <a:hlinkClick r:id="rId12"/>
                        </a:rPr>
                        <a:t>_ver.20230613 .pdf | Powered by Box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995630"/>
                  </a:ext>
                </a:extLst>
              </a:tr>
              <a:tr h="645277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MY REDMINE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法務申請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sng" strike="noStrike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3"/>
                        </a:rPr>
                        <a:t>マイページ </a:t>
                      </a:r>
                      <a:r>
                        <a:rPr lang="en-US" altLang="ja-JP" sz="1050" b="0" i="0" u="sng" strike="noStrike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3"/>
                        </a:rPr>
                        <a:t>- </a:t>
                      </a:r>
                      <a:r>
                        <a:rPr lang="ja-JP" altLang="en-US" sz="1050" b="0" i="0" u="sng" strike="noStrike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3"/>
                        </a:rPr>
                        <a:t>丸紅</a:t>
                      </a:r>
                      <a:r>
                        <a:rPr lang="en-US" sz="1050" b="0" i="0" u="sng" strike="noStrike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3"/>
                        </a:rPr>
                        <a:t>I-DIGIO Redmine</a:t>
                      </a:r>
                      <a:endParaRPr lang="en-US" sz="1050" b="0" i="0" u="sng" strike="noStrike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050" dirty="0">
                          <a:hlinkClick r:id="rId14"/>
                        </a:rPr>
                        <a:t>【MIH</a:t>
                      </a:r>
                      <a:r>
                        <a:rPr lang="ja-JP" altLang="en-US" sz="1050" dirty="0">
                          <a:hlinkClick r:id="rId14"/>
                        </a:rPr>
                        <a:t>法務審査</a:t>
                      </a:r>
                      <a:r>
                        <a:rPr lang="en-US" altLang="ja-JP" sz="1050" dirty="0">
                          <a:hlinkClick r:id="rId14"/>
                        </a:rPr>
                        <a:t>】Redmine</a:t>
                      </a:r>
                      <a:r>
                        <a:rPr lang="ja-JP" altLang="en-US" sz="1050" dirty="0">
                          <a:hlinkClick r:id="rId14"/>
                        </a:rPr>
                        <a:t>システム利用マニュアル</a:t>
                      </a:r>
                      <a:r>
                        <a:rPr lang="en-US" altLang="ja-JP" sz="1050" dirty="0">
                          <a:hlinkClick r:id="rId14"/>
                        </a:rPr>
                        <a:t>.pptx | Powered by Box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法務審査部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495152"/>
                  </a:ext>
                </a:extLst>
              </a:tr>
              <a:tr h="485283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SmartDB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申請、お知らせ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0" i="0" u="sng" strike="noStrike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5"/>
                        </a:rPr>
                        <a:t>SmartDB</a:t>
                      </a:r>
                      <a:endParaRPr lang="en-US" sz="1050" b="0" i="0" u="sng" strike="noStrike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ja-JP" altLang="en-US" sz="1050" dirty="0">
                          <a:hlinkClick r:id="rId16"/>
                        </a:rPr>
                        <a:t>ワークフローシステム（</a:t>
                      </a:r>
                      <a:r>
                        <a:rPr lang="en-US" altLang="ja-JP" sz="1050" dirty="0" err="1">
                          <a:hlinkClick r:id="rId16"/>
                        </a:rPr>
                        <a:t>SmartDB</a:t>
                      </a:r>
                      <a:r>
                        <a:rPr lang="ja-JP" altLang="en-US" sz="1050" dirty="0">
                          <a:hlinkClick r:id="rId16"/>
                        </a:rPr>
                        <a:t>）利用マニュアル</a:t>
                      </a:r>
                      <a:r>
                        <a:rPr lang="en-US" altLang="ja-JP" sz="1050" dirty="0">
                          <a:hlinkClick r:id="rId16"/>
                        </a:rPr>
                        <a:t>.pptx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情報企画部</a:t>
                      </a:r>
                      <a:b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【</a:t>
                      </a:r>
                      <a:r>
                        <a:rPr lang="en-US" altLang="ja-JP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SmartDB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】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各種問合わせ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574277"/>
                  </a:ext>
                </a:extLst>
              </a:tr>
              <a:tr h="508986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SAP Concur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経費精算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sng" strike="noStrike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7"/>
                        </a:rPr>
                        <a:t>ホーム</a:t>
                      </a:r>
                      <a:endParaRPr lang="ja-JP" altLang="en-US" sz="1050" b="0" i="0" u="sng" strike="noStrike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050" dirty="0">
                          <a:hlinkClick r:id="rId18"/>
                        </a:rPr>
                        <a:t>(6) </a:t>
                      </a:r>
                      <a:r>
                        <a:rPr lang="ja-JP" altLang="en-US" sz="1050" dirty="0">
                          <a:hlinkClick r:id="rId18"/>
                        </a:rPr>
                        <a:t>マニュアル </a:t>
                      </a:r>
                      <a:r>
                        <a:rPr lang="en-US" altLang="ja-JP" sz="1050" dirty="0">
                          <a:hlinkClick r:id="rId18"/>
                        </a:rPr>
                        <a:t>| Powered by Box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810880"/>
                  </a:ext>
                </a:extLst>
              </a:tr>
            </a:tbl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3A92238-E14D-89BB-D007-5F5452513EEB}"/>
              </a:ext>
            </a:extLst>
          </p:cNvPr>
          <p:cNvSpPr txBox="1"/>
          <p:nvPr/>
        </p:nvSpPr>
        <p:spPr>
          <a:xfrm>
            <a:off x="359792" y="136918"/>
            <a:ext cx="2884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200" dirty="0"/>
              <a:t>PC</a:t>
            </a:r>
            <a:r>
              <a:rPr kumimoji="1" lang="ja-JP" altLang="en-US" sz="1200" dirty="0"/>
              <a:t>よりログイン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83BC1E8-943C-A5A0-384E-F079EB51EAF3}"/>
              </a:ext>
            </a:extLst>
          </p:cNvPr>
          <p:cNvSpPr txBox="1"/>
          <p:nvPr/>
        </p:nvSpPr>
        <p:spPr>
          <a:xfrm>
            <a:off x="4137285" y="60847"/>
            <a:ext cx="77994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ja-JP" altLang="en-US" sz="1800" b="0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★各種サービスについて、</a:t>
            </a:r>
            <a:r>
              <a:rPr lang="en-US" altLang="ja-JP" sz="1800" b="0" i="0" u="none" strike="noStrike" dirty="0" err="1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SmartDB</a:t>
            </a:r>
            <a:r>
              <a:rPr lang="ja-JP" altLang="en-US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lang="ja-JP" altLang="en-US" sz="1800" b="0" i="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各種問合わせ」を使用することも可能です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68262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B4D7AAB9-0787-E969-D9CB-626F2BED9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412136"/>
              </p:ext>
            </p:extLst>
          </p:nvPr>
        </p:nvGraphicFramePr>
        <p:xfrm>
          <a:off x="182880" y="86795"/>
          <a:ext cx="11826240" cy="6547960"/>
        </p:xfrm>
        <a:graphic>
          <a:graphicData uri="http://schemas.openxmlformats.org/drawingml/2006/table">
            <a:tbl>
              <a:tblPr/>
              <a:tblGrid>
                <a:gridCol w="1557297">
                  <a:extLst>
                    <a:ext uri="{9D8B030D-6E8A-4147-A177-3AD203B41FA5}">
                      <a16:colId xmlns:a16="http://schemas.microsoft.com/office/drawing/2014/main" val="1057603206"/>
                    </a:ext>
                  </a:extLst>
                </a:gridCol>
                <a:gridCol w="1356314">
                  <a:extLst>
                    <a:ext uri="{9D8B030D-6E8A-4147-A177-3AD203B41FA5}">
                      <a16:colId xmlns:a16="http://schemas.microsoft.com/office/drawing/2014/main" val="1768717063"/>
                    </a:ext>
                  </a:extLst>
                </a:gridCol>
                <a:gridCol w="1554352">
                  <a:extLst>
                    <a:ext uri="{9D8B030D-6E8A-4147-A177-3AD203B41FA5}">
                      <a16:colId xmlns:a16="http://schemas.microsoft.com/office/drawing/2014/main" val="3821494813"/>
                    </a:ext>
                  </a:extLst>
                </a:gridCol>
                <a:gridCol w="1761225">
                  <a:extLst>
                    <a:ext uri="{9D8B030D-6E8A-4147-A177-3AD203B41FA5}">
                      <a16:colId xmlns:a16="http://schemas.microsoft.com/office/drawing/2014/main" val="2349629345"/>
                    </a:ext>
                  </a:extLst>
                </a:gridCol>
                <a:gridCol w="1245518">
                  <a:extLst>
                    <a:ext uri="{9D8B030D-6E8A-4147-A177-3AD203B41FA5}">
                      <a16:colId xmlns:a16="http://schemas.microsoft.com/office/drawing/2014/main" val="1179301096"/>
                    </a:ext>
                  </a:extLst>
                </a:gridCol>
                <a:gridCol w="1236940">
                  <a:extLst>
                    <a:ext uri="{9D8B030D-6E8A-4147-A177-3AD203B41FA5}">
                      <a16:colId xmlns:a16="http://schemas.microsoft.com/office/drawing/2014/main" val="204359202"/>
                    </a:ext>
                  </a:extLst>
                </a:gridCol>
                <a:gridCol w="1320629">
                  <a:extLst>
                    <a:ext uri="{9D8B030D-6E8A-4147-A177-3AD203B41FA5}">
                      <a16:colId xmlns:a16="http://schemas.microsoft.com/office/drawing/2014/main" val="829841960"/>
                    </a:ext>
                  </a:extLst>
                </a:gridCol>
                <a:gridCol w="1793965">
                  <a:extLst>
                    <a:ext uri="{9D8B030D-6E8A-4147-A177-3AD203B41FA5}">
                      <a16:colId xmlns:a16="http://schemas.microsoft.com/office/drawing/2014/main" val="2961775838"/>
                    </a:ext>
                  </a:extLst>
                </a:gridCol>
              </a:tblGrid>
              <a:tr h="166976"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サービス</a:t>
                      </a: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用途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URL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ID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初期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PW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完了条件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マニュアルの所在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問い合わせ先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409861"/>
                  </a:ext>
                </a:extLst>
              </a:tr>
              <a:tr h="416440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TeamSpirit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EX</a:t>
                      </a:r>
                    </a:p>
                  </a:txBody>
                  <a:tcPr marL="5300" marR="5300" marT="530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勤怠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sng" strike="noStrike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/>
                        </a:rPr>
                        <a:t>ホーム </a:t>
                      </a:r>
                      <a:r>
                        <a:rPr lang="en-US" altLang="ja-JP" sz="1050" b="0" i="0" u="sng" strike="noStrike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/>
                        </a:rPr>
                        <a:t>| </a:t>
                      </a:r>
                      <a:r>
                        <a:rPr lang="en-US" sz="1050" b="0" i="0" u="sng" strike="noStrike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/>
                        </a:rPr>
                        <a:t>Salesforce</a:t>
                      </a:r>
                      <a:endParaRPr lang="en-US" sz="1050" b="0" i="0" u="sng" strike="noStrike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Okta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でログイン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ー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打刻できること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/>
                        </a:rPr>
                        <a:t>TeamSpirit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/>
                        </a:rPr>
                        <a:t> EX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/>
                        </a:rPr>
                        <a:t>ユーザマニュアル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人事部</a:t>
                      </a:r>
                      <a:b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【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SmartDB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】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各種問合わせ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709354"/>
                  </a:ext>
                </a:extLst>
              </a:tr>
              <a:tr h="1165846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Talent Palette</a:t>
                      </a: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スキル、目標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4"/>
                        </a:rPr>
                        <a:t>Talent Palette</a:t>
                      </a:r>
                      <a:endParaRPr lang="en-US" sz="1050" b="0" i="0" u="sng" strike="noStrike" dirty="0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・社員番号を確認する</a:t>
                      </a:r>
                      <a:b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・顔写真　更新</a:t>
                      </a:r>
                      <a:b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・プロフィール　更新</a:t>
                      </a:r>
                      <a:b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・緊急連絡先　　メンバ属性（会社用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/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私用）</a:t>
                      </a:r>
                      <a:b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・家族連絡先　　リンク属性</a:t>
                      </a:r>
                      <a:b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・ミッション　　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【MIH】2025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年度目標・評価シート（期中異動者用）がプルダウンに表示されていることを確認する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5"/>
                        </a:rPr>
                        <a:t>010_</a:t>
                      </a:r>
                      <a:r>
                        <a:rPr lang="ja-JP" altLang="en-US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5"/>
                        </a:rPr>
                        <a:t>タレントパレット</a:t>
                      </a:r>
                      <a:r>
                        <a:rPr lang="en-US" altLang="ja-JP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5"/>
                        </a:rPr>
                        <a:t>_</a:t>
                      </a:r>
                      <a:r>
                        <a:rPr lang="ja-JP" altLang="en-US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5"/>
                        </a:rPr>
                        <a:t>スタートガイド</a:t>
                      </a:r>
                      <a:r>
                        <a:rPr lang="en-US" altLang="ja-JP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5"/>
                        </a:rPr>
                        <a:t>_202504.pdf | Powered by Box</a:t>
                      </a:r>
                      <a:endParaRPr lang="ja-JP" altLang="en-US" sz="1050" b="0" i="0" u="sng" strike="noStrike" dirty="0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787223"/>
                  </a:ext>
                </a:extLst>
              </a:tr>
              <a:tr h="1165846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Obic7</a:t>
                      </a: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給与明細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72000" algn="l" fontAlgn="ctr">
                        <a:buNone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※MIH/MSYS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で利用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6" tooltip="https://hrone-www.obic7.obicnet.ne.jp/cmm250/top.html"/>
                        </a:rPr>
                        <a:t>WAVE-</a:t>
                      </a:r>
                      <a:r>
                        <a:rPr lang="ja-JP" altLang="en-US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6" tooltip="https://hrone-www.obic7.obicnet.ne.jp/cmm250/top.html"/>
                        </a:rPr>
                        <a:t>従業員ポータルサービス</a:t>
                      </a:r>
                      <a:endParaRPr lang="ja-JP" altLang="en-US" sz="1050" b="0" i="0" u="sng" strike="noStrike" dirty="0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MIHXXXXX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生年月日</a:t>
                      </a:r>
                      <a:b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</a:t>
                      </a:r>
                      <a:r>
                        <a:rPr lang="en-US" altLang="ja-JP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yyyymmdd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）　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・アクセスできること</a:t>
                      </a:r>
                      <a:b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・登録口座が正しいことを確認する</a:t>
                      </a:r>
                      <a:b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【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手順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】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振込口座申請を選択、変更申請画面より、現在の登録情報を確認する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05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7"/>
                        </a:rPr>
                        <a:t>HRone</a:t>
                      </a:r>
                      <a:r>
                        <a:rPr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7"/>
                        </a:rPr>
                        <a:t>：</a:t>
                      </a:r>
                      <a:r>
                        <a:rPr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7"/>
                        </a:rPr>
                        <a:t>OBIC7</a:t>
                      </a:r>
                      <a:r>
                        <a:rPr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7"/>
                        </a:rPr>
                        <a:t>（従業員ポータル）マニュアル </a:t>
                      </a:r>
                      <a:r>
                        <a:rPr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7"/>
                        </a:rPr>
                        <a:t>| Powered by Box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3941"/>
                  </a:ext>
                </a:extLst>
              </a:tr>
              <a:tr h="328857">
                <a:tc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PHONE APPLI</a:t>
                      </a: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電話帳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dirty="0">
                          <a:hlinkClick r:id="rId8"/>
                        </a:rPr>
                        <a:t>PHONE APPLI</a:t>
                      </a:r>
                      <a:endParaRPr lang="ja-JP" altLang="en-US" sz="1050" b="0" i="0" u="sng" strike="noStrike" dirty="0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オフィスリンク＋と同様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オフィスリンク＋と同様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・ログインができること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9"/>
                        </a:rPr>
                        <a:t>マニュアル </a:t>
                      </a:r>
                      <a:r>
                        <a:rPr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9"/>
                        </a:rPr>
                        <a:t>| Powered by Box</a:t>
                      </a:r>
                      <a:endParaRPr lang="ja-JP" altLang="en-US" sz="1050" b="0" i="0" u="sng" strike="noStrike" dirty="0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【</a:t>
                      </a:r>
                      <a:r>
                        <a:rPr lang="en-US" altLang="ja-JP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SmartDB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】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各種問合わせ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337966"/>
                  </a:ext>
                </a:extLst>
              </a:tr>
              <a:tr h="435504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corezo</a:t>
                      </a:r>
                      <a:r>
                        <a:rPr lang="ja-JP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（コレッソ）</a:t>
                      </a: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名刺発注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0"/>
                        </a:rPr>
                        <a:t>NAMEROOM</a:t>
                      </a:r>
                      <a:r>
                        <a:rPr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0"/>
                        </a:rPr>
                        <a:t>（ネイムルーム）発注管理ダッシュボード</a:t>
                      </a:r>
                      <a:endParaRPr lang="ja-JP" altLang="en-US" sz="1050" b="0" i="0" u="sng" strike="noStrike" dirty="0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/>
                      <a:r>
                        <a:rPr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企業コード：</a:t>
                      </a:r>
                      <a:r>
                        <a:rPr lang="en-US" altLang="ja-JP" sz="105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mint</a:t>
                      </a:r>
                      <a:r>
                        <a:rPr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  <a:p>
                      <a:pPr marL="72000" algn="l"/>
                      <a:r>
                        <a:rPr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ユーザー</a:t>
                      </a:r>
                      <a:r>
                        <a:rPr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ID</a:t>
                      </a:r>
                      <a:r>
                        <a:rPr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：社員番号　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社員番号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・名刺作成を依頼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1"/>
                        </a:rPr>
                        <a:t>名刺作成マニュアル</a:t>
                      </a:r>
                      <a:endParaRPr lang="ja-JP" altLang="en-US" sz="1050" b="0" i="0" u="sng" strike="noStrike" dirty="0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474778"/>
                  </a:ext>
                </a:extLst>
              </a:tr>
              <a:tr h="1138263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安否確認システム</a:t>
                      </a: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安否確認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0" i="0" u="sng" strike="noStrike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2"/>
                        </a:rPr>
                        <a:t>https://www.e-kakushin.com/login/</a:t>
                      </a:r>
                      <a:endParaRPr lang="en-US" sz="1050" b="0" i="0" u="sng" strike="noStrike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企業コード　　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20230403</a:t>
                      </a:r>
                      <a:b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ユーザ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ID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会社コード（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桁）＋原籍の社員番号（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桁）になるように左に０をつける</a:t>
                      </a:r>
                      <a:b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MIH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＋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＋社員番号の末尾数字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桁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生年月日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桁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※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初期登録マニュアルに従う</a:t>
                      </a:r>
                      <a:b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・初回ログイン後、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PW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変更</a:t>
                      </a:r>
                      <a:b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・アカウント管理から本人情報の変更</a:t>
                      </a:r>
                      <a:b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・メールの受信確認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3"/>
                        </a:rPr>
                        <a:t>①</a:t>
                      </a:r>
                      <a:r>
                        <a:rPr lang="en-US" altLang="ja-JP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3"/>
                        </a:rPr>
                        <a:t>【MIH】</a:t>
                      </a:r>
                      <a:r>
                        <a:rPr lang="ja-JP" altLang="en-US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3"/>
                        </a:rPr>
                        <a:t>安否確認サービス・利用ユーザー初期登録マニュアル</a:t>
                      </a:r>
                      <a:r>
                        <a:rPr lang="en-US" altLang="ja-JP" sz="1050" b="0" i="0" u="sng" strike="noStrike" dirty="0">
                          <a:solidFill>
                            <a:srgbClr val="46788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3"/>
                        </a:rPr>
                        <a:t>.pdf | Powered by Box</a:t>
                      </a:r>
                      <a:endParaRPr lang="ja-JP" altLang="en-US" sz="1050" b="0" i="0" u="sng" strike="noStrike" dirty="0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087019"/>
                  </a:ext>
                </a:extLst>
              </a:tr>
              <a:tr h="490738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RELO</a:t>
                      </a:r>
                      <a:r>
                        <a:rPr lang="ja-JP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CLUB</a:t>
                      </a:r>
                      <a:endParaRPr lang="ja-JP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福利厚生</a:t>
                      </a: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4"/>
                        </a:rPr>
                        <a:t>福利厚生倶楽部（ふくりこうせいくらぶ）－会員専用ページ－</a:t>
                      </a:r>
                      <a:endParaRPr lang="en-US" sz="1050" b="0" i="0" u="sng" strike="noStrike" dirty="0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初回：社用メールアドレス</a:t>
                      </a:r>
                      <a:b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次回以降：数字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11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桁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ハイフン無し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生年月日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桁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・初回ログイン後、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PW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変更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5"/>
                        </a:rPr>
                        <a:t>⑤</a:t>
                      </a:r>
                      <a:r>
                        <a:rPr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5"/>
                        </a:rPr>
                        <a:t>【</a:t>
                      </a:r>
                      <a:r>
                        <a:rPr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5"/>
                        </a:rPr>
                        <a:t>福利厚生倶楽部</a:t>
                      </a:r>
                      <a:r>
                        <a:rPr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5"/>
                        </a:rPr>
                        <a:t>】</a:t>
                      </a:r>
                      <a:r>
                        <a:rPr lang="ja-JP" altLang="en-US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5"/>
                        </a:rPr>
                        <a:t>説明会資料</a:t>
                      </a:r>
                      <a:r>
                        <a:rPr lang="en-US" altLang="ja-JP" sz="105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15"/>
                        </a:rPr>
                        <a:t>.pdf | Powered by Box</a:t>
                      </a:r>
                      <a:endParaRPr lang="ja-JP" altLang="en-US" sz="1050" b="0" i="0" u="sng" strike="noStrike" dirty="0">
                        <a:solidFill>
                          <a:srgbClr val="46788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036" marR="5036" marT="5036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776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9644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19D0568-63B6-EFE3-8384-BA7EC5ABBCAC}"/>
              </a:ext>
            </a:extLst>
          </p:cNvPr>
          <p:cNvSpPr txBox="1"/>
          <p:nvPr/>
        </p:nvSpPr>
        <p:spPr>
          <a:xfrm>
            <a:off x="359792" y="194974"/>
            <a:ext cx="2884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ja-JP" altLang="en-US" sz="1200" dirty="0"/>
              <a:t>スマホ</a:t>
            </a:r>
            <a:r>
              <a:rPr kumimoji="1" lang="ja-JP" altLang="en-US" sz="1200" dirty="0"/>
              <a:t>よりログイン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99E952D8-B2F5-0133-B841-ABE678CF0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92618"/>
              </p:ext>
            </p:extLst>
          </p:nvPr>
        </p:nvGraphicFramePr>
        <p:xfrm>
          <a:off x="451700" y="471973"/>
          <a:ext cx="11232296" cy="4707604"/>
        </p:xfrm>
        <a:graphic>
          <a:graphicData uri="http://schemas.openxmlformats.org/drawingml/2006/table">
            <a:tbl>
              <a:tblPr/>
              <a:tblGrid>
                <a:gridCol w="1404037">
                  <a:extLst>
                    <a:ext uri="{9D8B030D-6E8A-4147-A177-3AD203B41FA5}">
                      <a16:colId xmlns:a16="http://schemas.microsoft.com/office/drawing/2014/main" val="1869604225"/>
                    </a:ext>
                  </a:extLst>
                </a:gridCol>
                <a:gridCol w="1404037">
                  <a:extLst>
                    <a:ext uri="{9D8B030D-6E8A-4147-A177-3AD203B41FA5}">
                      <a16:colId xmlns:a16="http://schemas.microsoft.com/office/drawing/2014/main" val="1532146205"/>
                    </a:ext>
                  </a:extLst>
                </a:gridCol>
                <a:gridCol w="1404037">
                  <a:extLst>
                    <a:ext uri="{9D8B030D-6E8A-4147-A177-3AD203B41FA5}">
                      <a16:colId xmlns:a16="http://schemas.microsoft.com/office/drawing/2014/main" val="211016127"/>
                    </a:ext>
                  </a:extLst>
                </a:gridCol>
                <a:gridCol w="1404037">
                  <a:extLst>
                    <a:ext uri="{9D8B030D-6E8A-4147-A177-3AD203B41FA5}">
                      <a16:colId xmlns:a16="http://schemas.microsoft.com/office/drawing/2014/main" val="1025637645"/>
                    </a:ext>
                  </a:extLst>
                </a:gridCol>
                <a:gridCol w="1404037">
                  <a:extLst>
                    <a:ext uri="{9D8B030D-6E8A-4147-A177-3AD203B41FA5}">
                      <a16:colId xmlns:a16="http://schemas.microsoft.com/office/drawing/2014/main" val="2773423546"/>
                    </a:ext>
                  </a:extLst>
                </a:gridCol>
                <a:gridCol w="1404037">
                  <a:extLst>
                    <a:ext uri="{9D8B030D-6E8A-4147-A177-3AD203B41FA5}">
                      <a16:colId xmlns:a16="http://schemas.microsoft.com/office/drawing/2014/main" val="3435225467"/>
                    </a:ext>
                  </a:extLst>
                </a:gridCol>
                <a:gridCol w="1404037">
                  <a:extLst>
                    <a:ext uri="{9D8B030D-6E8A-4147-A177-3AD203B41FA5}">
                      <a16:colId xmlns:a16="http://schemas.microsoft.com/office/drawing/2014/main" val="1609276045"/>
                    </a:ext>
                  </a:extLst>
                </a:gridCol>
                <a:gridCol w="1404037">
                  <a:extLst>
                    <a:ext uri="{9D8B030D-6E8A-4147-A177-3AD203B41FA5}">
                      <a16:colId xmlns:a16="http://schemas.microsoft.com/office/drawing/2014/main" val="2884682118"/>
                    </a:ext>
                  </a:extLst>
                </a:gridCol>
              </a:tblGrid>
              <a:tr h="203173"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サービス</a:t>
                      </a:r>
                    </a:p>
                  </a:txBody>
                  <a:tcPr marL="5300" marR="5300" marT="530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用途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URL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ID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初期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PW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完了条件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マニュアルの所在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問い合わせ先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37934"/>
                  </a:ext>
                </a:extLst>
              </a:tr>
              <a:tr h="1236781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beacapp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HERE</a:t>
                      </a:r>
                    </a:p>
                  </a:txBody>
                  <a:tcPr marL="5300" marR="5300" marT="530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在席情報を確認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ー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・企業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CODE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：</a:t>
                      </a:r>
                      <a:r>
                        <a:rPr lang="en-US" altLang="ja-JP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marubeni-idigio</a:t>
                      </a:r>
                      <a:b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User ID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：自身の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M-IGS ID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zdCh3VHdAA5Q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・アクセスできる</a:t>
                      </a:r>
                      <a:b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HOME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左上の人型ボタンから、自身の顔社員をアップする（他の社員から見て顔と名前が一致するよう「自身の顔写真」を使用してください。）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050" dirty="0">
                          <a:hlinkClick r:id="rId2"/>
                        </a:rPr>
                        <a:t>【HD</a:t>
                      </a:r>
                      <a:r>
                        <a:rPr lang="ja-JP" altLang="en-US" sz="1050" dirty="0">
                          <a:hlinkClick r:id="rId2"/>
                        </a:rPr>
                        <a:t>オフィス統合</a:t>
                      </a:r>
                      <a:r>
                        <a:rPr lang="en-US" altLang="ja-JP" sz="1050" dirty="0" err="1">
                          <a:hlinkClick r:id="rId2"/>
                        </a:rPr>
                        <a:t>PJ】Beacapp</a:t>
                      </a:r>
                      <a:r>
                        <a:rPr lang="en-US" altLang="ja-JP" sz="1050" dirty="0">
                          <a:hlinkClick r:id="rId2"/>
                        </a:rPr>
                        <a:t> Here</a:t>
                      </a:r>
                      <a:r>
                        <a:rPr lang="ja-JP" altLang="en-US" sz="1050" dirty="0">
                          <a:hlinkClick r:id="rId2"/>
                        </a:rPr>
                        <a:t>利用マニュアル</a:t>
                      </a:r>
                      <a:r>
                        <a:rPr lang="en-US" altLang="ja-JP" sz="1050" dirty="0">
                          <a:hlinkClick r:id="rId2"/>
                        </a:rPr>
                        <a:t>_iPhone</a:t>
                      </a:r>
                      <a:r>
                        <a:rPr lang="ja-JP" altLang="en-US" sz="1050" dirty="0">
                          <a:hlinkClick r:id="rId2"/>
                        </a:rPr>
                        <a:t>での利用編</a:t>
                      </a:r>
                      <a:r>
                        <a:rPr lang="en-US" altLang="ja-JP" sz="1050" dirty="0">
                          <a:hlinkClick r:id="rId2"/>
                        </a:rPr>
                        <a:t>.pdf | Powered by Box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ONE-DIGIO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サポートセンター　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Support@marubeni-idigio.com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088666"/>
                  </a:ext>
                </a:extLst>
              </a:tr>
              <a:tr h="686130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オフィスリンク＋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社内電話帳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ー　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[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携帯番号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]</a:t>
                      </a:r>
                    </a:p>
                    <a:p>
                      <a:pPr marL="72000" algn="l" fontAlgn="ctr">
                        <a:buNone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@marubeni-idigio.com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[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携帯番号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]@Mih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ユーザー情報を確認して問題がない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/>
                        </a:rPr>
                        <a:t>iPhone</a:t>
                      </a: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/>
                        </a:rPr>
                        <a:t>向けクラウド電話帳</a:t>
                      </a: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/>
                        </a:rPr>
                        <a:t>_</a:t>
                      </a: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/>
                        </a:rPr>
                        <a:t>導入・利用説明書</a:t>
                      </a: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/>
                        </a:rPr>
                        <a:t>_2025</a:t>
                      </a: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/>
                        </a:rPr>
                        <a:t>年</a:t>
                      </a: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/>
                        </a:rPr>
                        <a:t>7</a:t>
                      </a:r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/>
                        </a:rPr>
                        <a:t>月以降</a:t>
                      </a: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/>
                        </a:rPr>
                        <a:t>.pdf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934971"/>
                  </a:ext>
                </a:extLst>
              </a:tr>
              <a:tr h="351744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sansan</a:t>
                      </a:r>
                      <a:endParaRPr lang="ja-JP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名刺管理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ー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Okta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でログイン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ー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ログインできる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4"/>
                        </a:rPr>
                        <a:t>https://marubeni.box.com/s/jvhldpur1y5rauwfsk17schoqziih7cp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949339"/>
                  </a:ext>
                </a:extLst>
              </a:tr>
              <a:tr h="351744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Okta Verify</a:t>
                      </a:r>
                    </a:p>
                  </a:txBody>
                  <a:tcPr marL="5300" marR="5300" marT="530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dirty="0"/>
                        <a:t>MIH</a:t>
                      </a:r>
                      <a:r>
                        <a:rPr lang="ja-JP" altLang="en-US" sz="1050" dirty="0"/>
                        <a:t>共通システム向け多要素認証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dirty="0">
                          <a:hlinkClick r:id="rId5"/>
                        </a:rPr>
                        <a:t>https://marubeni-itsol.okta.com/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MIHXXXXX@jpn.marubeni-idigio.com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自身で設定した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M-IGS ID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PW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kern="0" dirty="0"/>
                        <a:t>marubeni-itsol.okta.com</a:t>
                      </a:r>
                      <a:r>
                        <a:rPr lang="ja-JP" altLang="en-US" sz="1050" kern="0" dirty="0"/>
                        <a:t> の </a:t>
                      </a:r>
                      <a:r>
                        <a:rPr lang="en-US" altLang="ja-JP" sz="1050" kern="0" dirty="0"/>
                        <a:t>M-IGS ID</a:t>
                      </a:r>
                      <a:r>
                        <a:rPr lang="ja-JP" altLang="en-US" sz="1050" kern="0" dirty="0"/>
                        <a:t>が追加されている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6"/>
                        </a:rPr>
                        <a:t>https://marubeni.box.com/s/zu8fynoakkasj9h82qka4xepqunywc6j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505113"/>
                  </a:ext>
                </a:extLst>
              </a:tr>
              <a:tr h="351744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Authenticator</a:t>
                      </a:r>
                    </a:p>
                  </a:txBody>
                  <a:tcPr marL="5300" marR="5300" marT="530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dirty="0"/>
                        <a:t>M-IGS</a:t>
                      </a:r>
                      <a:r>
                        <a:rPr lang="ja-JP" altLang="en-US" sz="1050" dirty="0"/>
                        <a:t>システム向け多要素認証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ー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アカウントが登録されている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7"/>
                        </a:rPr>
                        <a:t>https://marubeni.box.com/s/nsduw3zzm3meikmzxzc9keaxko17fh01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067977"/>
                  </a:ext>
                </a:extLst>
              </a:tr>
              <a:tr h="351744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Teams</a:t>
                      </a:r>
                    </a:p>
                  </a:txBody>
                  <a:tcPr marL="5300" marR="5300" marT="530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チャットツール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ー　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Teams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トップ画面が表示されている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dirty="0">
                          <a:hlinkClick r:id="rId8"/>
                        </a:rPr>
                        <a:t>OLD_</a:t>
                      </a:r>
                      <a:r>
                        <a:rPr lang="ja-JP" altLang="en-US" sz="1050" dirty="0">
                          <a:hlinkClick r:id="rId8"/>
                        </a:rPr>
                        <a:t>会社貸与</a:t>
                      </a:r>
                      <a:r>
                        <a:rPr lang="en-US" altLang="ja-JP" sz="1050" dirty="0">
                          <a:hlinkClick r:id="rId8"/>
                        </a:rPr>
                        <a:t>iPhone</a:t>
                      </a:r>
                      <a:r>
                        <a:rPr lang="ja-JP" altLang="en-US" sz="1050" dirty="0">
                          <a:hlinkClick r:id="rId8"/>
                        </a:rPr>
                        <a:t>初期設定マニュアル</a:t>
                      </a:r>
                      <a:r>
                        <a:rPr lang="en-US" altLang="ja-JP" sz="1050" dirty="0">
                          <a:hlinkClick r:id="rId8"/>
                        </a:rPr>
                        <a:t>.pdf | Powered by Box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【</a:t>
                      </a:r>
                      <a:r>
                        <a:rPr lang="en-US" altLang="ja-JP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SmartDB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】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各種問合わせ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168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2061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0058C246-2A22-01E5-0721-E8E33006E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668154"/>
              </p:ext>
            </p:extLst>
          </p:nvPr>
        </p:nvGraphicFramePr>
        <p:xfrm>
          <a:off x="451700" y="676023"/>
          <a:ext cx="11232296" cy="4106640"/>
        </p:xfrm>
        <a:graphic>
          <a:graphicData uri="http://schemas.openxmlformats.org/drawingml/2006/table">
            <a:tbl>
              <a:tblPr/>
              <a:tblGrid>
                <a:gridCol w="1404037">
                  <a:extLst>
                    <a:ext uri="{9D8B030D-6E8A-4147-A177-3AD203B41FA5}">
                      <a16:colId xmlns:a16="http://schemas.microsoft.com/office/drawing/2014/main" val="2082784867"/>
                    </a:ext>
                  </a:extLst>
                </a:gridCol>
                <a:gridCol w="1404037">
                  <a:extLst>
                    <a:ext uri="{9D8B030D-6E8A-4147-A177-3AD203B41FA5}">
                      <a16:colId xmlns:a16="http://schemas.microsoft.com/office/drawing/2014/main" val="2249483558"/>
                    </a:ext>
                  </a:extLst>
                </a:gridCol>
                <a:gridCol w="1404037">
                  <a:extLst>
                    <a:ext uri="{9D8B030D-6E8A-4147-A177-3AD203B41FA5}">
                      <a16:colId xmlns:a16="http://schemas.microsoft.com/office/drawing/2014/main" val="3056944549"/>
                    </a:ext>
                  </a:extLst>
                </a:gridCol>
                <a:gridCol w="1404037">
                  <a:extLst>
                    <a:ext uri="{9D8B030D-6E8A-4147-A177-3AD203B41FA5}">
                      <a16:colId xmlns:a16="http://schemas.microsoft.com/office/drawing/2014/main" val="54372290"/>
                    </a:ext>
                  </a:extLst>
                </a:gridCol>
                <a:gridCol w="1404037">
                  <a:extLst>
                    <a:ext uri="{9D8B030D-6E8A-4147-A177-3AD203B41FA5}">
                      <a16:colId xmlns:a16="http://schemas.microsoft.com/office/drawing/2014/main" val="1923227464"/>
                    </a:ext>
                  </a:extLst>
                </a:gridCol>
                <a:gridCol w="1404037">
                  <a:extLst>
                    <a:ext uri="{9D8B030D-6E8A-4147-A177-3AD203B41FA5}">
                      <a16:colId xmlns:a16="http://schemas.microsoft.com/office/drawing/2014/main" val="2046780940"/>
                    </a:ext>
                  </a:extLst>
                </a:gridCol>
                <a:gridCol w="1404037">
                  <a:extLst>
                    <a:ext uri="{9D8B030D-6E8A-4147-A177-3AD203B41FA5}">
                      <a16:colId xmlns:a16="http://schemas.microsoft.com/office/drawing/2014/main" val="4099789131"/>
                    </a:ext>
                  </a:extLst>
                </a:gridCol>
                <a:gridCol w="1404037">
                  <a:extLst>
                    <a:ext uri="{9D8B030D-6E8A-4147-A177-3AD203B41FA5}">
                      <a16:colId xmlns:a16="http://schemas.microsoft.com/office/drawing/2014/main" val="3656602236"/>
                    </a:ext>
                  </a:extLst>
                </a:gridCol>
              </a:tblGrid>
              <a:tr h="230344"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サービス</a:t>
                      </a:r>
                    </a:p>
                  </a:txBody>
                  <a:tcPr marL="5300" marR="5300" marT="530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用途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URL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ID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初期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PW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完了条件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マニュアルの所在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問い合わせ先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678898"/>
                  </a:ext>
                </a:extLst>
              </a:tr>
              <a:tr h="817745">
                <a:tc rowSpan="2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複合機</a:t>
                      </a:r>
                    </a:p>
                  </a:txBody>
                  <a:tcPr marL="6057" marR="6057" marT="605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印刷</a:t>
                      </a: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7200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ー</a:t>
                      </a: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7200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ー</a:t>
                      </a: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7200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ー</a:t>
                      </a: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・ドライバのインストールが完了している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/>
                        </a:rPr>
                        <a:t>飯田橋オフィス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/>
                        </a:rPr>
                        <a:t>_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/>
                        </a:rPr>
                        <a:t>ドライバインストール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/>
                        </a:rPr>
                        <a:t>_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/>
                        </a:rPr>
                        <a:t>マニュアル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・入館証情報：</a:t>
                      </a:r>
                      <a:r>
                        <a:rPr lang="en-US" altLang="ja-JP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BS</a:t>
                      </a:r>
                    </a:p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・コピー用紙がないなど：総務</a:t>
                      </a:r>
                      <a:endParaRPr lang="en-US" altLang="ja-JP" sz="1050" b="0" i="0" u="none" strike="noStrike" dirty="0">
                        <a:solidFill>
                          <a:schemeClr val="tx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・その他：コニカミノルタ（総務と連携する）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081039"/>
                  </a:ext>
                </a:extLst>
              </a:tr>
              <a:tr h="490647">
                <a:tc vMerge="1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057" marR="6057" marT="605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・入館証をかざしログインできる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・印刷やコピーが使用可能</a:t>
                      </a:r>
                    </a:p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/>
                        </a:rPr>
                        <a:t>複合機利用者マニュアル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18330"/>
                  </a:ext>
                </a:extLst>
              </a:tr>
              <a:tr h="1146575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Cloudrive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057" marR="6057" marT="605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エクスプローラー上でも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Box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が使用可能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ー</a:t>
                      </a: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MIHXXXXX@jpn.marubeni-idigio.com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自身で設定した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M-IGS ID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PW</a:t>
                      </a: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・エクスプローラー上でフォルダが見えること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【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個人フォルダ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】#X_MIH00000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MIGS-ID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）　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【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手順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】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アプリを開いて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Box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個人フォルダをマウントする→エクスプローラで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Box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が使えるようになる</a:t>
                      </a: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4"/>
                        </a:rPr>
                        <a:t>https://marubeni.box.com/s/w8lbjyyihdtpoh955t21bj2nwhjv7yhk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【</a:t>
                      </a:r>
                      <a:r>
                        <a:rPr lang="en-US" altLang="ja-JP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SmartDB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】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各種問合わせ　</a:t>
                      </a:r>
                    </a:p>
                    <a:p>
                      <a:pPr marL="72000" algn="l" fontAlgn="ctr">
                        <a:buNone/>
                      </a:pP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424568"/>
                  </a:ext>
                </a:extLst>
              </a:tr>
              <a:tr h="490647"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添付ブロッカー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057" marR="6057" marT="605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メールに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Box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リンクを貼付してファイル送付する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ー</a:t>
                      </a: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00" marR="5300" marT="530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初期設定済みの為、マニュアルに目を通しておく</a:t>
                      </a: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5"/>
                        </a:rPr>
                        <a:t>https://marubeni.box.com/s/6d7sb19a30km0z3vs1u63dhmq8inwxlp</a:t>
                      </a: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057" marR="6057" marT="6057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100637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E7DF5E-2143-4CA8-F74C-0CCC4322D8F8}"/>
              </a:ext>
            </a:extLst>
          </p:cNvPr>
          <p:cNvSpPr txBox="1"/>
          <p:nvPr/>
        </p:nvSpPr>
        <p:spPr>
          <a:xfrm>
            <a:off x="451700" y="304845"/>
            <a:ext cx="2884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ja-JP" altLang="en-US" sz="1200" dirty="0"/>
              <a:t>その他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27066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98B90720-0608-6093-B65C-3A992DD0BF4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altLang="ja-JP" dirty="0"/>
              <a:t>  </a:t>
            </a:r>
            <a:endParaRPr lang="ja-JP" altLang="en-US" dirty="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B139983B-315C-07D1-BAF9-1A4DB9957E1A}"/>
              </a:ext>
            </a:extLst>
          </p:cNvPr>
          <p:cNvGrpSpPr/>
          <p:nvPr/>
        </p:nvGrpSpPr>
        <p:grpSpPr>
          <a:xfrm>
            <a:off x="5402375" y="3007921"/>
            <a:ext cx="1387250" cy="533477"/>
            <a:chOff x="5523854" y="3007921"/>
            <a:chExt cx="1387250" cy="533477"/>
          </a:xfrm>
        </p:grpSpPr>
        <p:pic>
          <p:nvPicPr>
            <p:cNvPr id="8" name="グラフィックス 7">
              <a:extLst>
                <a:ext uri="{FF2B5EF4-FFF2-40B4-BE49-F238E27FC236}">
                  <a16:creationId xmlns:a16="http://schemas.microsoft.com/office/drawing/2014/main" id="{6CAEF655-B181-D0DF-9343-232797234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23854" y="3007921"/>
              <a:ext cx="409867" cy="533477"/>
            </a:xfrm>
            <a:prstGeom prst="rect">
              <a:avLst/>
            </a:prstGeom>
          </p:spPr>
        </p:pic>
        <p:pic>
          <p:nvPicPr>
            <p:cNvPr id="9" name="グラフィックス 8">
              <a:extLst>
                <a:ext uri="{FF2B5EF4-FFF2-40B4-BE49-F238E27FC236}">
                  <a16:creationId xmlns:a16="http://schemas.microsoft.com/office/drawing/2014/main" id="{60D84030-6CFA-E7B0-4693-4F5D7F076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01237" y="3007921"/>
              <a:ext cx="409867" cy="533477"/>
            </a:xfrm>
            <a:prstGeom prst="rect">
              <a:avLst/>
            </a:prstGeom>
          </p:spPr>
        </p:pic>
        <p:pic>
          <p:nvPicPr>
            <p:cNvPr id="10" name="グラフィックス 9">
              <a:extLst>
                <a:ext uri="{FF2B5EF4-FFF2-40B4-BE49-F238E27FC236}">
                  <a16:creationId xmlns:a16="http://schemas.microsoft.com/office/drawing/2014/main" id="{9772F84E-F066-C3EF-6B81-5BC0765A3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12546" y="3131531"/>
              <a:ext cx="409867" cy="409867"/>
            </a:xfrm>
            <a:prstGeom prst="rect">
              <a:avLst/>
            </a:prstGeom>
          </p:spPr>
        </p:pic>
      </p:grpSp>
      <p:sp>
        <p:nvSpPr>
          <p:cNvPr id="18" name="スライド番号プレースホルダー 4">
            <a:extLst>
              <a:ext uri="{FF2B5EF4-FFF2-40B4-BE49-F238E27FC236}">
                <a16:creationId xmlns:a16="http://schemas.microsoft.com/office/drawing/2014/main" id="{42805C37-EA04-BBC6-F1D7-EFD277F05973}"/>
              </a:ext>
            </a:extLst>
          </p:cNvPr>
          <p:cNvSpPr txBox="1">
            <a:spLocks/>
          </p:cNvSpPr>
          <p:nvPr/>
        </p:nvSpPr>
        <p:spPr>
          <a:xfrm>
            <a:off x="5886764" y="6493851"/>
            <a:ext cx="418473" cy="251556"/>
          </a:xfrm>
          <a:prstGeom prst="rect">
            <a:avLst/>
          </a:prstGeom>
        </p:spPr>
        <p:txBody>
          <a:bodyPr wrap="none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2DA652-66EA-4648-B6D7-BBF86267F7B7}" type="slidenum">
              <a:rPr lang="ja-JP" altLang="en-US" sz="1200" smtClean="0">
                <a:solidFill>
                  <a:schemeClr val="tx1"/>
                </a:solidFill>
                <a:latin typeface="+mn-ea"/>
                <a:ea typeface="+mn-ea"/>
              </a:rPr>
              <a:pPr algn="ctr"/>
              <a:t>6</a:t>
            </a:fld>
            <a:endParaRPr lang="ja-JP" altLang="en-US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4A38EC82-3D78-6482-5E0F-EB600C3F6323}"/>
              </a:ext>
            </a:extLst>
          </p:cNvPr>
          <p:cNvGrpSpPr/>
          <p:nvPr/>
        </p:nvGrpSpPr>
        <p:grpSpPr>
          <a:xfrm>
            <a:off x="5885530" y="6515405"/>
            <a:ext cx="420941" cy="180001"/>
            <a:chOff x="5921660" y="6515405"/>
            <a:chExt cx="420941" cy="180001"/>
          </a:xfrm>
        </p:grpSpPr>
        <p:sp>
          <p:nvSpPr>
            <p:cNvPr id="21" name="台形 20">
              <a:extLst>
                <a:ext uri="{FF2B5EF4-FFF2-40B4-BE49-F238E27FC236}">
                  <a16:creationId xmlns:a16="http://schemas.microsoft.com/office/drawing/2014/main" id="{663D6F43-6625-987D-1D1D-FBAEB5C82E91}"/>
                </a:ext>
              </a:extLst>
            </p:cNvPr>
            <p:cNvSpPr/>
            <p:nvPr userDrawn="1"/>
          </p:nvSpPr>
          <p:spPr>
            <a:xfrm rot="5400000">
              <a:off x="5854520" y="6582545"/>
              <a:ext cx="180000" cy="45719"/>
            </a:xfrm>
            <a:prstGeom prst="trapezoid">
              <a:avLst>
                <a:gd name="adj" fmla="val 51761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+mn-ea"/>
                <a:ea typeface="+mn-ea"/>
              </a:endParaRPr>
            </a:p>
          </p:txBody>
        </p:sp>
        <p:sp>
          <p:nvSpPr>
            <p:cNvPr id="22" name="台形 21">
              <a:extLst>
                <a:ext uri="{FF2B5EF4-FFF2-40B4-BE49-F238E27FC236}">
                  <a16:creationId xmlns:a16="http://schemas.microsoft.com/office/drawing/2014/main" id="{70F399F6-4EAC-6BCF-4D9A-D393DEB79886}"/>
                </a:ext>
              </a:extLst>
            </p:cNvPr>
            <p:cNvSpPr/>
            <p:nvPr userDrawn="1"/>
          </p:nvSpPr>
          <p:spPr>
            <a:xfrm rot="16200000" flipH="1">
              <a:off x="6229742" y="6582546"/>
              <a:ext cx="180000" cy="45719"/>
            </a:xfrm>
            <a:prstGeom prst="trapezoid">
              <a:avLst>
                <a:gd name="adj" fmla="val 51761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325300"/>
      </p:ext>
    </p:extLst>
  </p:cSld>
  <p:clrMapOvr>
    <a:masterClrMapping/>
  </p:clrMapOvr>
</p:sld>
</file>

<file path=ppt/theme/theme1.xml><?xml version="1.0" encoding="utf-8"?>
<a:theme xmlns:a="http://schemas.openxmlformats.org/drawingml/2006/main" name="MIHテンプレート">
  <a:themeElements>
    <a:clrScheme name="MIH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E60012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iryo UI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>
              <a:lumMod val="75000"/>
              <a:lumOff val="25000"/>
            </a:schemeClr>
          </a:solidFill>
        </a:ln>
      </a:spPr>
      <a:bodyPr rtlCol="0" anchor="t"/>
      <a:lstStyle>
        <a:defPPr algn="l">
          <a:lnSpc>
            <a:spcPct val="110000"/>
          </a:lnSpc>
          <a:spcAft>
            <a:spcPts val="300"/>
          </a:spcAft>
          <a:defRPr kumimoji="1"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75000"/>
              <a:lumOff val="2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kumimoji="1" sz="12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ITテンプレート2">
  <a:themeElements>
    <a:clrScheme name="MIH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E60012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iryo UI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>
              <a:lumMod val="75000"/>
              <a:lumOff val="25000"/>
            </a:schemeClr>
          </a:solidFill>
        </a:ln>
      </a:spPr>
      <a:bodyPr rtlCol="0" anchor="t"/>
      <a:lstStyle>
        <a:defPPr algn="l">
          <a:lnSpc>
            <a:spcPct val="110000"/>
          </a:lnSpc>
          <a:spcAft>
            <a:spcPts val="300"/>
          </a:spcAft>
          <a:defRPr kumimoji="1"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75000"/>
              <a:lumOff val="2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kumimoji="1" sz="12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4732</TotalTime>
  <Words>1246</Words>
  <Application>Microsoft Office PowerPoint</Application>
  <PresentationFormat>ワイド画面</PresentationFormat>
  <Paragraphs>232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Meiryo UI</vt:lpstr>
      <vt:lpstr>游ゴシック</vt:lpstr>
      <vt:lpstr>Arial</vt:lpstr>
      <vt:lpstr>MIHテンプレート</vt:lpstr>
      <vt:lpstr>MITテンプレート2</vt:lpstr>
      <vt:lpstr>入場者向け システム説明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KOMIYAMA KOSUKE-TOKB831</dc:creator>
  <cp:lastModifiedBy>Kihara Hitomi-I-DIGIO</cp:lastModifiedBy>
  <cp:revision>84</cp:revision>
  <dcterms:created xsi:type="dcterms:W3CDTF">2023-02-24T13:37:33Z</dcterms:created>
  <dcterms:modified xsi:type="dcterms:W3CDTF">2025-10-29T07:08:02Z</dcterms:modified>
</cp:coreProperties>
</file>